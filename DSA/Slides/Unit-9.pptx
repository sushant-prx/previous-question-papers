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</p:sldMasterIdLst>
  <p:notesMasterIdLst>
    <p:notesMasterId r:id="rId4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834" y="7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 bwMode="auto">
          <a:xfrm>
            <a:off x="756000" y="5078520"/>
            <a:ext cx="6047640" cy="481103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166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167" name="PlaceHolder 4"/>
          <p:cNvSpPr>
            <a:spLocks noGrp="1"/>
          </p:cNvSpPr>
          <p:nvPr>
            <p:ph type="dt" idx="13"/>
          </p:nvPr>
        </p:nvSpPr>
        <p:spPr bwMode="auto"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168" name="PlaceHolder 5"/>
          <p:cNvSpPr>
            <a:spLocks noGrp="1"/>
          </p:cNvSpPr>
          <p:nvPr>
            <p:ph type="ftr" idx="14"/>
          </p:nvPr>
        </p:nvSpPr>
        <p:spPr bwMode="auto"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69" name="PlaceHolder 6"/>
          <p:cNvSpPr>
            <a:spLocks noGrp="1"/>
          </p:cNvSpPr>
          <p:nvPr>
            <p:ph type="sldNum" idx="15"/>
          </p:nvPr>
        </p:nvSpPr>
        <p:spPr bwMode="auto"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fld id="{9F4AC799-3FE0-467C-940E-0F735288883C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E79AAE-05AA-C4E0-BD54-FF9DD258BEC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087C21-87C9-1A10-7AFE-8F449BAD9E20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3A642D-27C4-B14E-545E-EF7E94A59C0F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Degree self loop -2 </a:t>
            </a:r>
          </a:p>
        </p:txBody>
      </p:sp>
      <p:sp>
        <p:nvSpPr>
          <p:cNvPr id="242" name="PlaceHolder 3"/>
          <p:cNvSpPr>
            <a:spLocks noGrp="1"/>
          </p:cNvSpPr>
          <p:nvPr>
            <p:ph type="sldNum" idx="16"/>
          </p:nvPr>
        </p:nvSpPr>
        <p:spPr bwMode="auto"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16AC7FE6-30D8-4F0E-94A1-957E0A993F18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Aycyclic, complete different graphs</a:t>
            </a:r>
          </a:p>
        </p:txBody>
      </p:sp>
      <p:sp>
        <p:nvSpPr>
          <p:cNvPr id="245" name="PlaceHolder 3"/>
          <p:cNvSpPr>
            <a:spLocks noGrp="1"/>
          </p:cNvSpPr>
          <p:nvPr>
            <p:ph type="sldNum" idx="17"/>
          </p:nvPr>
        </p:nvSpPr>
        <p:spPr bwMode="auto"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4B0789E6-C8B5-47E7-BF4F-5034E5F81351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How to draw graph  into computer?</a:t>
            </a:r>
            <a:endParaRPr lang="en-US" sz="2000" b="0" strike="noStrike" spc="0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20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http://www.btechsmartclass.com/data_structures/graph-representations.html</a:t>
            </a:r>
            <a:endParaRPr lang="en-US" sz="2000" b="0" strike="noStrike" spc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18"/>
          </p:nvPr>
        </p:nvSpPr>
        <p:spPr bwMode="auto"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F5C1734E-2FB5-4257-9914-B1DEDBAC467A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0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 represents that the row edge is not connected to column vertex, </a:t>
            </a:r>
          </a:p>
          <a:p>
            <a:pPr>
              <a:defRPr/>
            </a:pPr>
            <a:r>
              <a:rPr lang="en-US" sz="10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represents that the row edge is connected as the outgoing edge to column vertex and</a:t>
            </a:r>
          </a:p>
          <a:p>
            <a:pPr>
              <a:defRPr/>
            </a:pPr>
            <a:r>
              <a:rPr lang="en-US" sz="10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-1 represents that the row edge is connected as the incoming edge to column vertex.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60958D-5B5B-18EC-AF7C-F6909543CE31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Weighted graph A-&gt;B 7</a:t>
            </a:r>
          </a:p>
        </p:txBody>
      </p:sp>
      <p:sp>
        <p:nvSpPr>
          <p:cNvPr id="251" name="PlaceHolder 3"/>
          <p:cNvSpPr>
            <a:spLocks noGrp="1"/>
          </p:cNvSpPr>
          <p:nvPr>
            <p:ph type="sldNum" idx="19"/>
          </p:nvPr>
        </p:nvSpPr>
        <p:spPr bwMode="auto"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25974258-E7D9-42C7-B751-E2DB9F8AA0DA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A9A59-D4E1-CED2-8651-7ABA4D2F3F5E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A25F42-D63B-678B-B854-BB42FA6AD604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2815A4-94A3-9919-FCCB-CACE73D0BE3F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0D0093-CBD7-1C99-AAAE-4E926F2A1C50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2000" b="0" strike="noStrike" spc="-1">
                <a:solidFill>
                  <a:srgbClr val="333333"/>
                </a:solidFill>
                <a:latin typeface="Open Sans"/>
              </a:rPr>
              <a:t>Prerequisite DFA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20"/>
          </p:nvPr>
        </p:nvSpPr>
        <p:spPr bwMode="auto"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BEE961F2-63AC-4B9F-9BBD-AF44CFC4DE1F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679629-0627-5101-1E19-F66F63DB74ED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303030"/>
              </a:buClr>
              <a:buFont typeface="Arial"/>
              <a:buChar char="•"/>
              <a:defRPr/>
            </a:pPr>
            <a:r>
              <a:rPr lang="pt-BR" sz="2000" b="1" strike="noStrike" spc="-1">
                <a:solidFill>
                  <a:srgbClr val="303030"/>
                </a:solidFill>
                <a:latin typeface="arial"/>
              </a:rPr>
              <a:t>A B C D E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303030"/>
              </a:buClr>
              <a:buFont typeface="Arial"/>
              <a:buChar char="•"/>
              <a:defRPr/>
            </a:pPr>
            <a:r>
              <a:rPr lang="pt-BR" sz="2000" b="1" strike="noStrike" spc="-1">
                <a:solidFill>
                  <a:srgbClr val="303030"/>
                </a:solidFill>
                <a:latin typeface="arial"/>
              </a:rPr>
              <a:t>A B D C E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21"/>
          </p:nvPr>
        </p:nvSpPr>
        <p:spPr bwMode="auto"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C8F093B0-6DED-425F-824E-358E2024A877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BE2AD1-0CFE-9CA6-0053-B59035D3A153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5E5274-ABA2-5860-33A1-F6010079271F}" type="slidenum">
              <a:rPr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20 min only</a:t>
            </a:r>
          </a:p>
        </p:txBody>
      </p:sp>
      <p:sp>
        <p:nvSpPr>
          <p:cNvPr id="260" name="PlaceHolder 3"/>
          <p:cNvSpPr>
            <a:spLocks noGrp="1"/>
          </p:cNvSpPr>
          <p:nvPr>
            <p:ph type="sldNum" idx="22"/>
          </p:nvPr>
        </p:nvSpPr>
        <p:spPr bwMode="auto"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C020E725-8D55-4135-988A-5486BB0A08AA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83DABB-5E2D-5C85-6717-13B858A704CA}" type="slidenum">
              <a:rPr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42120E-D202-31AC-D9C3-FDEE33F8DFDD}" type="slidenum">
              <a:rPr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3DECD6-830F-8A54-5A36-3F64362A396C}" type="slidenum">
              <a:rPr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3724A3-0D68-F89F-E1C6-7A239B707543}" type="slidenum">
              <a:rPr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5DF063-BC45-8FB2-CA98-088826992AEB}" type="slidenum">
              <a:rPr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B6DD49-C4E0-2535-E4C5-D549242738C1}" type="slidenum">
              <a:rPr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CCF187-30FF-05CA-F760-989025330AE8}" type="slidenum">
              <a:rPr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808577-83D1-0124-D6BA-70272DD397D5}" type="slidenum">
              <a:rPr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6871B7-7186-F00C-450D-C80C62514BF7}" type="slidenum">
              <a:rPr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9F0EBC9-AAE6-1844-66D5-334CE0464350}" type="slidenum">
              <a:rPr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76113C-7A36-99A7-1C8F-4C5EEA6F1038}" type="slidenum">
              <a:rPr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B428BC-932D-8D14-527D-6701A525CE0B}" type="slidenum">
              <a:rPr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ED3471-FBA7-04C1-820D-D9900E3E3450}" type="slidenum">
              <a:rPr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252FBB-C4FB-775A-4EFA-C1B2D5ED820D}" type="slidenum">
              <a:rPr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B6681C-C642-D9A6-2F64-AF230DAD42E1}" type="slidenum">
              <a:rPr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6E427A-C43B-182E-5EB0-590E43AE4796}" type="slidenum">
              <a:rPr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4F885D-6F04-EE53-C0E3-5F28FE426B95}" type="slidenum">
              <a:rPr/>
              <a:t>35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D7027688-B27E-49E5-9E5C-FDA925DE77A0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41B37953-11F1-4BEC-B430-2C54A50CFFFC}" type="slidenum">
              <a:rPr/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74313E01-C269-4AAC-84F3-57FD14431DD8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885FAB89-883A-4D22-9C48-EB4B2BC22194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1C426430-2CAF-4518-B2FA-3BA33BDCE168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nly" preserve="1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 bwMode="auto"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25E1638B-A337-4261-AF90-F3442A172AA9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AndObj" preserve="1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5DA91068-B747-4817-B2F4-4E629D2CEE81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AndTwoObj" preserve="1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E5B5A988-7A9E-4288-93C1-C7668CC54614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OverTx" preserve="1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54D38FA5-F09F-482F-8B38-F876004D351D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verTx" preserve="1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C63E0675-86D8-4D3F-8758-F60FDCE21274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fourObj" preserve="1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DAD0C65A-5007-455F-8836-64A1806C6F1A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 bwMode="auto"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 bwMode="auto"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 bwMode="auto"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 bwMode="auto"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BE94228A-7D94-43BF-BE6F-A0491173DBD0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fld id="{08DA6B94-8863-49EF-970F-4B3D389DBF63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fld id="{18BC5809-C7B6-44CB-B045-BF82B17A0700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fld id="{6709E11A-0AB8-4874-8316-67BBCE10368F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fld id="{AAAA55F7-FFAC-41F6-9012-943DDE2C2849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fld id="{BB8A8828-9742-4C0E-ACAB-9C698AF50F3C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nly" preserve="1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 bwMode="auto"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fld id="{BA805F1F-FB9D-4F33-9073-245469F61C7B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AndObj" preserve="1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fld id="{08C23CB9-6F99-4360-9B4B-7047DF4F156A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AndTwoObj" preserve="1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fld id="{22CE8656-7E38-4C3A-81D0-01582F3778F6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OverTx" preserve="1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fld id="{CE9A2440-AA0E-41BA-959F-4A4D6CD61611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verTx" preserve="1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fld id="{940CE5BA-1F1B-4843-8BF8-BE1C9FD6475C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fourObj" preserve="1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fld id="{8E53F080-B766-45FF-AE4A-CABAF84E9D87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 bwMode="auto"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 bwMode="auto"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 bwMode="auto"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 bwMode="auto"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fld id="{B8C35E44-7088-4B6C-9F51-A8162950519E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 bwMode="auto"/>
        <p:txBody>
          <a:bodyPr/>
          <a:lstStyle/>
          <a:p>
            <a:pPr>
              <a:defRPr/>
            </a:pPr>
            <a:fld id="{1BAE5C04-8913-4080-AE09-A1E1F93E6D01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 bwMode="auto"/>
        <p:txBody>
          <a:bodyPr/>
          <a:lstStyle/>
          <a:p>
            <a:pPr>
              <a:defRPr/>
            </a:pPr>
            <a:fld id="{66297283-16CA-4FA8-BDDA-E3D21393DEBC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 bwMode="auto"/>
        <p:txBody>
          <a:bodyPr/>
          <a:lstStyle/>
          <a:p>
            <a:pPr>
              <a:defRPr/>
            </a:pPr>
            <a:fld id="{E363A227-C449-44CD-8327-75E01D11F4FE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 bwMode="auto"/>
        <p:txBody>
          <a:bodyPr/>
          <a:lstStyle/>
          <a:p>
            <a:pPr>
              <a:defRPr/>
            </a:pPr>
            <a:fld id="{A1672D60-C113-480A-A182-9C205951E99F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 bwMode="auto"/>
        <p:txBody>
          <a:bodyPr/>
          <a:lstStyle/>
          <a:p>
            <a:pPr>
              <a:defRPr/>
            </a:pPr>
            <a:fld id="{25DF6E0D-BEF2-4A0A-933E-C34FAE4D83A7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nly" preserve="1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 bwMode="auto"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 bwMode="auto"/>
        <p:txBody>
          <a:bodyPr/>
          <a:lstStyle/>
          <a:p>
            <a:pPr>
              <a:defRPr/>
            </a:pPr>
            <a:fld id="{D0D8D6C4-F7A9-4401-8255-87CC77B0C589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AndObj" preserve="1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 bwMode="auto"/>
        <p:txBody>
          <a:bodyPr/>
          <a:lstStyle/>
          <a:p>
            <a:pPr>
              <a:defRPr/>
            </a:pPr>
            <a:fld id="{810D03AE-27D7-41F5-942F-A5B2FBF1F196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AndTwoObj" preserve="1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 bwMode="auto"/>
        <p:txBody>
          <a:bodyPr/>
          <a:lstStyle/>
          <a:p>
            <a:pPr>
              <a:defRPr/>
            </a:pPr>
            <a:fld id="{6760D492-2EE4-4D42-B2DD-1AC096408C0F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OverTx" preserve="1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 bwMode="auto"/>
        <p:txBody>
          <a:bodyPr/>
          <a:lstStyle/>
          <a:p>
            <a:pPr>
              <a:defRPr/>
            </a:pPr>
            <a:fld id="{E62EAEEC-BC1D-4BEE-9EA0-B46F7AC00DD8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verTx" preserve="1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 bwMode="auto"/>
        <p:txBody>
          <a:bodyPr/>
          <a:lstStyle/>
          <a:p>
            <a:pPr>
              <a:defRPr/>
            </a:pPr>
            <a:fld id="{274F3A9A-1EE0-42EA-81F4-EC674A844B74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fourObj" preserve="1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 bwMode="auto"/>
        <p:txBody>
          <a:bodyPr/>
          <a:lstStyle/>
          <a:p>
            <a:pPr>
              <a:defRPr/>
            </a:pPr>
            <a:fld id="{13AAE4AA-B41F-474B-93B8-412816A7C300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 bwMode="auto"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 bwMode="auto"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 bwMode="auto"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 bwMode="auto"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 bwMode="auto"/>
        <p:txBody>
          <a:bodyPr/>
          <a:lstStyle/>
          <a:p>
            <a:pPr>
              <a:defRPr/>
            </a:pPr>
            <a:fld id="{8D35CEF2-77A1-41A8-AA78-23CAB7EF105C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 bwMode="auto"/>
        <p:txBody>
          <a:bodyPr/>
          <a:lstStyle/>
          <a:p>
            <a:pPr>
              <a:defRPr/>
            </a:pPr>
            <a:fld id="{DF29FD3D-EC4C-49FD-90C7-84D9080A60AB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 bwMode="auto"/>
        <p:txBody>
          <a:bodyPr/>
          <a:lstStyle/>
          <a:p>
            <a:pPr>
              <a:defRPr/>
            </a:pPr>
            <a:fld id="{75B78B12-8A08-4FB5-A193-9E0982C4EB39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 bwMode="auto"/>
        <p:txBody>
          <a:bodyPr/>
          <a:lstStyle/>
          <a:p>
            <a:pPr>
              <a:defRPr/>
            </a:pPr>
            <a:fld id="{A4D8B546-5FF5-42D1-A6B1-A58F03912716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 bwMode="auto"/>
        <p:txBody>
          <a:bodyPr/>
          <a:lstStyle/>
          <a:p>
            <a:pPr>
              <a:defRPr/>
            </a:pPr>
            <a:fld id="{B8A77AE7-A58E-48DC-8B0F-D50043F66809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 bwMode="auto"/>
        <p:txBody>
          <a:bodyPr/>
          <a:lstStyle/>
          <a:p>
            <a:pPr>
              <a:defRPr/>
            </a:pPr>
            <a:fld id="{73DB7CB1-1A01-4518-8730-A1672424648E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nly" preserve="1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ubTitle"/>
          </p:nvPr>
        </p:nvSpPr>
        <p:spPr bwMode="auto"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 bwMode="auto"/>
        <p:txBody>
          <a:bodyPr/>
          <a:lstStyle/>
          <a:p>
            <a:pPr>
              <a:defRPr/>
            </a:pPr>
            <a:fld id="{0DC32ADA-A9F3-48B9-9C17-1F4F45B970A6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AndObj" preserve="1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 bwMode="auto"/>
        <p:txBody>
          <a:bodyPr/>
          <a:lstStyle/>
          <a:p>
            <a:pPr>
              <a:defRPr/>
            </a:pPr>
            <a:fld id="{30CB0B64-74DB-4CEC-8B51-B7C9B92E7EB0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AndTwoObj" preserve="1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 bwMode="auto"/>
        <p:txBody>
          <a:bodyPr/>
          <a:lstStyle/>
          <a:p>
            <a:pPr>
              <a:defRPr/>
            </a:pPr>
            <a:fld id="{866E22CE-90BA-422D-8C6D-7F6A39F85FE7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OverTx" preserve="1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 bwMode="auto"/>
        <p:txBody>
          <a:bodyPr/>
          <a:lstStyle/>
          <a:p>
            <a:pPr>
              <a:defRPr/>
            </a:pPr>
            <a:fld id="{980D6A85-803F-4144-B1DA-9558B970AF6D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verTx" preserve="1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 bwMode="auto"/>
        <p:txBody>
          <a:bodyPr/>
          <a:lstStyle/>
          <a:p>
            <a:pPr>
              <a:defRPr/>
            </a:pPr>
            <a:fld id="{47D883C0-BB16-4DF6-B75F-B8936AE6B061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fourObj" preserve="1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1"/>
          </p:nvPr>
        </p:nvSpPr>
        <p:spPr bwMode="auto"/>
        <p:txBody>
          <a:bodyPr/>
          <a:lstStyle/>
          <a:p>
            <a:pPr>
              <a:defRPr/>
            </a:pPr>
            <a:fld id="{3EE4AD62-4A97-4C3B-B01A-D579A118C679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2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 bwMode="auto"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 bwMode="auto"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/>
          </p:nvPr>
        </p:nvSpPr>
        <p:spPr bwMode="auto"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/>
          </p:nvPr>
        </p:nvSpPr>
        <p:spPr bwMode="auto"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0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1"/>
          </p:nvPr>
        </p:nvSpPr>
        <p:spPr bwMode="auto"/>
        <p:txBody>
          <a:bodyPr/>
          <a:lstStyle/>
          <a:p>
            <a:pPr>
              <a:defRPr/>
            </a:pPr>
            <a:fld id="{097BFA8C-CB40-48D6-8988-0CE3192DC0DE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2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ftr" idx="1"/>
          </p:nvPr>
        </p:nvSpPr>
        <p:spPr bwMode="auto"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sldNum" idx="2"/>
          </p:nvPr>
        </p:nvSpPr>
        <p:spPr bwMode="auto"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6C5BA14D-37F4-4825-ABA3-3E930C65AD40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 bwMode="auto"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 bwMode="auto"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 bwMode="auto"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EB571054-7C54-4C40-B207-AD2FF0E9AD64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 bwMode="auto"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079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ftr" idx="7"/>
          </p:nvPr>
        </p:nvSpPr>
        <p:spPr bwMode="auto"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84" name="PlaceHolder 3"/>
          <p:cNvSpPr>
            <a:spLocks noGrp="1"/>
          </p:cNvSpPr>
          <p:nvPr>
            <p:ph type="sldNum" idx="8"/>
          </p:nvPr>
        </p:nvSpPr>
        <p:spPr bwMode="auto"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7518F4D7-9D4C-4561-8D57-D55CFDC7A09F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9"/>
          </p:nvPr>
        </p:nvSpPr>
        <p:spPr bwMode="auto"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ftr" idx="10"/>
          </p:nvPr>
        </p:nvSpPr>
        <p:spPr bwMode="auto"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24" name="PlaceHolder 2"/>
          <p:cNvSpPr>
            <a:spLocks noGrp="1"/>
          </p:cNvSpPr>
          <p:nvPr>
            <p:ph type="sldNum" idx="11"/>
          </p:nvPr>
        </p:nvSpPr>
        <p:spPr bwMode="auto"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704A1AAB-FBB0-45D1-9C7B-A3C7C846A27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dt" idx="12"/>
          </p:nvPr>
        </p:nvSpPr>
        <p:spPr bwMode="auto"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126" name="PlaceHolder 4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defRPr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27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implilearn.com/tutorials/data-structure-tutorial/graphs-in-data-structur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6000" b="0" strike="noStrike" spc="-1">
                <a:solidFill>
                  <a:srgbClr val="000000"/>
                </a:solidFill>
                <a:latin typeface="Calibri Light"/>
              </a:rPr>
              <a:t>Graph Algorithm</a:t>
            </a:r>
            <a:endParaRPr lang="en-US" sz="6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subTitle"/>
          </p:nvPr>
        </p:nvSpPr>
        <p:spPr bwMode="auto">
          <a:xfrm>
            <a:off x="1523880" y="3602160"/>
            <a:ext cx="9142560" cy="165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Unit-9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4400" b="1" strike="noStrike" spc="-1">
                <a:solidFill>
                  <a:srgbClr val="000000"/>
                </a:solidFill>
                <a:latin typeface="Calibri Light"/>
              </a:rPr>
              <a:t>Graph Algorithm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Graph is a data structure that consists of the following two components: G(V,E) 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A finite set of vertices also called nodes.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A finite set of ordered pair of the form (u, v) called edge. The pair is ordered because (u, v) is not the same as (v, u) in the case of a directed graph(di-graph). The pair of the form (u, v) indicates that there is an edge from vertex u to vertex v. The edges may contain weight/value/cost.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4" name="Picture 4" descr="Graphs in Data Structure and Algorithm | Board Infinity"/>
          <p:cNvPicPr/>
          <p:nvPr/>
        </p:nvPicPr>
        <p:blipFill>
          <a:blip r:embed="rId3"/>
          <a:stretch/>
        </p:blipFill>
        <p:spPr bwMode="auto">
          <a:xfrm>
            <a:off x="7794720" y="4563000"/>
            <a:ext cx="3678840" cy="20685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4400" b="1" strike="noStrike" spc="-1">
                <a:solidFill>
                  <a:srgbClr val="000000"/>
                </a:solidFill>
                <a:latin typeface="Calibri Light"/>
              </a:rPr>
              <a:t>Graph Representations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74000"/>
          </a:bodyPr>
          <a:lstStyle/>
          <a:p>
            <a:pPr marL="197640" indent="-197640" algn="just">
              <a:lnSpc>
                <a:spcPct val="90000"/>
              </a:lnSpc>
              <a:spcBef>
                <a:spcPts val="1001"/>
              </a:spcBef>
              <a:buClr>
                <a:srgbClr val="333333"/>
              </a:buClr>
              <a:buFont typeface="Arial"/>
              <a:buChar char="•"/>
              <a:defRPr/>
            </a:pPr>
            <a:r>
              <a:rPr lang="en-US" sz="2800" b="1" strike="noStrike" spc="-1">
                <a:solidFill>
                  <a:srgbClr val="333333"/>
                </a:solidFill>
                <a:latin typeface="inter-bold"/>
              </a:rPr>
              <a:t>Order:</a:t>
            </a:r>
            <a:r>
              <a:rPr lang="en-US" sz="2800" b="0" strike="noStrike" spc="-1">
                <a:solidFill>
                  <a:srgbClr val="333333"/>
                </a:solidFill>
                <a:latin typeface="inter-regular"/>
              </a:rPr>
              <a:t> Order defines the total number of vertices present in the graph.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197640" indent="-197640" algn="just">
              <a:lnSpc>
                <a:spcPct val="90000"/>
              </a:lnSpc>
              <a:spcBef>
                <a:spcPts val="1001"/>
              </a:spcBef>
              <a:buClr>
                <a:srgbClr val="333333"/>
              </a:buClr>
              <a:buFont typeface="Arial"/>
              <a:buChar char="•"/>
              <a:defRPr/>
            </a:pPr>
            <a:r>
              <a:rPr lang="en-US" sz="2800" b="1" strike="noStrike" spc="-1">
                <a:solidFill>
                  <a:srgbClr val="333333"/>
                </a:solidFill>
                <a:latin typeface="inter-bold"/>
              </a:rPr>
              <a:t>Size:</a:t>
            </a:r>
            <a:r>
              <a:rPr lang="en-US" sz="2800" b="0" strike="noStrike" spc="-1">
                <a:solidFill>
                  <a:srgbClr val="333333"/>
                </a:solidFill>
                <a:latin typeface="inter-regular"/>
              </a:rPr>
              <a:t> Size defines the number of edges present in the graph.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197640" indent="-197640" algn="just">
              <a:lnSpc>
                <a:spcPct val="90000"/>
              </a:lnSpc>
              <a:spcBef>
                <a:spcPts val="1001"/>
              </a:spcBef>
              <a:buClr>
                <a:srgbClr val="333333"/>
              </a:buClr>
              <a:buFont typeface="Arial"/>
              <a:buChar char="•"/>
              <a:defRPr/>
            </a:pPr>
            <a:r>
              <a:rPr lang="en-US" sz="2800" b="1" strike="noStrike" spc="-1">
                <a:solidFill>
                  <a:srgbClr val="333333"/>
                </a:solidFill>
                <a:latin typeface="inter-bold"/>
              </a:rPr>
              <a:t>Self-loop:</a:t>
            </a:r>
            <a:r>
              <a:rPr lang="en-US" sz="2800" b="0" strike="noStrike" spc="-1">
                <a:solidFill>
                  <a:srgbClr val="333333"/>
                </a:solidFill>
                <a:latin typeface="inter-regular"/>
              </a:rPr>
              <a:t> It is the edges that are connected from a vertex to itself.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197640" indent="-197640" algn="just">
              <a:lnSpc>
                <a:spcPct val="90000"/>
              </a:lnSpc>
              <a:spcBef>
                <a:spcPts val="1001"/>
              </a:spcBef>
              <a:buClr>
                <a:srgbClr val="333333"/>
              </a:buClr>
              <a:buFont typeface="Arial"/>
              <a:buChar char="•"/>
              <a:defRPr/>
            </a:pPr>
            <a:r>
              <a:rPr lang="en-US" sz="2800" b="1" strike="noStrike" spc="-1">
                <a:solidFill>
                  <a:srgbClr val="333333"/>
                </a:solidFill>
                <a:latin typeface="inter-bold"/>
              </a:rPr>
              <a:t>Isolated vertex:</a:t>
            </a:r>
            <a:r>
              <a:rPr lang="en-US" sz="2800" b="0" strike="noStrike" spc="-1">
                <a:solidFill>
                  <a:srgbClr val="333333"/>
                </a:solidFill>
                <a:latin typeface="inter-regular"/>
              </a:rPr>
              <a:t> It is the vertex that is not connected to any other vertices in the graph.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197640" indent="-197640" algn="just">
              <a:lnSpc>
                <a:spcPct val="90000"/>
              </a:lnSpc>
              <a:spcBef>
                <a:spcPts val="1001"/>
              </a:spcBef>
              <a:buClr>
                <a:srgbClr val="333333"/>
              </a:buClr>
              <a:buFont typeface="Arial"/>
              <a:buChar char="•"/>
              <a:defRPr/>
            </a:pPr>
            <a:r>
              <a:rPr lang="en-US" sz="2800" b="1" strike="noStrike" spc="-1">
                <a:solidFill>
                  <a:srgbClr val="333333"/>
                </a:solidFill>
                <a:latin typeface="inter-bold"/>
              </a:rPr>
              <a:t>Vertex degree:</a:t>
            </a:r>
            <a:r>
              <a:rPr lang="en-US" sz="2800" b="0" strike="noStrike" spc="-1">
                <a:solidFill>
                  <a:srgbClr val="333333"/>
                </a:solidFill>
                <a:latin typeface="inter-regular"/>
              </a:rPr>
              <a:t> It is defined as the number of edges incident to a vertex in a graph.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197640" indent="-197640" algn="just">
              <a:lnSpc>
                <a:spcPct val="90000"/>
              </a:lnSpc>
              <a:spcBef>
                <a:spcPts val="1001"/>
              </a:spcBef>
              <a:buClr>
                <a:srgbClr val="333333"/>
              </a:buClr>
              <a:buFont typeface="Arial"/>
              <a:buChar char="•"/>
              <a:defRPr/>
            </a:pPr>
            <a:r>
              <a:rPr lang="en-US" sz="2800" b="1" strike="noStrike" spc="-1">
                <a:solidFill>
                  <a:srgbClr val="333333"/>
                </a:solidFill>
                <a:latin typeface="inter-bold"/>
              </a:rPr>
              <a:t>Weighted graph:</a:t>
            </a:r>
            <a:r>
              <a:rPr lang="en-US" sz="2800" b="0" strike="noStrike" spc="-1">
                <a:solidFill>
                  <a:srgbClr val="333333"/>
                </a:solidFill>
                <a:latin typeface="inter-regular"/>
              </a:rPr>
              <a:t> A graph having value or weight of vertices.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197640" indent="-197640" algn="just">
              <a:lnSpc>
                <a:spcPct val="90000"/>
              </a:lnSpc>
              <a:spcBef>
                <a:spcPts val="1001"/>
              </a:spcBef>
              <a:buClr>
                <a:srgbClr val="333333"/>
              </a:buClr>
              <a:buFont typeface="Arial"/>
              <a:buChar char="•"/>
              <a:defRPr/>
            </a:pPr>
            <a:r>
              <a:rPr lang="en-US" sz="2800" b="1" strike="noStrike" spc="-1">
                <a:solidFill>
                  <a:srgbClr val="333333"/>
                </a:solidFill>
                <a:latin typeface="inter-bold"/>
              </a:rPr>
              <a:t>Unweighted graph:</a:t>
            </a:r>
            <a:r>
              <a:rPr lang="en-US" sz="2800" b="0" strike="noStrike" spc="-1">
                <a:solidFill>
                  <a:srgbClr val="333333"/>
                </a:solidFill>
                <a:latin typeface="inter-regular"/>
              </a:rPr>
              <a:t> A graph having no value or weight of vertices.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197640" indent="-197640" algn="just">
              <a:lnSpc>
                <a:spcPct val="90000"/>
              </a:lnSpc>
              <a:spcBef>
                <a:spcPts val="1001"/>
              </a:spcBef>
              <a:buClr>
                <a:srgbClr val="333333"/>
              </a:buClr>
              <a:buFont typeface="Arial"/>
              <a:buChar char="•"/>
              <a:defRPr/>
            </a:pPr>
            <a:r>
              <a:rPr lang="en-US" sz="2800" b="1" strike="noStrike" spc="-1">
                <a:solidFill>
                  <a:srgbClr val="333333"/>
                </a:solidFill>
                <a:latin typeface="inter-bold"/>
              </a:rPr>
              <a:t>Directed graph:</a:t>
            </a:r>
            <a:r>
              <a:rPr lang="en-US" sz="2800" b="0" strike="noStrike" spc="-1">
                <a:solidFill>
                  <a:srgbClr val="333333"/>
                </a:solidFill>
                <a:latin typeface="inter-regular"/>
              </a:rPr>
              <a:t> A graph having a direction indicator.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197640" indent="-197640" algn="just">
              <a:lnSpc>
                <a:spcPct val="90000"/>
              </a:lnSpc>
              <a:spcBef>
                <a:spcPts val="1001"/>
              </a:spcBef>
              <a:buClr>
                <a:srgbClr val="333333"/>
              </a:buClr>
              <a:buFont typeface="Arial"/>
              <a:buChar char="•"/>
              <a:defRPr/>
            </a:pPr>
            <a:r>
              <a:rPr lang="en-US" sz="2800" b="1" strike="noStrike" spc="-1">
                <a:solidFill>
                  <a:srgbClr val="333333"/>
                </a:solidFill>
                <a:latin typeface="inter-bold"/>
              </a:rPr>
              <a:t>Undirected graph:</a:t>
            </a:r>
            <a:r>
              <a:rPr lang="en-US" sz="2800" b="0" strike="noStrike" spc="-1">
                <a:solidFill>
                  <a:srgbClr val="333333"/>
                </a:solidFill>
                <a:latin typeface="inter-regular"/>
              </a:rPr>
              <a:t> A graph where no directions are defined.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197640" indent="-197640" algn="just">
              <a:lnSpc>
                <a:spcPct val="90000"/>
              </a:lnSpc>
              <a:spcBef>
                <a:spcPts val="1001"/>
              </a:spcBef>
              <a:buClr>
                <a:srgbClr val="333333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333333"/>
                </a:solidFill>
                <a:latin typeface="inter-regular"/>
              </a:rPr>
              <a:t>Degree: Number of edges incident on a vertex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4400" b="1" strike="noStrike" spc="-1">
                <a:solidFill>
                  <a:srgbClr val="000000"/>
                </a:solidFill>
                <a:latin typeface="Calibri Light"/>
              </a:rPr>
              <a:t>Graph Representations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8" name="Picture 4"/>
          <p:cNvPicPr/>
          <p:nvPr/>
        </p:nvPicPr>
        <p:blipFill>
          <a:blip r:embed="rId3"/>
          <a:stretch/>
        </p:blipFill>
        <p:spPr bwMode="auto">
          <a:xfrm>
            <a:off x="1061640" y="1575360"/>
            <a:ext cx="10067040" cy="47052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Degree of Graph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Undirected Graph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Isolated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Self loop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Directed Graph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In degree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Out Degree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Types of graphs:-</a:t>
            </a: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en-US" sz="2400" b="0" u="sng" strike="noStrike" spc="-1">
                <a:solidFill>
                  <a:srgbClr val="0563C1"/>
                </a:solidFill>
                <a:latin typeface="Calibri"/>
                <a:hlinkClick r:id="rId3" tooltip="https://www.simplilearn.com/tutorials/data-structure-tutorial/graphs-in-data-structure"/>
              </a:rPr>
              <a:t>Graphs in Data Structure: Overview, Types and More [Updated] | Simplilearn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4400" b="1" strike="noStrike" spc="-1">
                <a:solidFill>
                  <a:srgbClr val="000000"/>
                </a:solidFill>
                <a:latin typeface="Calibri Light"/>
              </a:rPr>
              <a:t>Representations of a graph.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The following two are the most commonly used representations of a graph.</a:t>
            </a:r>
            <a:endParaRPr lang="en-US" sz="2800" b="0" strike="noStrike" spc="0">
              <a:solidFill>
                <a:srgbClr val="000000"/>
              </a:solidFill>
              <a:latin typeface="Calibri"/>
            </a:endParaRPr>
          </a:p>
          <a:p>
            <a:pPr marL="628649" lvl="1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0">
                <a:solidFill>
                  <a:srgbClr val="000000"/>
                </a:solidFill>
                <a:latin typeface="Calibri"/>
              </a:rPr>
              <a:t>Incidence Matrix</a:t>
            </a:r>
            <a:endParaRPr sz="2400" b="0" strike="noStrike" spc="0">
              <a:solidFill>
                <a:srgbClr val="000000"/>
              </a:solidFill>
              <a:latin typeface="Calibri"/>
            </a:endParaRPr>
          </a:p>
          <a:p>
            <a:pPr marL="1028700" lvl="2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0">
                <a:solidFill>
                  <a:srgbClr val="000000"/>
                </a:solidFill>
                <a:latin typeface="Calibri"/>
              </a:rPr>
              <a:t>Rows represents vertices</a:t>
            </a:r>
            <a:endParaRPr sz="2400" b="0" strike="noStrike" spc="0">
              <a:solidFill>
                <a:srgbClr val="000000"/>
              </a:solidFill>
              <a:latin typeface="Calibri"/>
            </a:endParaRPr>
          </a:p>
          <a:p>
            <a:pPr marL="1028700" lvl="2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0">
                <a:solidFill>
                  <a:srgbClr val="000000"/>
                </a:solidFill>
                <a:latin typeface="Calibri"/>
              </a:rPr>
              <a:t>Column represents edges</a:t>
            </a:r>
          </a:p>
          <a:p>
            <a:pPr marL="1028700" lvl="2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0">
                <a:solidFill>
                  <a:srgbClr val="000000"/>
                </a:solidFill>
                <a:latin typeface="Calibri"/>
              </a:rPr>
              <a:t>Matrix fill with 0,1-1.</a:t>
            </a:r>
            <a:endParaRPr lang="en-US" sz="2000" b="1" strike="noStrike" spc="0">
              <a:solidFill>
                <a:srgbClr val="000000"/>
              </a:solidFill>
              <a:latin typeface="Calibri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Adjacency Matrix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Adjacency matrix is a sequential representation.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Adjacency List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In Incidence matrix representation, graph can be represented using a matrix of size: Total number of vertices by total number of edges.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1674740" name="Picture 1841674739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88999" y="2655887"/>
            <a:ext cx="10776173" cy="3535362"/>
          </a:xfrm>
          <a:prstGeom prst="rect">
            <a:avLst/>
          </a:prstGeom>
        </p:spPr>
      </p:pic>
      <p:sp>
        <p:nvSpPr>
          <p:cNvPr id="95681384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r>
              <a:rPr lang="en-US" sz="2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Incidence Matrix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Adjacency Matrix</a:t>
            </a:r>
            <a:br>
              <a:rPr sz="4400"/>
            </a:b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" name="Picture 4"/>
          <p:cNvPicPr/>
          <p:nvPr/>
        </p:nvPicPr>
        <p:blipFill>
          <a:blip r:embed="rId3"/>
          <a:stretch/>
        </p:blipFill>
        <p:spPr bwMode="auto">
          <a:xfrm>
            <a:off x="585000" y="1288080"/>
            <a:ext cx="6085800" cy="2742120"/>
          </a:xfrm>
          <a:prstGeom prst="rect">
            <a:avLst/>
          </a:prstGeom>
          <a:ln w="0">
            <a:noFill/>
          </a:ln>
        </p:spPr>
      </p:pic>
      <p:pic>
        <p:nvPicPr>
          <p:cNvPr id="185" name="Picture 6"/>
          <p:cNvPicPr/>
          <p:nvPr/>
        </p:nvPicPr>
        <p:blipFill>
          <a:blip r:embed="rId4"/>
          <a:stretch/>
        </p:blipFill>
        <p:spPr bwMode="auto">
          <a:xfrm>
            <a:off x="6879240" y="3702600"/>
            <a:ext cx="5180760" cy="27889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Adjacency List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7" name="Picture 5"/>
          <p:cNvPicPr/>
          <p:nvPr/>
        </p:nvPicPr>
        <p:blipFill>
          <a:blip r:embed="rId3"/>
          <a:stretch/>
        </p:blipFill>
        <p:spPr bwMode="auto">
          <a:xfrm>
            <a:off x="511319" y="1305734"/>
            <a:ext cx="8014680" cy="2759760"/>
          </a:xfrm>
          <a:prstGeom prst="rect">
            <a:avLst/>
          </a:prstGeom>
          <a:ln w="0">
            <a:noFill/>
          </a:ln>
        </p:spPr>
      </p:pic>
      <p:pic>
        <p:nvPicPr>
          <p:cNvPr id="1574009334" name="Picture 1574009333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2889249" y="3746499"/>
            <a:ext cx="8553449" cy="23050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Graph Traverse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The process of visiting or updating each vertex in a graph is known as graph traversal. 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The sequence in which they visit the vertices is used to classify such traversals. 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Graph traversal is a subset of tree traversal.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There are two techniques to implement a graph traversal algorithm: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Breadth-first search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Depth-first search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Breadth-first search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Choose any node/vertices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From that vertices to adjacent vertices 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Visited and not-visited both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Queue DS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2" name="Picture 4"/>
          <p:cNvPicPr/>
          <p:nvPr/>
        </p:nvPicPr>
        <p:blipFill>
          <a:blip r:embed="rId3"/>
          <a:stretch/>
        </p:blipFill>
        <p:spPr bwMode="auto">
          <a:xfrm>
            <a:off x="5515560" y="2958480"/>
            <a:ext cx="5571360" cy="33519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Depth-first search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Visit only one at a time.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If dead end found return back.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Again traverse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Stack DS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5" name="Picture 4"/>
          <p:cNvPicPr/>
          <p:nvPr/>
        </p:nvPicPr>
        <p:blipFill>
          <a:blip r:embed="rId3"/>
          <a:stretch/>
        </p:blipFill>
        <p:spPr bwMode="auto">
          <a:xfrm>
            <a:off x="5799960" y="2863440"/>
            <a:ext cx="5552280" cy="3447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4400" b="1" strike="noStrike" spc="-1">
                <a:solidFill>
                  <a:srgbClr val="000000"/>
                </a:solidFill>
                <a:latin typeface="Calibri Light"/>
              </a:rPr>
              <a:t>Topological sort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Topological Sort is a linear ordering of the vertices in such a way that if there is an edge in the DAG going from vertex ‘u’ to vertex ‘v’, then ‘u’ comes before ‘v’ in the ordering.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Topological Sorting is possible if and only if the graph is a Directed Acyclic Graph.  i.e. No Loop/Cycle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There may exist multiple different topological orderings for a given directed acyclic graph.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8" name="Picture 2" descr="Directed Acyclic Graph (DAG) Overview &amp; Use Cases | Hazelcast"/>
          <p:cNvPicPr/>
          <p:nvPr/>
        </p:nvPicPr>
        <p:blipFill>
          <a:blip r:embed="rId3"/>
          <a:stretch/>
        </p:blipFill>
        <p:spPr bwMode="auto">
          <a:xfrm>
            <a:off x="5448960" y="4532760"/>
            <a:ext cx="2648519" cy="20797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4400" b="1" strike="noStrike" spc="-1">
                <a:solidFill>
                  <a:srgbClr val="000000"/>
                </a:solidFill>
                <a:latin typeface="Calibri Light"/>
              </a:rPr>
              <a:t>Topological sort Algorithm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4000"/>
          </a:bodyPr>
          <a:lstStyle/>
          <a:p>
            <a:pPr marL="224640" indent="-224640">
              <a:lnSpc>
                <a:spcPct val="90000"/>
              </a:lnSpc>
              <a:spcBef>
                <a:spcPts val="1001"/>
              </a:spcBef>
              <a:buClr>
                <a:srgbClr val="333333"/>
              </a:buClr>
              <a:buFont typeface="Arial"/>
              <a:buChar char="•"/>
              <a:defRPr/>
            </a:pPr>
            <a:r>
              <a:rPr lang="en-US" sz="2800" b="1" strike="noStrike" spc="-1">
                <a:solidFill>
                  <a:srgbClr val="333333"/>
                </a:solidFill>
                <a:latin typeface="Open Sans"/>
              </a:rPr>
              <a:t>Step 0:</a:t>
            </a:r>
            <a:r>
              <a:rPr lang="en-US" sz="2800" b="0" strike="noStrike" spc="-1">
                <a:solidFill>
                  <a:srgbClr val="333333"/>
                </a:solidFill>
                <a:latin typeface="Open Sans"/>
              </a:rPr>
              <a:t> Find indegree for all nodes.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4640" indent="-224640">
              <a:lnSpc>
                <a:spcPct val="90000"/>
              </a:lnSpc>
              <a:spcBef>
                <a:spcPts val="1001"/>
              </a:spcBef>
              <a:buClr>
                <a:srgbClr val="333333"/>
              </a:buClr>
              <a:buFont typeface="Arial"/>
              <a:buChar char="•"/>
              <a:defRPr/>
            </a:pPr>
            <a:r>
              <a:rPr lang="en-US" sz="2800" b="1" strike="noStrike" spc="-1">
                <a:solidFill>
                  <a:srgbClr val="333333"/>
                </a:solidFill>
                <a:latin typeface="Open Sans"/>
              </a:rPr>
              <a:t>Step 1:</a:t>
            </a:r>
            <a:r>
              <a:rPr lang="en-US" sz="2800" b="0" strike="noStrike" spc="-1">
                <a:solidFill>
                  <a:srgbClr val="333333"/>
                </a:solidFill>
                <a:latin typeface="Open Sans"/>
              </a:rPr>
              <a:t> Identify a node with no incoming edges.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4640" indent="-224640">
              <a:lnSpc>
                <a:spcPct val="90000"/>
              </a:lnSpc>
              <a:spcBef>
                <a:spcPts val="1001"/>
              </a:spcBef>
              <a:buClr>
                <a:srgbClr val="333333"/>
              </a:buClr>
              <a:buFont typeface="Arial"/>
              <a:buChar char="•"/>
              <a:defRPr/>
            </a:pPr>
            <a:r>
              <a:rPr lang="en-US" sz="2800" b="1" strike="noStrike" spc="-1">
                <a:solidFill>
                  <a:srgbClr val="333333"/>
                </a:solidFill>
                <a:latin typeface="Open Sans"/>
              </a:rPr>
              <a:t>Step 2:</a:t>
            </a:r>
            <a:r>
              <a:rPr lang="en-US" sz="2800" b="0" strike="noStrike" spc="-1">
                <a:solidFill>
                  <a:srgbClr val="333333"/>
                </a:solidFill>
                <a:latin typeface="Open Sans"/>
              </a:rPr>
              <a:t> Remove the node from the graph and add it to the ordering.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4640" indent="-224640">
              <a:lnSpc>
                <a:spcPct val="90000"/>
              </a:lnSpc>
              <a:spcBef>
                <a:spcPts val="1001"/>
              </a:spcBef>
              <a:buClr>
                <a:srgbClr val="333333"/>
              </a:buClr>
              <a:buFont typeface="Arial"/>
              <a:buChar char="•"/>
              <a:defRPr/>
            </a:pPr>
            <a:r>
              <a:rPr lang="en-US" sz="2800" b="1" strike="noStrike" spc="-1">
                <a:solidFill>
                  <a:srgbClr val="333333"/>
                </a:solidFill>
                <a:latin typeface="Open Sans"/>
              </a:rPr>
              <a:t>Step 3:</a:t>
            </a:r>
            <a:r>
              <a:rPr lang="en-US" sz="2800" b="0" strike="noStrike" spc="-1">
                <a:solidFill>
                  <a:srgbClr val="333333"/>
                </a:solidFill>
                <a:latin typeface="Open Sans"/>
              </a:rPr>
              <a:t> Remove the node’s out-going edges from the graph.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4640" indent="-224640">
              <a:lnSpc>
                <a:spcPct val="90000"/>
              </a:lnSpc>
              <a:spcBef>
                <a:spcPts val="1001"/>
              </a:spcBef>
              <a:buClr>
                <a:srgbClr val="333333"/>
              </a:buClr>
              <a:buFont typeface="Arial"/>
              <a:buChar char="•"/>
              <a:defRPr/>
            </a:pPr>
            <a:r>
              <a:rPr lang="en-US" sz="2800" b="1" strike="noStrike" spc="-1">
                <a:solidFill>
                  <a:srgbClr val="333333"/>
                </a:solidFill>
                <a:latin typeface="Open Sans"/>
              </a:rPr>
              <a:t>Step 4:</a:t>
            </a:r>
            <a:r>
              <a:rPr lang="en-US" sz="2800" b="0" strike="noStrike" spc="-1">
                <a:solidFill>
                  <a:srgbClr val="333333"/>
                </a:solidFill>
                <a:latin typeface="Open Sans"/>
              </a:rPr>
              <a:t> Decrement the in-degree where connected edges were deleted.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4640" indent="-224640">
              <a:lnSpc>
                <a:spcPct val="90000"/>
              </a:lnSpc>
              <a:spcBef>
                <a:spcPts val="1001"/>
              </a:spcBef>
              <a:buClr>
                <a:srgbClr val="333333"/>
              </a:buClr>
              <a:buFont typeface="Arial"/>
              <a:buChar char="•"/>
              <a:defRPr/>
            </a:pPr>
            <a:r>
              <a:rPr lang="en-US" sz="2800" b="1" strike="noStrike" spc="-1">
                <a:solidFill>
                  <a:srgbClr val="333333"/>
                </a:solidFill>
                <a:latin typeface="Open Sans"/>
              </a:rPr>
              <a:t>Step 5: </a:t>
            </a:r>
            <a:r>
              <a:rPr lang="en-US" sz="2800" b="0" strike="noStrike" spc="-1">
                <a:solidFill>
                  <a:srgbClr val="333333"/>
                </a:solidFill>
                <a:latin typeface="Open Sans"/>
              </a:rPr>
              <a:t>Repeat Steps 1 to 4 till there are no nodes left with zero in-degree.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4640" indent="-224640">
              <a:lnSpc>
                <a:spcPct val="90000"/>
              </a:lnSpc>
              <a:spcBef>
                <a:spcPts val="1001"/>
              </a:spcBef>
              <a:buClr>
                <a:srgbClr val="333333"/>
              </a:buClr>
              <a:buFont typeface="Arial"/>
              <a:buChar char="•"/>
              <a:defRPr/>
            </a:pPr>
            <a:r>
              <a:rPr lang="en-US" sz="2800" b="1" strike="noStrike" spc="-1">
                <a:solidFill>
                  <a:srgbClr val="333333"/>
                </a:solidFill>
                <a:latin typeface="Open Sans"/>
              </a:rPr>
              <a:t>Step 6: </a:t>
            </a:r>
            <a:r>
              <a:rPr lang="en-US" sz="2800" b="0" strike="noStrike" spc="-1">
                <a:solidFill>
                  <a:srgbClr val="333333"/>
                </a:solidFill>
                <a:latin typeface="Open Sans"/>
              </a:rPr>
              <a:t>Check if all elements are present in the sorted order.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4640" indent="-224640">
              <a:lnSpc>
                <a:spcPct val="90000"/>
              </a:lnSpc>
              <a:spcBef>
                <a:spcPts val="1001"/>
              </a:spcBef>
              <a:buClr>
                <a:srgbClr val="333333"/>
              </a:buClr>
              <a:buFont typeface="Arial"/>
              <a:buChar char="•"/>
              <a:defRPr/>
            </a:pPr>
            <a:r>
              <a:rPr lang="en-US" sz="2800" b="1" strike="noStrike" spc="-1">
                <a:solidFill>
                  <a:srgbClr val="333333"/>
                </a:solidFill>
                <a:latin typeface="Open Sans"/>
              </a:rPr>
              <a:t>Step 7:</a:t>
            </a:r>
            <a:r>
              <a:rPr lang="en-US" sz="2800" b="0" strike="noStrike" spc="-1">
                <a:solidFill>
                  <a:srgbClr val="333333"/>
                </a:solidFill>
                <a:latin typeface="Open Sans"/>
              </a:rPr>
              <a:t> If the result of Step 6 is true, we have the sorted order. Else no topological ordering exists.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4640" indent="-224640">
              <a:lnSpc>
                <a:spcPct val="90000"/>
              </a:lnSpc>
              <a:spcBef>
                <a:spcPts val="1001"/>
              </a:spcBef>
              <a:buClr>
                <a:srgbClr val="333333"/>
              </a:buClr>
              <a:buFont typeface="Arial"/>
              <a:buChar char="•"/>
              <a:defRPr/>
            </a:pPr>
            <a:r>
              <a:rPr lang="en-US" sz="2800" b="1" strike="noStrike" spc="-1">
                <a:solidFill>
                  <a:srgbClr val="333333"/>
                </a:solidFill>
                <a:latin typeface="Open Sans"/>
              </a:rPr>
              <a:t>Step 8:</a:t>
            </a:r>
            <a:r>
              <a:rPr lang="en-US" sz="2800" b="0" strike="noStrike" spc="-1">
                <a:solidFill>
                  <a:srgbClr val="333333"/>
                </a:solidFill>
                <a:latin typeface="Open Sans"/>
              </a:rPr>
              <a:t> Exit.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1" name="Picture 4"/>
          <p:cNvPicPr/>
          <p:nvPr/>
        </p:nvPicPr>
        <p:blipFill>
          <a:blip r:embed="rId3"/>
          <a:stretch/>
        </p:blipFill>
        <p:spPr bwMode="auto">
          <a:xfrm>
            <a:off x="7009200" y="3062519"/>
            <a:ext cx="5181120" cy="3677040"/>
          </a:xfrm>
          <a:prstGeom prst="rect">
            <a:avLst/>
          </a:prstGeom>
          <a:ln w="0">
            <a:noFill/>
          </a:ln>
        </p:spPr>
      </p:pic>
      <p:pic>
        <p:nvPicPr>
          <p:cNvPr id="202" name="Picture 6"/>
          <p:cNvPicPr/>
          <p:nvPr/>
        </p:nvPicPr>
        <p:blipFill>
          <a:blip r:embed="rId4"/>
          <a:stretch/>
        </p:blipFill>
        <p:spPr bwMode="auto">
          <a:xfrm>
            <a:off x="744120" y="446400"/>
            <a:ext cx="4726440" cy="48636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" name="Picture 4"/>
          <p:cNvPicPr/>
          <p:nvPr/>
        </p:nvPicPr>
        <p:blipFill>
          <a:blip r:embed="rId3"/>
          <a:stretch/>
        </p:blipFill>
        <p:spPr bwMode="auto">
          <a:xfrm>
            <a:off x="1480320" y="256680"/>
            <a:ext cx="8910360" cy="63169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4400" b="1" strike="noStrike" spc="-1">
                <a:solidFill>
                  <a:srgbClr val="000000"/>
                </a:solidFill>
                <a:latin typeface="Calibri Light"/>
              </a:rPr>
              <a:t>Shortest Path Algorithm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A shortest path algorithm is an algorithm for finding the shortest path between two nodes in a graph. 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Graphs are used to model connections between objects, people, or entities. 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They have two main elements: nodes and edges. Nodes represent objects and edges represent the connections between these objects.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4400" b="1" strike="noStrike" spc="-1">
                <a:solidFill>
                  <a:srgbClr val="000000"/>
                </a:solidFill>
                <a:latin typeface="Calibri Light"/>
              </a:rPr>
              <a:t>Dijkstra's Algorithm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3000"/>
          </a:bodyPr>
          <a:lstStyle/>
          <a:p>
            <a:pPr marL="203760" indent="-203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Dijkstra's algorithm is used to find the shortest path in a graph with </a:t>
            </a: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non-negative edge weights.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 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03760" indent="-203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It starts from a source vertex and explores the neighboring vertices, updating their distances from the source as it progresses. 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03760" indent="-203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Dijkstra's algorithm guarantees finding the shortest path when all edge weights are non-negative.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03760" indent="-203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Greedy algorithm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03760" indent="-203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Optimal solution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03760" indent="-203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Application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613800" lvl="1" indent="-203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GPS Navigation Systems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613800" lvl="1" indent="-203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Internet Routing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613800" lvl="1" indent="-203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…….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4400" b="1" strike="noStrike" spc="-1">
                <a:solidFill>
                  <a:srgbClr val="000000"/>
                </a:solidFill>
                <a:latin typeface="Calibri Light"/>
              </a:rPr>
              <a:t>Dijkstra's Algorithm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In Dijkstra's Algorithm, </a:t>
            </a: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relaxation refers 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to the process of updating the tentative distances of vertices as the algorithm explores the graph. 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It involves comparing the current shortest distance to a vertex with the newly calculated distance through an intermediate vertex.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 If the newly calculated distance is smaller, the shortest distance to the vertex is updated.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800" b="0" i="1" strike="noStrike" spc="-1">
                <a:solidFill>
                  <a:srgbClr val="000000"/>
                </a:solidFill>
                <a:latin typeface="Calibri"/>
              </a:rPr>
              <a:t>if (currentDistance(d(u)) + edgeWeight(c(u,v)) &lt; tentativeDistance(d(v)))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800" b="0" i="1" strike="noStrike" spc="-1">
                <a:solidFill>
                  <a:srgbClr val="000000"/>
                </a:solidFill>
                <a:latin typeface="Calibri"/>
              </a:rPr>
              <a:t>tentativeDistance(d(v)) = currentDistance(d(u)) + edgeWeight c(u,v)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" name="Picture 4"/>
          <p:cNvPicPr/>
          <p:nvPr/>
        </p:nvPicPr>
        <p:blipFill>
          <a:blip r:embed="rId3"/>
          <a:stretch/>
        </p:blipFill>
        <p:spPr bwMode="auto">
          <a:xfrm>
            <a:off x="2370240" y="1265040"/>
            <a:ext cx="7106400" cy="39121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1" name="Picture 6"/>
          <p:cNvPicPr/>
          <p:nvPr/>
        </p:nvPicPr>
        <p:blipFill>
          <a:blip r:embed="rId3"/>
          <a:stretch/>
        </p:blipFill>
        <p:spPr bwMode="auto">
          <a:xfrm>
            <a:off x="561600" y="1150200"/>
            <a:ext cx="11440079" cy="41752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" name="Picture 2"/>
          <p:cNvPicPr/>
          <p:nvPr/>
        </p:nvPicPr>
        <p:blipFill>
          <a:blip r:embed="rId3"/>
          <a:stretch/>
        </p:blipFill>
        <p:spPr bwMode="auto">
          <a:xfrm>
            <a:off x="534240" y="1707480"/>
            <a:ext cx="11122200" cy="3618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" name="Picture 2"/>
          <p:cNvPicPr/>
          <p:nvPr/>
        </p:nvPicPr>
        <p:blipFill>
          <a:blip r:embed="rId3"/>
          <a:stretch/>
        </p:blipFill>
        <p:spPr bwMode="auto">
          <a:xfrm>
            <a:off x="174600" y="1411920"/>
            <a:ext cx="11635560" cy="4320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" name="Picture 2"/>
          <p:cNvPicPr/>
          <p:nvPr/>
        </p:nvPicPr>
        <p:blipFill>
          <a:blip r:embed="rId3"/>
          <a:stretch/>
        </p:blipFill>
        <p:spPr bwMode="auto">
          <a:xfrm>
            <a:off x="1087200" y="1532160"/>
            <a:ext cx="10015920" cy="3444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4400" b="1" strike="noStrike" spc="-1">
                <a:solidFill>
                  <a:srgbClr val="000000"/>
                </a:solidFill>
                <a:latin typeface="Calibri Light"/>
              </a:rPr>
              <a:t>Dijkstra's Algorithm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Examples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7" name="Picture 4"/>
          <p:cNvPicPr/>
          <p:nvPr/>
        </p:nvPicPr>
        <p:blipFill>
          <a:blip r:embed="rId3"/>
          <a:stretch/>
        </p:blipFill>
        <p:spPr bwMode="auto">
          <a:xfrm>
            <a:off x="654840" y="2556360"/>
            <a:ext cx="5743080" cy="3456720"/>
          </a:xfrm>
          <a:prstGeom prst="rect">
            <a:avLst/>
          </a:prstGeom>
          <a:ln w="0">
            <a:noFill/>
          </a:ln>
        </p:spPr>
      </p:pic>
      <p:pic>
        <p:nvPicPr>
          <p:cNvPr id="218" name="Picture 6"/>
          <p:cNvPicPr/>
          <p:nvPr/>
        </p:nvPicPr>
        <p:blipFill>
          <a:blip r:embed="rId4"/>
          <a:stretch/>
        </p:blipFill>
        <p:spPr bwMode="auto">
          <a:xfrm>
            <a:off x="6582600" y="3149640"/>
            <a:ext cx="5466240" cy="28634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9" name="Picture 4"/>
          <p:cNvPicPr/>
          <p:nvPr/>
        </p:nvPicPr>
        <p:blipFill>
          <a:blip r:embed="rId3"/>
          <a:stretch/>
        </p:blipFill>
        <p:spPr bwMode="auto">
          <a:xfrm>
            <a:off x="649080" y="579600"/>
            <a:ext cx="5000039" cy="2504160"/>
          </a:xfrm>
          <a:prstGeom prst="rect">
            <a:avLst/>
          </a:prstGeom>
          <a:ln w="0">
            <a:noFill/>
          </a:ln>
        </p:spPr>
      </p:pic>
      <p:pic>
        <p:nvPicPr>
          <p:cNvPr id="220" name="Picture 6"/>
          <p:cNvPicPr/>
          <p:nvPr/>
        </p:nvPicPr>
        <p:blipFill>
          <a:blip r:embed="rId4"/>
          <a:stretch/>
        </p:blipFill>
        <p:spPr bwMode="auto">
          <a:xfrm>
            <a:off x="4512240" y="3496680"/>
            <a:ext cx="6533640" cy="27802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4400" b="1" strike="noStrike" spc="-1">
                <a:solidFill>
                  <a:srgbClr val="000000"/>
                </a:solidFill>
                <a:latin typeface="Calibri Light"/>
              </a:rPr>
              <a:t>Minimum spanning tree (MST) 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0000" tIns="45000" rIns="90000" bIns="45000" numCol="1" spcCol="0" rtlCol="0" fromWordArt="0" anchor="t" anchorCtr="0" forceAA="0" compatLnSpc="0">
            <a:normAutofit fontScale="95000" lnSpcReduction="1000"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A minimum spanning tree (MST) is a subset of the edges of a connected, weighted graph that </a:t>
            </a: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connects all the vertices 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with the minimum possible total edge weight.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 In other words, </a:t>
            </a: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it is a tree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 that spans all the vertices of the graph while minimizing the </a:t>
            </a: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sum of the weights of its edges.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A connected graph can have multiple spanning trees. </a:t>
            </a:r>
            <a:endParaRPr lang="en-US" sz="2800" b="0" strike="noStrike" spc="0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0">
                <a:solidFill>
                  <a:srgbClr val="000000"/>
                </a:solidFill>
                <a:latin typeface="Calibri"/>
              </a:rPr>
              <a:t>A graph with n vertices can have an n^(n-2) number of spanning trees.</a:t>
            </a:r>
            <a:endParaRPr lang="en-US" sz="2800" b="0" strike="noStrike" spc="0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Spanning trees </a:t>
            </a:r>
            <a:r>
              <a:rPr lang="en-US" sz="2800" b="1" strike="noStrike" spc="-1">
                <a:solidFill>
                  <a:srgbClr val="000000"/>
                </a:solidFill>
                <a:latin typeface="Calibri"/>
              </a:rPr>
              <a:t>does not have any loop 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or cycle.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Spanning trees have n vertices and n-1 number of edges.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3" name="Picture 4"/>
          <p:cNvPicPr/>
          <p:nvPr/>
        </p:nvPicPr>
        <p:blipFill>
          <a:blip r:embed="rId3"/>
          <a:stretch/>
        </p:blipFill>
        <p:spPr bwMode="auto">
          <a:xfrm>
            <a:off x="4118760" y="61560"/>
            <a:ext cx="3256560" cy="2056320"/>
          </a:xfrm>
          <a:prstGeom prst="rect">
            <a:avLst/>
          </a:prstGeom>
          <a:ln w="0">
            <a:noFill/>
          </a:ln>
        </p:spPr>
      </p:pic>
      <p:pic>
        <p:nvPicPr>
          <p:cNvPr id="224" name="Picture 6"/>
          <p:cNvPicPr/>
          <p:nvPr/>
        </p:nvPicPr>
        <p:blipFill>
          <a:blip r:embed="rId4"/>
          <a:stretch/>
        </p:blipFill>
        <p:spPr bwMode="auto">
          <a:xfrm>
            <a:off x="393840" y="2341080"/>
            <a:ext cx="3304080" cy="4504680"/>
          </a:xfrm>
          <a:prstGeom prst="rect">
            <a:avLst/>
          </a:prstGeom>
          <a:ln w="0">
            <a:noFill/>
          </a:ln>
        </p:spPr>
      </p:pic>
      <p:pic>
        <p:nvPicPr>
          <p:cNvPr id="225" name="Picture 8"/>
          <p:cNvPicPr/>
          <p:nvPr/>
        </p:nvPicPr>
        <p:blipFill>
          <a:blip r:embed="rId5"/>
          <a:stretch/>
        </p:blipFill>
        <p:spPr bwMode="auto">
          <a:xfrm>
            <a:off x="4476600" y="2341080"/>
            <a:ext cx="3237480" cy="4114080"/>
          </a:xfrm>
          <a:prstGeom prst="rect">
            <a:avLst/>
          </a:prstGeom>
          <a:ln w="0">
            <a:noFill/>
          </a:ln>
        </p:spPr>
      </p:pic>
      <p:pic>
        <p:nvPicPr>
          <p:cNvPr id="226" name="Picture 10"/>
          <p:cNvPicPr/>
          <p:nvPr/>
        </p:nvPicPr>
        <p:blipFill>
          <a:blip r:embed="rId6"/>
          <a:stretch/>
        </p:blipFill>
        <p:spPr bwMode="auto">
          <a:xfrm>
            <a:off x="8492760" y="2117160"/>
            <a:ext cx="2923200" cy="45615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4400" b="1" strike="noStrike" spc="-1">
                <a:solidFill>
                  <a:srgbClr val="000000"/>
                </a:solidFill>
                <a:latin typeface="Calibri Light"/>
              </a:rPr>
              <a:t>Applications of Spanning Tree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In routing protocols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Cluster mapping and analysis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Network Planning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Explore the path/ route in the maps.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4400" b="1" strike="noStrike" spc="-1">
                <a:solidFill>
                  <a:srgbClr val="000000"/>
                </a:solidFill>
                <a:latin typeface="Calibri Light"/>
              </a:rPr>
              <a:t>Prim’s MST</a:t>
            </a:r>
            <a:br>
              <a:rPr sz="4400"/>
            </a:b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Prim’s algorithm starts with a single node/vertex and moves on to the adjacent vertices to explore all the connected edges. 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The idea behind prim’s algorithm is that it maintains two sets of vertices. 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The first set comprises vertices that are already included in the minimum spanning tree and the other set consists of all the vertices which are not included yet. 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1" name="Picture 2" descr="Example of a graph"/>
          <p:cNvPicPr/>
          <p:nvPr/>
        </p:nvPicPr>
        <p:blipFill>
          <a:blip r:embed="rId3"/>
          <a:stretch/>
        </p:blipFill>
        <p:spPr bwMode="auto">
          <a:xfrm>
            <a:off x="559594" y="637425"/>
            <a:ext cx="7653338" cy="4953000"/>
          </a:xfrm>
          <a:prstGeom prst="rect">
            <a:avLst/>
          </a:prstGeom>
          <a:ln w="0">
            <a:noFill/>
          </a:ln>
        </p:spPr>
      </p:pic>
      <p:pic>
        <p:nvPicPr>
          <p:cNvPr id="232" name="Picture 4" descr="Prim's Algorithm"/>
          <p:cNvPicPr/>
          <p:nvPr/>
        </p:nvPicPr>
        <p:blipFill>
          <a:blip r:embed="rId4"/>
          <a:stretch/>
        </p:blipFill>
        <p:spPr bwMode="auto">
          <a:xfrm>
            <a:off x="7805738" y="4572000"/>
            <a:ext cx="4386262" cy="2017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3" name="Picture 2" descr="Prim's Algorithm"/>
          <p:cNvPicPr/>
          <p:nvPr/>
        </p:nvPicPr>
        <p:blipFill>
          <a:blip r:embed="rId3"/>
          <a:stretch/>
        </p:blipFill>
        <p:spPr bwMode="auto">
          <a:xfrm>
            <a:off x="6095880" y="4104000"/>
            <a:ext cx="5713560" cy="2160720"/>
          </a:xfrm>
          <a:prstGeom prst="rect">
            <a:avLst/>
          </a:prstGeom>
          <a:ln w="0">
            <a:noFill/>
          </a:ln>
        </p:spPr>
      </p:pic>
      <p:pic>
        <p:nvPicPr>
          <p:cNvPr id="234" name="Picture 6" descr="The structure of the MST formed using the above method"/>
          <p:cNvPicPr/>
          <p:nvPr/>
        </p:nvPicPr>
        <p:blipFill>
          <a:blip r:embed="rId4"/>
          <a:stretch/>
        </p:blipFill>
        <p:spPr bwMode="auto">
          <a:xfrm>
            <a:off x="565560" y="467640"/>
            <a:ext cx="5761080" cy="33411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en-US" sz="4400" b="1" strike="noStrike" spc="-1">
                <a:solidFill>
                  <a:srgbClr val="000000"/>
                </a:solidFill>
                <a:latin typeface="Calibri Light"/>
              </a:rPr>
              <a:t>Kruskal’s Minimum Spanning Tree (MST) Algorithm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In Kruskal’s algorithm, sort all edges of the given graph in increasing order.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Then it keeps on adding new edges and nodes in the MST if the newly added edge does not form a cycle.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It picks the minimum weighted edge at first at the maximum weighted edge at last.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Thus we can say that it makes a locally optimal choice in each step in order to find the optimal solution. Hence this is a Greedy Algorithm.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7" name="Picture 2" descr="Kruskal’s Minimum Spanning Tree Algorithm"/>
          <p:cNvPicPr/>
          <p:nvPr/>
        </p:nvPicPr>
        <p:blipFill>
          <a:blip r:embed="rId3"/>
          <a:stretch/>
        </p:blipFill>
        <p:spPr bwMode="auto">
          <a:xfrm>
            <a:off x="2702160" y="1368720"/>
            <a:ext cx="7568280" cy="3448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buNone/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spcBef>
                <a:spcPts val="1417"/>
              </a:spcBef>
              <a:buNone/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1330</Words>
  <Application>Microsoft Office PowerPoint</Application>
  <DocSecurity>0</DocSecurity>
  <PresentationFormat>Widescreen</PresentationFormat>
  <Paragraphs>162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35</vt:i4>
      </vt:variant>
    </vt:vector>
  </HeadingPairs>
  <TitlesOfParts>
    <vt:vector size="49" baseType="lpstr">
      <vt:lpstr>arial</vt:lpstr>
      <vt:lpstr>arial</vt:lpstr>
      <vt:lpstr>Calibri</vt:lpstr>
      <vt:lpstr>Calibri Light</vt:lpstr>
      <vt:lpstr>inter-bold</vt:lpstr>
      <vt:lpstr>inter-regular</vt:lpstr>
      <vt:lpstr>Open Sans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Graph Algorithm</vt:lpstr>
      <vt:lpstr>Graph Algorithm</vt:lpstr>
      <vt:lpstr>Graph Representations</vt:lpstr>
      <vt:lpstr>Graph Representations</vt:lpstr>
      <vt:lpstr>Degree of Graph</vt:lpstr>
      <vt:lpstr>Representations of a graph.</vt:lpstr>
      <vt:lpstr>Incidence Matrix</vt:lpstr>
      <vt:lpstr>Adjacency Matrix </vt:lpstr>
      <vt:lpstr>Adjacency List</vt:lpstr>
      <vt:lpstr>Graph Traverse</vt:lpstr>
      <vt:lpstr>Breadth-first search</vt:lpstr>
      <vt:lpstr>Depth-first search</vt:lpstr>
      <vt:lpstr>Topological sort</vt:lpstr>
      <vt:lpstr>Topological sort Algorithm</vt:lpstr>
      <vt:lpstr>PowerPoint Presentation</vt:lpstr>
      <vt:lpstr>PowerPoint Presentation</vt:lpstr>
      <vt:lpstr>Shortest Path Algorithm</vt:lpstr>
      <vt:lpstr>Dijkstra's Algorithm</vt:lpstr>
      <vt:lpstr>Dijkstra's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Dijkstra's Algorithm</vt:lpstr>
      <vt:lpstr>PowerPoint Presentation</vt:lpstr>
      <vt:lpstr>Minimum spanning tree (MST) </vt:lpstr>
      <vt:lpstr>PowerPoint Presentation</vt:lpstr>
      <vt:lpstr>Applications of Spanning Tree</vt:lpstr>
      <vt:lpstr>Prim’s MST </vt:lpstr>
      <vt:lpstr>PowerPoint Presentation</vt:lpstr>
      <vt:lpstr>PowerPoint Presentation</vt:lpstr>
      <vt:lpstr>Kruskal’s Minimum Spanning Tree (MST) Algorithm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Algorithm</dc:title>
  <dc:subject/>
  <dc:creator>shiva pathak</dc:creator>
  <cp:keywords/>
  <dc:description/>
  <cp:lastModifiedBy>shiva pathak</cp:lastModifiedBy>
  <cp:revision>76</cp:revision>
  <dcterms:created xsi:type="dcterms:W3CDTF">2023-06-26T16:14:37Z</dcterms:created>
  <dcterms:modified xsi:type="dcterms:W3CDTF">2025-06-24T11:57:42Z</dcterms:modified>
  <cp:category/>
  <dc:identifier/>
  <cp:contentStatus/>
  <dc:language>en-US</dc:language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Widescreen</vt:lpwstr>
  </property>
  <property fmtid="{D5CDD505-2E9C-101B-9397-08002B2CF9AE}" pid="4" name="Slides">
    <vt:i4>34</vt:i4>
  </property>
</Properties>
</file>