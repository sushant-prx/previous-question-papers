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2534-BC50-5392-D831-89CCA07AA0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FF0AD1-E0BD-764A-6E98-C54250B4D5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4FE266-DBC9-F842-252D-C66358388DC2}"/>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A21B2C34-7636-D503-2B4F-7A7DE05B6F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49393-90EE-2A9B-6707-B143A542A313}"/>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1979665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2ACA-D3E0-7F24-A9C0-9550F491D9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17E6D8-59D0-310B-B09B-B7F1B3E27F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58208-911F-5D02-B600-7DE20616B7DB}"/>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7CB426F7-E852-75C1-A0B3-FFAD66CEC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28A54-0B61-FDA5-EA56-06D744773A93}"/>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3804658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1384-333D-0FC0-D73C-AFFBD3591E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488111-9BEE-8212-923E-AC4AC9413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BCBC9B-EB01-5536-D6B1-5479296A24CE}"/>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E640BC4F-8B82-C3B2-CEE4-79775571A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11E6C4-1814-9EB3-93F6-B5583E410F15}"/>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697223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6D9B-6DD2-E1E9-B53A-6C56047778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F7FB2-C8BC-7FC4-0BCB-8C17D30353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B857A5-2D5B-5044-A2E5-63084C7138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FC3B3A-2B69-13B8-D852-A8E1637FE36A}"/>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6" name="Footer Placeholder 5">
            <a:extLst>
              <a:ext uri="{FF2B5EF4-FFF2-40B4-BE49-F238E27FC236}">
                <a16:creationId xmlns:a16="http://schemas.microsoft.com/office/drawing/2014/main" id="{72C63B00-2AE8-15EC-5206-A13728169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5B8F5C-DC6C-301E-5E9E-8B84103C3A9B}"/>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2759124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06608-B310-5D40-5DFF-62CC430C1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423CA7-988A-9604-F799-3FEEEE63C5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A2DF0B-5195-2A94-D52C-414A6C6D97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619EE4-FE1E-5776-DF5B-DDB4213499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913E4A-EE11-443C-D8BD-40B1E48F8F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1A2992-AC68-F8B6-E016-6E2E583CDCBA}"/>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8" name="Footer Placeholder 7">
            <a:extLst>
              <a:ext uri="{FF2B5EF4-FFF2-40B4-BE49-F238E27FC236}">
                <a16:creationId xmlns:a16="http://schemas.microsoft.com/office/drawing/2014/main" id="{79C8331D-1EE5-8BE1-24A5-F6538CCE34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B51AAC-BFE1-F9C5-B6B1-24B3D3463FE0}"/>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3817813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4B42C-47AD-3F45-6D41-6BE34322FB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1EE800-770A-4A66-EDCA-136BBB0773CD}"/>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4" name="Footer Placeholder 3">
            <a:extLst>
              <a:ext uri="{FF2B5EF4-FFF2-40B4-BE49-F238E27FC236}">
                <a16:creationId xmlns:a16="http://schemas.microsoft.com/office/drawing/2014/main" id="{520AEA35-7956-431F-BB5C-6E4C9B6BA5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747CAC-ACB9-00AD-F680-FD517D7D9C86}"/>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894457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01D4B0-0C78-B89D-0207-663BFDCC2695}"/>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3" name="Footer Placeholder 2">
            <a:extLst>
              <a:ext uri="{FF2B5EF4-FFF2-40B4-BE49-F238E27FC236}">
                <a16:creationId xmlns:a16="http://schemas.microsoft.com/office/drawing/2014/main" id="{D8F83EC5-AB51-FB22-EA44-93E8849BB3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627937-D171-46B5-17F0-4AF982B337EB}"/>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1030651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5960-80A6-C26F-D813-A58E13264A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C39F47-6D5A-492E-FB0E-6B72888259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3BB7D8-71E6-3D2A-7888-E3007D38C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8B9F54-567D-D5F2-2457-1383F7D2E405}"/>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6" name="Footer Placeholder 5">
            <a:extLst>
              <a:ext uri="{FF2B5EF4-FFF2-40B4-BE49-F238E27FC236}">
                <a16:creationId xmlns:a16="http://schemas.microsoft.com/office/drawing/2014/main" id="{C7D89134-B02C-B3FB-C469-B0EDAADBB8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BF00A-E4B4-905C-EFEF-33B2B596BD5C}"/>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2549483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CDF3-D7EC-3029-B0F9-57BFE1D6D1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07C10A-6577-65E9-0990-51B8B4C6FD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42CA43-9383-9D8F-A3B2-9CBA4B7F1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DF19CA-B243-870F-5BA1-73D63C28D610}"/>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6" name="Footer Placeholder 5">
            <a:extLst>
              <a:ext uri="{FF2B5EF4-FFF2-40B4-BE49-F238E27FC236}">
                <a16:creationId xmlns:a16="http://schemas.microsoft.com/office/drawing/2014/main" id="{5E87102A-2A9E-BD21-14FD-A0B448DA1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516A06-984D-BE46-1753-9C09E61C78C7}"/>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2758134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6E254-069D-7871-76C7-1AFE6D9090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B46CF4-FECA-0673-9D45-654D2B20A8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D0B53-D568-F8A1-9240-1943E3B79C18}"/>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3699CE7D-7C19-B8DB-FFA3-5A30229E2C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0EBC22-6632-149A-71F3-06AEC0444E5B}"/>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1026240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72C133-EC0B-A2C9-D1CD-D72824409E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3CE7B7-37B5-E1EE-D57E-DDA1D03930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30C38-A21D-5752-1375-0C44C6BA8AF0}"/>
              </a:ext>
            </a:extLst>
          </p:cNvPr>
          <p:cNvSpPr>
            <a:spLocks noGrp="1"/>
          </p:cNvSpPr>
          <p:nvPr>
            <p:ph type="dt" sz="half" idx="10"/>
          </p:nvPr>
        </p:nvSpPr>
        <p:spPr/>
        <p:txBody>
          <a:body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DDA2B088-023C-03AD-E87A-0AF84A09C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882AD-A78B-9AE9-5704-77DA0343C1C8}"/>
              </a:ext>
            </a:extLst>
          </p:cNvPr>
          <p:cNvSpPr>
            <a:spLocks noGrp="1"/>
          </p:cNvSpPr>
          <p:nvPr>
            <p:ph type="sldNum" sz="quarter" idx="12"/>
          </p:nvPr>
        </p:nvSpPr>
        <p:spPr/>
        <p:txBody>
          <a:bodyPr/>
          <a:lstStyle/>
          <a:p>
            <a:fld id="{B0206589-4B8B-4E8D-BE28-639ADBAB4A97}" type="slidenum">
              <a:rPr lang="en-US" smtClean="0"/>
              <a:t>‹#›</a:t>
            </a:fld>
            <a:endParaRPr lang="en-US"/>
          </a:p>
        </p:txBody>
      </p:sp>
    </p:spTree>
    <p:extLst>
      <p:ext uri="{BB962C8B-B14F-4D97-AF65-F5344CB8AC3E}">
        <p14:creationId xmlns:p14="http://schemas.microsoft.com/office/powerpoint/2010/main" val="1522809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EBC66-E78A-9DF9-FA2C-D89E76279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E01D42-DDA1-4736-9D92-C1690D625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5C800-1C68-835F-38DB-9EF6AF2295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DF697-8639-40D1-89F1-D923824C4E5D}" type="datetimeFigureOut">
              <a:rPr lang="en-US" smtClean="0"/>
              <a:t>4/24/2025</a:t>
            </a:fld>
            <a:endParaRPr lang="en-US"/>
          </a:p>
        </p:txBody>
      </p:sp>
      <p:sp>
        <p:nvSpPr>
          <p:cNvPr id="5" name="Footer Placeholder 4">
            <a:extLst>
              <a:ext uri="{FF2B5EF4-FFF2-40B4-BE49-F238E27FC236}">
                <a16:creationId xmlns:a16="http://schemas.microsoft.com/office/drawing/2014/main" id="{EA3AC46F-19D0-B77B-09D3-D4FFCE8108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57D50A-79CF-9687-A4ED-76E8CAA4A7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06589-4B8B-4E8D-BE28-639ADBAB4A97}" type="slidenum">
              <a:rPr lang="en-US" smtClean="0"/>
              <a:t>‹#›</a:t>
            </a:fld>
            <a:endParaRPr lang="en-US"/>
          </a:p>
        </p:txBody>
      </p:sp>
    </p:spTree>
    <p:extLst>
      <p:ext uri="{BB962C8B-B14F-4D97-AF65-F5344CB8AC3E}">
        <p14:creationId xmlns:p14="http://schemas.microsoft.com/office/powerpoint/2010/main" val="1458366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0818-E5AA-FD14-1CA6-E326E00D3775}"/>
              </a:ext>
            </a:extLst>
          </p:cNvPr>
          <p:cNvSpPr>
            <a:spLocks noGrp="1"/>
          </p:cNvSpPr>
          <p:nvPr>
            <p:ph type="ctrTitle"/>
          </p:nvPr>
        </p:nvSpPr>
        <p:spPr/>
        <p:txBody>
          <a:bodyPr/>
          <a:lstStyle/>
          <a:p>
            <a:r>
              <a:rPr lang="en-US" dirty="0"/>
              <a:t>Recursion</a:t>
            </a:r>
          </a:p>
        </p:txBody>
      </p:sp>
      <p:sp>
        <p:nvSpPr>
          <p:cNvPr id="3" name="Subtitle 2">
            <a:extLst>
              <a:ext uri="{FF2B5EF4-FFF2-40B4-BE49-F238E27FC236}">
                <a16:creationId xmlns:a16="http://schemas.microsoft.com/office/drawing/2014/main" id="{1A1807D2-0EBC-BE43-3087-A004A4A4AB4A}"/>
              </a:ext>
            </a:extLst>
          </p:cNvPr>
          <p:cNvSpPr>
            <a:spLocks noGrp="1"/>
          </p:cNvSpPr>
          <p:nvPr>
            <p:ph type="subTitle" idx="1"/>
          </p:nvPr>
        </p:nvSpPr>
        <p:spPr/>
        <p:txBody>
          <a:bodyPr/>
          <a:lstStyle/>
          <a:p>
            <a:r>
              <a:rPr lang="en-US" dirty="0"/>
              <a:t>Unit-ii</a:t>
            </a:r>
          </a:p>
        </p:txBody>
      </p:sp>
    </p:spTree>
    <p:extLst>
      <p:ext uri="{BB962C8B-B14F-4D97-AF65-F5344CB8AC3E}">
        <p14:creationId xmlns:p14="http://schemas.microsoft.com/office/powerpoint/2010/main" val="732014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837897" y="364854"/>
            <a:ext cx="10514580" cy="1324010"/>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Introduction of Recursion</a:t>
            </a:r>
            <a:endParaRPr lang="en-US" sz="5321" spc="-1">
              <a:solidFill>
                <a:srgbClr val="000000"/>
              </a:solidFill>
              <a:latin typeface="Arial"/>
            </a:endParaRPr>
          </a:p>
        </p:txBody>
      </p:sp>
      <p:sp>
        <p:nvSpPr>
          <p:cNvPr id="469" name="PlaceHolder 2"/>
          <p:cNvSpPr>
            <a:spLocks noGrp="1"/>
          </p:cNvSpPr>
          <p:nvPr>
            <p:ph/>
          </p:nvPr>
        </p:nvSpPr>
        <p:spPr>
          <a:xfrm>
            <a:off x="837897" y="1825139"/>
            <a:ext cx="10514580" cy="4349510"/>
          </a:xfrm>
          <a:prstGeom prst="rect">
            <a:avLst/>
          </a:prstGeom>
          <a:noFill/>
          <a:ln w="0">
            <a:noFill/>
          </a:ln>
        </p:spPr>
        <p:txBody>
          <a:bodyPr lIns="0" tIns="0" rIns="0" bIns="0" anchor="t">
            <a:noAutofit/>
          </a:bodyPr>
          <a:lstStyle/>
          <a:p>
            <a:pPr marL="329586" indent="-314347">
              <a:spcBef>
                <a:spcPts val="1211"/>
              </a:spcBef>
              <a:buClr>
                <a:srgbClr val="000000"/>
              </a:buClr>
              <a:buFont typeface="Arial"/>
              <a:buChar char="•"/>
            </a:pPr>
            <a:r>
              <a:rPr lang="en-US" sz="2419" spc="-1" dirty="0">
                <a:solidFill>
                  <a:srgbClr val="000000"/>
                </a:solidFill>
                <a:latin typeface="Calibri"/>
              </a:rPr>
              <a:t>A function that is defined in terms of itself is called recursive.</a:t>
            </a:r>
            <a:endParaRPr lang="en-US" sz="2419" spc="-1" dirty="0">
              <a:solidFill>
                <a:srgbClr val="000000"/>
              </a:solidFill>
              <a:latin typeface="Arial"/>
            </a:endParaRPr>
          </a:p>
          <a:p>
            <a:pPr marL="329586" indent="-314347">
              <a:spcBef>
                <a:spcPts val="1211"/>
              </a:spcBef>
              <a:buClr>
                <a:srgbClr val="000000"/>
              </a:buClr>
              <a:buFont typeface="Arial"/>
              <a:buChar char="•"/>
            </a:pPr>
            <a:r>
              <a:rPr lang="en-US" sz="2419" spc="-1" dirty="0">
                <a:solidFill>
                  <a:srgbClr val="000000"/>
                </a:solidFill>
                <a:latin typeface="Calibri"/>
              </a:rPr>
              <a:t>The process of recursion involves solving a problem by turning it into </a:t>
            </a:r>
            <a:r>
              <a:rPr lang="en-US" sz="2419" b="1" spc="-1" dirty="0">
                <a:solidFill>
                  <a:srgbClr val="000000"/>
                </a:solidFill>
                <a:latin typeface="Calibri"/>
              </a:rPr>
              <a:t>smaller varieties of itself</a:t>
            </a:r>
            <a:r>
              <a:rPr lang="en-US" sz="2419" spc="-1" dirty="0">
                <a:solidFill>
                  <a:srgbClr val="000000"/>
                </a:solidFill>
                <a:latin typeface="Calibri"/>
              </a:rPr>
              <a:t>.</a:t>
            </a:r>
            <a:endParaRPr lang="en-US" sz="2419" spc="-1" dirty="0">
              <a:solidFill>
                <a:srgbClr val="000000"/>
              </a:solidFill>
              <a:latin typeface="Arial"/>
            </a:endParaRPr>
          </a:p>
          <a:p>
            <a:pPr marL="329586" indent="-314347">
              <a:spcBef>
                <a:spcPts val="1211"/>
              </a:spcBef>
              <a:buClr>
                <a:srgbClr val="000000"/>
              </a:buClr>
              <a:buFont typeface="Arial"/>
              <a:buChar char="•"/>
            </a:pPr>
            <a:r>
              <a:rPr lang="en-US" sz="2419" spc="-1" dirty="0">
                <a:solidFill>
                  <a:srgbClr val="000000"/>
                </a:solidFill>
                <a:latin typeface="Calibri"/>
              </a:rPr>
              <a:t>Recursion in the data structure is one of the most compact and </a:t>
            </a:r>
            <a:r>
              <a:rPr lang="en-US" sz="2419" b="1" spc="-1" dirty="0">
                <a:solidFill>
                  <a:srgbClr val="000000"/>
                </a:solidFill>
                <a:latin typeface="Calibri"/>
              </a:rPr>
              <a:t>improved strategies for creating function calls </a:t>
            </a:r>
            <a:r>
              <a:rPr lang="en-US" sz="2419" spc="-1" dirty="0">
                <a:solidFill>
                  <a:srgbClr val="000000"/>
                </a:solidFill>
                <a:latin typeface="Calibri"/>
              </a:rPr>
              <a:t>or deploying functions in programming.</a:t>
            </a:r>
            <a:endParaRPr lang="en-US" sz="2419" spc="-1" dirty="0">
              <a:solidFill>
                <a:srgbClr val="000000"/>
              </a:solidFill>
              <a:latin typeface="Arial"/>
            </a:endParaRPr>
          </a:p>
          <a:p>
            <a:pPr marL="329586" indent="-314347">
              <a:spcBef>
                <a:spcPts val="1211"/>
              </a:spcBef>
              <a:buClr>
                <a:srgbClr val="000000"/>
              </a:buClr>
              <a:buFont typeface="Arial"/>
              <a:buChar char="•"/>
            </a:pPr>
            <a:r>
              <a:rPr lang="en-US" sz="2419" spc="-1" dirty="0">
                <a:solidFill>
                  <a:srgbClr val="000000"/>
                </a:solidFill>
                <a:latin typeface="Calibri"/>
              </a:rPr>
              <a:t>It helps you to implement </a:t>
            </a:r>
            <a:r>
              <a:rPr lang="en-US" sz="2419" b="1" spc="-1" dirty="0">
                <a:solidFill>
                  <a:srgbClr val="000000"/>
                </a:solidFill>
                <a:latin typeface="Calibri"/>
              </a:rPr>
              <a:t>many functions and algorithms efficiently, at the same time</a:t>
            </a:r>
            <a:endParaRPr lang="en-US" sz="2419" spc="-1" dirty="0">
              <a:solidFill>
                <a:srgbClr val="000000"/>
              </a:solidFill>
              <a:latin typeface="Arial"/>
            </a:endParaRPr>
          </a:p>
          <a:p>
            <a:pPr marL="329586" indent="-314347">
              <a:spcBef>
                <a:spcPts val="1211"/>
              </a:spcBef>
              <a:buClr>
                <a:srgbClr val="000000"/>
              </a:buClr>
              <a:buFont typeface="Arial"/>
              <a:buChar char="•"/>
            </a:pPr>
            <a:r>
              <a:rPr lang="en-US" sz="2419" spc="-1" dirty="0">
                <a:solidFill>
                  <a:srgbClr val="000000"/>
                </a:solidFill>
                <a:latin typeface="Calibri"/>
              </a:rPr>
              <a:t>For example :-  folder could be a storage device that is used to store files and folders. defining a folder could be a tough task. It could be anything that holds some files and folders that could be files and folders in their own right, and this could again go on. This is why recursion makes defining situations a lot easier than usual. </a:t>
            </a:r>
            <a:endParaRPr lang="en-US" sz="2419"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0" name="Picture 469"/>
          <p:cNvPicPr/>
          <p:nvPr/>
        </p:nvPicPr>
        <p:blipFill>
          <a:blip r:embed="rId2"/>
          <a:stretch/>
        </p:blipFill>
        <p:spPr>
          <a:xfrm>
            <a:off x="3317858" y="276470"/>
            <a:ext cx="4697819" cy="580370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PlaceHolder 1"/>
          <p:cNvSpPr>
            <a:spLocks noGrp="1"/>
          </p:cNvSpPr>
          <p:nvPr>
            <p:ph type="title"/>
          </p:nvPr>
        </p:nvSpPr>
        <p:spPr>
          <a:xfrm>
            <a:off x="837897" y="364854"/>
            <a:ext cx="10514580" cy="1324010"/>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Principle of Recursion</a:t>
            </a:r>
            <a:endParaRPr lang="en-US" sz="5321" spc="-1">
              <a:solidFill>
                <a:srgbClr val="000000"/>
              </a:solidFill>
              <a:latin typeface="Arial"/>
            </a:endParaRPr>
          </a:p>
        </p:txBody>
      </p:sp>
      <p:sp>
        <p:nvSpPr>
          <p:cNvPr id="472" name="PlaceHolder 2"/>
          <p:cNvSpPr>
            <a:spLocks noGrp="1"/>
          </p:cNvSpPr>
          <p:nvPr>
            <p:ph/>
          </p:nvPr>
        </p:nvSpPr>
        <p:spPr>
          <a:xfrm>
            <a:off x="837897" y="1825139"/>
            <a:ext cx="10514580" cy="4349510"/>
          </a:xfrm>
          <a:prstGeom prst="rect">
            <a:avLst/>
          </a:prstGeom>
          <a:noFill/>
          <a:ln w="0">
            <a:noFill/>
          </a:ln>
        </p:spPr>
        <p:txBody>
          <a:bodyPr lIns="0" tIns="0" rIns="0" bIns="0" anchor="t">
            <a:normAutofit/>
          </a:bodyPr>
          <a:lstStyle/>
          <a:p>
            <a:pPr marL="291707" indent="-276469">
              <a:spcBef>
                <a:spcPts val="1211"/>
              </a:spcBef>
              <a:buClr>
                <a:srgbClr val="000000"/>
              </a:buClr>
              <a:buFont typeface="Arial"/>
              <a:buChar char="•"/>
            </a:pPr>
            <a:r>
              <a:rPr lang="en-US" sz="2419" spc="-1" dirty="0">
                <a:solidFill>
                  <a:srgbClr val="000000"/>
                </a:solidFill>
                <a:latin typeface="Calibri"/>
              </a:rPr>
              <a:t>The fundamental rules of Recursion:</a:t>
            </a:r>
            <a:endParaRPr lang="en-US" sz="2419"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419" spc="-1" dirty="0">
                <a:solidFill>
                  <a:srgbClr val="000000"/>
                </a:solidFill>
                <a:latin typeface="Calibri"/>
              </a:rPr>
              <a:t>A recursive algorithm has to call itself recursively.</a:t>
            </a:r>
            <a:endParaRPr lang="en-US" sz="2419"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419" spc="-1" dirty="0">
                <a:solidFill>
                  <a:srgbClr val="000000"/>
                </a:solidFill>
                <a:latin typeface="Calibri"/>
              </a:rPr>
              <a:t>A recursive algorithm needs a base case.</a:t>
            </a:r>
            <a:endParaRPr lang="en-US" sz="2419" spc="-1" dirty="0">
              <a:solidFill>
                <a:srgbClr val="000000"/>
              </a:solidFill>
              <a:latin typeface="Arial"/>
            </a:endParaRPr>
          </a:p>
          <a:p>
            <a:pPr marL="1382344" lvl="2" indent="276469">
              <a:spcBef>
                <a:spcPts val="603"/>
              </a:spcBef>
              <a:buClr>
                <a:srgbClr val="000000"/>
              </a:buClr>
              <a:buSzPct val="45000"/>
              <a:buFont typeface="Wingdings" charset="2"/>
              <a:buChar char=""/>
            </a:pPr>
            <a:r>
              <a:rPr lang="en-US" spc="-1" dirty="0">
                <a:solidFill>
                  <a:srgbClr val="000000"/>
                </a:solidFill>
                <a:latin typeface="Calibri"/>
              </a:rPr>
              <a:t>base case is nothing but the condition that helps initiate the process of returning to the original call function. (not go in infinite loop)</a:t>
            </a:r>
            <a:endParaRPr lang="en-US" spc="-1" dirty="0">
              <a:solidFill>
                <a:srgbClr val="000000"/>
              </a:solidFill>
              <a:latin typeface="Arial"/>
            </a:endParaRPr>
          </a:p>
          <a:p>
            <a:pPr marL="1382344" lvl="2" indent="276469">
              <a:spcBef>
                <a:spcPts val="1440"/>
              </a:spcBef>
              <a:spcAft>
                <a:spcPts val="1200"/>
              </a:spcAft>
              <a:buClr>
                <a:srgbClr val="000000"/>
              </a:buClr>
              <a:buSzPct val="45000"/>
              <a:buFont typeface="Wingdings" charset="2"/>
              <a:buChar char=""/>
            </a:pPr>
            <a:r>
              <a:rPr lang="en-US" spc="-1" dirty="0">
                <a:solidFill>
                  <a:srgbClr val="000000"/>
                </a:solidFill>
                <a:latin typeface="Calibri"/>
              </a:rPr>
              <a:t>If base case is not define”  it will raise an error as “Internal Stack Overflow”.</a:t>
            </a:r>
            <a:endParaRPr lang="en-US"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419" spc="-1" dirty="0">
                <a:solidFill>
                  <a:srgbClr val="000000"/>
                </a:solidFill>
                <a:latin typeface="Calibri"/>
              </a:rPr>
              <a:t>A recursive algorithm should change its move and mention the base case.</a:t>
            </a:r>
            <a:endParaRPr lang="en-US" sz="2419"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419" spc="-1" dirty="0">
                <a:solidFill>
                  <a:srgbClr val="000000"/>
                </a:solidFill>
                <a:latin typeface="Calibri"/>
              </a:rPr>
              <a:t>Recursive case</a:t>
            </a:r>
            <a:endParaRPr lang="en-US" sz="2419" spc="-1" dirty="0">
              <a:solidFill>
                <a:srgbClr val="000000"/>
              </a:solidFill>
              <a:latin typeface="Arial"/>
            </a:endParaRPr>
          </a:p>
          <a:p>
            <a:pPr marL="829407" lvl="1" indent="276469">
              <a:spcBef>
                <a:spcPts val="603"/>
              </a:spcBef>
              <a:buClr>
                <a:srgbClr val="000000"/>
              </a:buClr>
              <a:buSzPct val="45000"/>
              <a:buFont typeface="Wingdings" charset="2"/>
              <a:buChar char=""/>
            </a:pPr>
            <a:r>
              <a:rPr lang="en-US" sz="2419" spc="-1" dirty="0">
                <a:solidFill>
                  <a:srgbClr val="000000"/>
                </a:solidFill>
                <a:latin typeface="Calibri"/>
              </a:rPr>
              <a:t>Partial solution</a:t>
            </a:r>
            <a:endParaRPr lang="en-US" sz="2419"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PlaceHolder 1"/>
          <p:cNvSpPr>
            <a:spLocks noGrp="1"/>
          </p:cNvSpPr>
          <p:nvPr>
            <p:ph type="title"/>
          </p:nvPr>
        </p:nvSpPr>
        <p:spPr>
          <a:xfrm>
            <a:off x="609755" y="273422"/>
            <a:ext cx="10971736" cy="1144631"/>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Principle of Recursion</a:t>
            </a:r>
            <a:endParaRPr lang="en-US" sz="5321" spc="-1">
              <a:solidFill>
                <a:srgbClr val="000000"/>
              </a:solidFill>
              <a:latin typeface="Arial"/>
            </a:endParaRPr>
          </a:p>
        </p:txBody>
      </p:sp>
      <p:sp>
        <p:nvSpPr>
          <p:cNvPr id="474" name="PlaceHolder 2"/>
          <p:cNvSpPr>
            <a:spLocks noGrp="1"/>
          </p:cNvSpPr>
          <p:nvPr>
            <p:ph/>
          </p:nvPr>
        </p:nvSpPr>
        <p:spPr>
          <a:xfrm>
            <a:off x="609755" y="1604399"/>
            <a:ext cx="10971736" cy="3976819"/>
          </a:xfrm>
          <a:prstGeom prst="rect">
            <a:avLst/>
          </a:prstGeom>
          <a:noFill/>
          <a:ln w="0">
            <a:noFill/>
          </a:ln>
        </p:spPr>
        <p:txBody>
          <a:bodyPr lIns="0" tIns="0" rIns="0" bIns="0" anchor="t">
            <a:normAutofit fontScale="82492" lnSpcReduction="10000"/>
          </a:bodyPr>
          <a:lstStyle/>
          <a:p>
            <a:pPr marL="522461" indent="-391846">
              <a:spcBef>
                <a:spcPts val="1714"/>
              </a:spcBef>
              <a:buClr>
                <a:srgbClr val="000000"/>
              </a:buClr>
              <a:buSzPct val="45000"/>
              <a:buFont typeface="Wingdings" charset="2"/>
              <a:buChar char=""/>
            </a:pPr>
            <a:r>
              <a:rPr lang="en-US" sz="3870" spc="-1">
                <a:solidFill>
                  <a:srgbClr val="000000"/>
                </a:solidFill>
                <a:latin typeface="Arial"/>
              </a:rPr>
              <a:t>identifying a base case where the problem is simple enough to solve directly.</a:t>
            </a:r>
          </a:p>
          <a:p>
            <a:pPr marL="522461" indent="-391846">
              <a:spcBef>
                <a:spcPts val="1714"/>
              </a:spcBef>
              <a:buClr>
                <a:srgbClr val="000000"/>
              </a:buClr>
              <a:buSzPct val="45000"/>
              <a:buFont typeface="Wingdings" charset="2"/>
              <a:buChar char=""/>
            </a:pPr>
            <a:r>
              <a:rPr lang="en-US" sz="3870" spc="-1">
                <a:solidFill>
                  <a:srgbClr val="000000"/>
                </a:solidFill>
                <a:latin typeface="Arial"/>
              </a:rPr>
              <a:t>Breaking down the original problem into smaller subproblems using the recursive case.</a:t>
            </a:r>
          </a:p>
          <a:p>
            <a:pPr marL="522461" indent="-391846">
              <a:spcBef>
                <a:spcPts val="1714"/>
              </a:spcBef>
              <a:buClr>
                <a:srgbClr val="000000"/>
              </a:buClr>
              <a:buSzPct val="45000"/>
              <a:buFont typeface="Wingdings" charset="2"/>
              <a:buChar char=""/>
            </a:pPr>
            <a:r>
              <a:rPr lang="en-US" sz="3870" spc="-1">
                <a:solidFill>
                  <a:srgbClr val="000000"/>
                </a:solidFill>
                <a:latin typeface="Arial"/>
              </a:rPr>
              <a:t>Solving these subproblems recursively, obtaining partial solutions.</a:t>
            </a:r>
          </a:p>
          <a:p>
            <a:pPr marL="522461" indent="-391846">
              <a:spcBef>
                <a:spcPts val="1714"/>
              </a:spcBef>
              <a:buClr>
                <a:srgbClr val="000000"/>
              </a:buClr>
              <a:buSzPct val="45000"/>
              <a:buFont typeface="Wingdings" charset="2"/>
              <a:buChar char=""/>
            </a:pPr>
            <a:r>
              <a:rPr lang="en-US" sz="3870" spc="-1">
                <a:solidFill>
                  <a:srgbClr val="000000"/>
                </a:solidFill>
                <a:latin typeface="Arial"/>
              </a:rPr>
              <a:t>Combining the partial solutions to reach the final solution for the original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5" name="Picture 2"/>
          <p:cNvPicPr/>
          <p:nvPr/>
        </p:nvPicPr>
        <p:blipFill>
          <a:blip r:embed="rId2"/>
          <a:stretch/>
        </p:blipFill>
        <p:spPr>
          <a:xfrm>
            <a:off x="1888920" y="867725"/>
            <a:ext cx="8411664" cy="5120143"/>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609319" y="273422"/>
            <a:ext cx="10971736" cy="1144631"/>
          </a:xfrm>
          <a:prstGeom prst="rect">
            <a:avLst/>
          </a:prstGeom>
          <a:noFill/>
          <a:ln w="0">
            <a:noFill/>
          </a:ln>
        </p:spPr>
        <p:txBody>
          <a:bodyPr lIns="0" tIns="0" rIns="0" bIns="0" anchor="ctr">
            <a:noAutofit/>
          </a:bodyPr>
          <a:lstStyle/>
          <a:p>
            <a:pPr algn="ctr"/>
            <a:r>
              <a:rPr lang="en-US" sz="5140" spc="-1">
                <a:solidFill>
                  <a:srgbClr val="000000"/>
                </a:solidFill>
                <a:latin typeface="Arial"/>
              </a:rPr>
              <a:t>Recursive Algorithms</a:t>
            </a:r>
          </a:p>
        </p:txBody>
      </p:sp>
      <p:sp>
        <p:nvSpPr>
          <p:cNvPr id="477" name="PlaceHolder 2"/>
          <p:cNvSpPr>
            <a:spLocks noGrp="1"/>
          </p:cNvSpPr>
          <p:nvPr>
            <p:ph/>
          </p:nvPr>
        </p:nvSpPr>
        <p:spPr>
          <a:xfrm>
            <a:off x="609319" y="1603963"/>
            <a:ext cx="10971736" cy="3976819"/>
          </a:xfrm>
          <a:prstGeom prst="rect">
            <a:avLst/>
          </a:prstGeom>
          <a:noFill/>
          <a:ln w="0">
            <a:noFill/>
          </a:ln>
        </p:spPr>
        <p:txBody>
          <a:bodyPr lIns="0" tIns="0" rIns="0" bIns="0" anchor="t">
            <a:normAutofit/>
          </a:bodyPr>
          <a:lstStyle/>
          <a:p>
            <a:pPr marL="522461" indent="-391846">
              <a:spcBef>
                <a:spcPts val="1416"/>
              </a:spcBef>
              <a:buClr>
                <a:srgbClr val="000000"/>
              </a:buClr>
              <a:buSzPct val="45000"/>
              <a:buFont typeface="Wingdings" charset="2"/>
              <a:buChar char=""/>
            </a:pPr>
            <a:r>
              <a:rPr lang="en-US" sz="3205" spc="-1">
                <a:solidFill>
                  <a:srgbClr val="000000"/>
                </a:solidFill>
                <a:latin typeface="Arial"/>
              </a:rPr>
              <a:t>Greatest Common Divisor</a:t>
            </a:r>
          </a:p>
          <a:p>
            <a:pPr marL="522461" indent="-391846">
              <a:spcBef>
                <a:spcPts val="1416"/>
              </a:spcBef>
              <a:buClr>
                <a:srgbClr val="000000"/>
              </a:buClr>
              <a:buSzPct val="45000"/>
              <a:buFont typeface="Wingdings" charset="2"/>
              <a:buChar char=""/>
            </a:pPr>
            <a:r>
              <a:rPr lang="en-US" sz="3205" spc="-1">
                <a:solidFill>
                  <a:srgbClr val="000000"/>
                </a:solidFill>
                <a:latin typeface="Arial"/>
              </a:rPr>
              <a:t>Sum of Natural Numbers</a:t>
            </a:r>
          </a:p>
          <a:p>
            <a:pPr marL="522461" indent="-391846">
              <a:spcBef>
                <a:spcPts val="1416"/>
              </a:spcBef>
              <a:buClr>
                <a:srgbClr val="000000"/>
              </a:buClr>
              <a:buSzPct val="45000"/>
              <a:buFont typeface="Wingdings" charset="2"/>
              <a:buChar char=""/>
            </a:pPr>
            <a:r>
              <a:rPr lang="en-US" sz="3205" spc="-1">
                <a:solidFill>
                  <a:srgbClr val="000000"/>
                </a:solidFill>
                <a:latin typeface="Arial"/>
              </a:rPr>
              <a:t>Factorial of a positive numbers</a:t>
            </a:r>
          </a:p>
          <a:p>
            <a:pPr marL="522461" indent="-391846">
              <a:spcBef>
                <a:spcPts val="1416"/>
              </a:spcBef>
              <a:buClr>
                <a:srgbClr val="000000"/>
              </a:buClr>
              <a:buSzPct val="45000"/>
              <a:buFont typeface="Wingdings" charset="2"/>
              <a:buChar char=""/>
            </a:pPr>
            <a:r>
              <a:rPr lang="en-US" sz="3205" spc="-1">
                <a:solidFill>
                  <a:srgbClr val="000000"/>
                </a:solidFill>
                <a:latin typeface="Arial"/>
              </a:rPr>
              <a:t>Fibonacci series</a:t>
            </a:r>
          </a:p>
          <a:p>
            <a:pPr marL="522461" indent="-391846">
              <a:spcBef>
                <a:spcPts val="1416"/>
              </a:spcBef>
              <a:buClr>
                <a:srgbClr val="000000"/>
              </a:buClr>
              <a:buSzPct val="45000"/>
              <a:buFont typeface="Wingdings" charset="2"/>
              <a:buChar char=""/>
            </a:pPr>
            <a:r>
              <a:rPr lang="en-US" sz="3205" spc="-1">
                <a:solidFill>
                  <a:srgbClr val="000000"/>
                </a:solidFill>
                <a:latin typeface="Arial"/>
              </a:rPr>
              <a:t>Tower of Hanoi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609319" y="273422"/>
            <a:ext cx="10971736" cy="1144631"/>
          </a:xfrm>
          <a:prstGeom prst="rect">
            <a:avLst/>
          </a:prstGeom>
          <a:noFill/>
          <a:ln w="0">
            <a:noFill/>
          </a:ln>
        </p:spPr>
        <p:txBody>
          <a:bodyPr lIns="0" tIns="0" rIns="0" bIns="0" anchor="ctr">
            <a:noAutofit/>
          </a:bodyPr>
          <a:lstStyle/>
          <a:p>
            <a:pPr algn="ctr">
              <a:spcBef>
                <a:spcPts val="1416"/>
              </a:spcBef>
            </a:pPr>
            <a:r>
              <a:rPr lang="en-US" sz="5140" spc="-1">
                <a:solidFill>
                  <a:srgbClr val="000000"/>
                </a:solidFill>
                <a:latin typeface="Arial"/>
              </a:rPr>
              <a:t>Recursive Algorithms</a:t>
            </a:r>
          </a:p>
        </p:txBody>
      </p:sp>
      <p:sp>
        <p:nvSpPr>
          <p:cNvPr id="479" name="PlaceHolder 2"/>
          <p:cNvSpPr>
            <a:spLocks noGrp="1"/>
          </p:cNvSpPr>
          <p:nvPr>
            <p:ph/>
          </p:nvPr>
        </p:nvSpPr>
        <p:spPr>
          <a:xfrm>
            <a:off x="609319" y="1603963"/>
            <a:ext cx="10971736" cy="3976819"/>
          </a:xfrm>
          <a:prstGeom prst="rect">
            <a:avLst/>
          </a:prstGeom>
          <a:noFill/>
          <a:ln w="0">
            <a:noFill/>
          </a:ln>
        </p:spPr>
        <p:txBody>
          <a:bodyPr lIns="0" tIns="0" rIns="0" bIns="0" anchor="t">
            <a:normAutofit/>
          </a:bodyPr>
          <a:lstStyle/>
          <a:p>
            <a:pPr marL="522461" indent="-391846">
              <a:spcBef>
                <a:spcPts val="1416"/>
              </a:spcBef>
              <a:buClr>
                <a:srgbClr val="000000"/>
              </a:buClr>
              <a:buSzPct val="75000"/>
              <a:buFont typeface="Symbol" charset="2"/>
              <a:buChar char=""/>
            </a:pPr>
            <a:r>
              <a:rPr lang="en-US" sz="3205" spc="-1">
                <a:solidFill>
                  <a:srgbClr val="000000"/>
                </a:solidFill>
                <a:latin typeface="Arial"/>
              </a:rPr>
              <a:t>Factorial</a:t>
            </a:r>
          </a:p>
          <a:p>
            <a:pPr marL="1044922" lvl="1" indent="391846">
              <a:spcBef>
                <a:spcPts val="1416"/>
              </a:spcBef>
              <a:buClr>
                <a:srgbClr val="000000"/>
              </a:buClr>
              <a:buSzPct val="45000"/>
              <a:buFont typeface="Wingdings" charset="2"/>
              <a:buChar char=""/>
            </a:pPr>
            <a:r>
              <a:rPr lang="en-US" sz="3205" spc="-1">
                <a:solidFill>
                  <a:srgbClr val="000000"/>
                </a:solidFill>
                <a:latin typeface="Arial"/>
              </a:rPr>
              <a:t>5! = 5*4*3*2*1</a:t>
            </a:r>
          </a:p>
          <a:p>
            <a:pPr marL="1044922" lvl="1" indent="391846">
              <a:spcBef>
                <a:spcPts val="1416"/>
              </a:spcBef>
              <a:buClr>
                <a:srgbClr val="000000"/>
              </a:buClr>
              <a:buSzPct val="45000"/>
              <a:buFont typeface="Wingdings" charset="2"/>
              <a:buChar char=""/>
            </a:pPr>
            <a:r>
              <a:rPr lang="en-US" sz="3205" spc="-1">
                <a:solidFill>
                  <a:srgbClr val="000000"/>
                </a:solidFill>
                <a:latin typeface="Arial"/>
              </a:rPr>
              <a:t>fac(n) = n*fac(n-1)</a:t>
            </a:r>
          </a:p>
          <a:p>
            <a:pPr marL="522461" indent="-391846">
              <a:spcBef>
                <a:spcPts val="1416"/>
              </a:spcBef>
              <a:buClr>
                <a:srgbClr val="000000"/>
              </a:buClr>
              <a:buSzPct val="75000"/>
              <a:buFont typeface="Symbol" charset="2"/>
              <a:buChar char=""/>
            </a:pPr>
            <a:r>
              <a:rPr lang="en-US" sz="3205" spc="-1">
                <a:solidFill>
                  <a:srgbClr val="000000"/>
                </a:solidFill>
                <a:latin typeface="Arial"/>
              </a:rPr>
              <a:t>Fibonacci series</a:t>
            </a:r>
          </a:p>
          <a:p>
            <a:pPr marL="1044922" lvl="1" indent="391846">
              <a:spcBef>
                <a:spcPts val="1416"/>
              </a:spcBef>
              <a:buClr>
                <a:srgbClr val="000000"/>
              </a:buClr>
              <a:buSzPct val="45000"/>
              <a:buFont typeface="Wingdings" charset="2"/>
              <a:buChar char=""/>
            </a:pPr>
            <a:r>
              <a:rPr lang="en-US" sz="3205" spc="-1">
                <a:solidFill>
                  <a:srgbClr val="000000"/>
                </a:solidFill>
                <a:latin typeface="Arial"/>
              </a:rPr>
              <a:t>0,1,1,2,3,5,8…..</a:t>
            </a:r>
          </a:p>
          <a:p>
            <a:pPr marL="1044922" lvl="1" indent="391846">
              <a:spcBef>
                <a:spcPts val="1416"/>
              </a:spcBef>
              <a:buClr>
                <a:srgbClr val="000000"/>
              </a:buClr>
              <a:buSzPct val="45000"/>
              <a:buFont typeface="Wingdings" charset="2"/>
              <a:buChar char=""/>
            </a:pPr>
            <a:r>
              <a:rPr lang="en-US" sz="3205" spc="-1">
                <a:solidFill>
                  <a:srgbClr val="000000"/>
                </a:solidFill>
                <a:latin typeface="Arial"/>
              </a:rPr>
              <a:t>fib(n) = fib(n-1) + fib(n-2)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609319" y="273422"/>
            <a:ext cx="10971736" cy="1144631"/>
          </a:xfrm>
          <a:prstGeom prst="rect">
            <a:avLst/>
          </a:prstGeom>
          <a:noFill/>
          <a:ln w="0">
            <a:noFill/>
          </a:ln>
        </p:spPr>
        <p:txBody>
          <a:bodyPr lIns="0" tIns="0" rIns="0" bIns="0" anchor="ctr">
            <a:noAutofit/>
          </a:bodyPr>
          <a:lstStyle/>
          <a:p>
            <a:pPr algn="ctr"/>
            <a:r>
              <a:rPr lang="en-US" sz="5140" spc="-1">
                <a:solidFill>
                  <a:srgbClr val="000000"/>
                </a:solidFill>
                <a:latin typeface="Arial"/>
              </a:rPr>
              <a:t>Algorithms</a:t>
            </a:r>
          </a:p>
        </p:txBody>
      </p:sp>
      <p:pic>
        <p:nvPicPr>
          <p:cNvPr id="481" name="Picture 480"/>
          <p:cNvPicPr/>
          <p:nvPr/>
        </p:nvPicPr>
        <p:blipFill>
          <a:blip r:embed="rId2"/>
          <a:stretch/>
        </p:blipFill>
        <p:spPr>
          <a:xfrm>
            <a:off x="829625" y="1935292"/>
            <a:ext cx="5033066" cy="3594114"/>
          </a:xfrm>
          <a:prstGeom prst="rect">
            <a:avLst/>
          </a:prstGeom>
          <a:ln w="0">
            <a:noFill/>
          </a:ln>
        </p:spPr>
      </p:pic>
      <p:pic>
        <p:nvPicPr>
          <p:cNvPr id="482" name="Picture 481"/>
          <p:cNvPicPr/>
          <p:nvPr/>
        </p:nvPicPr>
        <p:blipFill>
          <a:blip r:embed="rId3"/>
          <a:stretch/>
        </p:blipFill>
        <p:spPr>
          <a:xfrm>
            <a:off x="6300254" y="1935292"/>
            <a:ext cx="5033066" cy="3594114"/>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609319" y="273422"/>
            <a:ext cx="10971736" cy="1144631"/>
          </a:xfrm>
          <a:prstGeom prst="rect">
            <a:avLst/>
          </a:prstGeom>
          <a:noFill/>
          <a:ln w="0">
            <a:noFill/>
          </a:ln>
        </p:spPr>
        <p:txBody>
          <a:bodyPr lIns="0" tIns="0" rIns="0" bIns="0" anchor="ctr">
            <a:noAutofit/>
          </a:bodyPr>
          <a:lstStyle/>
          <a:p>
            <a:pPr algn="ctr"/>
            <a:r>
              <a:rPr lang="en-US" sz="5140" spc="-1">
                <a:solidFill>
                  <a:srgbClr val="000000"/>
                </a:solidFill>
                <a:latin typeface="Arial"/>
              </a:rPr>
              <a:t>Tower of Hanoi</a:t>
            </a:r>
          </a:p>
        </p:txBody>
      </p:sp>
      <p:sp>
        <p:nvSpPr>
          <p:cNvPr id="484" name="PlaceHolder 2"/>
          <p:cNvSpPr>
            <a:spLocks noGrp="1"/>
          </p:cNvSpPr>
          <p:nvPr>
            <p:ph/>
          </p:nvPr>
        </p:nvSpPr>
        <p:spPr>
          <a:xfrm>
            <a:off x="609319" y="1603963"/>
            <a:ext cx="10971736" cy="3976819"/>
          </a:xfrm>
          <a:prstGeom prst="rect">
            <a:avLst/>
          </a:prstGeom>
          <a:noFill/>
          <a:ln w="0">
            <a:noFill/>
          </a:ln>
        </p:spPr>
        <p:txBody>
          <a:bodyPr lIns="0" tIns="0" rIns="0" bIns="0" anchor="t">
            <a:normAutofit/>
          </a:bodyPr>
          <a:lstStyle/>
          <a:p>
            <a:pPr marL="522461" indent="-391846">
              <a:spcBef>
                <a:spcPts val="1416"/>
              </a:spcBef>
              <a:buClr>
                <a:srgbClr val="000000"/>
              </a:buClr>
              <a:buSzPct val="45000"/>
              <a:buFont typeface="Wingdings" charset="2"/>
              <a:buChar char=""/>
            </a:pPr>
            <a:r>
              <a:rPr lang="en-US" sz="3205" spc="-1">
                <a:solidFill>
                  <a:srgbClr val="000000"/>
                </a:solidFill>
                <a:latin typeface="Arial"/>
              </a:rPr>
              <a:t>Show Single disk movement</a:t>
            </a:r>
          </a:p>
          <a:p>
            <a:pPr marL="522461" indent="-391846">
              <a:spcBef>
                <a:spcPts val="1416"/>
              </a:spcBef>
              <a:buClr>
                <a:srgbClr val="000000"/>
              </a:buClr>
              <a:buSzPct val="45000"/>
              <a:buFont typeface="Wingdings" charset="2"/>
              <a:buChar char=""/>
            </a:pPr>
            <a:r>
              <a:rPr lang="en-US" sz="3205" spc="-1">
                <a:solidFill>
                  <a:srgbClr val="000000"/>
                </a:solidFill>
                <a:latin typeface="Arial"/>
              </a:rPr>
              <a:t>Show 2 disk movement</a:t>
            </a:r>
          </a:p>
          <a:p>
            <a:pPr marL="522461" indent="-391846">
              <a:spcBef>
                <a:spcPts val="1416"/>
              </a:spcBef>
              <a:buClr>
                <a:srgbClr val="000000"/>
              </a:buClr>
              <a:buSzPct val="45000"/>
              <a:buFont typeface="Wingdings" charset="2"/>
              <a:buChar char=""/>
            </a:pPr>
            <a:r>
              <a:rPr lang="en-US" sz="3205" spc="-1">
                <a:solidFill>
                  <a:srgbClr val="000000"/>
                </a:solidFill>
                <a:latin typeface="Arial"/>
              </a:rPr>
              <a:t>Show 3 disk movement</a:t>
            </a:r>
          </a:p>
          <a:p>
            <a:pPr marL="522461" indent="-391846">
              <a:spcBef>
                <a:spcPts val="1416"/>
              </a:spcBef>
              <a:buClr>
                <a:srgbClr val="000000"/>
              </a:buClr>
              <a:buSzPct val="45000"/>
              <a:buFont typeface="Wingdings" charset="2"/>
              <a:buChar char=""/>
            </a:pPr>
            <a:r>
              <a:rPr lang="en-US" sz="3205" spc="-1">
                <a:solidFill>
                  <a:srgbClr val="000000"/>
                </a:solidFill>
                <a:latin typeface="Arial"/>
              </a:rPr>
              <a:t>Solve it (3,X,Y,Z)</a:t>
            </a:r>
          </a:p>
          <a:p>
            <a:pPr marL="522461" indent="-391846">
              <a:spcBef>
                <a:spcPts val="1416"/>
              </a:spcBef>
              <a:buClr>
                <a:srgbClr val="000000"/>
              </a:buClr>
              <a:buSzPct val="45000"/>
              <a:buFont typeface="Wingdings" charset="2"/>
              <a:buChar char=""/>
            </a:pPr>
            <a:r>
              <a:rPr lang="en-US" sz="3205" spc="-1">
                <a:solidFill>
                  <a:srgbClr val="000000"/>
                </a:solidFill>
                <a:latin typeface="Arial"/>
              </a:rPr>
              <a:t>Show video.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PlaceHolder 1"/>
          <p:cNvSpPr>
            <a:spLocks noGrp="1"/>
          </p:cNvSpPr>
          <p:nvPr>
            <p:ph type="title"/>
          </p:nvPr>
        </p:nvSpPr>
        <p:spPr>
          <a:xfrm>
            <a:off x="609319" y="273422"/>
            <a:ext cx="10971736" cy="1144631"/>
          </a:xfrm>
          <a:prstGeom prst="rect">
            <a:avLst/>
          </a:prstGeom>
          <a:noFill/>
          <a:ln w="0">
            <a:noFill/>
          </a:ln>
        </p:spPr>
        <p:txBody>
          <a:bodyPr lIns="0" tIns="0" rIns="0" bIns="0" anchor="ctr">
            <a:noAutofit/>
          </a:bodyPr>
          <a:lstStyle/>
          <a:p>
            <a:pPr algn="ctr"/>
            <a:r>
              <a:rPr lang="en-US" sz="5140" spc="-1">
                <a:solidFill>
                  <a:srgbClr val="000000"/>
                </a:solidFill>
                <a:latin typeface="Arial"/>
              </a:rPr>
              <a:t>Tower of Hanoi</a:t>
            </a:r>
          </a:p>
        </p:txBody>
      </p:sp>
      <p:pic>
        <p:nvPicPr>
          <p:cNvPr id="486" name="Picture 485"/>
          <p:cNvPicPr/>
          <p:nvPr/>
        </p:nvPicPr>
        <p:blipFill>
          <a:blip r:embed="rId2"/>
          <a:stretch/>
        </p:blipFill>
        <p:spPr>
          <a:xfrm>
            <a:off x="1323788" y="1280036"/>
            <a:ext cx="9399991" cy="4928573"/>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837897" y="364854"/>
            <a:ext cx="10514580" cy="1324010"/>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Recursion and stack</a:t>
            </a:r>
            <a:endParaRPr lang="en-US" sz="5321" spc="-1">
              <a:solidFill>
                <a:srgbClr val="000000"/>
              </a:solidFill>
              <a:latin typeface="Arial"/>
            </a:endParaRPr>
          </a:p>
        </p:txBody>
      </p:sp>
      <p:pic>
        <p:nvPicPr>
          <p:cNvPr id="488" name="Picture 487"/>
          <p:cNvPicPr/>
          <p:nvPr/>
        </p:nvPicPr>
        <p:blipFill>
          <a:blip r:embed="rId2"/>
          <a:stretch/>
        </p:blipFill>
        <p:spPr>
          <a:xfrm>
            <a:off x="622816" y="1382352"/>
            <a:ext cx="2971512" cy="4710880"/>
          </a:xfrm>
          <a:prstGeom prst="rect">
            <a:avLst/>
          </a:prstGeom>
          <a:ln w="0">
            <a:noFill/>
          </a:ln>
        </p:spPr>
      </p:pic>
      <p:pic>
        <p:nvPicPr>
          <p:cNvPr id="489" name="Picture 488"/>
          <p:cNvPicPr/>
          <p:nvPr/>
        </p:nvPicPr>
        <p:blipFill>
          <a:blip r:embed="rId3"/>
          <a:stretch/>
        </p:blipFill>
        <p:spPr>
          <a:xfrm>
            <a:off x="4147269" y="1417182"/>
            <a:ext cx="7140336" cy="4662988"/>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837897" y="364854"/>
            <a:ext cx="10514580" cy="1324010"/>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Recursion and stack</a:t>
            </a:r>
            <a:endParaRPr lang="en-US" sz="5321" spc="-1">
              <a:solidFill>
                <a:srgbClr val="000000"/>
              </a:solidFill>
              <a:latin typeface="Arial"/>
            </a:endParaRPr>
          </a:p>
        </p:txBody>
      </p:sp>
      <p:pic>
        <p:nvPicPr>
          <p:cNvPr id="491" name="Picture 490"/>
          <p:cNvPicPr/>
          <p:nvPr/>
        </p:nvPicPr>
        <p:blipFill>
          <a:blip r:embed="rId2"/>
          <a:stretch/>
        </p:blipFill>
        <p:spPr>
          <a:xfrm>
            <a:off x="2480175" y="1382352"/>
            <a:ext cx="7266598" cy="5250759"/>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837897" y="364854"/>
            <a:ext cx="10514580" cy="1324010"/>
          </a:xfrm>
          <a:prstGeom prst="rect">
            <a:avLst/>
          </a:prstGeom>
          <a:noFill/>
          <a:ln w="0">
            <a:noFill/>
          </a:ln>
        </p:spPr>
        <p:txBody>
          <a:bodyPr lIns="0" tIns="0" rIns="0" bIns="0" anchor="ctr">
            <a:noAutofit/>
          </a:bodyPr>
          <a:lstStyle/>
          <a:p>
            <a:pPr algn="ctr"/>
            <a:r>
              <a:rPr lang="en-US" sz="5321" b="1" spc="-1">
                <a:solidFill>
                  <a:srgbClr val="000000"/>
                </a:solidFill>
                <a:latin typeface="Calibri Light"/>
              </a:rPr>
              <a:t>Recursion and stack</a:t>
            </a:r>
            <a:endParaRPr lang="en-US" sz="5321" spc="-1">
              <a:solidFill>
                <a:srgbClr val="000000"/>
              </a:solidFill>
              <a:latin typeface="Arial"/>
            </a:endParaRPr>
          </a:p>
        </p:txBody>
      </p:sp>
      <p:pic>
        <p:nvPicPr>
          <p:cNvPr id="493" name="Picture 492"/>
          <p:cNvPicPr/>
          <p:nvPr/>
        </p:nvPicPr>
        <p:blipFill>
          <a:blip r:embed="rId2"/>
          <a:stretch/>
        </p:blipFill>
        <p:spPr>
          <a:xfrm>
            <a:off x="2543306" y="1439387"/>
            <a:ext cx="7140336" cy="4662988"/>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609755" y="273422"/>
            <a:ext cx="10971736" cy="1144631"/>
          </a:xfrm>
          <a:prstGeom prst="rect">
            <a:avLst/>
          </a:prstGeom>
          <a:noFill/>
          <a:ln w="0">
            <a:noFill/>
          </a:ln>
        </p:spPr>
        <p:txBody>
          <a:bodyPr lIns="0" tIns="0" rIns="0" bIns="0" anchor="ctr">
            <a:noAutofit/>
          </a:bodyPr>
          <a:lstStyle/>
          <a:p>
            <a:pPr algn="ctr"/>
            <a:r>
              <a:rPr lang="en-US" sz="5321" spc="-1">
                <a:solidFill>
                  <a:srgbClr val="000000"/>
                </a:solidFill>
                <a:latin typeface="Arial"/>
              </a:rPr>
              <a:t>Recursive Vs Iteration</a:t>
            </a:r>
          </a:p>
        </p:txBody>
      </p:sp>
      <p:pic>
        <p:nvPicPr>
          <p:cNvPr id="495" name="Picture 494"/>
          <p:cNvPicPr/>
          <p:nvPr/>
        </p:nvPicPr>
        <p:blipFill>
          <a:blip r:embed="rId2"/>
          <a:stretch/>
        </p:blipFill>
        <p:spPr>
          <a:xfrm>
            <a:off x="1100000" y="1741"/>
            <a:ext cx="10026947" cy="6857335"/>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p:cNvSpPr>
          <p:nvPr>
            <p:ph type="title"/>
          </p:nvPr>
        </p:nvSpPr>
        <p:spPr>
          <a:xfrm>
            <a:off x="609755" y="273422"/>
            <a:ext cx="10971736" cy="1144631"/>
          </a:xfrm>
          <a:prstGeom prst="rect">
            <a:avLst/>
          </a:prstGeom>
          <a:noFill/>
          <a:ln w="0">
            <a:noFill/>
          </a:ln>
        </p:spPr>
        <p:txBody>
          <a:bodyPr lIns="0" tIns="0" rIns="0" bIns="0" anchor="ctr">
            <a:noAutofit/>
          </a:bodyPr>
          <a:lstStyle/>
          <a:p>
            <a:pPr algn="ctr"/>
            <a:r>
              <a:rPr lang="en-US" sz="5321" spc="-1">
                <a:solidFill>
                  <a:srgbClr val="000000"/>
                </a:solidFill>
                <a:latin typeface="Arial"/>
              </a:rPr>
              <a:t>Recursive Data Structure</a:t>
            </a:r>
          </a:p>
        </p:txBody>
      </p:sp>
      <p:sp>
        <p:nvSpPr>
          <p:cNvPr id="497" name="PlaceHolder 2"/>
          <p:cNvSpPr>
            <a:spLocks noGrp="1"/>
          </p:cNvSpPr>
          <p:nvPr>
            <p:ph/>
          </p:nvPr>
        </p:nvSpPr>
        <p:spPr>
          <a:xfrm>
            <a:off x="609755" y="1604399"/>
            <a:ext cx="10971736" cy="3976819"/>
          </a:xfrm>
          <a:prstGeom prst="rect">
            <a:avLst/>
          </a:prstGeom>
          <a:noFill/>
          <a:ln w="0">
            <a:noFill/>
          </a:ln>
        </p:spPr>
        <p:txBody>
          <a:bodyPr lIns="0" tIns="0" rIns="0" bIns="0" anchor="t">
            <a:normAutofit fontScale="91866" lnSpcReduction="20000"/>
          </a:bodyPr>
          <a:lstStyle/>
          <a:p>
            <a:pPr marL="522461" indent="-391846">
              <a:spcBef>
                <a:spcPts val="1714"/>
              </a:spcBef>
              <a:buClr>
                <a:srgbClr val="000000"/>
              </a:buClr>
              <a:buSzPct val="45000"/>
              <a:buFont typeface="Wingdings" charset="2"/>
              <a:buChar char=""/>
            </a:pPr>
            <a:r>
              <a:rPr lang="en-US" sz="3870" spc="-1">
                <a:solidFill>
                  <a:srgbClr val="000000"/>
                </a:solidFill>
                <a:latin typeface="Arial"/>
              </a:rPr>
              <a:t>A recursive data structure is a data structure that can be defined in terms of itself, either directly or indirectly. </a:t>
            </a:r>
          </a:p>
          <a:p>
            <a:pPr marL="522461" indent="-391846">
              <a:spcBef>
                <a:spcPts val="1714"/>
              </a:spcBef>
              <a:buClr>
                <a:srgbClr val="000000"/>
              </a:buClr>
              <a:buSzPct val="45000"/>
              <a:buFont typeface="Wingdings" charset="2"/>
              <a:buChar char=""/>
            </a:pPr>
            <a:r>
              <a:rPr lang="en-US" sz="3870" spc="-1">
                <a:solidFill>
                  <a:srgbClr val="000000"/>
                </a:solidFill>
                <a:latin typeface="Arial"/>
              </a:rPr>
              <a:t>This self-referential definition allows the structure to contain instances of the same type within itself.</a:t>
            </a:r>
          </a:p>
          <a:p>
            <a:pPr marL="522461" indent="-391846">
              <a:spcBef>
                <a:spcPts val="1714"/>
              </a:spcBef>
              <a:buClr>
                <a:srgbClr val="000000"/>
              </a:buClr>
              <a:buSzPct val="45000"/>
              <a:buFont typeface="Wingdings" charset="2"/>
              <a:buChar char=""/>
            </a:pPr>
            <a:r>
              <a:rPr lang="en-US" sz="3870" spc="-1">
                <a:solidFill>
                  <a:srgbClr val="000000"/>
                </a:solidFill>
                <a:latin typeface="Arial"/>
              </a:rPr>
              <a:t>E.g linked list , trees, graphs (imp)</a:t>
            </a:r>
          </a:p>
          <a:p>
            <a:pPr marL="522461" indent="-391846">
              <a:spcBef>
                <a:spcPts val="1714"/>
              </a:spcBef>
              <a:buClr>
                <a:srgbClr val="000000"/>
              </a:buClr>
              <a:buSzPct val="45000"/>
              <a:buFont typeface="Wingdings" charset="2"/>
              <a:buChar char=""/>
            </a:pPr>
            <a:r>
              <a:rPr lang="en-US" sz="3870" spc="-1">
                <a:solidFill>
                  <a:srgbClr val="000000"/>
                </a:solidFill>
                <a:latin typeface="Arial"/>
              </a:rPr>
              <a:t>Advantages:- Dynamice Size ,Hierarchical Relationship,to solve Complex problems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609755" y="273422"/>
            <a:ext cx="10971736" cy="1144631"/>
          </a:xfrm>
          <a:prstGeom prst="rect">
            <a:avLst/>
          </a:prstGeom>
          <a:noFill/>
          <a:ln w="0">
            <a:noFill/>
          </a:ln>
        </p:spPr>
        <p:txBody>
          <a:bodyPr lIns="0" tIns="0" rIns="0" bIns="0" anchor="ctr">
            <a:noAutofit/>
          </a:bodyPr>
          <a:lstStyle/>
          <a:p>
            <a:pPr algn="ctr"/>
            <a:r>
              <a:rPr lang="en-US" sz="5321" spc="-1">
                <a:solidFill>
                  <a:srgbClr val="000000"/>
                </a:solidFill>
                <a:latin typeface="Arial"/>
              </a:rPr>
              <a:t>Types of Recursion</a:t>
            </a:r>
          </a:p>
        </p:txBody>
      </p:sp>
      <p:sp>
        <p:nvSpPr>
          <p:cNvPr id="499" name="PlaceHolder 2"/>
          <p:cNvSpPr>
            <a:spLocks noGrp="1"/>
          </p:cNvSpPr>
          <p:nvPr>
            <p:ph/>
          </p:nvPr>
        </p:nvSpPr>
        <p:spPr>
          <a:xfrm>
            <a:off x="609755" y="1604399"/>
            <a:ext cx="10971736" cy="3976819"/>
          </a:xfrm>
          <a:prstGeom prst="rect">
            <a:avLst/>
          </a:prstGeom>
          <a:noFill/>
          <a:ln w="0">
            <a:noFill/>
          </a:ln>
        </p:spPr>
        <p:txBody>
          <a:bodyPr lIns="0" tIns="0" rIns="0" bIns="0" anchor="t">
            <a:normAutofit fontScale="43745" lnSpcReduction="20000"/>
          </a:bodyPr>
          <a:lstStyle/>
          <a:p>
            <a:pPr marL="522461" indent="-391846">
              <a:spcBef>
                <a:spcPts val="1714"/>
              </a:spcBef>
              <a:buClr>
                <a:srgbClr val="000000"/>
              </a:buClr>
              <a:buSzPct val="45000"/>
              <a:buFont typeface="Wingdings" charset="2"/>
              <a:buChar char=""/>
            </a:pPr>
            <a:r>
              <a:rPr lang="en-US" sz="3870" spc="-1" dirty="0">
                <a:solidFill>
                  <a:srgbClr val="000000"/>
                </a:solidFill>
                <a:latin typeface="Arial"/>
              </a:rPr>
              <a:t>Direct recursion: This is typified by the factorial implementation where the methods call itself.</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Indirect </a:t>
            </a:r>
            <a:r>
              <a:rPr lang="en-US" sz="3870" spc="-1" dirty="0" err="1">
                <a:solidFill>
                  <a:srgbClr val="000000"/>
                </a:solidFill>
                <a:latin typeface="Arial"/>
              </a:rPr>
              <a:t>recursion:The</a:t>
            </a:r>
            <a:r>
              <a:rPr lang="en-US" sz="3870" spc="-1" dirty="0">
                <a:solidFill>
                  <a:srgbClr val="000000"/>
                </a:solidFill>
                <a:latin typeface="Arial"/>
              </a:rPr>
              <a:t> recursion in which the function calls itself via another function is called indirect recursion.</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Tail recursion: The recursive call is the last statement.</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Head recursion: The recursive call is made at the beginning of the method.</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Linear Recursion:-A function is called the linear recursive if the function makes a single call to itself at each time the function runs and grows linearly in proportion to the size of the problem.</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Non-Tailed Recursion :-A recursive function is said to be non-tail recursive if the recursion call is not the last thing done by the function.</a:t>
            </a:r>
          </a:p>
          <a:p>
            <a:pPr marL="522461" indent="-391846">
              <a:spcBef>
                <a:spcPts val="1714"/>
              </a:spcBef>
              <a:buClr>
                <a:srgbClr val="000000"/>
              </a:buClr>
              <a:buSzPct val="45000"/>
              <a:buFont typeface="Wingdings" charset="2"/>
              <a:buChar char=""/>
            </a:pPr>
            <a:r>
              <a:rPr lang="en-US" sz="3870" spc="-1" dirty="0">
                <a:solidFill>
                  <a:srgbClr val="000000"/>
                </a:solidFill>
                <a:latin typeface="Arial"/>
              </a:rPr>
              <a:t>Mutual recursion: This happens where one method, say method A, calls another method B, which then calls method A. </a:t>
            </a:r>
            <a:r>
              <a:rPr lang="en-US" sz="3870" spc="-1">
                <a:solidFill>
                  <a:srgbClr val="000000"/>
                </a:solidFill>
                <a:latin typeface="Arial"/>
              </a:rPr>
              <a:t>This involves two or more methods that eventually create a circular call sequence.</a:t>
            </a:r>
            <a:endParaRPr lang="en-US" sz="3870" spc="-1" dirty="0">
              <a:solidFill>
                <a:srgbClr val="000000"/>
              </a:solidFill>
              <a:latin typeface="Arial"/>
            </a:endParaRPr>
          </a:p>
          <a:p>
            <a:pPr marL="522461" indent="-391846">
              <a:spcBef>
                <a:spcPts val="1714"/>
              </a:spcBef>
              <a:buClr>
                <a:srgbClr val="000000"/>
              </a:buClr>
              <a:buSzPct val="45000"/>
              <a:buFont typeface="Wingdings" charset="2"/>
              <a:buChar char=""/>
            </a:pPr>
            <a:r>
              <a:rPr lang="en-US" sz="3870" spc="-1" dirty="0">
                <a:solidFill>
                  <a:srgbClr val="000000"/>
                </a:solidFill>
                <a:latin typeface="Arial"/>
              </a:rPr>
              <a:t>Binary/Tree/ Recursion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609755" y="273422"/>
            <a:ext cx="10971736" cy="1144631"/>
          </a:xfrm>
          <a:prstGeom prst="rect">
            <a:avLst/>
          </a:prstGeom>
          <a:noFill/>
          <a:ln w="0">
            <a:noFill/>
          </a:ln>
        </p:spPr>
        <p:txBody>
          <a:bodyPr lIns="0" tIns="0" rIns="0" bIns="0" anchor="ctr">
            <a:noAutofit/>
          </a:bodyPr>
          <a:lstStyle/>
          <a:p>
            <a:pPr algn="ctr"/>
            <a:r>
              <a:rPr lang="en-US" sz="5321" spc="-1">
                <a:solidFill>
                  <a:srgbClr val="000000"/>
                </a:solidFill>
                <a:latin typeface="Arial"/>
              </a:rPr>
              <a:t>Application of Recursion</a:t>
            </a:r>
          </a:p>
        </p:txBody>
      </p:sp>
      <p:sp>
        <p:nvSpPr>
          <p:cNvPr id="501" name="PlaceHolder 2"/>
          <p:cNvSpPr>
            <a:spLocks noGrp="1"/>
          </p:cNvSpPr>
          <p:nvPr>
            <p:ph/>
          </p:nvPr>
        </p:nvSpPr>
        <p:spPr>
          <a:xfrm>
            <a:off x="609755" y="1604399"/>
            <a:ext cx="10971736" cy="3976819"/>
          </a:xfrm>
          <a:prstGeom prst="rect">
            <a:avLst/>
          </a:prstGeom>
          <a:noFill/>
          <a:ln w="0">
            <a:noFill/>
          </a:ln>
        </p:spPr>
        <p:txBody>
          <a:bodyPr lIns="0" tIns="0" rIns="0" bIns="0" anchor="t">
            <a:normAutofit fontScale="76243" lnSpcReduction="10000"/>
          </a:bodyPr>
          <a:lstStyle/>
          <a:p>
            <a:pPr marL="522461" indent="-391846">
              <a:spcBef>
                <a:spcPts val="1714"/>
              </a:spcBef>
              <a:buClr>
                <a:srgbClr val="000000"/>
              </a:buClr>
              <a:buSzPct val="45000"/>
              <a:buFont typeface="Wingdings" charset="2"/>
              <a:buChar char=""/>
            </a:pPr>
            <a:r>
              <a:rPr lang="en-US" sz="3870" spc="-1">
                <a:solidFill>
                  <a:srgbClr val="000000"/>
                </a:solidFill>
                <a:latin typeface="Arial"/>
              </a:rPr>
              <a:t>Tree and Graph Traversal</a:t>
            </a:r>
          </a:p>
          <a:p>
            <a:pPr marL="522461" indent="-391846">
              <a:spcBef>
                <a:spcPts val="1714"/>
              </a:spcBef>
              <a:buClr>
                <a:srgbClr val="000000"/>
              </a:buClr>
              <a:buSzPct val="45000"/>
              <a:buFont typeface="Wingdings" charset="2"/>
              <a:buChar char=""/>
            </a:pPr>
            <a:r>
              <a:rPr lang="en-US" sz="3870" spc="-1">
                <a:solidFill>
                  <a:srgbClr val="000000"/>
                </a:solidFill>
                <a:latin typeface="Arial"/>
              </a:rPr>
              <a:t>Divide-and-Conquer Algorithms</a:t>
            </a:r>
          </a:p>
          <a:p>
            <a:pPr marL="522461" indent="-391846">
              <a:spcBef>
                <a:spcPts val="1714"/>
              </a:spcBef>
              <a:buClr>
                <a:srgbClr val="000000"/>
              </a:buClr>
              <a:buSzPct val="45000"/>
              <a:buFont typeface="Wingdings" charset="2"/>
              <a:buChar char=""/>
            </a:pPr>
            <a:r>
              <a:rPr lang="en-US" sz="3870" spc="-1">
                <a:solidFill>
                  <a:srgbClr val="000000"/>
                </a:solidFill>
                <a:latin typeface="Arial"/>
              </a:rPr>
              <a:t>Mathematical Functions</a:t>
            </a:r>
          </a:p>
          <a:p>
            <a:pPr marL="522461" indent="-391846">
              <a:spcBef>
                <a:spcPts val="1714"/>
              </a:spcBef>
              <a:buClr>
                <a:srgbClr val="000000"/>
              </a:buClr>
              <a:buSzPct val="45000"/>
              <a:buFont typeface="Wingdings" charset="2"/>
              <a:buChar char=""/>
            </a:pPr>
            <a:r>
              <a:rPr lang="en-US" sz="3870" spc="-1">
                <a:solidFill>
                  <a:srgbClr val="000000"/>
                </a:solidFill>
                <a:latin typeface="Arial"/>
              </a:rPr>
              <a:t>Fractals and Computer Graphics</a:t>
            </a:r>
          </a:p>
          <a:p>
            <a:pPr marL="522461" indent="-391846">
              <a:spcBef>
                <a:spcPts val="1714"/>
              </a:spcBef>
              <a:buClr>
                <a:srgbClr val="000000"/>
              </a:buClr>
              <a:buSzPct val="45000"/>
              <a:buFont typeface="Wingdings" charset="2"/>
              <a:buChar char=""/>
            </a:pPr>
            <a:r>
              <a:rPr lang="en-US" sz="3870" spc="-1">
                <a:solidFill>
                  <a:srgbClr val="000000"/>
                </a:solidFill>
                <a:latin typeface="Arial"/>
              </a:rPr>
              <a:t>Functional Programming</a:t>
            </a:r>
          </a:p>
          <a:p>
            <a:pPr marL="522461" indent="-391846">
              <a:spcBef>
                <a:spcPts val="1714"/>
              </a:spcBef>
              <a:buClr>
                <a:srgbClr val="000000"/>
              </a:buClr>
              <a:buSzPct val="45000"/>
              <a:buFont typeface="Wingdings" charset="2"/>
              <a:buChar char=""/>
            </a:pPr>
            <a:r>
              <a:rPr lang="en-US" sz="3870" spc="-1">
                <a:solidFill>
                  <a:srgbClr val="000000"/>
                </a:solidFill>
                <a:latin typeface="Arial"/>
              </a:rPr>
              <a:t>Backtracking</a:t>
            </a:r>
          </a:p>
          <a:p>
            <a:pPr marL="522461" indent="-391846">
              <a:spcBef>
                <a:spcPts val="1714"/>
              </a:spcBef>
              <a:buClr>
                <a:srgbClr val="000000"/>
              </a:buClr>
              <a:buSzPct val="45000"/>
              <a:buFont typeface="Wingdings" charset="2"/>
              <a:buChar char=""/>
            </a:pPr>
            <a:r>
              <a:rPr lang="en-US" sz="3870" spc="-1">
                <a:solidFill>
                  <a:srgbClr val="000000"/>
                </a:solidFill>
                <a:latin typeface="Arial"/>
              </a:rPr>
              <a:t>Game /AI/File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642</Words>
  <Application>Microsoft Office PowerPoint</Application>
  <PresentationFormat>Widescreen</PresentationFormat>
  <Paragraphs>69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Symbol</vt:lpstr>
      <vt:lpstr>Wingdings</vt:lpstr>
      <vt:lpstr>Office Theme</vt:lpstr>
      <vt:lpstr>Recursion</vt:lpstr>
      <vt:lpstr>Introduction of Recursion</vt:lpstr>
      <vt:lpstr>PowerPoint Presentation</vt:lpstr>
      <vt:lpstr>Principle of Recursion</vt:lpstr>
      <vt:lpstr>Principle of Recursion</vt:lpstr>
      <vt:lpstr>PowerPoint Presentation</vt:lpstr>
      <vt:lpstr>Recursive Algorithms</vt:lpstr>
      <vt:lpstr>Recursive Algorithms</vt:lpstr>
      <vt:lpstr>Algorithms</vt:lpstr>
      <vt:lpstr>Tower of Hanoi</vt:lpstr>
      <vt:lpstr>Tower of Hanoi</vt:lpstr>
      <vt:lpstr>Recursion and stack</vt:lpstr>
      <vt:lpstr>Recursion and stack</vt:lpstr>
      <vt:lpstr>Recursion and stack</vt:lpstr>
      <vt:lpstr>Recursive Vs Iteration</vt:lpstr>
      <vt:lpstr>Recursive Data Structure</vt:lpstr>
      <vt:lpstr>Types of Recursion</vt:lpstr>
      <vt:lpstr>Application of Recursion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3</cp:revision>
  <dcterms:created xsi:type="dcterms:W3CDTF">2025-04-21T13:29:44Z</dcterms:created>
  <dcterms:modified xsi:type="dcterms:W3CDTF">2025-04-24T05:04:04Z</dcterms:modified>
</cp:coreProperties>
</file>