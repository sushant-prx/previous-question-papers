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5" r:id="rId10"/>
    <p:sldId id="266" r:id="rId11"/>
    <p:sldId id="273" r:id="rId12"/>
    <p:sldId id="267" r:id="rId13"/>
    <p:sldId id="268" r:id="rId14"/>
    <p:sldId id="269" r:id="rId15"/>
    <p:sldId id="270" r:id="rId16"/>
    <p:sldId id="274" r:id="rId17"/>
    <p:sldId id="272" r:id="rId18"/>
    <p:sldId id="275" r:id="rId19"/>
    <p:sldId id="276"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277" r:id="rId49"/>
    <p:sldId id="27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F796DD-1366-4F0E-B89A-A06166A7DACB}" type="datetimeFigureOut">
              <a:rPr lang="en-US" smtClean="0"/>
              <a:t>5/27/2025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674473-24E3-4D71-9197-3DB7E41C5534}" type="slidenum">
              <a:rPr lang="en-US" smtClean="0"/>
              <a:t>‹#›</a:t>
            </a:fld>
            <a:endParaRPr lang="en-US"/>
          </a:p>
        </p:txBody>
      </p:sp>
    </p:spTree>
    <p:extLst>
      <p:ext uri="{BB962C8B-B14F-4D97-AF65-F5344CB8AC3E}">
        <p14:creationId xmlns:p14="http://schemas.microsoft.com/office/powerpoint/2010/main" val="1873612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www.youtube.com/watch?v=tilP2RfpYyg"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opendsa-server.cs.vt.edu/ODSA/Books/Everything/html/Huffman.html"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74769219" name="Slide Image Placeholder 1"/>
          <p:cNvSpPr>
            <a:spLocks noGrp="1" noRot="1" noChangeAspect="1"/>
          </p:cNvSpPr>
          <p:nvPr>
            <p:ph type="sldImg"/>
          </p:nvPr>
        </p:nvSpPr>
        <p:spPr bwMode="auto"/>
      </p:sp>
      <p:sp>
        <p:nvSpPr>
          <p:cNvPr id="1012381933" name="Notes Placeholder 2"/>
          <p:cNvSpPr>
            <a:spLocks noGrp="1"/>
          </p:cNvSpPr>
          <p:nvPr>
            <p:ph type="body" idx="1"/>
          </p:nvPr>
        </p:nvSpPr>
        <p:spPr bwMode="auto"/>
        <p:txBody>
          <a:bodyPr/>
          <a:lstStyle/>
          <a:p>
            <a:pPr>
              <a:defRPr/>
            </a:pPr>
            <a:endParaRPr/>
          </a:p>
        </p:txBody>
      </p:sp>
      <p:sp>
        <p:nvSpPr>
          <p:cNvPr id="1908210937" name="Slide Number Placeholder 3"/>
          <p:cNvSpPr>
            <a:spLocks noGrp="1"/>
          </p:cNvSpPr>
          <p:nvPr>
            <p:ph type="sldNum" sz="quarter" idx="10"/>
          </p:nvPr>
        </p:nvSpPr>
        <p:spPr bwMode="auto"/>
        <p:txBody>
          <a:bodyPr/>
          <a:lstStyle/>
          <a:p>
            <a:pPr>
              <a:defRPr/>
            </a:pPr>
            <a:fld id="{4E6D7C43-A858-7045-311F-6BA7F8560DBB}" type="slidenum">
              <a:rPr/>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00502383" name="Slide Image Placeholder 1"/>
          <p:cNvSpPr>
            <a:spLocks noGrp="1" noRot="1" noChangeAspect="1"/>
          </p:cNvSpPr>
          <p:nvPr>
            <p:ph type="sldImg"/>
          </p:nvPr>
        </p:nvSpPr>
        <p:spPr bwMode="auto"/>
      </p:sp>
      <p:sp>
        <p:nvSpPr>
          <p:cNvPr id="1215940440" name="Notes Placeholder 2"/>
          <p:cNvSpPr>
            <a:spLocks noGrp="1"/>
          </p:cNvSpPr>
          <p:nvPr>
            <p:ph type="body" idx="1"/>
          </p:nvPr>
        </p:nvSpPr>
        <p:spPr bwMode="auto"/>
        <p:txBody>
          <a:bodyPr/>
          <a:lstStyle/>
          <a:p>
            <a:pPr>
              <a:defRPr/>
            </a:pPr>
            <a:endParaRPr/>
          </a:p>
        </p:txBody>
      </p:sp>
      <p:sp>
        <p:nvSpPr>
          <p:cNvPr id="976293566" name="Slide Number Placeholder 3"/>
          <p:cNvSpPr>
            <a:spLocks noGrp="1"/>
          </p:cNvSpPr>
          <p:nvPr>
            <p:ph type="sldNum" sz="quarter" idx="10"/>
          </p:nvPr>
        </p:nvSpPr>
        <p:spPr bwMode="auto"/>
        <p:txBody>
          <a:bodyPr/>
          <a:lstStyle/>
          <a:p>
            <a:pPr>
              <a:defRPr/>
            </a:pPr>
            <a:fld id="{3F14BBE6-08A7-0318-8336-10365AC74F7E}" type="slidenum">
              <a:rPr/>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8127767" name="Slide Image Placeholder 1"/>
          <p:cNvSpPr>
            <a:spLocks noGrp="1" noRot="1" noChangeAspect="1"/>
          </p:cNvSpPr>
          <p:nvPr>
            <p:ph type="sldImg"/>
          </p:nvPr>
        </p:nvSpPr>
        <p:spPr bwMode="auto"/>
      </p:sp>
      <p:sp>
        <p:nvSpPr>
          <p:cNvPr id="369927268" name="Notes Placeholder 2"/>
          <p:cNvSpPr>
            <a:spLocks noGrp="1"/>
          </p:cNvSpPr>
          <p:nvPr>
            <p:ph type="body" idx="1"/>
          </p:nvPr>
        </p:nvSpPr>
        <p:spPr bwMode="auto"/>
        <p:txBody>
          <a:bodyPr/>
          <a:lstStyle/>
          <a:p>
            <a:pPr>
              <a:defRPr/>
            </a:pPr>
            <a:endParaRPr/>
          </a:p>
        </p:txBody>
      </p:sp>
      <p:sp>
        <p:nvSpPr>
          <p:cNvPr id="1817875938" name="Slide Number Placeholder 3"/>
          <p:cNvSpPr>
            <a:spLocks noGrp="1"/>
          </p:cNvSpPr>
          <p:nvPr>
            <p:ph type="sldNum" sz="quarter" idx="10"/>
          </p:nvPr>
        </p:nvSpPr>
        <p:spPr bwMode="auto"/>
        <p:txBody>
          <a:bodyPr/>
          <a:lstStyle/>
          <a:p>
            <a:pPr>
              <a:defRPr/>
            </a:pPr>
            <a:fld id="{CBFB87D5-F1DF-8B8A-A637-B0FCAB08BF0B}" type="slidenum">
              <a:rPr/>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32961986" name="Slide Image Placeholder 1"/>
          <p:cNvSpPr>
            <a:spLocks noGrp="1" noRot="1" noChangeAspect="1"/>
          </p:cNvSpPr>
          <p:nvPr>
            <p:ph type="sldImg"/>
          </p:nvPr>
        </p:nvSpPr>
        <p:spPr bwMode="auto"/>
      </p:sp>
      <p:sp>
        <p:nvSpPr>
          <p:cNvPr id="1897049576" name="Notes Placeholder 2"/>
          <p:cNvSpPr>
            <a:spLocks noGrp="1"/>
          </p:cNvSpPr>
          <p:nvPr>
            <p:ph type="body" idx="1"/>
          </p:nvPr>
        </p:nvSpPr>
        <p:spPr bwMode="auto"/>
        <p:txBody>
          <a:bodyPr/>
          <a:lstStyle/>
          <a:p>
            <a:pPr>
              <a:defRPr/>
            </a:pPr>
            <a:endParaRPr/>
          </a:p>
        </p:txBody>
      </p:sp>
      <p:sp>
        <p:nvSpPr>
          <p:cNvPr id="825249688" name="Slide Number Placeholder 3"/>
          <p:cNvSpPr>
            <a:spLocks noGrp="1"/>
          </p:cNvSpPr>
          <p:nvPr>
            <p:ph type="sldNum" sz="quarter" idx="10"/>
          </p:nvPr>
        </p:nvSpPr>
        <p:spPr bwMode="auto"/>
        <p:txBody>
          <a:bodyPr/>
          <a:lstStyle/>
          <a:p>
            <a:pPr>
              <a:defRPr/>
            </a:pPr>
            <a:fld id="{0BA654A0-E5E8-BD23-080B-F57C0B691FFE}" type="slidenum">
              <a:rPr/>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21865858" name="Slide Image Placeholder 1"/>
          <p:cNvSpPr>
            <a:spLocks noGrp="1" noRot="1" noChangeAspect="1"/>
          </p:cNvSpPr>
          <p:nvPr>
            <p:ph type="sldImg"/>
          </p:nvPr>
        </p:nvSpPr>
        <p:spPr bwMode="auto"/>
      </p:sp>
      <p:sp>
        <p:nvSpPr>
          <p:cNvPr id="151707100" name="Notes Placeholder 2"/>
          <p:cNvSpPr>
            <a:spLocks noGrp="1"/>
          </p:cNvSpPr>
          <p:nvPr>
            <p:ph type="body" idx="1"/>
          </p:nvPr>
        </p:nvSpPr>
        <p:spPr bwMode="auto"/>
        <p:txBody>
          <a:bodyPr/>
          <a:lstStyle/>
          <a:p>
            <a:pPr>
              <a:defRPr/>
            </a:pPr>
            <a:endParaRPr/>
          </a:p>
        </p:txBody>
      </p:sp>
      <p:sp>
        <p:nvSpPr>
          <p:cNvPr id="571488830" name="Slide Number Placeholder 3"/>
          <p:cNvSpPr>
            <a:spLocks noGrp="1"/>
          </p:cNvSpPr>
          <p:nvPr>
            <p:ph type="sldNum" sz="quarter" idx="10"/>
          </p:nvPr>
        </p:nvSpPr>
        <p:spPr bwMode="auto"/>
        <p:txBody>
          <a:bodyPr/>
          <a:lstStyle/>
          <a:p>
            <a:pPr>
              <a:defRPr/>
            </a:pPr>
            <a:fld id="{3EF45948-777A-E6B3-422A-66D18C57E956}" type="slidenum">
              <a:rPr/>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41043592" name="Slide Image Placeholder 1"/>
          <p:cNvSpPr>
            <a:spLocks noGrp="1" noRot="1" noChangeAspect="1"/>
          </p:cNvSpPr>
          <p:nvPr>
            <p:ph type="sldImg"/>
          </p:nvPr>
        </p:nvSpPr>
        <p:spPr bwMode="auto"/>
      </p:sp>
      <p:sp>
        <p:nvSpPr>
          <p:cNvPr id="142897075" name="Notes Placeholder 2"/>
          <p:cNvSpPr>
            <a:spLocks noGrp="1"/>
          </p:cNvSpPr>
          <p:nvPr>
            <p:ph type="body" idx="1"/>
          </p:nvPr>
        </p:nvSpPr>
        <p:spPr bwMode="auto"/>
        <p:txBody>
          <a:bodyPr/>
          <a:lstStyle/>
          <a:p>
            <a:pPr>
              <a:defRPr/>
            </a:pPr>
            <a:endParaRPr/>
          </a:p>
        </p:txBody>
      </p:sp>
      <p:sp>
        <p:nvSpPr>
          <p:cNvPr id="350120877" name="Slide Number Placeholder 3"/>
          <p:cNvSpPr>
            <a:spLocks noGrp="1"/>
          </p:cNvSpPr>
          <p:nvPr>
            <p:ph type="sldNum" sz="quarter" idx="10"/>
          </p:nvPr>
        </p:nvSpPr>
        <p:spPr bwMode="auto"/>
        <p:txBody>
          <a:bodyPr/>
          <a:lstStyle/>
          <a:p>
            <a:pPr>
              <a:defRPr/>
            </a:pPr>
            <a:fld id="{690EF4A5-B2CA-5B48-A484-A5551DF06023}" type="slidenum">
              <a:rPr/>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06080475" name="Slide Image Placeholder 1"/>
          <p:cNvSpPr>
            <a:spLocks noGrp="1" noRot="1" noChangeAspect="1"/>
          </p:cNvSpPr>
          <p:nvPr>
            <p:ph type="sldImg"/>
          </p:nvPr>
        </p:nvSpPr>
        <p:spPr bwMode="auto"/>
      </p:sp>
      <p:sp>
        <p:nvSpPr>
          <p:cNvPr id="1417797740" name="Notes Placeholder 2"/>
          <p:cNvSpPr>
            <a:spLocks noGrp="1"/>
          </p:cNvSpPr>
          <p:nvPr>
            <p:ph type="body" idx="1"/>
          </p:nvPr>
        </p:nvSpPr>
        <p:spPr bwMode="auto"/>
        <p:txBody>
          <a:bodyPr/>
          <a:lstStyle/>
          <a:p>
            <a:pPr>
              <a:defRPr/>
            </a:pPr>
            <a:endParaRPr/>
          </a:p>
        </p:txBody>
      </p:sp>
      <p:sp>
        <p:nvSpPr>
          <p:cNvPr id="741236611" name="Slide Number Placeholder 3"/>
          <p:cNvSpPr>
            <a:spLocks noGrp="1"/>
          </p:cNvSpPr>
          <p:nvPr>
            <p:ph type="sldNum" sz="quarter" idx="10"/>
          </p:nvPr>
        </p:nvSpPr>
        <p:spPr bwMode="auto"/>
        <p:txBody>
          <a:bodyPr/>
          <a:lstStyle/>
          <a:p>
            <a:pPr>
              <a:defRPr/>
            </a:pPr>
            <a:fld id="{1D2CE8C6-2694-7967-10D9-02C31A10B58C}" type="slidenum">
              <a:rPr/>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2923389" name="Slide Image Placeholder 1"/>
          <p:cNvSpPr>
            <a:spLocks noGrp="1" noRot="1" noChangeAspect="1"/>
          </p:cNvSpPr>
          <p:nvPr>
            <p:ph type="sldImg"/>
          </p:nvPr>
        </p:nvSpPr>
        <p:spPr bwMode="auto"/>
      </p:sp>
      <p:sp>
        <p:nvSpPr>
          <p:cNvPr id="471335506" name="Notes Placeholder 2"/>
          <p:cNvSpPr>
            <a:spLocks noGrp="1"/>
          </p:cNvSpPr>
          <p:nvPr>
            <p:ph type="body" idx="1"/>
          </p:nvPr>
        </p:nvSpPr>
        <p:spPr bwMode="auto"/>
        <p:txBody>
          <a:bodyPr/>
          <a:lstStyle/>
          <a:p>
            <a:pPr>
              <a:defRPr/>
            </a:pPr>
            <a:endParaRPr/>
          </a:p>
        </p:txBody>
      </p:sp>
      <p:sp>
        <p:nvSpPr>
          <p:cNvPr id="1065168841" name="Slide Number Placeholder 3"/>
          <p:cNvSpPr>
            <a:spLocks noGrp="1"/>
          </p:cNvSpPr>
          <p:nvPr>
            <p:ph type="sldNum" sz="quarter" idx="10"/>
          </p:nvPr>
        </p:nvSpPr>
        <p:spPr bwMode="auto"/>
        <p:txBody>
          <a:bodyPr/>
          <a:lstStyle/>
          <a:p>
            <a:pPr>
              <a:defRPr/>
            </a:pPr>
            <a:fld id="{1CF67C46-64E6-27D9-6B83-BC7ACEDB5467}" type="slidenum">
              <a:rPr/>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18968158" name="Slide Image Placeholder 1"/>
          <p:cNvSpPr>
            <a:spLocks noGrp="1" noRot="1" noChangeAspect="1"/>
          </p:cNvSpPr>
          <p:nvPr>
            <p:ph type="sldImg"/>
          </p:nvPr>
        </p:nvSpPr>
        <p:spPr bwMode="auto"/>
      </p:sp>
      <p:sp>
        <p:nvSpPr>
          <p:cNvPr id="1743929962" name="Notes Placeholder 2"/>
          <p:cNvSpPr>
            <a:spLocks noGrp="1"/>
          </p:cNvSpPr>
          <p:nvPr>
            <p:ph type="body" idx="1"/>
          </p:nvPr>
        </p:nvSpPr>
        <p:spPr bwMode="auto"/>
        <p:txBody>
          <a:bodyPr/>
          <a:lstStyle/>
          <a:p>
            <a:pPr>
              <a:defRPr/>
            </a:pPr>
            <a:endParaRPr/>
          </a:p>
        </p:txBody>
      </p:sp>
      <p:sp>
        <p:nvSpPr>
          <p:cNvPr id="1309778892" name="Slide Number Placeholder 3"/>
          <p:cNvSpPr>
            <a:spLocks noGrp="1"/>
          </p:cNvSpPr>
          <p:nvPr>
            <p:ph type="sldNum" sz="quarter" idx="10"/>
          </p:nvPr>
        </p:nvSpPr>
        <p:spPr bwMode="auto"/>
        <p:txBody>
          <a:bodyPr/>
          <a:lstStyle/>
          <a:p>
            <a:pPr>
              <a:defRPr/>
            </a:pPr>
            <a:fld id="{7DCF4DDC-DD8E-875E-5E59-F1F726AF99AA}" type="slidenum">
              <a:rPr/>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82E5720-8826-15C5-57E9-736CC0D8ED38}" type="slidenum">
              <a:rPr/>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39174825" name="Slide Image Placeholder 1"/>
          <p:cNvSpPr>
            <a:spLocks noGrp="1" noRot="1" noChangeAspect="1"/>
          </p:cNvSpPr>
          <p:nvPr>
            <p:ph type="sldImg"/>
          </p:nvPr>
        </p:nvSpPr>
        <p:spPr bwMode="auto"/>
      </p:sp>
      <p:sp>
        <p:nvSpPr>
          <p:cNvPr id="1003473226" name="Notes Placeholder 2"/>
          <p:cNvSpPr>
            <a:spLocks noGrp="1"/>
          </p:cNvSpPr>
          <p:nvPr>
            <p:ph type="body" idx="1"/>
          </p:nvPr>
        </p:nvSpPr>
        <p:spPr bwMode="auto"/>
        <p:txBody>
          <a:bodyPr/>
          <a:lstStyle/>
          <a:p>
            <a:pPr>
              <a:defRPr/>
            </a:pPr>
            <a:r>
              <a:rPr lang="en-US" dirty="0"/>
              <a:t>https://www.scaler.com/topics/types-of-binary-tree/</a:t>
            </a:r>
            <a:endParaRPr dirty="0"/>
          </a:p>
        </p:txBody>
      </p:sp>
      <p:sp>
        <p:nvSpPr>
          <p:cNvPr id="1482172130" name="Slide Number Placeholder 3"/>
          <p:cNvSpPr>
            <a:spLocks noGrp="1"/>
          </p:cNvSpPr>
          <p:nvPr>
            <p:ph type="sldNum" sz="quarter" idx="10"/>
          </p:nvPr>
        </p:nvSpPr>
        <p:spPr bwMode="auto"/>
        <p:txBody>
          <a:bodyPr/>
          <a:lstStyle/>
          <a:p>
            <a:pPr>
              <a:defRPr/>
            </a:pPr>
            <a:fld id="{9BFB2458-E58E-F04A-6613-4B99D9457609}" type="slidenum">
              <a:rPr/>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33130175" name="Slide Image Placeholder 1"/>
          <p:cNvSpPr>
            <a:spLocks noGrp="1" noRot="1" noChangeAspect="1"/>
          </p:cNvSpPr>
          <p:nvPr>
            <p:ph type="sldImg"/>
          </p:nvPr>
        </p:nvSpPr>
        <p:spPr bwMode="auto"/>
      </p:sp>
      <p:sp>
        <p:nvSpPr>
          <p:cNvPr id="2136799497" name="Notes Placeholder 2"/>
          <p:cNvSpPr>
            <a:spLocks noGrp="1"/>
          </p:cNvSpPr>
          <p:nvPr>
            <p:ph type="body" idx="1"/>
          </p:nvPr>
        </p:nvSpPr>
        <p:spPr bwMode="auto"/>
        <p:txBody>
          <a:bodyPr/>
          <a:lstStyle/>
          <a:p>
            <a:pPr>
              <a:defRPr/>
            </a:pPr>
            <a:endParaRPr/>
          </a:p>
        </p:txBody>
      </p:sp>
      <p:sp>
        <p:nvSpPr>
          <p:cNvPr id="1354676886" name="Slide Number Placeholder 3"/>
          <p:cNvSpPr>
            <a:spLocks noGrp="1"/>
          </p:cNvSpPr>
          <p:nvPr>
            <p:ph type="sldNum" sz="quarter" idx="10"/>
          </p:nvPr>
        </p:nvSpPr>
        <p:spPr bwMode="auto"/>
        <p:txBody>
          <a:bodyPr/>
          <a:lstStyle/>
          <a:p>
            <a:pPr>
              <a:defRPr/>
            </a:pPr>
            <a:fld id="{91F24972-4E51-2099-FF97-45C1F6B08530}" type="slidenum">
              <a:rPr/>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7017239" name="Slide Image Placeholder 1"/>
          <p:cNvSpPr>
            <a:spLocks noGrp="1" noRot="1" noChangeAspect="1"/>
          </p:cNvSpPr>
          <p:nvPr>
            <p:ph type="sldImg"/>
          </p:nvPr>
        </p:nvSpPr>
        <p:spPr bwMode="auto"/>
      </p:sp>
      <p:sp>
        <p:nvSpPr>
          <p:cNvPr id="1640634551" name="Notes Placeholder 2"/>
          <p:cNvSpPr>
            <a:spLocks noGrp="1"/>
          </p:cNvSpPr>
          <p:nvPr>
            <p:ph type="body" idx="1"/>
          </p:nvPr>
        </p:nvSpPr>
        <p:spPr bwMode="auto"/>
        <p:txBody>
          <a:bodyPr/>
          <a:lstStyle/>
          <a:p>
            <a:pPr>
              <a:defRPr/>
            </a:pPr>
            <a:endParaRPr/>
          </a:p>
        </p:txBody>
      </p:sp>
      <p:sp>
        <p:nvSpPr>
          <p:cNvPr id="1602774620" name="Slide Number Placeholder 3"/>
          <p:cNvSpPr>
            <a:spLocks noGrp="1"/>
          </p:cNvSpPr>
          <p:nvPr>
            <p:ph type="sldNum" sz="quarter" idx="10"/>
          </p:nvPr>
        </p:nvSpPr>
        <p:spPr bwMode="auto"/>
        <p:txBody>
          <a:bodyPr/>
          <a:lstStyle/>
          <a:p>
            <a:pPr>
              <a:defRPr/>
            </a:pPr>
            <a:fld id="{062897C1-5256-AE04-0EE4-BED47257FE1C}" type="slidenum">
              <a:rPr/>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https://www.geeksforgeeks.org/introduction-to-binary-tree/</a:t>
            </a:r>
          </a:p>
        </p:txBody>
      </p:sp>
      <p:sp>
        <p:nvSpPr>
          <p:cNvPr id="4" name="Slide Number Placeholder 3"/>
          <p:cNvSpPr>
            <a:spLocks noGrp="1"/>
          </p:cNvSpPr>
          <p:nvPr>
            <p:ph type="sldNum" sz="quarter" idx="5"/>
          </p:nvPr>
        </p:nvSpPr>
        <p:spPr/>
        <p:txBody>
          <a:bodyPr/>
          <a:lstStyle/>
          <a:p>
            <a:fld id="{09674473-24E3-4D71-9197-3DB7E41C5534}" type="slidenum">
              <a:rPr lang="en-US" smtClean="0"/>
              <a:t>15</a:t>
            </a:fld>
            <a:endParaRPr lang="en-US"/>
          </a:p>
        </p:txBody>
      </p:sp>
    </p:spTree>
    <p:extLst>
      <p:ext uri="{BB962C8B-B14F-4D97-AF65-F5344CB8AC3E}">
        <p14:creationId xmlns:p14="http://schemas.microsoft.com/office/powerpoint/2010/main" val="3439059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04958269" name="Slide Image Placeholder 1"/>
          <p:cNvSpPr>
            <a:spLocks noGrp="1" noRot="1" noChangeAspect="1"/>
          </p:cNvSpPr>
          <p:nvPr>
            <p:ph type="sldImg"/>
          </p:nvPr>
        </p:nvSpPr>
        <p:spPr bwMode="auto"/>
      </p:sp>
      <p:sp>
        <p:nvSpPr>
          <p:cNvPr id="1007938033" name="Notes Placeholder 2"/>
          <p:cNvSpPr>
            <a:spLocks noGrp="1"/>
          </p:cNvSpPr>
          <p:nvPr>
            <p:ph type="body" idx="1"/>
          </p:nvPr>
        </p:nvSpPr>
        <p:spPr bwMode="auto"/>
        <p:txBody>
          <a:bodyPr/>
          <a:lstStyle/>
          <a:p>
            <a:pPr>
              <a:defRPr/>
            </a:pPr>
            <a:endParaRPr/>
          </a:p>
        </p:txBody>
      </p:sp>
      <p:sp>
        <p:nvSpPr>
          <p:cNvPr id="1977559363" name="Slide Number Placeholder 3"/>
          <p:cNvSpPr>
            <a:spLocks noGrp="1"/>
          </p:cNvSpPr>
          <p:nvPr>
            <p:ph type="sldNum" sz="quarter" idx="10"/>
          </p:nvPr>
        </p:nvSpPr>
        <p:spPr bwMode="auto"/>
        <p:txBody>
          <a:bodyPr/>
          <a:lstStyle/>
          <a:p>
            <a:pPr>
              <a:defRPr/>
            </a:pPr>
            <a:fld id="{58F5BE47-8ABD-7334-7F10-81BA27565FC7}" type="slidenum">
              <a:rPr/>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81287809" name="Slide Image Placeholder 1"/>
          <p:cNvSpPr>
            <a:spLocks noGrp="1" noRot="1" noChangeAspect="1"/>
          </p:cNvSpPr>
          <p:nvPr>
            <p:ph type="sldImg"/>
          </p:nvPr>
        </p:nvSpPr>
        <p:spPr bwMode="auto"/>
      </p:sp>
      <p:sp>
        <p:nvSpPr>
          <p:cNvPr id="62101005" name="Notes Placeholder 2"/>
          <p:cNvSpPr>
            <a:spLocks noGrp="1"/>
          </p:cNvSpPr>
          <p:nvPr>
            <p:ph type="body" idx="1"/>
          </p:nvPr>
        </p:nvSpPr>
        <p:spPr bwMode="auto"/>
        <p:txBody>
          <a:bodyPr/>
          <a:lstStyle/>
          <a:p>
            <a:pPr>
              <a:defRPr/>
            </a:pPr>
            <a:endParaRPr/>
          </a:p>
        </p:txBody>
      </p:sp>
      <p:sp>
        <p:nvSpPr>
          <p:cNvPr id="875143768" name="Slide Number Placeholder 3"/>
          <p:cNvSpPr>
            <a:spLocks noGrp="1"/>
          </p:cNvSpPr>
          <p:nvPr>
            <p:ph type="sldNum" sz="quarter" idx="10"/>
          </p:nvPr>
        </p:nvSpPr>
        <p:spPr bwMode="auto"/>
        <p:txBody>
          <a:bodyPr/>
          <a:lstStyle/>
          <a:p>
            <a:pPr>
              <a:defRPr/>
            </a:pPr>
            <a:fld id="{9E95F00E-475A-3CA0-C25F-C0CFD84E568C}" type="slidenum">
              <a:rPr/>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90696508" name="PlaceHolder 1"/>
          <p:cNvSpPr>
            <a:spLocks noGrp="1" noRot="1" noChangeAspect="1"/>
          </p:cNvSpPr>
          <p:nvPr>
            <p:ph type="sldImg"/>
          </p:nvPr>
        </p:nvSpPr>
        <p:spPr bwMode="auto">
          <a:xfrm>
            <a:off x="685800" y="1143000"/>
            <a:ext cx="5485320" cy="3085200"/>
          </a:xfrm>
          <a:prstGeom prst="rect">
            <a:avLst/>
          </a:prstGeom>
          <a:ln w="0">
            <a:noFill/>
          </a:ln>
        </p:spPr>
      </p:sp>
      <p:sp>
        <p:nvSpPr>
          <p:cNvPr id="2087358995" name="PlaceHolder 2"/>
          <p:cNvSpPr>
            <a:spLocks noGrp="1"/>
          </p:cNvSpPr>
          <p:nvPr>
            <p:ph type="body"/>
          </p:nvPr>
        </p:nvSpPr>
        <p:spPr bwMode="auto">
          <a:xfrm>
            <a:off x="685800" y="4400640"/>
            <a:ext cx="5485320" cy="3599280"/>
          </a:xfrm>
          <a:prstGeom prst="rect">
            <a:avLst/>
          </a:prstGeom>
          <a:noFill/>
          <a:ln w="0">
            <a:noFill/>
          </a:ln>
        </p:spPr>
        <p:txBody>
          <a:bodyPr lIns="0" tIns="0" rIns="0" bIns="0" anchor="t">
            <a:noAutofit/>
          </a:bodyPr>
          <a:lstStyle/>
          <a:p>
            <a:pPr marL="216000" indent="0">
              <a:lnSpc>
                <a:spcPct val="100000"/>
              </a:lnSpc>
              <a:buNone/>
              <a:defRPr/>
            </a:pPr>
            <a:r>
              <a:rPr lang="en-US" sz="1400" b="0" i="0" u="none" strike="noStrike" cap="none" spc="0">
                <a:solidFill>
                  <a:srgbClr val="000000"/>
                </a:solidFill>
                <a:latin typeface="Arial"/>
                <a:ea typeface="Arial"/>
                <a:cs typeface="Arial"/>
              </a:rPr>
              <a:t>Preorder[Ro,L,R] : -ABCDEF // A,B,D,E,H,I,C,F,G,J</a:t>
            </a:r>
            <a:endParaRPr sz="1400" b="0" i="0" u="none" strike="noStrike" cap="none" spc="0">
              <a:solidFill>
                <a:srgbClr val="000000"/>
              </a:solidFill>
              <a:latin typeface="Arial"/>
              <a:ea typeface="Arial"/>
              <a:cs typeface="Arial"/>
            </a:endParaRPr>
          </a:p>
          <a:p>
            <a:pPr marL="216000" indent="0">
              <a:lnSpc>
                <a:spcPct val="100000"/>
              </a:lnSpc>
              <a:buNone/>
              <a:defRPr/>
            </a:pPr>
            <a:endParaRPr sz="1400" b="0" strike="noStrike" spc="0">
              <a:solidFill>
                <a:srgbClr val="000000"/>
              </a:solidFill>
              <a:latin typeface="Arial"/>
            </a:endParaRPr>
          </a:p>
          <a:p>
            <a:pPr marL="216000" indent="0">
              <a:lnSpc>
                <a:spcPct val="100000"/>
              </a:lnSpc>
              <a:buNone/>
              <a:defRPr/>
            </a:pPr>
            <a:r>
              <a:rPr lang="en-US" sz="1400" b="0" i="0" u="none" strike="noStrike" cap="none" spc="0">
                <a:solidFill>
                  <a:srgbClr val="000000"/>
                </a:solidFill>
                <a:latin typeface="Arial"/>
                <a:ea typeface="Arial"/>
                <a:cs typeface="Arial"/>
              </a:rPr>
              <a:t>Post order [L,R,Ro]: - CDBFEA // D, H, I, E, B, F, J, G, C, A. </a:t>
            </a:r>
            <a:endParaRPr sz="1400" b="0" i="0" u="none" strike="noStrike" cap="none" spc="0">
              <a:solidFill>
                <a:srgbClr val="000000"/>
              </a:solidFill>
              <a:latin typeface="Times New Roman"/>
              <a:cs typeface="Times New Roman"/>
            </a:endParaRPr>
          </a:p>
          <a:p>
            <a:pPr marL="216000" indent="0">
              <a:lnSpc>
                <a:spcPct val="100000"/>
              </a:lnSpc>
              <a:buNone/>
              <a:defRPr/>
            </a:pPr>
            <a:r>
              <a:rPr lang="en-US" sz="1400" b="0" i="0" u="none" strike="noStrike" cap="none" spc="0">
                <a:solidFill>
                  <a:srgbClr val="000000"/>
                </a:solidFill>
                <a:latin typeface="Arial"/>
                <a:ea typeface="Arial"/>
                <a:cs typeface="Arial"/>
              </a:rPr>
              <a:t>Inorder[L,Ro,R] :- CBDAFE // D, B, H, E, I, A, F, C, J, G.</a:t>
            </a:r>
            <a:endParaRPr sz="1400" b="0" strike="noStrike" spc="0">
              <a:solidFill>
                <a:srgbClr val="000000"/>
              </a:solidFill>
              <a:latin typeface="Arial"/>
            </a:endParaRPr>
          </a:p>
          <a:p>
            <a:pPr>
              <a:defRPr/>
            </a:pPr>
            <a:endParaRPr sz="1400"/>
          </a:p>
        </p:txBody>
      </p:sp>
      <p:sp>
        <p:nvSpPr>
          <p:cNvPr id="406581374" name="PlaceHolder 3"/>
          <p:cNvSpPr>
            <a:spLocks noGrp="1"/>
          </p:cNvSpPr>
          <p:nvPr>
            <p:ph type="sldNum" idx="16"/>
          </p:nvPr>
        </p:nvSpPr>
        <p:spPr bwMode="auto">
          <a:xfrm>
            <a:off x="3884760" y="8685360"/>
            <a:ext cx="2970720" cy="45756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0">
                <a:solidFill>
                  <a:srgbClr val="000000"/>
                </a:solidFill>
                <a:latin typeface="Times New Roman"/>
              </a:defRPr>
            </a:lvl1pPr>
          </a:lstStyle>
          <a:p>
            <a:pPr indent="0" algn="r">
              <a:lnSpc>
                <a:spcPct val="100000"/>
              </a:lnSpc>
              <a:buNone/>
              <a:tabLst>
                <a:tab pos="0" algn="l"/>
              </a:tabLst>
              <a:defRPr/>
            </a:pPr>
            <a:fld id="{CF4FB7D3-C5D4-9AFE-F6E3-E33A4A052B08}" type="slidenum">
              <a:rPr lang="en-US" sz="1200" b="0" strike="noStrike" spc="0">
                <a:solidFill>
                  <a:srgbClr val="000000"/>
                </a:solidFill>
                <a:latin typeface="Times New Roman"/>
              </a:rPr>
              <a:t>18</a:t>
            </a:fld>
            <a:endParaRPr lang="en-US" sz="1200" b="0" strike="noStrike" spc="0">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27839840" name="Slide Image Placeholder 1"/>
          <p:cNvSpPr>
            <a:spLocks noGrp="1" noRot="1" noChangeAspect="1"/>
          </p:cNvSpPr>
          <p:nvPr>
            <p:ph type="sldImg"/>
          </p:nvPr>
        </p:nvSpPr>
        <p:spPr bwMode="auto"/>
      </p:sp>
      <p:sp>
        <p:nvSpPr>
          <p:cNvPr id="1489370458" name="Notes Placeholder 2"/>
          <p:cNvSpPr>
            <a:spLocks noGrp="1"/>
          </p:cNvSpPr>
          <p:nvPr>
            <p:ph type="body" idx="1"/>
          </p:nvPr>
        </p:nvSpPr>
        <p:spPr bwMode="auto"/>
        <p:txBody>
          <a:bodyPr/>
          <a:lstStyle/>
          <a:p>
            <a:pPr>
              <a:defRPr/>
            </a:pPr>
            <a:endParaRPr/>
          </a:p>
        </p:txBody>
      </p:sp>
      <p:sp>
        <p:nvSpPr>
          <p:cNvPr id="473870727" name="Slide Number Placeholder 3"/>
          <p:cNvSpPr>
            <a:spLocks noGrp="1"/>
          </p:cNvSpPr>
          <p:nvPr>
            <p:ph type="sldNum" sz="quarter" idx="10"/>
          </p:nvPr>
        </p:nvSpPr>
        <p:spPr bwMode="auto"/>
        <p:txBody>
          <a:bodyPr/>
          <a:lstStyle/>
          <a:p>
            <a:pPr>
              <a:defRPr/>
            </a:pPr>
            <a:fld id="{68B6FF5B-CD26-C077-F32B-9F02EA29CFD0}" type="slidenum">
              <a:rPr/>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13254799" name="PlaceHolder 1"/>
          <p:cNvSpPr>
            <a:spLocks noGrp="1" noRot="1" noChangeAspect="1"/>
          </p:cNvSpPr>
          <p:nvPr>
            <p:ph type="sldImg"/>
          </p:nvPr>
        </p:nvSpPr>
        <p:spPr bwMode="auto">
          <a:xfrm>
            <a:off x="685800" y="1143000"/>
            <a:ext cx="5485320" cy="3085200"/>
          </a:xfrm>
          <a:prstGeom prst="rect">
            <a:avLst/>
          </a:prstGeom>
          <a:ln w="0">
            <a:noFill/>
          </a:ln>
        </p:spPr>
      </p:sp>
      <p:sp>
        <p:nvSpPr>
          <p:cNvPr id="931191567" name="PlaceHolder 2"/>
          <p:cNvSpPr>
            <a:spLocks noGrp="1"/>
          </p:cNvSpPr>
          <p:nvPr>
            <p:ph type="body"/>
          </p:nvPr>
        </p:nvSpPr>
        <p:spPr bwMode="auto">
          <a:xfrm>
            <a:off x="685800" y="4400640"/>
            <a:ext cx="5485320" cy="3599280"/>
          </a:xfrm>
          <a:prstGeom prst="rect">
            <a:avLst/>
          </a:prstGeom>
          <a:noFill/>
          <a:ln w="0">
            <a:noFill/>
          </a:ln>
        </p:spPr>
        <p:txBody>
          <a:bodyPr lIns="0" tIns="0" rIns="0" bIns="0" anchor="t">
            <a:noAutofit/>
          </a:bodyPr>
          <a:lstStyle/>
          <a:p>
            <a:pPr>
              <a:defRPr/>
            </a:pPr>
            <a:r>
              <a:t>s</a:t>
            </a:r>
          </a:p>
        </p:txBody>
      </p:sp>
      <p:sp>
        <p:nvSpPr>
          <p:cNvPr id="744793293" name="PlaceHolder 3"/>
          <p:cNvSpPr>
            <a:spLocks noGrp="1"/>
          </p:cNvSpPr>
          <p:nvPr>
            <p:ph type="sldNum" idx="17"/>
          </p:nvPr>
        </p:nvSpPr>
        <p:spPr bwMode="auto">
          <a:xfrm>
            <a:off x="3884760" y="8685360"/>
            <a:ext cx="2970720" cy="45756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0">
                <a:solidFill>
                  <a:srgbClr val="000000"/>
                </a:solidFill>
                <a:latin typeface="Times New Roman"/>
              </a:defRPr>
            </a:lvl1pPr>
          </a:lstStyle>
          <a:p>
            <a:pPr indent="0" algn="r">
              <a:lnSpc>
                <a:spcPct val="100000"/>
              </a:lnSpc>
              <a:buNone/>
              <a:tabLst>
                <a:tab pos="0" algn="l"/>
              </a:tabLst>
              <a:defRPr/>
            </a:pPr>
            <a:fld id="{C65CDF0C-9B2A-8399-2C41-1A086FA4FEBE}" type="slidenum">
              <a:rPr lang="en-US" sz="1200" b="0" strike="noStrike" spc="0">
                <a:solidFill>
                  <a:srgbClr val="000000"/>
                </a:solidFill>
                <a:latin typeface="Times New Roman"/>
              </a:rPr>
              <a:t>20</a:t>
            </a:fld>
            <a:endParaRPr lang="en-US" sz="1200" b="0" strike="noStrike" spc="0">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964199" name="Slide Image Placeholder 1"/>
          <p:cNvSpPr>
            <a:spLocks noGrp="1" noRot="1" noChangeAspect="1"/>
          </p:cNvSpPr>
          <p:nvPr>
            <p:ph type="sldImg"/>
          </p:nvPr>
        </p:nvSpPr>
        <p:spPr bwMode="auto"/>
      </p:sp>
      <p:sp>
        <p:nvSpPr>
          <p:cNvPr id="874006385" name="Notes Placeholder 2"/>
          <p:cNvSpPr>
            <a:spLocks noGrp="1"/>
          </p:cNvSpPr>
          <p:nvPr>
            <p:ph type="body" idx="1"/>
          </p:nvPr>
        </p:nvSpPr>
        <p:spPr bwMode="auto"/>
        <p:txBody>
          <a:bodyPr/>
          <a:lstStyle/>
          <a:p>
            <a:pPr>
              <a:defRPr/>
            </a:pPr>
            <a:endParaRPr/>
          </a:p>
        </p:txBody>
      </p:sp>
      <p:sp>
        <p:nvSpPr>
          <p:cNvPr id="1941685006" name="Slide Number Placeholder 3"/>
          <p:cNvSpPr>
            <a:spLocks noGrp="1"/>
          </p:cNvSpPr>
          <p:nvPr>
            <p:ph type="sldNum" sz="quarter" idx="10"/>
          </p:nvPr>
        </p:nvSpPr>
        <p:spPr bwMode="auto"/>
        <p:txBody>
          <a:bodyPr/>
          <a:lstStyle/>
          <a:p>
            <a:pPr>
              <a:defRPr/>
            </a:pPr>
            <a:fld id="{00232122-74E9-7F74-6C70-AAD00D5611F9}" type="slidenum">
              <a:rPr/>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53639977" name="Slide Image Placeholder 1"/>
          <p:cNvSpPr>
            <a:spLocks noGrp="1" noRot="1" noChangeAspect="1"/>
          </p:cNvSpPr>
          <p:nvPr>
            <p:ph type="sldImg"/>
          </p:nvPr>
        </p:nvSpPr>
        <p:spPr bwMode="auto"/>
      </p:sp>
      <p:sp>
        <p:nvSpPr>
          <p:cNvPr id="261775898" name="Notes Placeholder 2"/>
          <p:cNvSpPr>
            <a:spLocks noGrp="1"/>
          </p:cNvSpPr>
          <p:nvPr>
            <p:ph type="body" idx="1"/>
          </p:nvPr>
        </p:nvSpPr>
        <p:spPr bwMode="auto"/>
        <p:txBody>
          <a:bodyPr/>
          <a:lstStyle/>
          <a:p>
            <a:pPr>
              <a:defRPr/>
            </a:pPr>
            <a:endParaRPr/>
          </a:p>
        </p:txBody>
      </p:sp>
      <p:sp>
        <p:nvSpPr>
          <p:cNvPr id="173927793" name="Slide Number Placeholder 3"/>
          <p:cNvSpPr>
            <a:spLocks noGrp="1"/>
          </p:cNvSpPr>
          <p:nvPr>
            <p:ph type="sldNum" sz="quarter" idx="10"/>
          </p:nvPr>
        </p:nvSpPr>
        <p:spPr bwMode="auto"/>
        <p:txBody>
          <a:bodyPr/>
          <a:lstStyle/>
          <a:p>
            <a:pPr>
              <a:defRPr/>
            </a:pPr>
            <a:fld id="{46310678-C62E-C353-3546-6DBBB9E2DE71}" type="slidenum">
              <a:rPr/>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76205406" name="Slide Image Placeholder 1"/>
          <p:cNvSpPr>
            <a:spLocks noGrp="1" noRot="1" noChangeAspect="1"/>
          </p:cNvSpPr>
          <p:nvPr>
            <p:ph type="sldImg"/>
          </p:nvPr>
        </p:nvSpPr>
        <p:spPr bwMode="auto"/>
      </p:sp>
      <p:sp>
        <p:nvSpPr>
          <p:cNvPr id="109141336" name="Notes Placeholder 2"/>
          <p:cNvSpPr>
            <a:spLocks noGrp="1"/>
          </p:cNvSpPr>
          <p:nvPr>
            <p:ph type="body" idx="1"/>
          </p:nvPr>
        </p:nvSpPr>
        <p:spPr bwMode="auto"/>
        <p:txBody>
          <a:bodyPr/>
          <a:lstStyle/>
          <a:p>
            <a:pPr>
              <a:defRPr/>
            </a:pPr>
            <a:endParaRPr/>
          </a:p>
        </p:txBody>
      </p:sp>
      <p:sp>
        <p:nvSpPr>
          <p:cNvPr id="2002844634" name="Slide Number Placeholder 3"/>
          <p:cNvSpPr>
            <a:spLocks noGrp="1"/>
          </p:cNvSpPr>
          <p:nvPr>
            <p:ph type="sldNum" sz="quarter" idx="10"/>
          </p:nvPr>
        </p:nvSpPr>
        <p:spPr bwMode="auto"/>
        <p:txBody>
          <a:bodyPr/>
          <a:lstStyle/>
          <a:p>
            <a:pPr>
              <a:defRPr/>
            </a:pPr>
            <a:fld id="{7CCB4EDC-F468-61F4-E78B-87F60FB22C80}" type="slidenum">
              <a:rPr/>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05394452" name="Slide Image Placeholder 1"/>
          <p:cNvSpPr>
            <a:spLocks noGrp="1" noRot="1" noChangeAspect="1"/>
          </p:cNvSpPr>
          <p:nvPr>
            <p:ph type="sldImg"/>
          </p:nvPr>
        </p:nvSpPr>
        <p:spPr bwMode="auto"/>
      </p:sp>
      <p:sp>
        <p:nvSpPr>
          <p:cNvPr id="1197563472" name="Notes Placeholder 2"/>
          <p:cNvSpPr>
            <a:spLocks noGrp="1"/>
          </p:cNvSpPr>
          <p:nvPr>
            <p:ph type="body" idx="1"/>
          </p:nvPr>
        </p:nvSpPr>
        <p:spPr bwMode="auto"/>
        <p:txBody>
          <a:bodyPr/>
          <a:lstStyle/>
          <a:p>
            <a:pPr>
              <a:defRPr/>
            </a:pPr>
            <a:endParaRPr/>
          </a:p>
        </p:txBody>
      </p:sp>
      <p:sp>
        <p:nvSpPr>
          <p:cNvPr id="1190380990" name="Slide Number Placeholder 3"/>
          <p:cNvSpPr>
            <a:spLocks noGrp="1"/>
          </p:cNvSpPr>
          <p:nvPr>
            <p:ph type="sldNum" sz="quarter" idx="10"/>
          </p:nvPr>
        </p:nvSpPr>
        <p:spPr bwMode="auto"/>
        <p:txBody>
          <a:bodyPr/>
          <a:lstStyle/>
          <a:p>
            <a:pPr>
              <a:defRPr/>
            </a:pPr>
            <a:fld id="{6A6B4886-4D11-229F-088C-BC1DE72B9B26}" type="slidenum">
              <a:rPr/>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82333729" name="Slide Image Placeholder 1"/>
          <p:cNvSpPr>
            <a:spLocks noGrp="1" noRot="1" noChangeAspect="1"/>
          </p:cNvSpPr>
          <p:nvPr>
            <p:ph type="sldImg"/>
          </p:nvPr>
        </p:nvSpPr>
        <p:spPr bwMode="auto"/>
      </p:sp>
      <p:sp>
        <p:nvSpPr>
          <p:cNvPr id="1470938731" name="Notes Placeholder 2"/>
          <p:cNvSpPr>
            <a:spLocks noGrp="1"/>
          </p:cNvSpPr>
          <p:nvPr>
            <p:ph type="body" idx="1"/>
          </p:nvPr>
        </p:nvSpPr>
        <p:spPr bwMode="auto"/>
        <p:txBody>
          <a:bodyPr/>
          <a:lstStyle/>
          <a:p>
            <a:pPr>
              <a:defRPr/>
            </a:pPr>
            <a:endParaRPr/>
          </a:p>
        </p:txBody>
      </p:sp>
      <p:sp>
        <p:nvSpPr>
          <p:cNvPr id="1596113637" name="Slide Number Placeholder 3"/>
          <p:cNvSpPr>
            <a:spLocks noGrp="1"/>
          </p:cNvSpPr>
          <p:nvPr>
            <p:ph type="sldNum" sz="quarter" idx="10"/>
          </p:nvPr>
        </p:nvSpPr>
        <p:spPr bwMode="auto"/>
        <p:txBody>
          <a:bodyPr/>
          <a:lstStyle/>
          <a:p>
            <a:pPr>
              <a:defRPr/>
            </a:pPr>
            <a:fld id="{DAF01C6B-06BD-C62A-7494-5EF1F8711DDC}" type="slidenum">
              <a:rPr/>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45230302" name="Slide Image Placeholder 1"/>
          <p:cNvSpPr>
            <a:spLocks noGrp="1" noRot="1" noChangeAspect="1"/>
          </p:cNvSpPr>
          <p:nvPr>
            <p:ph type="sldImg"/>
          </p:nvPr>
        </p:nvSpPr>
        <p:spPr bwMode="auto"/>
      </p:sp>
      <p:sp>
        <p:nvSpPr>
          <p:cNvPr id="183283067" name="Notes Placeholder 2"/>
          <p:cNvSpPr>
            <a:spLocks noGrp="1"/>
          </p:cNvSpPr>
          <p:nvPr>
            <p:ph type="body" idx="1"/>
          </p:nvPr>
        </p:nvSpPr>
        <p:spPr bwMode="auto"/>
        <p:txBody>
          <a:bodyPr/>
          <a:lstStyle/>
          <a:p>
            <a:pPr>
              <a:defRPr/>
            </a:pPr>
            <a:endParaRPr/>
          </a:p>
        </p:txBody>
      </p:sp>
      <p:sp>
        <p:nvSpPr>
          <p:cNvPr id="181258359" name="Slide Number Placeholder 3"/>
          <p:cNvSpPr>
            <a:spLocks noGrp="1"/>
          </p:cNvSpPr>
          <p:nvPr>
            <p:ph type="sldNum" sz="quarter" idx="10"/>
          </p:nvPr>
        </p:nvSpPr>
        <p:spPr bwMode="auto"/>
        <p:txBody>
          <a:bodyPr/>
          <a:lstStyle/>
          <a:p>
            <a:pPr>
              <a:defRPr/>
            </a:pPr>
            <a:fld id="{3730B860-9C19-ADA8-BDCF-AA133FCB91ED}" type="slidenum">
              <a:rPr/>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99574020" name="PlaceHolder 1"/>
          <p:cNvSpPr>
            <a:spLocks noGrp="1" noRot="1" noChangeAspect="1"/>
          </p:cNvSpPr>
          <p:nvPr>
            <p:ph type="sldImg"/>
          </p:nvPr>
        </p:nvSpPr>
        <p:spPr bwMode="auto">
          <a:xfrm>
            <a:off x="685800" y="1143000"/>
            <a:ext cx="5485320" cy="3085200"/>
          </a:xfrm>
          <a:prstGeom prst="rect">
            <a:avLst/>
          </a:prstGeom>
          <a:ln w="0">
            <a:noFill/>
          </a:ln>
        </p:spPr>
      </p:sp>
      <p:sp>
        <p:nvSpPr>
          <p:cNvPr id="178360306" name="PlaceHolder 2"/>
          <p:cNvSpPr>
            <a:spLocks noGrp="1"/>
          </p:cNvSpPr>
          <p:nvPr>
            <p:ph type="body"/>
          </p:nvPr>
        </p:nvSpPr>
        <p:spPr bwMode="auto">
          <a:xfrm>
            <a:off x="685800" y="4400640"/>
            <a:ext cx="5485320" cy="3599280"/>
          </a:xfrm>
          <a:prstGeom prst="rect">
            <a:avLst/>
          </a:prstGeom>
          <a:noFill/>
          <a:ln w="0">
            <a:noFill/>
          </a:ln>
        </p:spPr>
        <p:txBody>
          <a:bodyPr lIns="0" tIns="0" rIns="0" bIns="0" anchor="t">
            <a:noAutofit/>
          </a:bodyPr>
          <a:lstStyle/>
          <a:p>
            <a:pPr marL="216000" indent="0">
              <a:buNone/>
              <a:defRPr/>
            </a:pPr>
            <a:endParaRPr lang="en-US" sz="1800" b="0" strike="noStrike" spc="0">
              <a:solidFill>
                <a:srgbClr val="000000"/>
              </a:solidFill>
              <a:latin typeface="Arial"/>
            </a:endParaRPr>
          </a:p>
        </p:txBody>
      </p:sp>
      <p:sp>
        <p:nvSpPr>
          <p:cNvPr id="590301306" name="PlaceHolder 3"/>
          <p:cNvSpPr>
            <a:spLocks noGrp="1"/>
          </p:cNvSpPr>
          <p:nvPr>
            <p:ph type="sldNum" idx="18"/>
          </p:nvPr>
        </p:nvSpPr>
        <p:spPr bwMode="auto">
          <a:xfrm>
            <a:off x="3884760" y="8685360"/>
            <a:ext cx="2970720" cy="45756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0">
                <a:solidFill>
                  <a:srgbClr val="000000"/>
                </a:solidFill>
                <a:latin typeface="Times New Roman"/>
              </a:defRPr>
            </a:lvl1pPr>
          </a:lstStyle>
          <a:p>
            <a:pPr indent="0" algn="r">
              <a:lnSpc>
                <a:spcPct val="100000"/>
              </a:lnSpc>
              <a:buNone/>
              <a:tabLst>
                <a:tab pos="0" algn="l"/>
              </a:tabLst>
              <a:defRPr/>
            </a:pPr>
            <a:fld id="{41245C43-595A-392A-7642-77911E1A8AB2}" type="slidenum">
              <a:rPr lang="en-US" sz="1200" b="0" strike="noStrike" spc="0">
                <a:solidFill>
                  <a:srgbClr val="000000"/>
                </a:solidFill>
                <a:latin typeface="Times New Roman"/>
              </a:rPr>
              <a:t>27</a:t>
            </a:fld>
            <a:endParaRPr lang="en-US" sz="1200" b="0" strike="noStrike" spc="0">
              <a:solidFill>
                <a:srgbClr val="000000"/>
              </a:solidFill>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0D3725-D005-E356-8414-DE5B36410AB8}" type="slidenum">
              <a:rPr/>
              <a:t>29</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DE13E7D-1F27-39BB-6DAF-45C2AF9E16A4}" type="slidenum">
              <a:rPr/>
              <a:t>30</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DA14DCD-F459-DAB7-2E92-023EE88F807E}" type="slidenum">
              <a:rPr/>
              <a:t>31</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21518483" name="Slide Image Placeholder 1"/>
          <p:cNvSpPr>
            <a:spLocks noGrp="1" noRot="1" noChangeAspect="1"/>
          </p:cNvSpPr>
          <p:nvPr>
            <p:ph type="sldImg"/>
          </p:nvPr>
        </p:nvSpPr>
        <p:spPr bwMode="auto"/>
      </p:sp>
      <p:sp>
        <p:nvSpPr>
          <p:cNvPr id="326688365" name="Notes Placeholder 2"/>
          <p:cNvSpPr>
            <a:spLocks noGrp="1"/>
          </p:cNvSpPr>
          <p:nvPr>
            <p:ph type="body" idx="1"/>
          </p:nvPr>
        </p:nvSpPr>
        <p:spPr bwMode="auto"/>
        <p:txBody>
          <a:bodyPr/>
          <a:lstStyle/>
          <a:p>
            <a:pPr>
              <a:defRPr/>
            </a:pPr>
            <a:endParaRPr/>
          </a:p>
        </p:txBody>
      </p:sp>
      <p:sp>
        <p:nvSpPr>
          <p:cNvPr id="1871451050" name="Slide Number Placeholder 3"/>
          <p:cNvSpPr>
            <a:spLocks noGrp="1"/>
          </p:cNvSpPr>
          <p:nvPr>
            <p:ph type="sldNum" sz="quarter" idx="10"/>
          </p:nvPr>
        </p:nvSpPr>
        <p:spPr bwMode="auto"/>
        <p:txBody>
          <a:bodyPr/>
          <a:lstStyle/>
          <a:p>
            <a:pPr>
              <a:defRPr/>
            </a:pPr>
            <a:fld id="{E3741EB8-AC14-DF18-B3F0-20C0AE08911C}" type="slidenum">
              <a:rPr/>
              <a:t>32</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54815307" name="Slide Image Placeholder 1"/>
          <p:cNvSpPr>
            <a:spLocks noGrp="1" noRot="1" noChangeAspect="1"/>
          </p:cNvSpPr>
          <p:nvPr>
            <p:ph type="sldImg"/>
          </p:nvPr>
        </p:nvSpPr>
        <p:spPr bwMode="auto"/>
      </p:sp>
      <p:sp>
        <p:nvSpPr>
          <p:cNvPr id="332729876" name="Notes Placeholder 2"/>
          <p:cNvSpPr>
            <a:spLocks noGrp="1"/>
          </p:cNvSpPr>
          <p:nvPr>
            <p:ph type="body" idx="1"/>
          </p:nvPr>
        </p:nvSpPr>
        <p:spPr bwMode="auto"/>
        <p:txBody>
          <a:bodyPr/>
          <a:lstStyle/>
          <a:p>
            <a:pPr>
              <a:defRPr/>
            </a:pPr>
            <a:endParaRPr/>
          </a:p>
        </p:txBody>
      </p:sp>
      <p:sp>
        <p:nvSpPr>
          <p:cNvPr id="689390767" name="Slide Number Placeholder 3"/>
          <p:cNvSpPr>
            <a:spLocks noGrp="1"/>
          </p:cNvSpPr>
          <p:nvPr>
            <p:ph type="sldNum" sz="quarter" idx="10"/>
          </p:nvPr>
        </p:nvSpPr>
        <p:spPr bwMode="auto"/>
        <p:txBody>
          <a:bodyPr/>
          <a:lstStyle/>
          <a:p>
            <a:pPr>
              <a:defRPr/>
            </a:pPr>
            <a:fld id="{946BA5ED-BFD9-C00A-53CF-3EE22FEB0C9C}" type="slidenum">
              <a:rPr/>
              <a:t>33</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85941487" name="Slide Image Placeholder 1"/>
          <p:cNvSpPr>
            <a:spLocks noGrp="1" noRot="1" noChangeAspect="1"/>
          </p:cNvSpPr>
          <p:nvPr>
            <p:ph type="sldImg"/>
          </p:nvPr>
        </p:nvSpPr>
        <p:spPr bwMode="auto"/>
      </p:sp>
      <p:sp>
        <p:nvSpPr>
          <p:cNvPr id="1166397605" name="Notes Placeholder 2"/>
          <p:cNvSpPr>
            <a:spLocks noGrp="1"/>
          </p:cNvSpPr>
          <p:nvPr>
            <p:ph type="body" idx="1"/>
          </p:nvPr>
        </p:nvSpPr>
        <p:spPr bwMode="auto"/>
        <p:txBody>
          <a:bodyPr/>
          <a:lstStyle/>
          <a:p>
            <a:pPr>
              <a:defRPr/>
            </a:pPr>
            <a:endParaRPr/>
          </a:p>
        </p:txBody>
      </p:sp>
      <p:sp>
        <p:nvSpPr>
          <p:cNvPr id="1307077984" name="Slide Number Placeholder 3"/>
          <p:cNvSpPr>
            <a:spLocks noGrp="1"/>
          </p:cNvSpPr>
          <p:nvPr>
            <p:ph type="sldNum" sz="quarter" idx="10"/>
          </p:nvPr>
        </p:nvSpPr>
        <p:spPr bwMode="auto"/>
        <p:txBody>
          <a:bodyPr/>
          <a:lstStyle/>
          <a:p>
            <a:pPr>
              <a:defRPr/>
            </a:pPr>
            <a:fld id="{DFFC6162-A96B-37BD-D601-35F4E1E3A2D6}" type="slidenum">
              <a:rPr/>
              <a:t>34</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12491387" name="Slide Image Placeholder 1"/>
          <p:cNvSpPr>
            <a:spLocks noGrp="1" noRot="1" noChangeAspect="1"/>
          </p:cNvSpPr>
          <p:nvPr>
            <p:ph type="sldImg"/>
          </p:nvPr>
        </p:nvSpPr>
        <p:spPr bwMode="auto"/>
      </p:sp>
      <p:sp>
        <p:nvSpPr>
          <p:cNvPr id="322409030" name="Notes Placeholder 2"/>
          <p:cNvSpPr>
            <a:spLocks noGrp="1"/>
          </p:cNvSpPr>
          <p:nvPr>
            <p:ph type="body" idx="1"/>
          </p:nvPr>
        </p:nvSpPr>
        <p:spPr bwMode="auto"/>
        <p:txBody>
          <a:bodyPr/>
          <a:lstStyle/>
          <a:p>
            <a:pPr>
              <a:defRPr/>
            </a:pPr>
            <a:endParaRPr/>
          </a:p>
        </p:txBody>
      </p:sp>
      <p:sp>
        <p:nvSpPr>
          <p:cNvPr id="1906932557" name="Slide Number Placeholder 3"/>
          <p:cNvSpPr>
            <a:spLocks noGrp="1"/>
          </p:cNvSpPr>
          <p:nvPr>
            <p:ph type="sldNum" sz="quarter" idx="10"/>
          </p:nvPr>
        </p:nvSpPr>
        <p:spPr bwMode="auto"/>
        <p:txBody>
          <a:bodyPr/>
          <a:lstStyle/>
          <a:p>
            <a:pPr>
              <a:defRPr/>
            </a:pPr>
            <a:fld id="{63EFC956-D4D6-88E1-CE73-F661C7543743}" type="slidenum">
              <a:rPr/>
              <a:t>35</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90929019" name="Slide Image Placeholder 1"/>
          <p:cNvSpPr>
            <a:spLocks noGrp="1" noRot="1" noChangeAspect="1"/>
          </p:cNvSpPr>
          <p:nvPr>
            <p:ph type="sldImg"/>
          </p:nvPr>
        </p:nvSpPr>
        <p:spPr bwMode="auto"/>
      </p:sp>
      <p:sp>
        <p:nvSpPr>
          <p:cNvPr id="1027161986" name="Notes Placeholder 2"/>
          <p:cNvSpPr>
            <a:spLocks noGrp="1"/>
          </p:cNvSpPr>
          <p:nvPr>
            <p:ph type="body" idx="1"/>
          </p:nvPr>
        </p:nvSpPr>
        <p:spPr bwMode="auto"/>
        <p:txBody>
          <a:bodyPr/>
          <a:lstStyle/>
          <a:p>
            <a:pPr>
              <a:defRPr/>
            </a:pPr>
            <a:endParaRPr/>
          </a:p>
        </p:txBody>
      </p:sp>
      <p:sp>
        <p:nvSpPr>
          <p:cNvPr id="1888984606" name="Slide Number Placeholder 3"/>
          <p:cNvSpPr>
            <a:spLocks noGrp="1"/>
          </p:cNvSpPr>
          <p:nvPr>
            <p:ph type="sldNum" sz="quarter" idx="10"/>
          </p:nvPr>
        </p:nvSpPr>
        <p:spPr bwMode="auto"/>
        <p:txBody>
          <a:bodyPr/>
          <a:lstStyle/>
          <a:p>
            <a:pPr>
              <a:defRPr/>
            </a:pPr>
            <a:fld id="{A9AAEAD5-4890-4ECA-4D08-768FB6FA9040}" type="slidenum">
              <a:rPr/>
              <a:t>36</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44341810" name="Slide Image Placeholder 1"/>
          <p:cNvSpPr>
            <a:spLocks noGrp="1" noRot="1" noChangeAspect="1"/>
          </p:cNvSpPr>
          <p:nvPr>
            <p:ph type="sldImg"/>
          </p:nvPr>
        </p:nvSpPr>
        <p:spPr bwMode="auto"/>
      </p:sp>
      <p:sp>
        <p:nvSpPr>
          <p:cNvPr id="305632789" name="Notes Placeholder 2"/>
          <p:cNvSpPr>
            <a:spLocks noGrp="1"/>
          </p:cNvSpPr>
          <p:nvPr>
            <p:ph type="body" idx="1"/>
          </p:nvPr>
        </p:nvSpPr>
        <p:spPr bwMode="auto"/>
        <p:txBody>
          <a:bodyPr/>
          <a:lstStyle/>
          <a:p>
            <a:pPr>
              <a:defRPr/>
            </a:pPr>
            <a:endParaRPr/>
          </a:p>
        </p:txBody>
      </p:sp>
      <p:sp>
        <p:nvSpPr>
          <p:cNvPr id="604055797" name="Slide Number Placeholder 3"/>
          <p:cNvSpPr>
            <a:spLocks noGrp="1"/>
          </p:cNvSpPr>
          <p:nvPr>
            <p:ph type="sldNum" sz="quarter" idx="10"/>
          </p:nvPr>
        </p:nvSpPr>
        <p:spPr bwMode="auto"/>
        <p:txBody>
          <a:bodyPr/>
          <a:lstStyle/>
          <a:p>
            <a:pPr>
              <a:defRPr/>
            </a:pPr>
            <a:fld id="{1F5E2C67-9D73-BDBF-1553-3C15D9E2E049}" type="slidenum">
              <a:rPr/>
              <a:t>37</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71380895" name="Slide Image Placeholder 1"/>
          <p:cNvSpPr>
            <a:spLocks noGrp="1" noRot="1" noChangeAspect="1"/>
          </p:cNvSpPr>
          <p:nvPr>
            <p:ph type="sldImg"/>
          </p:nvPr>
        </p:nvSpPr>
        <p:spPr bwMode="auto"/>
      </p:sp>
      <p:sp>
        <p:nvSpPr>
          <p:cNvPr id="1889453347" name="Notes Placeholder 2"/>
          <p:cNvSpPr>
            <a:spLocks noGrp="1"/>
          </p:cNvSpPr>
          <p:nvPr>
            <p:ph type="body" idx="1"/>
          </p:nvPr>
        </p:nvSpPr>
        <p:spPr bwMode="auto"/>
        <p:txBody>
          <a:bodyPr/>
          <a:lstStyle/>
          <a:p>
            <a:pPr>
              <a:defRPr/>
            </a:pPr>
            <a:endParaRPr/>
          </a:p>
        </p:txBody>
      </p:sp>
      <p:sp>
        <p:nvSpPr>
          <p:cNvPr id="1209746618" name="Slide Number Placeholder 3"/>
          <p:cNvSpPr>
            <a:spLocks noGrp="1"/>
          </p:cNvSpPr>
          <p:nvPr>
            <p:ph type="sldNum" sz="quarter" idx="10"/>
          </p:nvPr>
        </p:nvSpPr>
        <p:spPr bwMode="auto"/>
        <p:txBody>
          <a:bodyPr/>
          <a:lstStyle/>
          <a:p>
            <a:pPr>
              <a:defRPr/>
            </a:pPr>
            <a:fld id="{6642CE14-4DD8-5342-DF48-42C8BAA3B647}" type="slidenum">
              <a:rPr/>
              <a:t>38</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84749585" name="PlaceHolder 1"/>
          <p:cNvSpPr>
            <a:spLocks noGrp="1" noRot="1" noChangeAspect="1"/>
          </p:cNvSpPr>
          <p:nvPr>
            <p:ph type="sldImg"/>
          </p:nvPr>
        </p:nvSpPr>
        <p:spPr bwMode="auto">
          <a:xfrm>
            <a:off x="685800" y="1143000"/>
            <a:ext cx="5485320" cy="3085200"/>
          </a:xfrm>
          <a:prstGeom prst="rect">
            <a:avLst/>
          </a:prstGeom>
          <a:ln w="0">
            <a:noFill/>
          </a:ln>
        </p:spPr>
      </p:sp>
      <p:sp>
        <p:nvSpPr>
          <p:cNvPr id="279852106" name="PlaceHolder 2"/>
          <p:cNvSpPr>
            <a:spLocks noGrp="1"/>
          </p:cNvSpPr>
          <p:nvPr>
            <p:ph type="body"/>
          </p:nvPr>
        </p:nvSpPr>
        <p:spPr bwMode="auto">
          <a:xfrm>
            <a:off x="685800" y="4400640"/>
            <a:ext cx="5485320" cy="3599280"/>
          </a:xfrm>
          <a:prstGeom prst="rect">
            <a:avLst/>
          </a:prstGeom>
          <a:noFill/>
          <a:ln w="0">
            <a:noFill/>
          </a:ln>
        </p:spPr>
        <p:txBody>
          <a:bodyPr lIns="0" tIns="0" rIns="0" bIns="0" anchor="t">
            <a:noAutofit/>
          </a:bodyPr>
          <a:lstStyle/>
          <a:p>
            <a:pPr marL="216000" indent="0">
              <a:lnSpc>
                <a:spcPct val="100000"/>
              </a:lnSpc>
              <a:buNone/>
              <a:tabLst>
                <a:tab pos="0" algn="l"/>
              </a:tabLst>
              <a:defRPr/>
            </a:pPr>
            <a:r>
              <a:rPr lang="en-US" sz="2000" b="0" strike="noStrike" spc="0">
                <a:solidFill>
                  <a:srgbClr val="000000"/>
                </a:solidFill>
                <a:latin typeface="Arial"/>
              </a:rPr>
              <a:t>40,20,10,25,30,22,50 </a:t>
            </a:r>
            <a:r>
              <a:rPr lang="en-US" sz="2000" b="0" strike="noStrike" spc="0">
                <a:solidFill>
                  <a:srgbClr val="000000"/>
                </a:solidFill>
                <a:latin typeface="Wingdings"/>
              </a:rPr>
              <a:t></a:t>
            </a:r>
            <a:r>
              <a:rPr lang="en-US" sz="2000" b="0" strike="noStrike" spc="0">
                <a:solidFill>
                  <a:srgbClr val="000000"/>
                </a:solidFill>
                <a:latin typeface="Times New Roman"/>
              </a:rPr>
              <a:t> 22 or 35 check</a:t>
            </a:r>
            <a:endParaRPr lang="en-US" sz="2000" b="0" strike="noStrike" spc="0">
              <a:solidFill>
                <a:srgbClr val="000000"/>
              </a:solidFill>
              <a:latin typeface="Arial"/>
            </a:endParaRPr>
          </a:p>
          <a:p>
            <a:pPr marL="216000" indent="0">
              <a:lnSpc>
                <a:spcPct val="100000"/>
              </a:lnSpc>
              <a:buNone/>
              <a:tabLst>
                <a:tab pos="0" algn="l"/>
              </a:tabLst>
              <a:defRPr/>
            </a:pPr>
            <a:endParaRPr lang="en-US" sz="2000" b="0" strike="noStrike" spc="0">
              <a:solidFill>
                <a:srgbClr val="000000"/>
              </a:solidFill>
              <a:latin typeface="Arial"/>
            </a:endParaRPr>
          </a:p>
        </p:txBody>
      </p:sp>
      <p:sp>
        <p:nvSpPr>
          <p:cNvPr id="1311649193" name="PlaceHolder 3"/>
          <p:cNvSpPr>
            <a:spLocks noGrp="1"/>
          </p:cNvSpPr>
          <p:nvPr>
            <p:ph type="sldNum" idx="19"/>
          </p:nvPr>
        </p:nvSpPr>
        <p:spPr bwMode="auto">
          <a:xfrm>
            <a:off x="3884760" y="8685360"/>
            <a:ext cx="2970720" cy="45756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0">
                <a:solidFill>
                  <a:srgbClr val="000000"/>
                </a:solidFill>
                <a:latin typeface="Times New Roman"/>
              </a:defRPr>
            </a:lvl1pPr>
          </a:lstStyle>
          <a:p>
            <a:pPr indent="0" algn="r">
              <a:lnSpc>
                <a:spcPct val="100000"/>
              </a:lnSpc>
              <a:buNone/>
              <a:tabLst>
                <a:tab pos="0" algn="l"/>
              </a:tabLst>
              <a:defRPr/>
            </a:pPr>
            <a:fld id="{7813379E-F0B4-1732-1456-93F4736D804F}" type="slidenum">
              <a:rPr lang="en-US" sz="1200" b="0" strike="noStrike" spc="0">
                <a:solidFill>
                  <a:srgbClr val="000000"/>
                </a:solidFill>
                <a:latin typeface="Times New Roman"/>
              </a:rPr>
              <a:t>39</a:t>
            </a:fld>
            <a:endParaRPr lang="en-US" sz="1200" b="0" strike="noStrike" spc="0">
              <a:solidFill>
                <a:srgbClr val="000000"/>
              </a:solidFill>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36376441" name="PlaceHolder 1"/>
          <p:cNvSpPr>
            <a:spLocks noGrp="1" noRot="1" noChangeAspect="1"/>
          </p:cNvSpPr>
          <p:nvPr>
            <p:ph type="sldImg"/>
          </p:nvPr>
        </p:nvSpPr>
        <p:spPr bwMode="auto">
          <a:xfrm>
            <a:off x="685800" y="1143000"/>
            <a:ext cx="5484813" cy="3084513"/>
          </a:xfrm>
          <a:prstGeom prst="rect">
            <a:avLst/>
          </a:prstGeom>
          <a:ln w="0">
            <a:noFill/>
          </a:ln>
        </p:spPr>
      </p:sp>
      <p:sp>
        <p:nvSpPr>
          <p:cNvPr id="315583526" name="PlaceHolder 2"/>
          <p:cNvSpPr>
            <a:spLocks noGrp="1"/>
          </p:cNvSpPr>
          <p:nvPr>
            <p:ph type="body"/>
          </p:nvPr>
        </p:nvSpPr>
        <p:spPr bwMode="auto">
          <a:xfrm>
            <a:off x="685800" y="4400640"/>
            <a:ext cx="5485320" cy="3599280"/>
          </a:xfrm>
          <a:prstGeom prst="rect">
            <a:avLst/>
          </a:prstGeom>
          <a:noFill/>
          <a:ln w="0">
            <a:noFill/>
          </a:ln>
        </p:spPr>
        <p:txBody>
          <a:bodyPr lIns="0" tIns="0" rIns="0" bIns="0" anchor="t">
            <a:noAutofit/>
          </a:bodyPr>
          <a:lstStyle/>
          <a:p>
            <a:pPr marL="216000" indent="0">
              <a:lnSpc>
                <a:spcPct val="100000"/>
              </a:lnSpc>
              <a:buNone/>
              <a:tabLst>
                <a:tab pos="0" algn="l"/>
              </a:tabLst>
              <a:defRPr/>
            </a:pPr>
            <a:r>
              <a:rPr lang="en-US" sz="2000" b="0" u="sng" strike="noStrike" spc="0">
                <a:solidFill>
                  <a:srgbClr val="000000"/>
                </a:solidFill>
                <a:latin typeface="Arial"/>
                <a:hlinkClick r:id="rId3" tooltip="https://www.youtube.com/watch?v=tilP2RfpYyg"/>
              </a:rPr>
              <a:t>DSA30d - Solved Example - Deletion in AVL Tree - YouTube</a:t>
            </a:r>
            <a:endParaRPr lang="en-US" sz="2000" b="0" strike="noStrike" spc="0">
              <a:solidFill>
                <a:srgbClr val="000000"/>
              </a:solidFill>
              <a:latin typeface="Arial"/>
            </a:endParaRPr>
          </a:p>
          <a:p>
            <a:pPr marL="216000" indent="0">
              <a:lnSpc>
                <a:spcPct val="100000"/>
              </a:lnSpc>
              <a:buNone/>
              <a:tabLst>
                <a:tab pos="0" algn="l"/>
              </a:tabLst>
              <a:defRPr/>
            </a:pPr>
            <a:endParaRPr lang="en-US" sz="2000" b="0" strike="noStrike" spc="0">
              <a:solidFill>
                <a:srgbClr val="000000"/>
              </a:solidFill>
              <a:latin typeface="Arial"/>
            </a:endParaRPr>
          </a:p>
        </p:txBody>
      </p:sp>
      <p:sp>
        <p:nvSpPr>
          <p:cNvPr id="1490965807" name="PlaceHolder 3"/>
          <p:cNvSpPr>
            <a:spLocks noGrp="1"/>
          </p:cNvSpPr>
          <p:nvPr>
            <p:ph type="sldNum" idx="20"/>
          </p:nvPr>
        </p:nvSpPr>
        <p:spPr bwMode="auto">
          <a:xfrm>
            <a:off x="3884760" y="8685360"/>
            <a:ext cx="2970720" cy="45756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0">
                <a:solidFill>
                  <a:srgbClr val="000000"/>
                </a:solidFill>
                <a:latin typeface="Times New Roman"/>
              </a:defRPr>
            </a:lvl1pPr>
          </a:lstStyle>
          <a:p>
            <a:pPr indent="0" algn="r">
              <a:lnSpc>
                <a:spcPct val="100000"/>
              </a:lnSpc>
              <a:buNone/>
              <a:tabLst>
                <a:tab pos="0" algn="l"/>
              </a:tabLst>
              <a:defRPr/>
            </a:pPr>
            <a:fld id="{F6A2BC02-945F-703E-F352-540155C65657}" type="slidenum">
              <a:rPr lang="en-US" sz="1200" b="0" strike="noStrike" spc="0">
                <a:solidFill>
                  <a:srgbClr val="000000"/>
                </a:solidFill>
                <a:latin typeface="Times New Roman"/>
              </a:rPr>
              <a:t>40</a:t>
            </a:fld>
            <a:endParaRPr lang="en-US" sz="1200" b="0" strike="noStrike" spc="0">
              <a:solidFill>
                <a:srgbClr val="000000"/>
              </a:solidFill>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09982502" name="Slide Image Placeholder 1"/>
          <p:cNvSpPr>
            <a:spLocks noGrp="1" noRot="1" noChangeAspect="1"/>
          </p:cNvSpPr>
          <p:nvPr>
            <p:ph type="sldImg"/>
          </p:nvPr>
        </p:nvSpPr>
        <p:spPr bwMode="auto"/>
      </p:sp>
      <p:sp>
        <p:nvSpPr>
          <p:cNvPr id="1731945226" name="Notes Placeholder 2"/>
          <p:cNvSpPr>
            <a:spLocks noGrp="1"/>
          </p:cNvSpPr>
          <p:nvPr>
            <p:ph type="body" idx="1"/>
          </p:nvPr>
        </p:nvSpPr>
        <p:spPr bwMode="auto"/>
        <p:txBody>
          <a:bodyPr/>
          <a:lstStyle/>
          <a:p>
            <a:pPr>
              <a:defRPr/>
            </a:pPr>
            <a:endParaRPr/>
          </a:p>
        </p:txBody>
      </p:sp>
      <p:sp>
        <p:nvSpPr>
          <p:cNvPr id="1150835577" name="Slide Number Placeholder 3"/>
          <p:cNvSpPr>
            <a:spLocks noGrp="1"/>
          </p:cNvSpPr>
          <p:nvPr>
            <p:ph type="sldNum" sz="quarter" idx="10"/>
          </p:nvPr>
        </p:nvSpPr>
        <p:spPr bwMode="auto"/>
        <p:txBody>
          <a:bodyPr/>
          <a:lstStyle/>
          <a:p>
            <a:pPr>
              <a:defRPr/>
            </a:pPr>
            <a:fld id="{35306473-FD07-5D84-33BB-FE9925445742}" type="slidenum">
              <a:rPr/>
              <a:t>41</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E18CA59-9DD3-A6BC-9905-A9C5F5939200}" type="slidenum">
              <a:rPr/>
              <a:t>42</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02565541" name="Slide Image Placeholder 1"/>
          <p:cNvSpPr>
            <a:spLocks noGrp="1" noRot="1" noChangeAspect="1"/>
          </p:cNvSpPr>
          <p:nvPr>
            <p:ph type="sldImg"/>
          </p:nvPr>
        </p:nvSpPr>
        <p:spPr bwMode="auto"/>
      </p:sp>
      <p:sp>
        <p:nvSpPr>
          <p:cNvPr id="400986555" name="Notes Placeholder 2"/>
          <p:cNvSpPr>
            <a:spLocks noGrp="1"/>
          </p:cNvSpPr>
          <p:nvPr>
            <p:ph type="body" idx="1"/>
          </p:nvPr>
        </p:nvSpPr>
        <p:spPr bwMode="auto"/>
        <p:txBody>
          <a:bodyPr/>
          <a:lstStyle/>
          <a:p>
            <a:pPr>
              <a:defRPr/>
            </a:pPr>
            <a:endParaRPr/>
          </a:p>
        </p:txBody>
      </p:sp>
      <p:sp>
        <p:nvSpPr>
          <p:cNvPr id="1995928050" name="Slide Number Placeholder 3"/>
          <p:cNvSpPr>
            <a:spLocks noGrp="1"/>
          </p:cNvSpPr>
          <p:nvPr>
            <p:ph type="sldNum" sz="quarter" idx="10"/>
          </p:nvPr>
        </p:nvSpPr>
        <p:spPr bwMode="auto"/>
        <p:txBody>
          <a:bodyPr/>
          <a:lstStyle/>
          <a:p>
            <a:pPr>
              <a:defRPr/>
            </a:pPr>
            <a:fld id="{F98C52E4-9242-9A53-A969-971DD3F90B3C}" type="slidenum">
              <a:rPr/>
              <a:t>43</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28688573" name="Slide Image Placeholder 1"/>
          <p:cNvSpPr>
            <a:spLocks noGrp="1" noRot="1" noChangeAspect="1"/>
          </p:cNvSpPr>
          <p:nvPr>
            <p:ph type="sldImg"/>
          </p:nvPr>
        </p:nvSpPr>
        <p:spPr bwMode="auto"/>
      </p:sp>
      <p:sp>
        <p:nvSpPr>
          <p:cNvPr id="228982214" name="Notes Placeholder 2"/>
          <p:cNvSpPr>
            <a:spLocks noGrp="1"/>
          </p:cNvSpPr>
          <p:nvPr>
            <p:ph type="body" idx="1"/>
          </p:nvPr>
        </p:nvSpPr>
        <p:spPr bwMode="auto"/>
        <p:txBody>
          <a:bodyPr/>
          <a:lstStyle/>
          <a:p>
            <a:pPr>
              <a:defRPr/>
            </a:pPr>
            <a:endParaRPr/>
          </a:p>
        </p:txBody>
      </p:sp>
      <p:sp>
        <p:nvSpPr>
          <p:cNvPr id="1382750469" name="Slide Number Placeholder 3"/>
          <p:cNvSpPr>
            <a:spLocks noGrp="1"/>
          </p:cNvSpPr>
          <p:nvPr>
            <p:ph type="sldNum" sz="quarter" idx="10"/>
          </p:nvPr>
        </p:nvSpPr>
        <p:spPr bwMode="auto"/>
        <p:txBody>
          <a:bodyPr/>
          <a:lstStyle/>
          <a:p>
            <a:pPr>
              <a:defRPr/>
            </a:pPr>
            <a:fld id="{C23E1F50-10DA-44ED-8E7A-601D2A506395}" type="slidenum">
              <a:rPr/>
              <a:t>44</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56260492" name="Slide Image Placeholder 1"/>
          <p:cNvSpPr>
            <a:spLocks noGrp="1" noRot="1" noChangeAspect="1"/>
          </p:cNvSpPr>
          <p:nvPr>
            <p:ph type="sldImg"/>
          </p:nvPr>
        </p:nvSpPr>
        <p:spPr bwMode="auto"/>
      </p:sp>
      <p:sp>
        <p:nvSpPr>
          <p:cNvPr id="753945067" name="Notes Placeholder 2"/>
          <p:cNvSpPr>
            <a:spLocks noGrp="1"/>
          </p:cNvSpPr>
          <p:nvPr>
            <p:ph type="body" idx="1"/>
          </p:nvPr>
        </p:nvSpPr>
        <p:spPr bwMode="auto"/>
        <p:txBody>
          <a:bodyPr/>
          <a:lstStyle/>
          <a:p>
            <a:pPr>
              <a:defRPr/>
            </a:pPr>
            <a:endParaRPr/>
          </a:p>
        </p:txBody>
      </p:sp>
      <p:sp>
        <p:nvSpPr>
          <p:cNvPr id="892596477" name="Slide Number Placeholder 3"/>
          <p:cNvSpPr>
            <a:spLocks noGrp="1"/>
          </p:cNvSpPr>
          <p:nvPr>
            <p:ph type="sldNum" sz="quarter" idx="10"/>
          </p:nvPr>
        </p:nvSpPr>
        <p:spPr bwMode="auto"/>
        <p:txBody>
          <a:bodyPr/>
          <a:lstStyle/>
          <a:p>
            <a:pPr>
              <a:defRPr/>
            </a:pPr>
            <a:fld id="{1FAE42D9-1083-0E8B-2FE8-98366004D920}" type="slidenum">
              <a:rPr/>
              <a:t>45</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58DEAC-2CCE-4BE1-C6D3-AA33E6C74F33}" type="slidenum">
              <a:rPr/>
              <a:t>46</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37FC7A3-A3B7-44FB-C37F-D74600BC021A}" type="slidenum">
              <a:rPr/>
              <a:t>47</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99927938" name="Slide Image Placeholder 1"/>
          <p:cNvSpPr>
            <a:spLocks noGrp="1" noRot="1" noChangeAspect="1"/>
          </p:cNvSpPr>
          <p:nvPr>
            <p:ph type="sldImg"/>
          </p:nvPr>
        </p:nvSpPr>
        <p:spPr bwMode="auto"/>
      </p:sp>
      <p:sp>
        <p:nvSpPr>
          <p:cNvPr id="196849125" name="Notes Placeholder 2"/>
          <p:cNvSpPr>
            <a:spLocks noGrp="1"/>
          </p:cNvSpPr>
          <p:nvPr>
            <p:ph type="body" idx="1"/>
          </p:nvPr>
        </p:nvSpPr>
        <p:spPr bwMode="auto"/>
        <p:txBody>
          <a:bodyPr/>
          <a:lstStyle/>
          <a:p>
            <a:pPr>
              <a:defRPr/>
            </a:pPr>
            <a:endParaRPr/>
          </a:p>
        </p:txBody>
      </p:sp>
      <p:sp>
        <p:nvSpPr>
          <p:cNvPr id="1905075148" name="Slide Number Placeholder 3"/>
          <p:cNvSpPr>
            <a:spLocks noGrp="1"/>
          </p:cNvSpPr>
          <p:nvPr>
            <p:ph type="sldNum" sz="quarter" idx="10"/>
          </p:nvPr>
        </p:nvSpPr>
        <p:spPr bwMode="auto"/>
        <p:txBody>
          <a:bodyPr/>
          <a:lstStyle/>
          <a:p>
            <a:pPr>
              <a:defRPr/>
            </a:pPr>
            <a:fld id="{58897DBC-265F-49C9-F691-0DFAD134592D}" type="slidenum">
              <a:rPr/>
              <a:t>48</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sng" strike="noStrike" cap="none" spc="0">
                <a:solidFill>
                  <a:schemeClr val="tx1"/>
                </a:solidFill>
                <a:latin typeface="Arial"/>
                <a:ea typeface="Arial"/>
                <a:cs typeface="Arial"/>
                <a:hlinkClick r:id="rId3" tooltip="https://opendsa-server.cs.vt.edu/ODSA/Books/Everything/html/Huffman.html"/>
              </a:rPr>
              <a:t>https://opendsa-server.cs.vt.edu/ODSA/Books/Everything/html/Huffman.html</a:t>
            </a:r>
            <a:endParaRPr lang="en-US" sz="1200" b="0" i="0" u="none" strike="noStrike" cap="none" spc="0">
              <a:solidFill>
                <a:schemeClr val="tx1"/>
              </a:solidFill>
              <a:latin typeface="Arial"/>
              <a:ea typeface="Arial"/>
              <a:cs typeface="Arial"/>
            </a:endParaRPr>
          </a:p>
          <a:p>
            <a:pPr>
              <a:defRPr/>
            </a:pPr>
            <a:r>
              <a:rPr lang="en-US" sz="1200" b="0" i="0" u="none" strike="noStrike" cap="none" spc="0">
                <a:solidFill>
                  <a:schemeClr val="tx1"/>
                </a:solidFill>
                <a:latin typeface="Arial"/>
                <a:ea typeface="Arial"/>
                <a:cs typeface="Arial"/>
              </a:rPr>
              <a:t>ABACCDA</a:t>
            </a:r>
            <a:endParaRPr/>
          </a:p>
        </p:txBody>
      </p:sp>
      <p:sp>
        <p:nvSpPr>
          <p:cNvPr id="4" name="Slide Number Placeholder 3"/>
          <p:cNvSpPr>
            <a:spLocks noGrp="1"/>
          </p:cNvSpPr>
          <p:nvPr>
            <p:ph type="sldNum" sz="quarter" idx="10"/>
          </p:nvPr>
        </p:nvSpPr>
        <p:spPr bwMode="auto"/>
        <p:txBody>
          <a:bodyPr/>
          <a:lstStyle/>
          <a:p>
            <a:pPr>
              <a:defRPr/>
            </a:pPr>
            <a:fld id="{C328D1DD-8B59-98AE-2E71-50277145CAAF}" type="slidenum">
              <a:rPr/>
              <a:t>49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FC7C7-C142-05CE-0E60-F76268D24C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0FC119-101E-4324-507C-EB3F14BEAB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2802C6-5F40-AF7E-D8E0-D186E7DB72FE}"/>
              </a:ext>
            </a:extLst>
          </p:cNvPr>
          <p:cNvSpPr>
            <a:spLocks noGrp="1"/>
          </p:cNvSpPr>
          <p:nvPr>
            <p:ph type="dt" sz="half" idx="10"/>
          </p:nvPr>
        </p:nvSpPr>
        <p:spPr/>
        <p:txBody>
          <a:bodyPr/>
          <a:lstStyle/>
          <a:p>
            <a:fld id="{76B0AD8D-0C48-4AB5-9239-C3730EA44F69}" type="datetimeFigureOut">
              <a:rPr lang="en-US" smtClean="0"/>
              <a:t>5/27/2025</a:t>
            </a:fld>
            <a:endParaRPr lang="en-US"/>
          </a:p>
        </p:txBody>
      </p:sp>
      <p:sp>
        <p:nvSpPr>
          <p:cNvPr id="5" name="Footer Placeholder 4">
            <a:extLst>
              <a:ext uri="{FF2B5EF4-FFF2-40B4-BE49-F238E27FC236}">
                <a16:creationId xmlns:a16="http://schemas.microsoft.com/office/drawing/2014/main" id="{B28572A7-23B0-F710-E675-55EA24D75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1858A4-8416-FCCD-B2A8-EA56A487D3A0}"/>
              </a:ext>
            </a:extLst>
          </p:cNvPr>
          <p:cNvSpPr>
            <a:spLocks noGrp="1"/>
          </p:cNvSpPr>
          <p:nvPr>
            <p:ph type="sldNum" sz="quarter" idx="12"/>
          </p:nvPr>
        </p:nvSpPr>
        <p:spPr/>
        <p:txBody>
          <a:bodyPr/>
          <a:lstStyle/>
          <a:p>
            <a:fld id="{44E6DE1D-2197-4C41-AC17-AC06C4A66437}" type="slidenum">
              <a:rPr lang="en-US" smtClean="0"/>
              <a:t>‹#›</a:t>
            </a:fld>
            <a:endParaRPr lang="en-US"/>
          </a:p>
        </p:txBody>
      </p:sp>
    </p:spTree>
    <p:extLst>
      <p:ext uri="{BB962C8B-B14F-4D97-AF65-F5344CB8AC3E}">
        <p14:creationId xmlns:p14="http://schemas.microsoft.com/office/powerpoint/2010/main" val="1134301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04D95-5A24-B427-80DC-E6E11B08C6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E46DF7-E666-7DDB-458C-C76A76EB0E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CF02E9-BA7C-6D36-4B93-267B10648B1F}"/>
              </a:ext>
            </a:extLst>
          </p:cNvPr>
          <p:cNvSpPr>
            <a:spLocks noGrp="1"/>
          </p:cNvSpPr>
          <p:nvPr>
            <p:ph type="dt" sz="half" idx="10"/>
          </p:nvPr>
        </p:nvSpPr>
        <p:spPr/>
        <p:txBody>
          <a:bodyPr/>
          <a:lstStyle/>
          <a:p>
            <a:fld id="{76B0AD8D-0C48-4AB5-9239-C3730EA44F69}" type="datetimeFigureOut">
              <a:rPr lang="en-US" smtClean="0"/>
              <a:t>5/27/2025</a:t>
            </a:fld>
            <a:endParaRPr lang="en-US"/>
          </a:p>
        </p:txBody>
      </p:sp>
      <p:sp>
        <p:nvSpPr>
          <p:cNvPr id="5" name="Footer Placeholder 4">
            <a:extLst>
              <a:ext uri="{FF2B5EF4-FFF2-40B4-BE49-F238E27FC236}">
                <a16:creationId xmlns:a16="http://schemas.microsoft.com/office/drawing/2014/main" id="{E2E4D209-A858-7582-B722-C3F219D2AD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C2D3CD-3E0A-D82C-7972-7C29BE6496CD}"/>
              </a:ext>
            </a:extLst>
          </p:cNvPr>
          <p:cNvSpPr>
            <a:spLocks noGrp="1"/>
          </p:cNvSpPr>
          <p:nvPr>
            <p:ph type="sldNum" sz="quarter" idx="12"/>
          </p:nvPr>
        </p:nvSpPr>
        <p:spPr/>
        <p:txBody>
          <a:bodyPr/>
          <a:lstStyle/>
          <a:p>
            <a:fld id="{44E6DE1D-2197-4C41-AC17-AC06C4A66437}" type="slidenum">
              <a:rPr lang="en-US" smtClean="0"/>
              <a:t>‹#›</a:t>
            </a:fld>
            <a:endParaRPr lang="en-US"/>
          </a:p>
        </p:txBody>
      </p:sp>
    </p:spTree>
    <p:extLst>
      <p:ext uri="{BB962C8B-B14F-4D97-AF65-F5344CB8AC3E}">
        <p14:creationId xmlns:p14="http://schemas.microsoft.com/office/powerpoint/2010/main" val="1812641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AE15C-EDCF-209B-4849-D39AE85EAB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180434-8AFB-4A3B-78CF-96AEC8E613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44CC9A-72BE-0C76-170E-D24794FC35EC}"/>
              </a:ext>
            </a:extLst>
          </p:cNvPr>
          <p:cNvSpPr>
            <a:spLocks noGrp="1"/>
          </p:cNvSpPr>
          <p:nvPr>
            <p:ph type="dt" sz="half" idx="10"/>
          </p:nvPr>
        </p:nvSpPr>
        <p:spPr/>
        <p:txBody>
          <a:bodyPr/>
          <a:lstStyle/>
          <a:p>
            <a:fld id="{76B0AD8D-0C48-4AB5-9239-C3730EA44F69}" type="datetimeFigureOut">
              <a:rPr lang="en-US" smtClean="0"/>
              <a:t>5/27/2025</a:t>
            </a:fld>
            <a:endParaRPr lang="en-US"/>
          </a:p>
        </p:txBody>
      </p:sp>
      <p:sp>
        <p:nvSpPr>
          <p:cNvPr id="5" name="Footer Placeholder 4">
            <a:extLst>
              <a:ext uri="{FF2B5EF4-FFF2-40B4-BE49-F238E27FC236}">
                <a16:creationId xmlns:a16="http://schemas.microsoft.com/office/drawing/2014/main" id="{0FE2029B-A923-2D91-2E85-65A79F6068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15741A-5228-FC99-A4F9-070609D4D4FE}"/>
              </a:ext>
            </a:extLst>
          </p:cNvPr>
          <p:cNvSpPr>
            <a:spLocks noGrp="1"/>
          </p:cNvSpPr>
          <p:nvPr>
            <p:ph type="sldNum" sz="quarter" idx="12"/>
          </p:nvPr>
        </p:nvSpPr>
        <p:spPr/>
        <p:txBody>
          <a:bodyPr/>
          <a:lstStyle/>
          <a:p>
            <a:fld id="{44E6DE1D-2197-4C41-AC17-AC06C4A66437}" type="slidenum">
              <a:rPr lang="en-US" smtClean="0"/>
              <a:t>‹#›</a:t>
            </a:fld>
            <a:endParaRPr lang="en-US"/>
          </a:p>
        </p:txBody>
      </p:sp>
    </p:spTree>
    <p:extLst>
      <p:ext uri="{BB962C8B-B14F-4D97-AF65-F5344CB8AC3E}">
        <p14:creationId xmlns:p14="http://schemas.microsoft.com/office/powerpoint/2010/main" val="452723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75A37-EE46-63F5-54C9-4815A7162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3DBC6F-01AA-9842-212B-1ABA6482D9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4C672F-9F6C-9689-338F-BDF82CE1A2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9BA8DD-E30B-556B-F7C5-959FA43EC891}"/>
              </a:ext>
            </a:extLst>
          </p:cNvPr>
          <p:cNvSpPr>
            <a:spLocks noGrp="1"/>
          </p:cNvSpPr>
          <p:nvPr>
            <p:ph type="dt" sz="half" idx="10"/>
          </p:nvPr>
        </p:nvSpPr>
        <p:spPr/>
        <p:txBody>
          <a:bodyPr/>
          <a:lstStyle/>
          <a:p>
            <a:fld id="{76B0AD8D-0C48-4AB5-9239-C3730EA44F69}" type="datetimeFigureOut">
              <a:rPr lang="en-US" smtClean="0"/>
              <a:t>5/27/2025</a:t>
            </a:fld>
            <a:endParaRPr lang="en-US"/>
          </a:p>
        </p:txBody>
      </p:sp>
      <p:sp>
        <p:nvSpPr>
          <p:cNvPr id="6" name="Footer Placeholder 5">
            <a:extLst>
              <a:ext uri="{FF2B5EF4-FFF2-40B4-BE49-F238E27FC236}">
                <a16:creationId xmlns:a16="http://schemas.microsoft.com/office/drawing/2014/main" id="{225C0DCB-7A2D-A39D-FB3D-DE675A8F60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7D4847-B066-CFBF-5B7B-470C2AA4DF15}"/>
              </a:ext>
            </a:extLst>
          </p:cNvPr>
          <p:cNvSpPr>
            <a:spLocks noGrp="1"/>
          </p:cNvSpPr>
          <p:nvPr>
            <p:ph type="sldNum" sz="quarter" idx="12"/>
          </p:nvPr>
        </p:nvSpPr>
        <p:spPr/>
        <p:txBody>
          <a:bodyPr/>
          <a:lstStyle/>
          <a:p>
            <a:fld id="{44E6DE1D-2197-4C41-AC17-AC06C4A66437}" type="slidenum">
              <a:rPr lang="en-US" smtClean="0"/>
              <a:t>‹#›</a:t>
            </a:fld>
            <a:endParaRPr lang="en-US"/>
          </a:p>
        </p:txBody>
      </p:sp>
    </p:spTree>
    <p:extLst>
      <p:ext uri="{BB962C8B-B14F-4D97-AF65-F5344CB8AC3E}">
        <p14:creationId xmlns:p14="http://schemas.microsoft.com/office/powerpoint/2010/main" val="533747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3B4BD-30D1-A21C-020B-7BAEF1F0942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7FBA99-F365-AFB4-82E0-DB45FFD47A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A05958-9DAD-667C-4DDD-72C001C2EC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5A440D-DE82-C63A-FC5D-2E1D9B1A99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0D4FE9-0346-C6EE-1003-8E3D17652F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B32108-2975-7BA7-71DD-91AE5CECA7A7}"/>
              </a:ext>
            </a:extLst>
          </p:cNvPr>
          <p:cNvSpPr>
            <a:spLocks noGrp="1"/>
          </p:cNvSpPr>
          <p:nvPr>
            <p:ph type="dt" sz="half" idx="10"/>
          </p:nvPr>
        </p:nvSpPr>
        <p:spPr/>
        <p:txBody>
          <a:bodyPr/>
          <a:lstStyle/>
          <a:p>
            <a:fld id="{76B0AD8D-0C48-4AB5-9239-C3730EA44F69}" type="datetimeFigureOut">
              <a:rPr lang="en-US" smtClean="0"/>
              <a:t>5/27/2025</a:t>
            </a:fld>
            <a:endParaRPr lang="en-US"/>
          </a:p>
        </p:txBody>
      </p:sp>
      <p:sp>
        <p:nvSpPr>
          <p:cNvPr id="8" name="Footer Placeholder 7">
            <a:extLst>
              <a:ext uri="{FF2B5EF4-FFF2-40B4-BE49-F238E27FC236}">
                <a16:creationId xmlns:a16="http://schemas.microsoft.com/office/drawing/2014/main" id="{536D5D83-BF41-B63D-E939-85C6388AAD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5181E3-A70B-B17E-B5C8-91E8E520B3D7}"/>
              </a:ext>
            </a:extLst>
          </p:cNvPr>
          <p:cNvSpPr>
            <a:spLocks noGrp="1"/>
          </p:cNvSpPr>
          <p:nvPr>
            <p:ph type="sldNum" sz="quarter" idx="12"/>
          </p:nvPr>
        </p:nvSpPr>
        <p:spPr/>
        <p:txBody>
          <a:bodyPr/>
          <a:lstStyle/>
          <a:p>
            <a:fld id="{44E6DE1D-2197-4C41-AC17-AC06C4A66437}" type="slidenum">
              <a:rPr lang="en-US" smtClean="0"/>
              <a:t>‹#›</a:t>
            </a:fld>
            <a:endParaRPr lang="en-US"/>
          </a:p>
        </p:txBody>
      </p:sp>
    </p:spTree>
    <p:extLst>
      <p:ext uri="{BB962C8B-B14F-4D97-AF65-F5344CB8AC3E}">
        <p14:creationId xmlns:p14="http://schemas.microsoft.com/office/powerpoint/2010/main" val="60996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3D454-0B95-84DE-7337-4D329A9427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26924A-5848-C314-A846-EA21D1165B0D}"/>
              </a:ext>
            </a:extLst>
          </p:cNvPr>
          <p:cNvSpPr>
            <a:spLocks noGrp="1"/>
          </p:cNvSpPr>
          <p:nvPr>
            <p:ph type="dt" sz="half" idx="10"/>
          </p:nvPr>
        </p:nvSpPr>
        <p:spPr/>
        <p:txBody>
          <a:bodyPr/>
          <a:lstStyle/>
          <a:p>
            <a:fld id="{76B0AD8D-0C48-4AB5-9239-C3730EA44F69}" type="datetimeFigureOut">
              <a:rPr lang="en-US" smtClean="0"/>
              <a:t>5/27/2025</a:t>
            </a:fld>
            <a:endParaRPr lang="en-US"/>
          </a:p>
        </p:txBody>
      </p:sp>
      <p:sp>
        <p:nvSpPr>
          <p:cNvPr id="4" name="Footer Placeholder 3">
            <a:extLst>
              <a:ext uri="{FF2B5EF4-FFF2-40B4-BE49-F238E27FC236}">
                <a16:creationId xmlns:a16="http://schemas.microsoft.com/office/drawing/2014/main" id="{B297281E-CF02-83A9-859F-4F985F3BC5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31C125-F93E-91D3-1E1F-7D9CB4DA1920}"/>
              </a:ext>
            </a:extLst>
          </p:cNvPr>
          <p:cNvSpPr>
            <a:spLocks noGrp="1"/>
          </p:cNvSpPr>
          <p:nvPr>
            <p:ph type="sldNum" sz="quarter" idx="12"/>
          </p:nvPr>
        </p:nvSpPr>
        <p:spPr/>
        <p:txBody>
          <a:bodyPr/>
          <a:lstStyle/>
          <a:p>
            <a:fld id="{44E6DE1D-2197-4C41-AC17-AC06C4A66437}" type="slidenum">
              <a:rPr lang="en-US" smtClean="0"/>
              <a:t>‹#›</a:t>
            </a:fld>
            <a:endParaRPr lang="en-US"/>
          </a:p>
        </p:txBody>
      </p:sp>
    </p:spTree>
    <p:extLst>
      <p:ext uri="{BB962C8B-B14F-4D97-AF65-F5344CB8AC3E}">
        <p14:creationId xmlns:p14="http://schemas.microsoft.com/office/powerpoint/2010/main" val="4167077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4DB032-1787-2794-7B49-F0F945E2A83F}"/>
              </a:ext>
            </a:extLst>
          </p:cNvPr>
          <p:cNvSpPr>
            <a:spLocks noGrp="1"/>
          </p:cNvSpPr>
          <p:nvPr>
            <p:ph type="dt" sz="half" idx="10"/>
          </p:nvPr>
        </p:nvSpPr>
        <p:spPr/>
        <p:txBody>
          <a:bodyPr/>
          <a:lstStyle/>
          <a:p>
            <a:fld id="{76B0AD8D-0C48-4AB5-9239-C3730EA44F69}" type="datetimeFigureOut">
              <a:rPr lang="en-US" smtClean="0"/>
              <a:t>5/27/2025</a:t>
            </a:fld>
            <a:endParaRPr lang="en-US"/>
          </a:p>
        </p:txBody>
      </p:sp>
      <p:sp>
        <p:nvSpPr>
          <p:cNvPr id="3" name="Footer Placeholder 2">
            <a:extLst>
              <a:ext uri="{FF2B5EF4-FFF2-40B4-BE49-F238E27FC236}">
                <a16:creationId xmlns:a16="http://schemas.microsoft.com/office/drawing/2014/main" id="{0EBC7DC5-DAB6-6B0C-4375-D67B4116F3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33F8BA-8D1F-6E53-C012-2926FE1AB4C2}"/>
              </a:ext>
            </a:extLst>
          </p:cNvPr>
          <p:cNvSpPr>
            <a:spLocks noGrp="1"/>
          </p:cNvSpPr>
          <p:nvPr>
            <p:ph type="sldNum" sz="quarter" idx="12"/>
          </p:nvPr>
        </p:nvSpPr>
        <p:spPr/>
        <p:txBody>
          <a:bodyPr/>
          <a:lstStyle/>
          <a:p>
            <a:fld id="{44E6DE1D-2197-4C41-AC17-AC06C4A66437}" type="slidenum">
              <a:rPr lang="en-US" smtClean="0"/>
              <a:t>‹#›</a:t>
            </a:fld>
            <a:endParaRPr lang="en-US"/>
          </a:p>
        </p:txBody>
      </p:sp>
    </p:spTree>
    <p:extLst>
      <p:ext uri="{BB962C8B-B14F-4D97-AF65-F5344CB8AC3E}">
        <p14:creationId xmlns:p14="http://schemas.microsoft.com/office/powerpoint/2010/main" val="3084296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CB7DB-1A16-5B8D-068B-27CE652AD6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799606-E7DB-BAB1-D3B6-C0AF6B4A69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F1935-DD4C-AB39-EA47-4AB92B1334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5C98E5-983E-1C3F-DD6A-D0DAE9359C4A}"/>
              </a:ext>
            </a:extLst>
          </p:cNvPr>
          <p:cNvSpPr>
            <a:spLocks noGrp="1"/>
          </p:cNvSpPr>
          <p:nvPr>
            <p:ph type="dt" sz="half" idx="10"/>
          </p:nvPr>
        </p:nvSpPr>
        <p:spPr/>
        <p:txBody>
          <a:bodyPr/>
          <a:lstStyle/>
          <a:p>
            <a:fld id="{76B0AD8D-0C48-4AB5-9239-C3730EA44F69}" type="datetimeFigureOut">
              <a:rPr lang="en-US" smtClean="0"/>
              <a:t>5/27/2025</a:t>
            </a:fld>
            <a:endParaRPr lang="en-US"/>
          </a:p>
        </p:txBody>
      </p:sp>
      <p:sp>
        <p:nvSpPr>
          <p:cNvPr id="6" name="Footer Placeholder 5">
            <a:extLst>
              <a:ext uri="{FF2B5EF4-FFF2-40B4-BE49-F238E27FC236}">
                <a16:creationId xmlns:a16="http://schemas.microsoft.com/office/drawing/2014/main" id="{1025E09C-E194-AECD-3E55-A18BCCF209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95EA60-207C-5283-18F4-B64E3E2626B0}"/>
              </a:ext>
            </a:extLst>
          </p:cNvPr>
          <p:cNvSpPr>
            <a:spLocks noGrp="1"/>
          </p:cNvSpPr>
          <p:nvPr>
            <p:ph type="sldNum" sz="quarter" idx="12"/>
          </p:nvPr>
        </p:nvSpPr>
        <p:spPr/>
        <p:txBody>
          <a:bodyPr/>
          <a:lstStyle/>
          <a:p>
            <a:fld id="{44E6DE1D-2197-4C41-AC17-AC06C4A66437}" type="slidenum">
              <a:rPr lang="en-US" smtClean="0"/>
              <a:t>‹#›</a:t>
            </a:fld>
            <a:endParaRPr lang="en-US"/>
          </a:p>
        </p:txBody>
      </p:sp>
    </p:spTree>
    <p:extLst>
      <p:ext uri="{BB962C8B-B14F-4D97-AF65-F5344CB8AC3E}">
        <p14:creationId xmlns:p14="http://schemas.microsoft.com/office/powerpoint/2010/main" val="187266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5DC57-CD65-475D-297F-40888975AB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22771B9-E47A-29F1-B05E-F91E21B8DE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F66613-FEEA-154C-1702-920AD1F2B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92277C-88D6-6840-7152-7649DF3D0187}"/>
              </a:ext>
            </a:extLst>
          </p:cNvPr>
          <p:cNvSpPr>
            <a:spLocks noGrp="1"/>
          </p:cNvSpPr>
          <p:nvPr>
            <p:ph type="dt" sz="half" idx="10"/>
          </p:nvPr>
        </p:nvSpPr>
        <p:spPr/>
        <p:txBody>
          <a:bodyPr/>
          <a:lstStyle/>
          <a:p>
            <a:fld id="{76B0AD8D-0C48-4AB5-9239-C3730EA44F69}" type="datetimeFigureOut">
              <a:rPr lang="en-US" smtClean="0"/>
              <a:t>5/27/2025</a:t>
            </a:fld>
            <a:endParaRPr lang="en-US"/>
          </a:p>
        </p:txBody>
      </p:sp>
      <p:sp>
        <p:nvSpPr>
          <p:cNvPr id="6" name="Footer Placeholder 5">
            <a:extLst>
              <a:ext uri="{FF2B5EF4-FFF2-40B4-BE49-F238E27FC236}">
                <a16:creationId xmlns:a16="http://schemas.microsoft.com/office/drawing/2014/main" id="{A1727935-1270-259B-7769-1A11660498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03D38F-DFAE-8E23-9F54-0F2F1AEABE4D}"/>
              </a:ext>
            </a:extLst>
          </p:cNvPr>
          <p:cNvSpPr>
            <a:spLocks noGrp="1"/>
          </p:cNvSpPr>
          <p:nvPr>
            <p:ph type="sldNum" sz="quarter" idx="12"/>
          </p:nvPr>
        </p:nvSpPr>
        <p:spPr/>
        <p:txBody>
          <a:bodyPr/>
          <a:lstStyle/>
          <a:p>
            <a:fld id="{44E6DE1D-2197-4C41-AC17-AC06C4A66437}" type="slidenum">
              <a:rPr lang="en-US" smtClean="0"/>
              <a:t>‹#›</a:t>
            </a:fld>
            <a:endParaRPr lang="en-US"/>
          </a:p>
        </p:txBody>
      </p:sp>
    </p:spTree>
    <p:extLst>
      <p:ext uri="{BB962C8B-B14F-4D97-AF65-F5344CB8AC3E}">
        <p14:creationId xmlns:p14="http://schemas.microsoft.com/office/powerpoint/2010/main" val="2307085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184B4-E463-730A-94F4-029EB9643C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35C079-CA7C-F117-9E9A-968AE1C598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3A9E75-F59A-EA34-4C11-3FBFAAACD608}"/>
              </a:ext>
            </a:extLst>
          </p:cNvPr>
          <p:cNvSpPr>
            <a:spLocks noGrp="1"/>
          </p:cNvSpPr>
          <p:nvPr>
            <p:ph type="dt" sz="half" idx="10"/>
          </p:nvPr>
        </p:nvSpPr>
        <p:spPr/>
        <p:txBody>
          <a:bodyPr/>
          <a:lstStyle/>
          <a:p>
            <a:fld id="{76B0AD8D-0C48-4AB5-9239-C3730EA44F69}" type="datetimeFigureOut">
              <a:rPr lang="en-US" smtClean="0"/>
              <a:t>5/27/2025</a:t>
            </a:fld>
            <a:endParaRPr lang="en-US"/>
          </a:p>
        </p:txBody>
      </p:sp>
      <p:sp>
        <p:nvSpPr>
          <p:cNvPr id="5" name="Footer Placeholder 4">
            <a:extLst>
              <a:ext uri="{FF2B5EF4-FFF2-40B4-BE49-F238E27FC236}">
                <a16:creationId xmlns:a16="http://schemas.microsoft.com/office/drawing/2014/main" id="{D0F3B8D3-D725-FA6A-5C48-8F699DD4AC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335313-0507-EC5D-84CD-0F27510B253E}"/>
              </a:ext>
            </a:extLst>
          </p:cNvPr>
          <p:cNvSpPr>
            <a:spLocks noGrp="1"/>
          </p:cNvSpPr>
          <p:nvPr>
            <p:ph type="sldNum" sz="quarter" idx="12"/>
          </p:nvPr>
        </p:nvSpPr>
        <p:spPr/>
        <p:txBody>
          <a:bodyPr/>
          <a:lstStyle/>
          <a:p>
            <a:fld id="{44E6DE1D-2197-4C41-AC17-AC06C4A66437}" type="slidenum">
              <a:rPr lang="en-US" smtClean="0"/>
              <a:t>‹#›</a:t>
            </a:fld>
            <a:endParaRPr lang="en-US"/>
          </a:p>
        </p:txBody>
      </p:sp>
    </p:spTree>
    <p:extLst>
      <p:ext uri="{BB962C8B-B14F-4D97-AF65-F5344CB8AC3E}">
        <p14:creationId xmlns:p14="http://schemas.microsoft.com/office/powerpoint/2010/main" val="1934521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145268-69CE-18B0-4ACC-FB397280D6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F22F83-E90B-1B3B-5332-C9DCDEEDEE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F459B8-73AA-D05F-907E-7D9496F6C07A}"/>
              </a:ext>
            </a:extLst>
          </p:cNvPr>
          <p:cNvSpPr>
            <a:spLocks noGrp="1"/>
          </p:cNvSpPr>
          <p:nvPr>
            <p:ph type="dt" sz="half" idx="10"/>
          </p:nvPr>
        </p:nvSpPr>
        <p:spPr/>
        <p:txBody>
          <a:bodyPr/>
          <a:lstStyle/>
          <a:p>
            <a:fld id="{76B0AD8D-0C48-4AB5-9239-C3730EA44F69}" type="datetimeFigureOut">
              <a:rPr lang="en-US" smtClean="0"/>
              <a:t>5/27/2025</a:t>
            </a:fld>
            <a:endParaRPr lang="en-US"/>
          </a:p>
        </p:txBody>
      </p:sp>
      <p:sp>
        <p:nvSpPr>
          <p:cNvPr id="5" name="Footer Placeholder 4">
            <a:extLst>
              <a:ext uri="{FF2B5EF4-FFF2-40B4-BE49-F238E27FC236}">
                <a16:creationId xmlns:a16="http://schemas.microsoft.com/office/drawing/2014/main" id="{4129048E-F3A1-5EFD-E0AA-255439EE71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C9891-E943-E9AE-4185-C16CEA9C4CA0}"/>
              </a:ext>
            </a:extLst>
          </p:cNvPr>
          <p:cNvSpPr>
            <a:spLocks noGrp="1"/>
          </p:cNvSpPr>
          <p:nvPr>
            <p:ph type="sldNum" sz="quarter" idx="12"/>
          </p:nvPr>
        </p:nvSpPr>
        <p:spPr/>
        <p:txBody>
          <a:bodyPr/>
          <a:lstStyle/>
          <a:p>
            <a:fld id="{44E6DE1D-2197-4C41-AC17-AC06C4A66437}" type="slidenum">
              <a:rPr lang="en-US" smtClean="0"/>
              <a:t>‹#›</a:t>
            </a:fld>
            <a:endParaRPr lang="en-US"/>
          </a:p>
        </p:txBody>
      </p:sp>
    </p:spTree>
    <p:extLst>
      <p:ext uri="{BB962C8B-B14F-4D97-AF65-F5344CB8AC3E}">
        <p14:creationId xmlns:p14="http://schemas.microsoft.com/office/powerpoint/2010/main" val="4052395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3BFF6E-331C-5A6B-D4AB-C1D20651EC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08BB32-69A5-01C2-8176-5EC68A58E7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547177-A71A-ED5E-FF4C-373CFD3D8C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B0AD8D-0C48-4AB5-9239-C3730EA44F69}" type="datetimeFigureOut">
              <a:rPr lang="en-US" smtClean="0"/>
              <a:t>5/27/2025</a:t>
            </a:fld>
            <a:endParaRPr lang="en-US"/>
          </a:p>
        </p:txBody>
      </p:sp>
      <p:sp>
        <p:nvSpPr>
          <p:cNvPr id="5" name="Footer Placeholder 4">
            <a:extLst>
              <a:ext uri="{FF2B5EF4-FFF2-40B4-BE49-F238E27FC236}">
                <a16:creationId xmlns:a16="http://schemas.microsoft.com/office/drawing/2014/main" id="{C619D2F3-56C3-AA35-A337-4CB0FC12BA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C854175-AADB-5D2E-FEE1-D78DB9A834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E6DE1D-2197-4C41-AC17-AC06C4A66437}" type="slidenum">
              <a:rPr lang="en-US" smtClean="0"/>
              <a:t>‹#›</a:t>
            </a:fld>
            <a:endParaRPr lang="en-US"/>
          </a:p>
        </p:txBody>
      </p:sp>
    </p:spTree>
    <p:extLst>
      <p:ext uri="{BB962C8B-B14F-4D97-AF65-F5344CB8AC3E}">
        <p14:creationId xmlns:p14="http://schemas.microsoft.com/office/powerpoint/2010/main" val="35622958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44BC6-28EB-DE01-8A70-0D02F085FF3F}"/>
              </a:ext>
            </a:extLst>
          </p:cNvPr>
          <p:cNvSpPr>
            <a:spLocks noGrp="1"/>
          </p:cNvSpPr>
          <p:nvPr>
            <p:ph type="ctrTitle"/>
          </p:nvPr>
        </p:nvSpPr>
        <p:spPr/>
        <p:txBody>
          <a:bodyPr/>
          <a:lstStyle/>
          <a:p>
            <a:r>
              <a:rPr lang="en-US" dirty="0"/>
              <a:t>Tree</a:t>
            </a:r>
          </a:p>
        </p:txBody>
      </p:sp>
      <p:sp>
        <p:nvSpPr>
          <p:cNvPr id="3" name="Subtitle 2">
            <a:extLst>
              <a:ext uri="{FF2B5EF4-FFF2-40B4-BE49-F238E27FC236}">
                <a16:creationId xmlns:a16="http://schemas.microsoft.com/office/drawing/2014/main" id="{5570B2AB-C06D-4C6A-94E5-9CA337BED3DC}"/>
              </a:ext>
            </a:extLst>
          </p:cNvPr>
          <p:cNvSpPr>
            <a:spLocks noGrp="1"/>
          </p:cNvSpPr>
          <p:nvPr>
            <p:ph type="subTitle" idx="1"/>
          </p:nvPr>
        </p:nvSpPr>
        <p:spPr/>
        <p:txBody>
          <a:bodyPr/>
          <a:lstStyle/>
          <a:p>
            <a:r>
              <a:rPr lang="en-US" dirty="0"/>
              <a:t>Unit-6</a:t>
            </a:r>
          </a:p>
        </p:txBody>
      </p:sp>
    </p:spTree>
    <p:extLst>
      <p:ext uri="{BB962C8B-B14F-4D97-AF65-F5344CB8AC3E}">
        <p14:creationId xmlns:p14="http://schemas.microsoft.com/office/powerpoint/2010/main" val="3483940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63942965"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Introduction to Trees</a:t>
            </a:r>
            <a:endParaRPr lang="en-US" sz="4400" b="0" strike="noStrike" spc="0">
              <a:solidFill>
                <a:srgbClr val="000000"/>
              </a:solidFill>
              <a:latin typeface="Arial"/>
            </a:endParaRPr>
          </a:p>
        </p:txBody>
      </p:sp>
      <p:sp>
        <p:nvSpPr>
          <p:cNvPr id="627541133" name="PlaceHolder 2"/>
          <p:cNvSpPr>
            <a:spLocks noGrp="1"/>
          </p:cNvSpPr>
          <p:nvPr>
            <p:ph/>
          </p:nvPr>
        </p:nvSpPr>
        <p:spPr bwMode="auto">
          <a:xfrm>
            <a:off x="685800" y="2063520"/>
            <a:ext cx="10393560" cy="3310200"/>
          </a:xfrm>
          <a:prstGeom prst="rect">
            <a:avLst/>
          </a:prstGeom>
          <a:noFill/>
          <a:ln w="0">
            <a:noFill/>
          </a:ln>
        </p:spPr>
        <p:txBody>
          <a:bodyPr lIns="90000" tIns="45000" rIns="90000" bIns="45000" anchor="t">
            <a:normAutofit lnSpcReduction="10000"/>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a tree is </a:t>
            </a:r>
            <a:r>
              <a:rPr lang="en-US" sz="2800" b="0" strike="noStrike" spc="0">
                <a:solidFill>
                  <a:srgbClr val="FF0000"/>
                </a:solidFill>
                <a:latin typeface="Calibri"/>
              </a:rPr>
              <a:t>a hierarchical data structure </a:t>
            </a:r>
            <a:r>
              <a:rPr lang="en-US" sz="2800" b="0" strike="noStrike" spc="0">
                <a:solidFill>
                  <a:srgbClr val="000000"/>
                </a:solidFill>
                <a:latin typeface="Calibri"/>
              </a:rPr>
              <a:t>that consists of nodes connected by edges.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It is a </a:t>
            </a:r>
            <a:r>
              <a:rPr lang="en-US" sz="2800" b="1" strike="noStrike" spc="0">
                <a:solidFill>
                  <a:srgbClr val="000000"/>
                </a:solidFill>
                <a:latin typeface="Calibri"/>
              </a:rPr>
              <a:t>nonlinear data structure </a:t>
            </a:r>
            <a:r>
              <a:rPr lang="en-US" sz="2800" b="0" strike="noStrike" spc="0">
                <a:solidFill>
                  <a:srgbClr val="000000"/>
                </a:solidFill>
                <a:latin typeface="Calibri"/>
              </a:rPr>
              <a:t>that represents a set of elements in a hierarchical manner.</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A hierarchical manner is a way of </a:t>
            </a:r>
            <a:r>
              <a:rPr lang="en-US" sz="2800" b="1" strike="noStrike" spc="0">
                <a:solidFill>
                  <a:srgbClr val="000000"/>
                </a:solidFill>
                <a:latin typeface="Calibri"/>
              </a:rPr>
              <a:t>organizing things in a system of levels.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The </a:t>
            </a:r>
            <a:r>
              <a:rPr lang="en-US" sz="2800" b="1" strike="noStrike" spc="0">
                <a:solidFill>
                  <a:srgbClr val="000000"/>
                </a:solidFill>
                <a:latin typeface="Calibri"/>
              </a:rPr>
              <a:t>highest level is at the top, and the lowest level is at the bottom. </a:t>
            </a:r>
            <a:endParaRPr lang="en-US" sz="2800" b="0" strike="noStrike" spc="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92090713"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Introduction to Trees</a:t>
            </a:r>
            <a:endParaRPr lang="en-US" sz="4400" b="0" strike="noStrike" spc="0">
              <a:solidFill>
                <a:srgbClr val="000000"/>
              </a:solidFill>
              <a:latin typeface="Arial"/>
            </a:endParaRPr>
          </a:p>
        </p:txBody>
      </p:sp>
      <p:sp>
        <p:nvSpPr>
          <p:cNvPr id="639535612" name="PlaceHolder 2"/>
          <p:cNvSpPr>
            <a:spLocks noGrp="1"/>
          </p:cNvSpPr>
          <p:nvPr>
            <p:ph/>
          </p:nvPr>
        </p:nvSpPr>
        <p:spPr bwMode="auto">
          <a:xfrm>
            <a:off x="685800" y="2063520"/>
            <a:ext cx="10393560" cy="33102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In a tree, there is a special node called the root node that serves as the starting point of the tree.</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 The root node can have zero or more child nodes, each of which may have its own child nodes, forming a branching structure.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The nodes in a tree are typically connected in a parent-child relationship, where each child node has a single parent node.</a:t>
            </a:r>
            <a:endParaRPr lang="en-US" sz="2800" b="0" strike="noStrike" spc="0">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984077607" name="Picture 4" descr="Introduction to Tree - Data Structure and Algorithm Tutorials"/>
          <p:cNvPicPr/>
          <p:nvPr/>
        </p:nvPicPr>
        <p:blipFill>
          <a:blip r:embed="rId3"/>
          <a:stretch/>
        </p:blipFill>
        <p:spPr bwMode="auto">
          <a:xfrm>
            <a:off x="1000080" y="571320"/>
            <a:ext cx="10190520" cy="549432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71999553" name="PlaceHolder 1"/>
          <p:cNvSpPr>
            <a:spLocks noGrp="1"/>
          </p:cNvSpPr>
          <p:nvPr>
            <p:ph type="title"/>
          </p:nvPr>
        </p:nvSpPr>
        <p:spPr bwMode="auto">
          <a:xfrm>
            <a:off x="685800" y="685800"/>
            <a:ext cx="10395720" cy="118800"/>
          </a:xfrm>
          <a:prstGeom prst="rect">
            <a:avLst/>
          </a:prstGeom>
          <a:noFill/>
          <a:ln w="0">
            <a:noFill/>
          </a:ln>
        </p:spPr>
        <p:txBody>
          <a:bodyPr lIns="90000" tIns="45000" rIns="90000" bIns="45000" anchor="ctr">
            <a:normAutofit fontScale="90000"/>
          </a:bodyPr>
          <a:lstStyle/>
          <a:p>
            <a:pPr indent="0" algn="ctr">
              <a:lnSpc>
                <a:spcPct val="90000"/>
              </a:lnSpc>
              <a:buNone/>
              <a:tabLst>
                <a:tab pos="0" algn="l"/>
              </a:tabLst>
              <a:defRPr/>
            </a:pPr>
            <a:r>
              <a:rPr lang="en-US" sz="4400" b="0" strike="noStrike" spc="0">
                <a:solidFill>
                  <a:srgbClr val="000000"/>
                </a:solidFill>
                <a:latin typeface="Calibri Light"/>
              </a:rPr>
              <a:t>Terminologies used in Tree</a:t>
            </a:r>
            <a:endParaRPr lang="en-US" sz="4400" b="0" strike="noStrike" spc="0">
              <a:solidFill>
                <a:srgbClr val="000000"/>
              </a:solidFill>
              <a:latin typeface="Arial"/>
            </a:endParaRPr>
          </a:p>
        </p:txBody>
      </p:sp>
      <p:sp>
        <p:nvSpPr>
          <p:cNvPr id="712962042" name="PlaceHolder 2"/>
          <p:cNvSpPr>
            <a:spLocks noGrp="1"/>
          </p:cNvSpPr>
          <p:nvPr>
            <p:ph/>
          </p:nvPr>
        </p:nvSpPr>
        <p:spPr bwMode="auto">
          <a:xfrm>
            <a:off x="685800" y="1378799"/>
            <a:ext cx="10393560" cy="4353120"/>
          </a:xfrm>
          <a:prstGeom prst="rect">
            <a:avLst/>
          </a:prstGeom>
          <a:noFill/>
          <a:ln w="0">
            <a:noFill/>
          </a:ln>
        </p:spPr>
        <p:txBody>
          <a:bodyPr lIns="90000" tIns="45000" rIns="90000" bIns="45000" anchor="t">
            <a:normAutofit fontScale="68000" lnSpcReduction="10000"/>
          </a:bodyPr>
          <a:lstStyle/>
          <a:p>
            <a:pPr marL="221040" indent="-221040">
              <a:lnSpc>
                <a:spcPct val="90000"/>
              </a:lnSpc>
              <a:spcBef>
                <a:spcPts val="1000"/>
              </a:spcBef>
              <a:buClr>
                <a:srgbClr val="000000"/>
              </a:buClr>
              <a:buFont typeface="Arial"/>
              <a:buChar char="•"/>
              <a:defRPr/>
            </a:pPr>
            <a:r>
              <a:rPr lang="en-US" sz="2800" b="1" strike="noStrike" spc="0">
                <a:solidFill>
                  <a:srgbClr val="000000"/>
                </a:solidFill>
                <a:latin typeface="Calibri"/>
              </a:rPr>
              <a:t>Node:</a:t>
            </a:r>
            <a:r>
              <a:rPr lang="en-US" sz="2800" b="0" strike="noStrike" spc="0">
                <a:solidFill>
                  <a:srgbClr val="000000"/>
                </a:solidFill>
                <a:latin typeface="Calibri"/>
              </a:rPr>
              <a:t> Each element in a tree is called a node. It represents a single entity in the tree and can hold data.</a:t>
            </a:r>
            <a:endParaRPr lang="en-US" sz="2800" b="0" strike="noStrike" spc="0">
              <a:solidFill>
                <a:srgbClr val="000000"/>
              </a:solidFill>
              <a:latin typeface="Arial"/>
            </a:endParaRPr>
          </a:p>
          <a:p>
            <a:pPr marL="221040" indent="-221040">
              <a:lnSpc>
                <a:spcPct val="90000"/>
              </a:lnSpc>
              <a:spcBef>
                <a:spcPts val="1000"/>
              </a:spcBef>
              <a:buClr>
                <a:srgbClr val="000000"/>
              </a:buClr>
              <a:buFont typeface="Arial"/>
              <a:buChar char="•"/>
              <a:defRPr/>
            </a:pPr>
            <a:r>
              <a:rPr lang="en-US" sz="2800" b="1" strike="noStrike" spc="0">
                <a:solidFill>
                  <a:srgbClr val="000000"/>
                </a:solidFill>
                <a:latin typeface="Calibri"/>
              </a:rPr>
              <a:t>Root: </a:t>
            </a:r>
            <a:r>
              <a:rPr lang="en-US" sz="2800" b="0" strike="noStrike" spc="0">
                <a:solidFill>
                  <a:srgbClr val="000000"/>
                </a:solidFill>
                <a:latin typeface="Calibri"/>
              </a:rPr>
              <a:t>The root is the topmost node of a tree. It is the starting point or the main access point to the tree.</a:t>
            </a:r>
            <a:endParaRPr lang="en-US" sz="2800" b="0" strike="noStrike" spc="0">
              <a:solidFill>
                <a:srgbClr val="000000"/>
              </a:solidFill>
              <a:latin typeface="Arial"/>
            </a:endParaRPr>
          </a:p>
          <a:p>
            <a:pPr marL="221040" indent="-221040">
              <a:lnSpc>
                <a:spcPct val="90000"/>
              </a:lnSpc>
              <a:spcBef>
                <a:spcPts val="1000"/>
              </a:spcBef>
              <a:buClr>
                <a:srgbClr val="000000"/>
              </a:buClr>
              <a:buFont typeface="Arial"/>
              <a:buChar char="•"/>
              <a:defRPr/>
            </a:pPr>
            <a:r>
              <a:rPr lang="en-US" sz="2800" b="1" strike="noStrike" spc="0">
                <a:solidFill>
                  <a:srgbClr val="000000"/>
                </a:solidFill>
                <a:latin typeface="Calibri"/>
              </a:rPr>
              <a:t>Parent: </a:t>
            </a:r>
            <a:r>
              <a:rPr lang="en-US" sz="2800" b="0" strike="noStrike" spc="0">
                <a:solidFill>
                  <a:srgbClr val="000000"/>
                </a:solidFill>
                <a:latin typeface="Calibri"/>
              </a:rPr>
              <a:t>The parent of a node is the node directly above it. It is the immediate ancestor of the node.</a:t>
            </a:r>
            <a:endParaRPr lang="en-US" sz="2800" b="0" strike="noStrike" spc="0">
              <a:solidFill>
                <a:srgbClr val="000000"/>
              </a:solidFill>
              <a:latin typeface="Arial"/>
            </a:endParaRPr>
          </a:p>
          <a:p>
            <a:pPr marL="221040" indent="-221040">
              <a:lnSpc>
                <a:spcPct val="90000"/>
              </a:lnSpc>
              <a:spcBef>
                <a:spcPts val="1000"/>
              </a:spcBef>
              <a:buClr>
                <a:srgbClr val="000000"/>
              </a:buClr>
              <a:buFont typeface="Arial"/>
              <a:buChar char="•"/>
              <a:defRPr/>
            </a:pPr>
            <a:r>
              <a:rPr lang="en-US" sz="2800" b="1" strike="noStrike" spc="0">
                <a:solidFill>
                  <a:srgbClr val="000000"/>
                </a:solidFill>
                <a:latin typeface="Calibri"/>
              </a:rPr>
              <a:t>Child:</a:t>
            </a:r>
            <a:r>
              <a:rPr lang="en-US" sz="2800" b="0" strike="noStrike" spc="0">
                <a:solidFill>
                  <a:srgbClr val="000000"/>
                </a:solidFill>
                <a:latin typeface="Calibri"/>
              </a:rPr>
              <a:t> The children of a node are the nodes directly below it. They are the immediate descendants of the node.</a:t>
            </a:r>
            <a:endParaRPr lang="en-US" sz="2800" b="0" strike="noStrike" spc="0">
              <a:solidFill>
                <a:srgbClr val="000000"/>
              </a:solidFill>
              <a:latin typeface="Arial"/>
            </a:endParaRPr>
          </a:p>
          <a:p>
            <a:pPr marL="221040" indent="-221040">
              <a:lnSpc>
                <a:spcPct val="90000"/>
              </a:lnSpc>
              <a:spcBef>
                <a:spcPts val="1000"/>
              </a:spcBef>
              <a:buClr>
                <a:srgbClr val="000000"/>
              </a:buClr>
              <a:buFont typeface="Arial"/>
              <a:buChar char="•"/>
              <a:defRPr/>
            </a:pPr>
            <a:r>
              <a:rPr lang="en-US" sz="2800" b="1" strike="noStrike" spc="0">
                <a:solidFill>
                  <a:srgbClr val="000000"/>
                </a:solidFill>
                <a:latin typeface="Calibri"/>
              </a:rPr>
              <a:t>Siblings:</a:t>
            </a:r>
            <a:r>
              <a:rPr lang="en-US" sz="2800" b="0" strike="noStrike" spc="0">
                <a:solidFill>
                  <a:srgbClr val="000000"/>
                </a:solidFill>
                <a:latin typeface="Calibri"/>
              </a:rPr>
              <a:t> Nodes that share the same parent are called siblings. They are at the same level in the tree.</a:t>
            </a:r>
            <a:endParaRPr lang="en-US" sz="2800" b="0" strike="noStrike" spc="0">
              <a:solidFill>
                <a:srgbClr val="000000"/>
              </a:solidFill>
              <a:latin typeface="Arial"/>
            </a:endParaRPr>
          </a:p>
          <a:p>
            <a:pPr marL="221040" indent="-221040">
              <a:lnSpc>
                <a:spcPct val="90000"/>
              </a:lnSpc>
              <a:spcBef>
                <a:spcPts val="1000"/>
              </a:spcBef>
              <a:buClr>
                <a:srgbClr val="000000"/>
              </a:buClr>
              <a:buFont typeface="Arial"/>
              <a:buChar char="•"/>
              <a:defRPr/>
            </a:pPr>
            <a:r>
              <a:rPr lang="en-US" sz="2800" b="1" strike="noStrike" spc="0">
                <a:solidFill>
                  <a:srgbClr val="000000"/>
                </a:solidFill>
                <a:latin typeface="Calibri"/>
              </a:rPr>
              <a:t>Leaf:</a:t>
            </a:r>
            <a:r>
              <a:rPr lang="en-US" sz="2800" b="0" strike="noStrike" spc="0">
                <a:solidFill>
                  <a:srgbClr val="000000"/>
                </a:solidFill>
                <a:latin typeface="Calibri"/>
              </a:rPr>
              <a:t> A leaf node, also known as a terminal node, is a node that has no children. It is at the end of a branch.</a:t>
            </a:r>
            <a:endParaRPr lang="en-US" sz="2800" b="0" strike="noStrike" spc="0">
              <a:solidFill>
                <a:srgbClr val="000000"/>
              </a:solidFill>
              <a:latin typeface="Arial"/>
            </a:endParaRPr>
          </a:p>
          <a:p>
            <a:pPr marL="221040" indent="-221040">
              <a:lnSpc>
                <a:spcPct val="90000"/>
              </a:lnSpc>
              <a:spcBef>
                <a:spcPts val="1000"/>
              </a:spcBef>
              <a:buClr>
                <a:srgbClr val="000000"/>
              </a:buClr>
              <a:buFont typeface="Arial"/>
              <a:buChar char="•"/>
              <a:defRPr/>
            </a:pPr>
            <a:r>
              <a:rPr lang="en-US" sz="2800" b="1" strike="noStrike" spc="0">
                <a:solidFill>
                  <a:srgbClr val="000000"/>
                </a:solidFill>
                <a:latin typeface="Calibri"/>
              </a:rPr>
              <a:t>Internal Node: </a:t>
            </a:r>
            <a:r>
              <a:rPr lang="en-US" sz="2800" b="0" strike="noStrike" spc="0">
                <a:solidFill>
                  <a:srgbClr val="000000"/>
                </a:solidFill>
                <a:latin typeface="Calibri"/>
              </a:rPr>
              <a:t>An internal node is any node in the tree that is not a leaf. It has at least one child.</a:t>
            </a:r>
            <a:endParaRPr lang="en-US" sz="2800" b="0" strike="noStrike" spc="0">
              <a:solidFill>
                <a:srgbClr val="000000"/>
              </a:solidFill>
              <a:latin typeface="Arial"/>
            </a:endParaRPr>
          </a:p>
          <a:p>
            <a:pPr marL="221040" indent="-221040">
              <a:lnSpc>
                <a:spcPct val="90000"/>
              </a:lnSpc>
              <a:spcBef>
                <a:spcPts val="1000"/>
              </a:spcBef>
              <a:buClr>
                <a:srgbClr val="000000"/>
              </a:buClr>
              <a:buFont typeface="Arial"/>
              <a:buChar char="•"/>
              <a:defRPr/>
            </a:pPr>
            <a:r>
              <a:rPr lang="en-US" sz="2800" b="1" strike="noStrike" spc="0">
                <a:solidFill>
                  <a:srgbClr val="000000"/>
                </a:solidFill>
                <a:latin typeface="Calibri"/>
              </a:rPr>
              <a:t>Edge:</a:t>
            </a:r>
            <a:r>
              <a:rPr lang="en-US" sz="2800" b="0" strike="noStrike" spc="0">
                <a:solidFill>
                  <a:srgbClr val="000000"/>
                </a:solidFill>
                <a:latin typeface="Calibri"/>
              </a:rPr>
              <a:t> An edge is a connection between two nodes. In the picture, the edges are the lines that connect the nodes.</a:t>
            </a:r>
            <a:endParaRPr lang="en-US" sz="2800" b="0" strike="noStrike" spc="0">
              <a:solidFill>
                <a:srgbClr val="000000"/>
              </a:solidFill>
              <a:latin typeface="Arial"/>
            </a:endParaRPr>
          </a:p>
          <a:p>
            <a:pPr indent="0">
              <a:lnSpc>
                <a:spcPct val="90000"/>
              </a:lnSpc>
              <a:spcBef>
                <a:spcPts val="1000"/>
              </a:spcBef>
              <a:buNone/>
              <a:tabLst>
                <a:tab pos="0" algn="l"/>
              </a:tabLst>
              <a:defRPr/>
            </a:pPr>
            <a:endParaRPr lang="en-US" sz="2800" b="0" strike="noStrike" spc="0">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46306994" name="PlaceHolder 1"/>
          <p:cNvSpPr>
            <a:spLocks noGrp="1"/>
          </p:cNvSpPr>
          <p:nvPr>
            <p:ph type="title"/>
          </p:nvPr>
        </p:nvSpPr>
        <p:spPr bwMode="auto">
          <a:xfrm>
            <a:off x="685800" y="308520"/>
            <a:ext cx="10395720" cy="445320"/>
          </a:xfrm>
          <a:prstGeom prst="rect">
            <a:avLst/>
          </a:prstGeom>
          <a:noFill/>
          <a:ln w="0">
            <a:noFill/>
          </a:ln>
        </p:spPr>
        <p:txBody>
          <a:bodyPr lIns="90000" tIns="45000" rIns="90000" bIns="45000" anchor="ctr">
            <a:normAutofit fontScale="90000"/>
          </a:bodyPr>
          <a:lstStyle/>
          <a:p>
            <a:pPr indent="0" algn="ctr">
              <a:lnSpc>
                <a:spcPct val="90000"/>
              </a:lnSpc>
              <a:buNone/>
              <a:tabLst>
                <a:tab pos="0" algn="l"/>
              </a:tabLst>
              <a:defRPr/>
            </a:pPr>
            <a:r>
              <a:rPr lang="en-US" sz="4400" b="0" strike="noStrike" spc="0">
                <a:solidFill>
                  <a:srgbClr val="000000"/>
                </a:solidFill>
                <a:latin typeface="Calibri Light"/>
              </a:rPr>
              <a:t>Terminologies used in Tree</a:t>
            </a:r>
            <a:endParaRPr lang="en-US" sz="4400" b="0" strike="noStrike" spc="0">
              <a:solidFill>
                <a:srgbClr val="000000"/>
              </a:solidFill>
              <a:latin typeface="Arial"/>
            </a:endParaRPr>
          </a:p>
        </p:txBody>
      </p:sp>
      <p:sp>
        <p:nvSpPr>
          <p:cNvPr id="153479295" name="PlaceHolder 2"/>
          <p:cNvSpPr>
            <a:spLocks noGrp="1"/>
          </p:cNvSpPr>
          <p:nvPr>
            <p:ph/>
          </p:nvPr>
        </p:nvSpPr>
        <p:spPr bwMode="auto">
          <a:xfrm>
            <a:off x="685800" y="1204560"/>
            <a:ext cx="10393560" cy="4353120"/>
          </a:xfrm>
          <a:prstGeom prst="rect">
            <a:avLst/>
          </a:prstGeom>
          <a:noFill/>
          <a:ln w="0">
            <a:noFill/>
          </a:ln>
        </p:spPr>
        <p:txBody>
          <a:bodyPr lIns="90000" tIns="45000" rIns="90000" bIns="45000" anchor="t">
            <a:normAutofit fontScale="89500" lnSpcReduction="20000"/>
          </a:bodyPr>
          <a:lstStyle/>
          <a:p>
            <a:pPr marL="219600" indent="-219600">
              <a:lnSpc>
                <a:spcPct val="90000"/>
              </a:lnSpc>
              <a:spcBef>
                <a:spcPts val="1000"/>
              </a:spcBef>
              <a:buClr>
                <a:srgbClr val="000000"/>
              </a:buClr>
              <a:buFont typeface="Arial"/>
              <a:buChar char="•"/>
              <a:defRPr/>
            </a:pPr>
            <a:r>
              <a:rPr lang="en-US" sz="2800" b="1" strike="noStrike" spc="0">
                <a:solidFill>
                  <a:srgbClr val="000000"/>
                </a:solidFill>
                <a:latin typeface="Calibri"/>
              </a:rPr>
              <a:t>Path:</a:t>
            </a:r>
            <a:r>
              <a:rPr lang="en-US" sz="2800" b="0" strike="noStrike" spc="0">
                <a:solidFill>
                  <a:srgbClr val="000000"/>
                </a:solidFill>
                <a:latin typeface="Calibri"/>
              </a:rPr>
              <a:t> A path is a sequence of nodes that connects two nodes in a tree. It starts from one node and ends at another.</a:t>
            </a:r>
            <a:endParaRPr lang="en-US" sz="2800" b="0" strike="noStrike" spc="0">
              <a:solidFill>
                <a:srgbClr val="000000"/>
              </a:solidFill>
              <a:latin typeface="Arial"/>
            </a:endParaRPr>
          </a:p>
          <a:p>
            <a:pPr marL="219600" indent="-219600">
              <a:lnSpc>
                <a:spcPct val="90000"/>
              </a:lnSpc>
              <a:spcBef>
                <a:spcPts val="1000"/>
              </a:spcBef>
              <a:buClr>
                <a:srgbClr val="000000"/>
              </a:buClr>
              <a:buFont typeface="Arial"/>
              <a:buChar char="•"/>
              <a:defRPr/>
            </a:pPr>
            <a:r>
              <a:rPr lang="en-US" sz="2800" b="1" strike="noStrike" spc="0">
                <a:solidFill>
                  <a:srgbClr val="000000"/>
                </a:solidFill>
                <a:latin typeface="Calibri"/>
              </a:rPr>
              <a:t>Depth: </a:t>
            </a:r>
            <a:r>
              <a:rPr lang="en-US" sz="2800" b="0" strike="noStrike" spc="0">
                <a:solidFill>
                  <a:srgbClr val="000000"/>
                </a:solidFill>
                <a:latin typeface="Calibri"/>
              </a:rPr>
              <a:t>The depth of a node is the number of edges from the root to that node.</a:t>
            </a:r>
            <a:endParaRPr lang="en-US" sz="2800" b="0" strike="noStrike" spc="0">
              <a:solidFill>
                <a:srgbClr val="000000"/>
              </a:solidFill>
              <a:latin typeface="Arial"/>
            </a:endParaRPr>
          </a:p>
          <a:p>
            <a:pPr marL="219600" indent="-219600">
              <a:lnSpc>
                <a:spcPct val="90000"/>
              </a:lnSpc>
              <a:spcBef>
                <a:spcPts val="1000"/>
              </a:spcBef>
              <a:buClr>
                <a:srgbClr val="000000"/>
              </a:buClr>
              <a:buFont typeface="Arial"/>
              <a:buChar char="•"/>
              <a:defRPr/>
            </a:pPr>
            <a:r>
              <a:rPr lang="en-US" sz="2800" b="1" strike="noStrike" spc="0">
                <a:solidFill>
                  <a:srgbClr val="000000"/>
                </a:solidFill>
                <a:latin typeface="Calibri"/>
              </a:rPr>
              <a:t>Height:</a:t>
            </a:r>
            <a:r>
              <a:rPr lang="en-US" sz="2800" b="0" strike="noStrike" spc="0">
                <a:solidFill>
                  <a:srgbClr val="000000"/>
                </a:solidFill>
                <a:latin typeface="Calibri"/>
              </a:rPr>
              <a:t> The height of a tree is the maximum depth among all the nodes in the tree.</a:t>
            </a:r>
            <a:endParaRPr lang="en-US" sz="2800" b="0" strike="noStrike" spc="0">
              <a:solidFill>
                <a:srgbClr val="000000"/>
              </a:solidFill>
              <a:latin typeface="Arial"/>
            </a:endParaRPr>
          </a:p>
          <a:p>
            <a:pPr marL="219600" indent="-219600">
              <a:lnSpc>
                <a:spcPct val="90000"/>
              </a:lnSpc>
              <a:spcBef>
                <a:spcPts val="1000"/>
              </a:spcBef>
              <a:buClr>
                <a:srgbClr val="000000"/>
              </a:buClr>
              <a:buFont typeface="Arial"/>
              <a:buChar char="•"/>
              <a:defRPr/>
            </a:pPr>
            <a:r>
              <a:rPr lang="en-US" sz="2800" b="1" strike="noStrike" spc="0">
                <a:solidFill>
                  <a:srgbClr val="000000"/>
                </a:solidFill>
                <a:latin typeface="Calibri"/>
              </a:rPr>
              <a:t>Subtree:</a:t>
            </a:r>
            <a:r>
              <a:rPr lang="en-US" sz="2800" b="0" strike="noStrike" spc="0">
                <a:solidFill>
                  <a:srgbClr val="000000"/>
                </a:solidFill>
                <a:latin typeface="Calibri"/>
              </a:rPr>
              <a:t> A subtree is a portion of the tree that consists of a node and all its descendants.</a:t>
            </a:r>
            <a:endParaRPr lang="en-US" sz="2800" b="0" strike="noStrike" spc="0">
              <a:solidFill>
                <a:srgbClr val="000000"/>
              </a:solidFill>
              <a:latin typeface="Arial"/>
            </a:endParaRPr>
          </a:p>
          <a:p>
            <a:pPr marL="219600" indent="-219600">
              <a:lnSpc>
                <a:spcPct val="90000"/>
              </a:lnSpc>
              <a:spcBef>
                <a:spcPts val="1000"/>
              </a:spcBef>
              <a:buClr>
                <a:srgbClr val="000000"/>
              </a:buClr>
              <a:buFont typeface="Arial"/>
              <a:buChar char="•"/>
              <a:defRPr/>
            </a:pPr>
            <a:r>
              <a:rPr lang="en-US" sz="2800" b="1" strike="noStrike" spc="0">
                <a:solidFill>
                  <a:srgbClr val="000000"/>
                </a:solidFill>
                <a:latin typeface="Calibri"/>
              </a:rPr>
              <a:t>Degree:</a:t>
            </a:r>
            <a:r>
              <a:rPr lang="en-US" sz="2800" b="0" strike="noStrike" spc="0">
                <a:solidFill>
                  <a:srgbClr val="000000"/>
                </a:solidFill>
                <a:latin typeface="Calibri"/>
              </a:rPr>
              <a:t> The degree of a node is the number of children it has.</a:t>
            </a:r>
            <a:endParaRPr lang="en-US" sz="2800" b="0" strike="noStrike" spc="0">
              <a:solidFill>
                <a:srgbClr val="000000"/>
              </a:solidFill>
              <a:latin typeface="Arial"/>
            </a:endParaRPr>
          </a:p>
          <a:p>
            <a:pPr marL="219600" indent="-219600">
              <a:lnSpc>
                <a:spcPct val="90000"/>
              </a:lnSpc>
              <a:spcBef>
                <a:spcPts val="1000"/>
              </a:spcBef>
              <a:buClr>
                <a:srgbClr val="000000"/>
              </a:buClr>
              <a:buFont typeface="Arial"/>
              <a:buChar char="•"/>
              <a:defRPr/>
            </a:pPr>
            <a:r>
              <a:rPr lang="en-US" sz="2800" b="1" strike="noStrike" spc="0">
                <a:solidFill>
                  <a:srgbClr val="000000"/>
                </a:solidFill>
                <a:latin typeface="Calibri"/>
              </a:rPr>
              <a:t>Binary Tree: </a:t>
            </a:r>
            <a:r>
              <a:rPr lang="en-US" sz="2800" b="0" strike="noStrike" spc="0">
                <a:solidFill>
                  <a:srgbClr val="000000"/>
                </a:solidFill>
                <a:latin typeface="Calibri"/>
              </a:rPr>
              <a:t>A binary tree is a tree in which each node has at most two children, referred to as the left child and the right child.</a:t>
            </a:r>
            <a:endParaRPr lang="en-US" sz="2800" b="0" strike="noStrike" spc="0">
              <a:solidFill>
                <a:srgbClr val="000000"/>
              </a:solidFill>
              <a:latin typeface="Arial"/>
            </a:endParaRPr>
          </a:p>
          <a:p>
            <a:pPr marL="219600" indent="-219600">
              <a:lnSpc>
                <a:spcPct val="90000"/>
              </a:lnSpc>
              <a:spcBef>
                <a:spcPts val="1000"/>
              </a:spcBef>
              <a:buClr>
                <a:srgbClr val="000000"/>
              </a:buClr>
              <a:buFont typeface="Arial"/>
              <a:buChar char="•"/>
              <a:defRPr/>
            </a:pPr>
            <a:r>
              <a:rPr lang="en-US" sz="2800" b="1" strike="noStrike" spc="0">
                <a:solidFill>
                  <a:srgbClr val="000000"/>
                </a:solidFill>
                <a:latin typeface="Calibri"/>
              </a:rPr>
              <a:t>Balanced Tree:</a:t>
            </a:r>
            <a:r>
              <a:rPr lang="en-US" sz="2800" b="0" strike="noStrike" spc="0">
                <a:solidFill>
                  <a:srgbClr val="000000"/>
                </a:solidFill>
                <a:latin typeface="Calibri"/>
              </a:rPr>
              <a:t> A balanced tree is a tree in which the heights of the left and right subtrees of every node differ by at most one.</a:t>
            </a:r>
            <a:endParaRPr lang="en-US" sz="2800" b="0" strike="noStrike" spc="0">
              <a:solidFill>
                <a:srgbClr val="000000"/>
              </a:solidFill>
              <a:latin typeface="Arial"/>
            </a:endParaRPr>
          </a:p>
          <a:p>
            <a:pPr indent="0">
              <a:lnSpc>
                <a:spcPct val="90000"/>
              </a:lnSpc>
              <a:spcBef>
                <a:spcPts val="1000"/>
              </a:spcBef>
              <a:buNone/>
              <a:tabLst>
                <a:tab pos="0" algn="l"/>
              </a:tabLst>
              <a:defRPr/>
            </a:pPr>
            <a:endParaRPr lang="en-US" sz="2800" b="0" strike="noStrike" spc="0">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12576954"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rmAutofit/>
          </a:bodyPr>
          <a:lstStyle/>
          <a:p>
            <a:pPr indent="0" algn="ctr">
              <a:lnSpc>
                <a:spcPct val="90000"/>
              </a:lnSpc>
              <a:buNone/>
              <a:tabLst>
                <a:tab pos="0" algn="l"/>
              </a:tabLst>
              <a:defRPr/>
            </a:pPr>
            <a:r>
              <a:rPr lang="en-US" sz="4400" b="0" strike="noStrike" spc="0">
                <a:solidFill>
                  <a:srgbClr val="000000"/>
                </a:solidFill>
                <a:latin typeface="Calibri Light"/>
              </a:rPr>
              <a:t>most common applications of trees</a:t>
            </a:r>
            <a:endParaRPr lang="en-US" sz="4400" b="0" strike="noStrike" spc="0">
              <a:solidFill>
                <a:srgbClr val="000000"/>
              </a:solidFill>
              <a:latin typeface="Arial"/>
            </a:endParaRPr>
          </a:p>
        </p:txBody>
      </p:sp>
      <p:sp>
        <p:nvSpPr>
          <p:cNvPr id="104034142" name="PlaceHolder 2"/>
          <p:cNvSpPr>
            <a:spLocks noGrp="1"/>
          </p:cNvSpPr>
          <p:nvPr>
            <p:ph/>
          </p:nvPr>
        </p:nvSpPr>
        <p:spPr bwMode="auto">
          <a:xfrm>
            <a:off x="685800" y="2063520"/>
            <a:ext cx="10393560" cy="4292640"/>
          </a:xfrm>
          <a:prstGeom prst="rect">
            <a:avLst/>
          </a:prstGeom>
          <a:noFill/>
          <a:ln w="0">
            <a:noFill/>
          </a:ln>
        </p:spPr>
        <p:txBody>
          <a:bodyPr lIns="90000" tIns="45000" rIns="90000" bIns="45000" anchor="t">
            <a:norm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Storing hierarchical data: Trees are a natural way to store data that is organized in a hierarchical structure, such as the file system on a computer or the organization chart of a company.</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Searching: Trees can be used to search for data quickly and efficiently. For example, a binary search tree can be used to search for a specific value in a sorted list of elements in logarithmic time.</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Traversal: Trees can be traversed in a variety of ways, depending on the application. For example, a depth-first traversal can be used to print all of the nodes in a tree, while a breadth-first traversal can be used to find the shortest path between two nodes.</a:t>
            </a:r>
            <a:endParaRPr lang="en-US" sz="2800" b="0" strike="noStrike" spc="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91927088"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rmAutofit/>
          </a:bodyPr>
          <a:lstStyle/>
          <a:p>
            <a:pPr indent="0">
              <a:lnSpc>
                <a:spcPct val="90000"/>
              </a:lnSpc>
              <a:buNone/>
              <a:tabLst>
                <a:tab pos="0" algn="l"/>
              </a:tabLst>
              <a:defRPr/>
            </a:pPr>
            <a:r>
              <a:rPr lang="en-US" sz="4400" b="0" strike="noStrike" spc="0">
                <a:solidFill>
                  <a:srgbClr val="000000"/>
                </a:solidFill>
                <a:latin typeface="Calibri Light"/>
              </a:rPr>
              <a:t>most common applications of trees</a:t>
            </a:r>
            <a:endParaRPr lang="en-US" sz="4400" b="0" strike="noStrike" spc="0">
              <a:solidFill>
                <a:srgbClr val="000000"/>
              </a:solidFill>
              <a:latin typeface="Arial"/>
            </a:endParaRPr>
          </a:p>
        </p:txBody>
      </p:sp>
      <p:sp>
        <p:nvSpPr>
          <p:cNvPr id="359762396" name="PlaceHolder 2"/>
          <p:cNvSpPr>
            <a:spLocks noGrp="1"/>
          </p:cNvSpPr>
          <p:nvPr>
            <p:ph/>
          </p:nvPr>
        </p:nvSpPr>
        <p:spPr bwMode="auto">
          <a:xfrm>
            <a:off x="685800" y="2063520"/>
            <a:ext cx="10393560" cy="3944518"/>
          </a:xfrm>
          <a:prstGeom prst="rect">
            <a:avLst/>
          </a:prstGeom>
          <a:noFill/>
          <a:ln w="0">
            <a:noFill/>
          </a:ln>
        </p:spPr>
        <p:txBody>
          <a:bodyPr lIns="90000" tIns="45000" rIns="90000" bIns="45000" anchor="t">
            <a:norm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Sorting: Trees can be used to sort data. For example, a binary search tree can be used to sort a list of elements in ascending or descending order.</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Compression: Trees can be used to compress data. For example, a Huffman tree can be used to compress a text file by representing common characters with shorter codes.</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Decision making: Trees can be used to make decisions. For example, a decision tree can be used to help a doctor diagnose a patient by considering a series of symptoms.</a:t>
            </a:r>
            <a:endParaRPr lang="en-US" sz="2800" b="0" strike="noStrike" spc="0">
              <a:solidFill>
                <a:srgbClr val="000000"/>
              </a:solidFill>
              <a:latin typeface="Arial"/>
            </a:endParaRPr>
          </a:p>
          <a:p>
            <a:pPr indent="0">
              <a:lnSpc>
                <a:spcPct val="90000"/>
              </a:lnSpc>
              <a:spcBef>
                <a:spcPts val="1000"/>
              </a:spcBef>
              <a:buNone/>
              <a:tabLst>
                <a:tab pos="0" algn="l"/>
              </a:tabLst>
              <a:defRPr/>
            </a:pPr>
            <a:endParaRPr lang="en-US" sz="2800" b="0" strike="noStrike" spc="0">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6464120"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Binary Tree</a:t>
            </a:r>
            <a:endParaRPr lang="en-US" sz="4400" b="0" strike="noStrike" spc="0">
              <a:solidFill>
                <a:srgbClr val="000000"/>
              </a:solidFill>
              <a:latin typeface="Arial"/>
            </a:endParaRPr>
          </a:p>
        </p:txBody>
      </p:sp>
      <p:sp>
        <p:nvSpPr>
          <p:cNvPr id="1661614813" name="PlaceHolder 2"/>
          <p:cNvSpPr>
            <a:spLocks noGrp="1"/>
          </p:cNvSpPr>
          <p:nvPr>
            <p:ph/>
          </p:nvPr>
        </p:nvSpPr>
        <p:spPr bwMode="auto">
          <a:xfrm>
            <a:off x="685800" y="1690560"/>
            <a:ext cx="10393560" cy="3682800"/>
          </a:xfrm>
          <a:prstGeom prst="rect">
            <a:avLst/>
          </a:prstGeom>
          <a:noFill/>
          <a:ln w="0">
            <a:noFill/>
          </a:ln>
        </p:spPr>
        <p:txBody>
          <a:bodyPr lIns="90000" tIns="45000" rIns="90000" bIns="45000" anchor="t">
            <a:normAutofit fontScale="89500" lnSpcReduction="20000"/>
          </a:bodyPr>
          <a:lstStyle/>
          <a:p>
            <a:pPr marL="201600" indent="-201600">
              <a:lnSpc>
                <a:spcPct val="90000"/>
              </a:lnSpc>
              <a:spcBef>
                <a:spcPts val="1000"/>
              </a:spcBef>
              <a:buClr>
                <a:srgbClr val="000000"/>
              </a:buClr>
              <a:buFont typeface="Arial"/>
              <a:buChar char="•"/>
              <a:defRPr/>
            </a:pPr>
            <a:r>
              <a:rPr lang="en-US" sz="2800" b="0" strike="noStrike" spc="0">
                <a:solidFill>
                  <a:srgbClr val="000000"/>
                </a:solidFill>
                <a:latin typeface="Calibri"/>
              </a:rPr>
              <a:t>A binary tree is a tree data structure in which </a:t>
            </a:r>
            <a:r>
              <a:rPr lang="en-US" sz="2800" b="0" strike="noStrike" spc="0">
                <a:solidFill>
                  <a:srgbClr val="FF0000"/>
                </a:solidFill>
                <a:latin typeface="Calibri"/>
              </a:rPr>
              <a:t>each node can have at most two children</a:t>
            </a:r>
            <a:r>
              <a:rPr lang="en-US" sz="2800" b="0" strike="noStrike" spc="0">
                <a:solidFill>
                  <a:srgbClr val="000000"/>
                </a:solidFill>
                <a:latin typeface="Calibri"/>
              </a:rPr>
              <a:t>.</a:t>
            </a:r>
            <a:endParaRPr lang="en-US" sz="2800" b="0" strike="noStrike" spc="0">
              <a:solidFill>
                <a:srgbClr val="000000"/>
              </a:solidFill>
              <a:latin typeface="Arial"/>
            </a:endParaRPr>
          </a:p>
          <a:p>
            <a:pPr marL="201600" indent="-201600">
              <a:lnSpc>
                <a:spcPct val="90000"/>
              </a:lnSpc>
              <a:spcBef>
                <a:spcPts val="1000"/>
              </a:spcBef>
              <a:buClr>
                <a:srgbClr val="000000"/>
              </a:buClr>
              <a:buFont typeface="Arial"/>
              <a:buChar char="•"/>
              <a:defRPr/>
            </a:pPr>
            <a:r>
              <a:rPr lang="en-US" sz="2800" b="0" strike="noStrike" spc="0">
                <a:solidFill>
                  <a:srgbClr val="000000"/>
                </a:solidFill>
                <a:latin typeface="Calibri"/>
              </a:rPr>
              <a:t>Sometimes referred to as the left child and the right child.</a:t>
            </a:r>
            <a:endParaRPr lang="en-US" sz="2800" b="0" strike="noStrike" spc="0">
              <a:solidFill>
                <a:srgbClr val="000000"/>
              </a:solidFill>
              <a:latin typeface="Arial"/>
            </a:endParaRPr>
          </a:p>
          <a:p>
            <a:pPr marL="201600" indent="-201600">
              <a:lnSpc>
                <a:spcPct val="90000"/>
              </a:lnSpc>
              <a:spcBef>
                <a:spcPts val="1000"/>
              </a:spcBef>
              <a:buClr>
                <a:srgbClr val="000000"/>
              </a:buClr>
              <a:buFont typeface="Arial"/>
              <a:buChar char="•"/>
              <a:defRPr/>
            </a:pPr>
            <a:r>
              <a:rPr lang="en-US" sz="2800" b="0" strike="noStrike" spc="0">
                <a:solidFill>
                  <a:srgbClr val="000000"/>
                </a:solidFill>
                <a:latin typeface="Calibri"/>
              </a:rPr>
              <a:t>In a binary tree, each node can have a maximum degree of 2.</a:t>
            </a:r>
            <a:endParaRPr lang="en-US" sz="2800" b="0" strike="noStrike" spc="0">
              <a:solidFill>
                <a:srgbClr val="000000"/>
              </a:solidFill>
              <a:latin typeface="Arial"/>
            </a:endParaRPr>
          </a:p>
          <a:p>
            <a:pPr marL="201600" indent="-201600">
              <a:lnSpc>
                <a:spcPct val="90000"/>
              </a:lnSpc>
              <a:spcBef>
                <a:spcPts val="1000"/>
              </a:spcBef>
              <a:buClr>
                <a:srgbClr val="000000"/>
              </a:buClr>
              <a:buFont typeface="Arial"/>
              <a:buChar char="•"/>
              <a:defRPr/>
            </a:pPr>
            <a:r>
              <a:rPr lang="en-US" sz="2800" b="0" strike="noStrike" spc="0">
                <a:solidFill>
                  <a:srgbClr val="000000"/>
                </a:solidFill>
                <a:latin typeface="Calibri"/>
              </a:rPr>
              <a:t>A node with no children is called a leaf node or a terminal node. It has a degree of 0.</a:t>
            </a:r>
            <a:endParaRPr lang="en-US" sz="2800" b="0" strike="noStrike" spc="0">
              <a:solidFill>
                <a:srgbClr val="000000"/>
              </a:solidFill>
              <a:latin typeface="Arial"/>
            </a:endParaRPr>
          </a:p>
          <a:p>
            <a:pPr marL="201600" indent="-201600">
              <a:lnSpc>
                <a:spcPct val="90000"/>
              </a:lnSpc>
              <a:spcBef>
                <a:spcPts val="1000"/>
              </a:spcBef>
              <a:buClr>
                <a:srgbClr val="000000"/>
              </a:buClr>
              <a:buFont typeface="Arial"/>
              <a:buChar char="•"/>
              <a:defRPr/>
            </a:pPr>
            <a:r>
              <a:rPr lang="en-US" sz="2800" b="0" strike="noStrike" spc="0">
                <a:solidFill>
                  <a:srgbClr val="000000"/>
                </a:solidFill>
                <a:latin typeface="Calibri"/>
              </a:rPr>
              <a:t>A node with one child has a degree of 1. The child can be either the left child or the right child.</a:t>
            </a:r>
            <a:endParaRPr lang="en-US" sz="2800" b="0" strike="noStrike" spc="0">
              <a:solidFill>
                <a:srgbClr val="000000"/>
              </a:solidFill>
              <a:latin typeface="Arial"/>
            </a:endParaRPr>
          </a:p>
          <a:p>
            <a:pPr marL="201600" indent="-201600">
              <a:lnSpc>
                <a:spcPct val="90000"/>
              </a:lnSpc>
              <a:spcBef>
                <a:spcPts val="1000"/>
              </a:spcBef>
              <a:buClr>
                <a:srgbClr val="000000"/>
              </a:buClr>
              <a:buFont typeface="Arial"/>
              <a:buChar char="•"/>
              <a:defRPr/>
            </a:pPr>
            <a:r>
              <a:rPr lang="en-US" sz="2800" b="0" strike="noStrike" spc="0">
                <a:solidFill>
                  <a:srgbClr val="000000"/>
                </a:solidFill>
                <a:latin typeface="Calibri"/>
              </a:rPr>
              <a:t>A node with two children has a degree of 2. It has both a left child and a right child.</a:t>
            </a:r>
            <a:endParaRPr lang="en-US" sz="2800" b="0" strike="noStrike" spc="0">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7592446"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Binary Tree Components</a:t>
            </a:r>
            <a:endParaRPr lang="en-US" sz="4400" b="0" strike="noStrike" spc="0">
              <a:solidFill>
                <a:srgbClr val="000000"/>
              </a:solidFill>
              <a:latin typeface="Arial"/>
            </a:endParaRPr>
          </a:p>
        </p:txBody>
      </p:sp>
      <p:sp>
        <p:nvSpPr>
          <p:cNvPr id="1202182267" name="PlaceHolder 2"/>
          <p:cNvSpPr>
            <a:spLocks noGrp="1"/>
          </p:cNvSpPr>
          <p:nvPr>
            <p:ph/>
          </p:nvPr>
        </p:nvSpPr>
        <p:spPr bwMode="auto">
          <a:xfrm>
            <a:off x="685800" y="2063520"/>
            <a:ext cx="10393560" cy="33102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There are three binary tree components.</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Data element</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Pointer to left subtree</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Pointer to right subtree</a:t>
            </a:r>
            <a:endParaRPr lang="en-US" sz="2400" b="0" strike="noStrike" spc="0">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90732036" name="Title 1"/>
          <p:cNvSpPr>
            <a:spLocks noGrp="1"/>
          </p:cNvSpPr>
          <p:nvPr>
            <p:ph type="title"/>
          </p:nvPr>
        </p:nvSpPr>
        <p:spPr bwMode="auto"/>
        <p:txBody>
          <a:bodyPr/>
          <a:lstStyle/>
          <a:p>
            <a:pPr>
              <a:defRPr/>
            </a:pPr>
            <a:r>
              <a:t>Array and Linked List Representation</a:t>
            </a:r>
          </a:p>
        </p:txBody>
      </p:sp>
      <p:pic>
        <p:nvPicPr>
          <p:cNvPr id="2050" name="Picture 2" descr="binary tree example">
            <a:extLst>
              <a:ext uri="{FF2B5EF4-FFF2-40B4-BE49-F238E27FC236}">
                <a16:creationId xmlns:a16="http://schemas.microsoft.com/office/drawing/2014/main" id="{6FCA5BC4-AB5F-BACA-4CC1-E5FF68287F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354" y="2251600"/>
            <a:ext cx="5442731" cy="233259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inary tree array representation">
            <a:extLst>
              <a:ext uri="{FF2B5EF4-FFF2-40B4-BE49-F238E27FC236}">
                <a16:creationId xmlns:a16="http://schemas.microsoft.com/office/drawing/2014/main" id="{91AC6C89-FBF6-3D73-360B-61BFF8FA10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9449" y="1926932"/>
            <a:ext cx="8115886" cy="101448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Binary Tree Linked List Representation">
            <a:extLst>
              <a:ext uri="{FF2B5EF4-FFF2-40B4-BE49-F238E27FC236}">
                <a16:creationId xmlns:a16="http://schemas.microsoft.com/office/drawing/2014/main" id="{99BC3AA9-5244-454F-7395-619E24A795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3497" y="2869883"/>
            <a:ext cx="5327186" cy="35514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1139882"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Types of Binary Tree</a:t>
            </a:r>
            <a:endParaRPr lang="en-US" sz="4400" b="0" strike="noStrike" spc="0">
              <a:solidFill>
                <a:srgbClr val="000000"/>
              </a:solidFill>
              <a:latin typeface="Arial"/>
            </a:endParaRPr>
          </a:p>
        </p:txBody>
      </p:sp>
      <p:sp>
        <p:nvSpPr>
          <p:cNvPr id="620582987" name="PlaceHolder 2"/>
          <p:cNvSpPr>
            <a:spLocks noGrp="1"/>
          </p:cNvSpPr>
          <p:nvPr>
            <p:ph/>
          </p:nvPr>
        </p:nvSpPr>
        <p:spPr bwMode="auto">
          <a:xfrm>
            <a:off x="685800" y="2063520"/>
            <a:ext cx="10393560" cy="4089600"/>
          </a:xfrm>
          <a:prstGeom prst="rect">
            <a:avLst/>
          </a:prstGeom>
          <a:noFill/>
          <a:ln w="0">
            <a:noFill/>
          </a:ln>
        </p:spPr>
        <p:txBody>
          <a:bodyPr lIns="90000" tIns="45000" rIns="90000" bIns="45000" anchor="t">
            <a:normAutofit fontScale="96000"/>
          </a:bodyPr>
          <a:lstStyle/>
          <a:p>
            <a:pPr marL="218520" indent="-218520">
              <a:lnSpc>
                <a:spcPct val="90000"/>
              </a:lnSpc>
              <a:spcBef>
                <a:spcPts val="1000"/>
              </a:spcBef>
              <a:buClr>
                <a:srgbClr val="000000"/>
              </a:buClr>
              <a:buFont typeface="Arial"/>
              <a:buChar char="•"/>
              <a:defRPr/>
            </a:pPr>
            <a:r>
              <a:rPr lang="en-US" sz="2800" b="0" strike="noStrike" spc="0">
                <a:solidFill>
                  <a:srgbClr val="000000"/>
                </a:solidFill>
                <a:latin typeface="Calibri"/>
              </a:rPr>
              <a:t>Full Binary Tree/Proper:</a:t>
            </a:r>
            <a:endParaRPr lang="en-US" sz="2800" b="0" strike="noStrike" spc="0">
              <a:solidFill>
                <a:srgbClr val="000000"/>
              </a:solidFill>
              <a:latin typeface="Arial"/>
            </a:endParaRPr>
          </a:p>
          <a:p>
            <a:pPr marL="657360" lvl="1" indent="-218520">
              <a:lnSpc>
                <a:spcPct val="90000"/>
              </a:lnSpc>
              <a:spcBef>
                <a:spcPts val="498"/>
              </a:spcBef>
              <a:buClr>
                <a:srgbClr val="000000"/>
              </a:buClr>
              <a:buFont typeface="Arial"/>
              <a:buChar char="•"/>
              <a:defRPr/>
            </a:pPr>
            <a:r>
              <a:rPr lang="en-US" sz="2400" b="0" strike="noStrike" spc="0">
                <a:solidFill>
                  <a:srgbClr val="000000"/>
                </a:solidFill>
                <a:latin typeface="Calibri"/>
              </a:rPr>
              <a:t> A full binary tree is a binary tree in which every node has either 0 or 2 children.</a:t>
            </a:r>
            <a:endParaRPr lang="en-US" sz="2400" b="0" strike="noStrike" spc="0">
              <a:solidFill>
                <a:srgbClr val="000000"/>
              </a:solidFill>
              <a:latin typeface="Arial"/>
            </a:endParaRPr>
          </a:p>
          <a:p>
            <a:pPr marL="218520" indent="-218520">
              <a:lnSpc>
                <a:spcPct val="90000"/>
              </a:lnSpc>
              <a:spcBef>
                <a:spcPts val="1000"/>
              </a:spcBef>
              <a:buClr>
                <a:srgbClr val="000000"/>
              </a:buClr>
              <a:buFont typeface="Arial"/>
              <a:buChar char="•"/>
              <a:defRPr/>
            </a:pPr>
            <a:r>
              <a:rPr lang="en-US" sz="2800" b="0" strike="noStrike" spc="0">
                <a:solidFill>
                  <a:srgbClr val="000000"/>
                </a:solidFill>
                <a:latin typeface="Calibri"/>
              </a:rPr>
              <a:t>Complete Binary Tree: </a:t>
            </a:r>
            <a:endParaRPr lang="en-US" sz="2800" b="0" strike="noStrike" spc="0">
              <a:solidFill>
                <a:srgbClr val="000000"/>
              </a:solidFill>
              <a:latin typeface="Arial"/>
            </a:endParaRPr>
          </a:p>
          <a:p>
            <a:pPr marL="657360" lvl="1" indent="-218520">
              <a:lnSpc>
                <a:spcPct val="90000"/>
              </a:lnSpc>
              <a:spcBef>
                <a:spcPts val="498"/>
              </a:spcBef>
              <a:buClr>
                <a:srgbClr val="000000"/>
              </a:buClr>
              <a:buFont typeface="Arial"/>
              <a:buChar char="•"/>
              <a:defRPr/>
            </a:pPr>
            <a:r>
              <a:rPr lang="en-US" sz="2400" b="0" strike="noStrike" spc="0">
                <a:solidFill>
                  <a:srgbClr val="000000"/>
                </a:solidFill>
                <a:latin typeface="Calibri"/>
              </a:rPr>
              <a:t>A complete binary tree is a binary tree in which all levels except possibly the last level are completely filled, and all nodes are left-justified. </a:t>
            </a:r>
            <a:endParaRPr lang="en-US" sz="2400" b="0" strike="noStrike" spc="0">
              <a:solidFill>
                <a:srgbClr val="000000"/>
              </a:solidFill>
              <a:latin typeface="Arial"/>
            </a:endParaRPr>
          </a:p>
          <a:p>
            <a:pPr marL="657360" lvl="1" indent="-218520">
              <a:lnSpc>
                <a:spcPct val="90000"/>
              </a:lnSpc>
              <a:spcBef>
                <a:spcPts val="498"/>
              </a:spcBef>
              <a:buClr>
                <a:srgbClr val="000000"/>
              </a:buClr>
              <a:buFont typeface="Arial"/>
              <a:buChar char="•"/>
              <a:defRPr/>
            </a:pPr>
            <a:r>
              <a:rPr lang="en-US" sz="2400" b="0" strike="noStrike" spc="0">
                <a:solidFill>
                  <a:srgbClr val="000000"/>
                </a:solidFill>
                <a:latin typeface="Calibri"/>
              </a:rPr>
              <a:t>In a complete binary tree, the last level is filled from left to right.</a:t>
            </a:r>
            <a:endParaRPr lang="en-US" sz="2400" b="0" strike="noStrike" spc="0">
              <a:solidFill>
                <a:srgbClr val="000000"/>
              </a:solidFill>
              <a:latin typeface="Arial"/>
            </a:endParaRPr>
          </a:p>
          <a:p>
            <a:pPr marL="218520" indent="-218520">
              <a:lnSpc>
                <a:spcPct val="90000"/>
              </a:lnSpc>
              <a:spcBef>
                <a:spcPts val="1000"/>
              </a:spcBef>
              <a:buClr>
                <a:srgbClr val="000000"/>
              </a:buClr>
              <a:buFont typeface="Arial"/>
              <a:buChar char="•"/>
              <a:defRPr/>
            </a:pPr>
            <a:r>
              <a:rPr lang="en-US" sz="2800" b="0" strike="noStrike" spc="0">
                <a:solidFill>
                  <a:srgbClr val="000000"/>
                </a:solidFill>
                <a:latin typeface="Calibri"/>
              </a:rPr>
              <a:t>Skewed binary tree : </a:t>
            </a:r>
            <a:endParaRPr lang="en-US" sz="2800" b="0" strike="noStrike" spc="0">
              <a:solidFill>
                <a:srgbClr val="000000"/>
              </a:solidFill>
              <a:latin typeface="Arial"/>
            </a:endParaRPr>
          </a:p>
          <a:p>
            <a:pPr marL="657360" lvl="1" indent="-218520">
              <a:lnSpc>
                <a:spcPct val="90000"/>
              </a:lnSpc>
              <a:spcBef>
                <a:spcPts val="498"/>
              </a:spcBef>
              <a:buClr>
                <a:srgbClr val="000000"/>
              </a:buClr>
              <a:buFont typeface="Arial"/>
              <a:buChar char="•"/>
              <a:defRPr/>
            </a:pPr>
            <a:r>
              <a:rPr lang="en-US" sz="2400" b="0" strike="noStrike" spc="0">
                <a:solidFill>
                  <a:srgbClr val="000000"/>
                </a:solidFill>
                <a:latin typeface="Calibri"/>
              </a:rPr>
              <a:t>it is a type of binary tree in which most of the nodes are either left-skewed or right-skewed. In other words, all the nodes in the tree have only one child, either on the left side or the right side.</a:t>
            </a:r>
            <a:endParaRPr lang="en-US" sz="2400" b="0" strike="noStrike" spc="0">
              <a:solidFill>
                <a:srgbClr val="000000"/>
              </a:solidFill>
              <a:latin typeface="Arial"/>
            </a:endParaRPr>
          </a:p>
          <a:p>
            <a:pPr indent="0">
              <a:lnSpc>
                <a:spcPct val="90000"/>
              </a:lnSpc>
              <a:spcBef>
                <a:spcPts val="498"/>
              </a:spcBef>
              <a:buNone/>
              <a:tabLst>
                <a:tab pos="0" algn="l"/>
              </a:tabLst>
              <a:defRPr/>
            </a:pPr>
            <a:endParaRPr lang="en-US" sz="2400" b="0" strike="noStrike" spc="0">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51115947"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Types of Binary Tree</a:t>
            </a:r>
            <a:endParaRPr lang="en-US" sz="4400" b="0" strike="noStrike" spc="0">
              <a:solidFill>
                <a:srgbClr val="000000"/>
              </a:solidFill>
              <a:latin typeface="Arial"/>
            </a:endParaRPr>
          </a:p>
        </p:txBody>
      </p:sp>
      <p:sp>
        <p:nvSpPr>
          <p:cNvPr id="1117631175" name="PlaceHolder 2"/>
          <p:cNvSpPr>
            <a:spLocks noGrp="1"/>
          </p:cNvSpPr>
          <p:nvPr>
            <p:ph/>
          </p:nvPr>
        </p:nvSpPr>
        <p:spPr bwMode="auto">
          <a:xfrm>
            <a:off x="685800" y="1553040"/>
            <a:ext cx="10393560" cy="4716000"/>
          </a:xfrm>
          <a:prstGeom prst="rect">
            <a:avLst/>
          </a:prstGeom>
          <a:noFill/>
          <a:ln w="0">
            <a:noFill/>
          </a:ln>
        </p:spPr>
        <p:txBody>
          <a:bodyPr lIns="90000" tIns="45000" rIns="90000" bIns="45000" anchor="t">
            <a:normAutofit lnSpcReduction="10000"/>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Perfect Binary Tree: </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A perfect binary tree is a binary tree in which all internal nodes have two children.</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all leaf nodes are at the same level. </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In other words, all levels of the tree are completely filled.</a:t>
            </a:r>
            <a:endParaRPr lang="en-US" sz="24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Balanced Binary Tree: </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A balanced binary tree is a binary tree in which the difference in height between the left and right subtrees of any node is at most 1. </a:t>
            </a:r>
            <a:endParaRPr lang="en-US" sz="24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Degenerate binary tree :</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A degenerate binary tree, also known as a pathological tree, is a type of binary tree where each parent node has only one child. In other words, it is a tree that is heavily skewed to one side, either left or right</a:t>
            </a:r>
            <a:endParaRPr lang="en-US" sz="2400" b="0" strike="noStrike" spc="0">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58066615"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Types of Binary Tree</a:t>
            </a:r>
            <a:endParaRPr lang="en-US" sz="4400" b="0" strike="noStrike" spc="0">
              <a:solidFill>
                <a:srgbClr val="000000"/>
              </a:solidFill>
              <a:latin typeface="Arial"/>
            </a:endParaRPr>
          </a:p>
        </p:txBody>
      </p:sp>
      <p:sp>
        <p:nvSpPr>
          <p:cNvPr id="1991473086" name="PlaceHolder 2"/>
          <p:cNvSpPr>
            <a:spLocks noGrp="1"/>
          </p:cNvSpPr>
          <p:nvPr>
            <p:ph/>
          </p:nvPr>
        </p:nvSpPr>
        <p:spPr bwMode="auto">
          <a:xfrm>
            <a:off x="685800" y="2063520"/>
            <a:ext cx="10393560" cy="33102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Almost Complete Binary Tree</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All levels except possibly the last level are completely filled.</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All nodes of the last level are as far left as possible.</a:t>
            </a: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Here left side maybe not complete at all</a:t>
            </a:r>
            <a:endParaRPr lang="en-US" sz="2400" b="0" strike="noStrike" spc="0">
              <a:solidFill>
                <a:srgbClr val="000000"/>
              </a:solidFill>
              <a:latin typeface="Arial"/>
            </a:endParaRPr>
          </a:p>
          <a:p>
            <a:pPr indent="0">
              <a:lnSpc>
                <a:spcPct val="90000"/>
              </a:lnSpc>
              <a:spcBef>
                <a:spcPts val="498"/>
              </a:spcBef>
              <a:buNone/>
              <a:tabLst>
                <a:tab pos="0" algn="l"/>
              </a:tabLst>
              <a:defRPr/>
            </a:pPr>
            <a:endParaRPr lang="en-US" sz="2400" b="0" strike="noStrike" spc="0">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CDD6-333A-CB56-D293-106920B76DAA}"/>
              </a:ext>
            </a:extLst>
          </p:cNvPr>
          <p:cNvSpPr>
            <a:spLocks noGrp="1"/>
          </p:cNvSpPr>
          <p:nvPr>
            <p:ph type="title"/>
          </p:nvPr>
        </p:nvSpPr>
        <p:spPr/>
        <p:txBody>
          <a:bodyPr/>
          <a:lstStyle/>
          <a:p>
            <a:pPr algn="ctr"/>
            <a:r>
              <a:rPr lang="en-US" b="1" dirty="0"/>
              <a:t>Create a Binary tree</a:t>
            </a:r>
          </a:p>
        </p:txBody>
      </p:sp>
      <p:sp>
        <p:nvSpPr>
          <p:cNvPr id="3" name="Content Placeholder 2">
            <a:extLst>
              <a:ext uri="{FF2B5EF4-FFF2-40B4-BE49-F238E27FC236}">
                <a16:creationId xmlns:a16="http://schemas.microsoft.com/office/drawing/2014/main" id="{7251038D-88AD-C231-960F-8F688CFFFF74}"/>
              </a:ext>
            </a:extLst>
          </p:cNvPr>
          <p:cNvSpPr>
            <a:spLocks noGrp="1"/>
          </p:cNvSpPr>
          <p:nvPr>
            <p:ph idx="1"/>
          </p:nvPr>
        </p:nvSpPr>
        <p:spPr>
          <a:xfrm>
            <a:off x="838200" y="1575582"/>
            <a:ext cx="10515600" cy="4601381"/>
          </a:xfrm>
        </p:spPr>
        <p:txBody>
          <a:bodyPr numCol="2">
            <a:normAutofit fontScale="55000" lnSpcReduction="20000"/>
          </a:bodyPr>
          <a:lstStyle/>
          <a:p>
            <a:pPr marL="0" indent="0">
              <a:buNone/>
            </a:pPr>
            <a:r>
              <a:rPr lang="en-US" dirty="0"/>
              <a:t>#include &lt;</a:t>
            </a:r>
            <a:r>
              <a:rPr lang="en-US" dirty="0" err="1"/>
              <a:t>stdio.h</a:t>
            </a:r>
            <a:r>
              <a:rPr lang="en-US" dirty="0"/>
              <a:t>&gt;</a:t>
            </a:r>
          </a:p>
          <a:p>
            <a:pPr marL="0" indent="0">
              <a:buNone/>
            </a:pPr>
            <a:r>
              <a:rPr lang="en-US" dirty="0"/>
              <a:t>#include &lt;</a:t>
            </a:r>
            <a:r>
              <a:rPr lang="en-US" dirty="0" err="1"/>
              <a:t>stdlib.h</a:t>
            </a:r>
            <a:r>
              <a:rPr lang="en-US" dirty="0"/>
              <a:t>&gt;</a:t>
            </a:r>
          </a:p>
          <a:p>
            <a:pPr marL="0" indent="0">
              <a:buNone/>
            </a:pPr>
            <a:endParaRPr lang="en-US" dirty="0"/>
          </a:p>
          <a:p>
            <a:pPr marL="0" indent="0">
              <a:buNone/>
            </a:pPr>
            <a:r>
              <a:rPr lang="en-US" dirty="0"/>
              <a:t>struct Node {</a:t>
            </a:r>
          </a:p>
          <a:p>
            <a:pPr marL="0" indent="0">
              <a:buNone/>
            </a:pPr>
            <a:r>
              <a:rPr lang="en-US" dirty="0"/>
              <a:t>    int data;</a:t>
            </a:r>
          </a:p>
          <a:p>
            <a:pPr marL="0" indent="0">
              <a:buNone/>
            </a:pPr>
            <a:r>
              <a:rPr lang="en-US" dirty="0"/>
              <a:t>    struct Node *left;</a:t>
            </a:r>
          </a:p>
          <a:p>
            <a:pPr marL="0" indent="0">
              <a:buNone/>
            </a:pPr>
            <a:r>
              <a:rPr lang="en-US" dirty="0"/>
              <a:t>    struct Node *right;</a:t>
            </a:r>
          </a:p>
          <a:p>
            <a:pPr marL="0" indent="0">
              <a:buNone/>
            </a:pPr>
            <a:r>
              <a:rPr lang="en-US" dirty="0"/>
              <a:t>};</a:t>
            </a:r>
          </a:p>
          <a:p>
            <a:pPr marL="0" indent="0">
              <a:buNone/>
            </a:pPr>
            <a:endParaRPr lang="en-US" dirty="0"/>
          </a:p>
          <a:p>
            <a:pPr marL="0" indent="0">
              <a:buNone/>
            </a:pPr>
            <a:r>
              <a:rPr lang="en-US" dirty="0"/>
              <a:t>struct Node* </a:t>
            </a:r>
            <a:r>
              <a:rPr lang="en-US" dirty="0" err="1"/>
              <a:t>createNode</a:t>
            </a:r>
            <a:r>
              <a:rPr lang="en-US" dirty="0"/>
              <a:t>(int d) {</a:t>
            </a:r>
          </a:p>
          <a:p>
            <a:pPr marL="0" indent="0">
              <a:buNone/>
            </a:pPr>
            <a:r>
              <a:rPr lang="en-US" dirty="0"/>
              <a:t>    struct Node* newNode =</a:t>
            </a:r>
          </a:p>
          <a:p>
            <a:pPr marL="0" indent="0">
              <a:buNone/>
            </a:pPr>
            <a:r>
              <a:rPr lang="en-US" dirty="0"/>
              <a:t>      (struct Node*)malloc(</a:t>
            </a:r>
            <a:r>
              <a:rPr lang="en-US" dirty="0" err="1"/>
              <a:t>sizeof</a:t>
            </a:r>
            <a:r>
              <a:rPr lang="en-US" dirty="0"/>
              <a:t>(struct Node));</a:t>
            </a:r>
          </a:p>
          <a:p>
            <a:pPr marL="0" indent="0">
              <a:buNone/>
            </a:pPr>
            <a:r>
              <a:rPr lang="en-US" dirty="0"/>
              <a:t>    newNode-&gt;data = d;</a:t>
            </a:r>
          </a:p>
          <a:p>
            <a:pPr marL="0" indent="0">
              <a:buNone/>
            </a:pPr>
            <a:r>
              <a:rPr lang="en-US" dirty="0"/>
              <a:t>    newNode-&gt;left = NULL;</a:t>
            </a:r>
          </a:p>
          <a:p>
            <a:pPr marL="0" indent="0">
              <a:buNone/>
            </a:pPr>
            <a:r>
              <a:rPr lang="en-US" dirty="0"/>
              <a:t>    newNode-&gt;right = NULL;</a:t>
            </a:r>
          </a:p>
          <a:p>
            <a:pPr marL="0" indent="0">
              <a:buNone/>
            </a:pPr>
            <a:r>
              <a:rPr lang="en-US" dirty="0"/>
              <a:t>    return newNode;</a:t>
            </a:r>
          </a:p>
          <a:p>
            <a:pPr marL="0" indent="0">
              <a:buNone/>
            </a:pPr>
            <a:r>
              <a:rPr lang="en-US" dirty="0"/>
              <a:t>}</a:t>
            </a:r>
          </a:p>
          <a:p>
            <a:pPr marL="0" indent="0">
              <a:buNone/>
            </a:pPr>
            <a:endParaRPr lang="en-US" dirty="0"/>
          </a:p>
          <a:p>
            <a:pPr marL="0" indent="0">
              <a:buNone/>
            </a:pPr>
            <a:r>
              <a:rPr lang="en-US" dirty="0"/>
              <a:t>int main() {</a:t>
            </a:r>
          </a:p>
          <a:p>
            <a:pPr marL="0" indent="0">
              <a:buNone/>
            </a:pPr>
            <a:r>
              <a:rPr lang="en-US" dirty="0"/>
              <a:t>    // Initialize and allocate memory for tree nodes</a:t>
            </a:r>
          </a:p>
          <a:p>
            <a:pPr marL="0" indent="0">
              <a:buNone/>
            </a:pPr>
            <a:r>
              <a:rPr lang="en-US" dirty="0"/>
              <a:t>    struct Node* </a:t>
            </a:r>
            <a:r>
              <a:rPr lang="en-US" dirty="0" err="1"/>
              <a:t>firstNode</a:t>
            </a:r>
            <a:r>
              <a:rPr lang="en-US" dirty="0"/>
              <a:t> = </a:t>
            </a:r>
            <a:r>
              <a:rPr lang="en-US" dirty="0" err="1"/>
              <a:t>createNode</a:t>
            </a:r>
            <a:r>
              <a:rPr lang="en-US" dirty="0"/>
              <a:t>(2);</a:t>
            </a:r>
          </a:p>
          <a:p>
            <a:pPr marL="0" indent="0">
              <a:buNone/>
            </a:pPr>
            <a:r>
              <a:rPr lang="en-US" dirty="0"/>
              <a:t>    struct Node* </a:t>
            </a:r>
            <a:r>
              <a:rPr lang="en-US" dirty="0" err="1"/>
              <a:t>secondNode</a:t>
            </a:r>
            <a:r>
              <a:rPr lang="en-US" dirty="0"/>
              <a:t> = </a:t>
            </a:r>
            <a:r>
              <a:rPr lang="en-US" dirty="0" err="1"/>
              <a:t>createNode</a:t>
            </a:r>
            <a:r>
              <a:rPr lang="en-US" dirty="0"/>
              <a:t>(3);</a:t>
            </a:r>
          </a:p>
          <a:p>
            <a:pPr marL="0" indent="0">
              <a:buNone/>
            </a:pPr>
            <a:r>
              <a:rPr lang="en-US" dirty="0"/>
              <a:t>    struct Node* </a:t>
            </a:r>
            <a:r>
              <a:rPr lang="en-US" dirty="0" err="1"/>
              <a:t>thirdNode</a:t>
            </a:r>
            <a:r>
              <a:rPr lang="en-US" dirty="0"/>
              <a:t> = </a:t>
            </a:r>
            <a:r>
              <a:rPr lang="en-US" dirty="0" err="1"/>
              <a:t>createNode</a:t>
            </a:r>
            <a:r>
              <a:rPr lang="en-US" dirty="0"/>
              <a:t>(4);</a:t>
            </a:r>
          </a:p>
          <a:p>
            <a:pPr marL="0" indent="0">
              <a:buNone/>
            </a:pPr>
            <a:r>
              <a:rPr lang="en-US" dirty="0"/>
              <a:t>    struct Node* </a:t>
            </a:r>
            <a:r>
              <a:rPr lang="en-US" dirty="0" err="1"/>
              <a:t>fourthNode</a:t>
            </a:r>
            <a:r>
              <a:rPr lang="en-US" dirty="0"/>
              <a:t> = </a:t>
            </a:r>
            <a:r>
              <a:rPr lang="en-US" dirty="0" err="1"/>
              <a:t>createNode</a:t>
            </a:r>
            <a:r>
              <a:rPr lang="en-US" dirty="0"/>
              <a:t>(5);</a:t>
            </a:r>
          </a:p>
          <a:p>
            <a:pPr marL="0" indent="0">
              <a:buNone/>
            </a:pPr>
            <a:endParaRPr lang="en-US" dirty="0"/>
          </a:p>
          <a:p>
            <a:pPr marL="0" indent="0">
              <a:buNone/>
            </a:pPr>
            <a:r>
              <a:rPr lang="en-US" dirty="0"/>
              <a:t>    // Connect binary tree nodes</a:t>
            </a:r>
          </a:p>
          <a:p>
            <a:pPr marL="0" indent="0">
              <a:buNone/>
            </a:pPr>
            <a:r>
              <a:rPr lang="en-US" dirty="0"/>
              <a:t>    </a:t>
            </a:r>
            <a:r>
              <a:rPr lang="en-US" dirty="0" err="1"/>
              <a:t>firstNode</a:t>
            </a:r>
            <a:r>
              <a:rPr lang="en-US" dirty="0"/>
              <a:t>-&gt;left = </a:t>
            </a:r>
            <a:r>
              <a:rPr lang="en-US" dirty="0" err="1"/>
              <a:t>secondNode</a:t>
            </a:r>
            <a:r>
              <a:rPr lang="en-US" dirty="0"/>
              <a:t>;</a:t>
            </a:r>
          </a:p>
          <a:p>
            <a:pPr marL="0" indent="0">
              <a:buNone/>
            </a:pPr>
            <a:r>
              <a:rPr lang="en-US" dirty="0"/>
              <a:t>    </a:t>
            </a:r>
            <a:r>
              <a:rPr lang="en-US" dirty="0" err="1"/>
              <a:t>firstNode</a:t>
            </a:r>
            <a:r>
              <a:rPr lang="en-US" dirty="0"/>
              <a:t>-&gt;right = </a:t>
            </a:r>
            <a:r>
              <a:rPr lang="en-US" dirty="0" err="1"/>
              <a:t>thirdNode</a:t>
            </a:r>
            <a:r>
              <a:rPr lang="en-US" dirty="0"/>
              <a:t>;</a:t>
            </a:r>
          </a:p>
          <a:p>
            <a:pPr marL="0" indent="0">
              <a:buNone/>
            </a:pPr>
            <a:r>
              <a:rPr lang="en-US" dirty="0"/>
              <a:t>    </a:t>
            </a:r>
            <a:r>
              <a:rPr lang="en-US" dirty="0" err="1"/>
              <a:t>secondNode</a:t>
            </a:r>
            <a:r>
              <a:rPr lang="en-US" dirty="0"/>
              <a:t>-&gt;left = </a:t>
            </a:r>
            <a:r>
              <a:rPr lang="en-US" dirty="0" err="1"/>
              <a:t>fourthNode</a:t>
            </a:r>
            <a:r>
              <a:rPr lang="en-US" dirty="0"/>
              <a:t>;</a:t>
            </a:r>
          </a:p>
          <a:p>
            <a:pPr marL="0" indent="0">
              <a:buNone/>
            </a:pPr>
            <a:endParaRPr lang="en-US" dirty="0"/>
          </a:p>
          <a:p>
            <a:pPr marL="0" indent="0">
              <a:buNone/>
            </a:pPr>
            <a:r>
              <a:rPr lang="en-US" dirty="0"/>
              <a:t>    return 0;</a:t>
            </a:r>
          </a:p>
          <a:p>
            <a:pPr marL="0" indent="0">
              <a:buNone/>
            </a:pPr>
            <a:r>
              <a:rPr lang="en-US" dirty="0"/>
              <a:t>}</a:t>
            </a:r>
          </a:p>
        </p:txBody>
      </p:sp>
    </p:spTree>
    <p:extLst>
      <p:ext uri="{BB962C8B-B14F-4D97-AF65-F5344CB8AC3E}">
        <p14:creationId xmlns:p14="http://schemas.microsoft.com/office/powerpoint/2010/main" val="2466896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94967229"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Tree traversal </a:t>
            </a:r>
            <a:endParaRPr lang="en-US" sz="4400" b="0" strike="noStrike" spc="0">
              <a:solidFill>
                <a:srgbClr val="000000"/>
              </a:solidFill>
              <a:latin typeface="Arial"/>
            </a:endParaRPr>
          </a:p>
        </p:txBody>
      </p:sp>
      <p:sp>
        <p:nvSpPr>
          <p:cNvPr id="1233728391" name="PlaceHolder 2"/>
          <p:cNvSpPr>
            <a:spLocks noGrp="1"/>
          </p:cNvSpPr>
          <p:nvPr>
            <p:ph/>
          </p:nvPr>
        </p:nvSpPr>
        <p:spPr bwMode="auto">
          <a:xfrm>
            <a:off x="685800" y="2063520"/>
            <a:ext cx="10393560" cy="33102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Tree traversal refers to the process of visiting and examining all the nodes in a tree data structure in a specific order.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Tree traversal (also known as tree search and walking the tree) is a form of graph traversal and refers to the process of visiting (e.g. retrieving, updating, or deleting) each node in a tree data structure, exactly once.</a:t>
            </a:r>
            <a:endParaRPr lang="en-US" sz="2800" b="0" strike="noStrike" spc="0">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95148554"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Tree traversal </a:t>
            </a:r>
            <a:endParaRPr lang="en-US" sz="4400" b="0" strike="noStrike" spc="0">
              <a:solidFill>
                <a:srgbClr val="000000"/>
              </a:solidFill>
              <a:latin typeface="Arial"/>
            </a:endParaRPr>
          </a:p>
        </p:txBody>
      </p:sp>
      <p:sp>
        <p:nvSpPr>
          <p:cNvPr id="221485853" name="PlaceHolder 2"/>
          <p:cNvSpPr>
            <a:spLocks noGrp="1"/>
          </p:cNvSpPr>
          <p:nvPr>
            <p:ph/>
          </p:nvPr>
        </p:nvSpPr>
        <p:spPr bwMode="auto">
          <a:xfrm>
            <a:off x="685800" y="2063520"/>
            <a:ext cx="10393560" cy="3310200"/>
          </a:xfrm>
          <a:prstGeom prst="rect">
            <a:avLst/>
          </a:prstGeom>
          <a:noFill/>
          <a:ln w="0">
            <a:noFill/>
          </a:ln>
        </p:spPr>
        <p:txBody>
          <a:bodyPr lIns="90000" tIns="45000" rIns="90000" bIns="45000" anchor="t">
            <a:normAutofit/>
          </a:bodyPr>
          <a:lstStyle/>
          <a:p>
            <a:pPr indent="0">
              <a:lnSpc>
                <a:spcPct val="90000"/>
              </a:lnSpc>
              <a:spcBef>
                <a:spcPts val="1000"/>
              </a:spcBef>
              <a:buNone/>
              <a:tabLst>
                <a:tab pos="0" algn="l"/>
              </a:tabLst>
              <a:defRPr/>
            </a:pPr>
            <a:r>
              <a:rPr lang="en-US" sz="2800" b="0" strike="noStrike" spc="0">
                <a:solidFill>
                  <a:srgbClr val="000000"/>
                </a:solidFill>
                <a:latin typeface="Calibri"/>
              </a:rPr>
              <a:t>The three most commonly used traversal methods are:</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tabLst>
                <a:tab pos="0" algn="l"/>
              </a:tabLst>
              <a:defRPr/>
            </a:pPr>
            <a:r>
              <a:rPr lang="en-US" sz="2800" b="0" strike="noStrike" spc="0">
                <a:solidFill>
                  <a:srgbClr val="000000"/>
                </a:solidFill>
                <a:latin typeface="Calibri"/>
              </a:rPr>
              <a:t>Inorder traversal: The left subtree is visited first, then the root, and then the right subtree. </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tabLst>
                <a:tab pos="0" algn="l"/>
              </a:tabLst>
              <a:defRPr/>
            </a:pPr>
            <a:r>
              <a:rPr lang="en-US" sz="2800" b="0" strike="noStrike" spc="0">
                <a:solidFill>
                  <a:srgbClr val="000000"/>
                </a:solidFill>
                <a:latin typeface="Calibri"/>
              </a:rPr>
              <a:t>Preorder traversal: The root is visited first, then the left subtree, and then the right subtree.</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tabLst>
                <a:tab pos="0" algn="l"/>
              </a:tabLst>
              <a:defRPr/>
            </a:pPr>
            <a:r>
              <a:rPr lang="en-US" sz="2800" b="0" strike="noStrike" spc="0">
                <a:solidFill>
                  <a:srgbClr val="000000"/>
                </a:solidFill>
                <a:latin typeface="Calibri"/>
              </a:rPr>
              <a:t>Postorder Traversal: First visit left child, then right child, then root of the tree</a:t>
            </a:r>
            <a:endParaRPr lang="en-US" sz="2800" b="0" strike="noStrike" spc="0">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93645796"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Example</a:t>
            </a:r>
            <a:endParaRPr lang="en-US" sz="4400" b="0" strike="noStrike" spc="0">
              <a:solidFill>
                <a:srgbClr val="000000"/>
              </a:solidFill>
              <a:latin typeface="Arial"/>
            </a:endParaRPr>
          </a:p>
        </p:txBody>
      </p:sp>
      <p:sp>
        <p:nvSpPr>
          <p:cNvPr id="662810681" name="Oval 3"/>
          <p:cNvSpPr/>
          <p:nvPr/>
        </p:nvSpPr>
        <p:spPr bwMode="auto">
          <a:xfrm>
            <a:off x="6125038" y="1705320"/>
            <a:ext cx="695520" cy="666720"/>
          </a:xfrm>
          <a:prstGeom prst="ellipse">
            <a:avLst/>
          </a:prstGeom>
          <a:solidFill>
            <a:srgbClr val="FFFFFF"/>
          </a:solidFill>
          <a:ln w="38100">
            <a:solidFill>
              <a:srgbClr val="70AD47"/>
            </a:solidFill>
          </a:ln>
        </p:spPr>
        <p:style>
          <a:lnRef idx="2">
            <a:schemeClr val="accent6"/>
          </a:lnRef>
          <a:fillRef idx="1">
            <a:schemeClr val="lt1"/>
          </a:fillRef>
          <a:effectRef idx="0">
            <a:schemeClr val="accent6"/>
          </a:effectRef>
          <a:fontRef idx="minor"/>
        </p:style>
        <p:txBody>
          <a:bodyPr lIns="90000" tIns="45000" rIns="90000" bIns="45000" anchor="ctr">
            <a:noAutofit/>
          </a:bodyPr>
          <a:lstStyle/>
          <a:p>
            <a:pPr algn="ctr">
              <a:lnSpc>
                <a:spcPct val="100000"/>
              </a:lnSpc>
              <a:defRPr/>
            </a:pPr>
            <a:r>
              <a:rPr lang="en-US" sz="2400" b="1" strike="noStrike" spc="0">
                <a:solidFill>
                  <a:schemeClr val="dk1"/>
                </a:solidFill>
                <a:latin typeface="Calibri"/>
                <a:ea typeface="DejaVu Sans"/>
              </a:rPr>
              <a:t>A</a:t>
            </a:r>
            <a:endParaRPr lang="en-US" sz="2400" b="0" strike="noStrike" spc="0">
              <a:solidFill>
                <a:srgbClr val="000000"/>
              </a:solidFill>
              <a:latin typeface="Arial"/>
            </a:endParaRPr>
          </a:p>
        </p:txBody>
      </p:sp>
      <p:sp>
        <p:nvSpPr>
          <p:cNvPr id="652839336" name="Oval 4"/>
          <p:cNvSpPr/>
          <p:nvPr/>
        </p:nvSpPr>
        <p:spPr bwMode="auto">
          <a:xfrm>
            <a:off x="4919038" y="2939040"/>
            <a:ext cx="695520" cy="666720"/>
          </a:xfrm>
          <a:prstGeom prst="ellipse">
            <a:avLst/>
          </a:prstGeom>
          <a:solidFill>
            <a:srgbClr val="FFFFFF"/>
          </a:solidFill>
          <a:ln w="38100">
            <a:solidFill>
              <a:srgbClr val="70AD47"/>
            </a:solidFill>
          </a:ln>
        </p:spPr>
        <p:style>
          <a:lnRef idx="2">
            <a:schemeClr val="accent6"/>
          </a:lnRef>
          <a:fillRef idx="1">
            <a:schemeClr val="lt1"/>
          </a:fillRef>
          <a:effectRef idx="0">
            <a:schemeClr val="accent6"/>
          </a:effectRef>
          <a:fontRef idx="minor"/>
        </p:style>
        <p:txBody>
          <a:bodyPr lIns="90000" tIns="45000" rIns="90000" bIns="45000" anchor="ctr">
            <a:noAutofit/>
          </a:bodyPr>
          <a:lstStyle/>
          <a:p>
            <a:pPr algn="ctr">
              <a:lnSpc>
                <a:spcPct val="100000"/>
              </a:lnSpc>
              <a:defRPr/>
            </a:pPr>
            <a:r>
              <a:rPr lang="en-US" sz="1800" b="1" strike="noStrike" spc="0">
                <a:solidFill>
                  <a:schemeClr val="dk1"/>
                </a:solidFill>
                <a:latin typeface="Calibri"/>
                <a:ea typeface="DejaVu Sans"/>
              </a:rPr>
              <a:t>B</a:t>
            </a:r>
            <a:endParaRPr lang="en-US" sz="1800" b="0" strike="noStrike" spc="0">
              <a:solidFill>
                <a:srgbClr val="000000"/>
              </a:solidFill>
              <a:latin typeface="Arial"/>
            </a:endParaRPr>
          </a:p>
        </p:txBody>
      </p:sp>
      <p:sp>
        <p:nvSpPr>
          <p:cNvPr id="1409066263" name="Oval 5"/>
          <p:cNvSpPr/>
          <p:nvPr/>
        </p:nvSpPr>
        <p:spPr bwMode="auto">
          <a:xfrm>
            <a:off x="7271640" y="2924639"/>
            <a:ext cx="695520" cy="666720"/>
          </a:xfrm>
          <a:prstGeom prst="ellipse">
            <a:avLst/>
          </a:prstGeom>
          <a:solidFill>
            <a:srgbClr val="FFFFFF"/>
          </a:solidFill>
          <a:ln w="38100">
            <a:solidFill>
              <a:srgbClr val="70AD47"/>
            </a:solidFill>
          </a:ln>
        </p:spPr>
        <p:style>
          <a:lnRef idx="2">
            <a:schemeClr val="accent6"/>
          </a:lnRef>
          <a:fillRef idx="1">
            <a:schemeClr val="lt1"/>
          </a:fillRef>
          <a:effectRef idx="0">
            <a:schemeClr val="accent6"/>
          </a:effectRef>
          <a:fontRef idx="minor"/>
        </p:style>
        <p:txBody>
          <a:bodyPr lIns="90000" tIns="45000" rIns="90000" bIns="45000" anchor="ctr">
            <a:noAutofit/>
          </a:bodyPr>
          <a:lstStyle/>
          <a:p>
            <a:pPr algn="ctr">
              <a:lnSpc>
                <a:spcPct val="100000"/>
              </a:lnSpc>
              <a:defRPr/>
            </a:pPr>
            <a:r>
              <a:rPr lang="en-US" sz="1800" b="1" strike="noStrike" spc="0">
                <a:solidFill>
                  <a:schemeClr val="dk1"/>
                </a:solidFill>
                <a:latin typeface="Calibri"/>
                <a:ea typeface="DejaVu Sans"/>
              </a:rPr>
              <a:t>E</a:t>
            </a:r>
            <a:endParaRPr lang="en-US" sz="1800" b="0" strike="noStrike" spc="0">
              <a:solidFill>
                <a:srgbClr val="000000"/>
              </a:solidFill>
              <a:latin typeface="Arial"/>
            </a:endParaRPr>
          </a:p>
        </p:txBody>
      </p:sp>
      <p:sp>
        <p:nvSpPr>
          <p:cNvPr id="1684420346" name="Oval 6"/>
          <p:cNvSpPr/>
          <p:nvPr/>
        </p:nvSpPr>
        <p:spPr bwMode="auto">
          <a:xfrm>
            <a:off x="4056840" y="4129200"/>
            <a:ext cx="695520" cy="666720"/>
          </a:xfrm>
          <a:prstGeom prst="ellipse">
            <a:avLst/>
          </a:prstGeom>
          <a:solidFill>
            <a:srgbClr val="FFFFFF"/>
          </a:solidFill>
          <a:ln w="38100">
            <a:solidFill>
              <a:srgbClr val="70AD47"/>
            </a:solidFill>
          </a:ln>
        </p:spPr>
        <p:style>
          <a:lnRef idx="2">
            <a:schemeClr val="accent6"/>
          </a:lnRef>
          <a:fillRef idx="1">
            <a:schemeClr val="lt1"/>
          </a:fillRef>
          <a:effectRef idx="0">
            <a:schemeClr val="accent6"/>
          </a:effectRef>
          <a:fontRef idx="minor"/>
        </p:style>
        <p:txBody>
          <a:bodyPr lIns="90000" tIns="45000" rIns="90000" bIns="45000" anchor="ctr">
            <a:noAutofit/>
          </a:bodyPr>
          <a:lstStyle/>
          <a:p>
            <a:pPr algn="ctr">
              <a:lnSpc>
                <a:spcPct val="100000"/>
              </a:lnSpc>
              <a:defRPr/>
            </a:pPr>
            <a:r>
              <a:rPr lang="en-US" sz="1800" b="1" strike="noStrike" spc="0">
                <a:solidFill>
                  <a:schemeClr val="dk1"/>
                </a:solidFill>
                <a:latin typeface="Calibri"/>
                <a:ea typeface="DejaVu Sans"/>
              </a:rPr>
              <a:t>C</a:t>
            </a:r>
            <a:endParaRPr lang="en-US" sz="1800" b="0" strike="noStrike" spc="0">
              <a:solidFill>
                <a:srgbClr val="000000"/>
              </a:solidFill>
              <a:latin typeface="Arial"/>
            </a:endParaRPr>
          </a:p>
        </p:txBody>
      </p:sp>
      <p:sp>
        <p:nvSpPr>
          <p:cNvPr id="1662562556" name="Oval 7"/>
          <p:cNvSpPr/>
          <p:nvPr/>
        </p:nvSpPr>
        <p:spPr bwMode="auto">
          <a:xfrm>
            <a:off x="5638680" y="4158720"/>
            <a:ext cx="695520" cy="666720"/>
          </a:xfrm>
          <a:prstGeom prst="ellipse">
            <a:avLst/>
          </a:prstGeom>
          <a:solidFill>
            <a:srgbClr val="FFFFFF"/>
          </a:solidFill>
          <a:ln w="38100">
            <a:solidFill>
              <a:srgbClr val="70AD47"/>
            </a:solidFill>
          </a:ln>
        </p:spPr>
        <p:style>
          <a:lnRef idx="2">
            <a:schemeClr val="accent6"/>
          </a:lnRef>
          <a:fillRef idx="1">
            <a:schemeClr val="lt1"/>
          </a:fillRef>
          <a:effectRef idx="0">
            <a:schemeClr val="accent6"/>
          </a:effectRef>
          <a:fontRef idx="minor"/>
        </p:style>
        <p:txBody>
          <a:bodyPr lIns="90000" tIns="45000" rIns="90000" bIns="45000" anchor="ctr">
            <a:noAutofit/>
          </a:bodyPr>
          <a:lstStyle/>
          <a:p>
            <a:pPr algn="ctr">
              <a:lnSpc>
                <a:spcPct val="100000"/>
              </a:lnSpc>
              <a:defRPr/>
            </a:pPr>
            <a:r>
              <a:rPr lang="en-US" sz="1800" b="1" strike="noStrike" spc="0">
                <a:solidFill>
                  <a:schemeClr val="dk1"/>
                </a:solidFill>
                <a:latin typeface="Calibri"/>
                <a:ea typeface="DejaVu Sans"/>
              </a:rPr>
              <a:t>D</a:t>
            </a:r>
            <a:endParaRPr lang="en-US" sz="1800" b="0" strike="noStrike" spc="0">
              <a:solidFill>
                <a:srgbClr val="000000"/>
              </a:solidFill>
              <a:latin typeface="Arial"/>
            </a:endParaRPr>
          </a:p>
        </p:txBody>
      </p:sp>
      <p:sp>
        <p:nvSpPr>
          <p:cNvPr id="445375181" name="Oval 8"/>
          <p:cNvSpPr/>
          <p:nvPr/>
        </p:nvSpPr>
        <p:spPr bwMode="auto">
          <a:xfrm>
            <a:off x="6821640" y="4129200"/>
            <a:ext cx="695520" cy="666720"/>
          </a:xfrm>
          <a:prstGeom prst="ellipse">
            <a:avLst/>
          </a:prstGeom>
          <a:solidFill>
            <a:srgbClr val="FFFFFF"/>
          </a:solidFill>
          <a:ln w="38100">
            <a:solidFill>
              <a:srgbClr val="70AD47"/>
            </a:solidFill>
          </a:ln>
        </p:spPr>
        <p:style>
          <a:lnRef idx="2">
            <a:schemeClr val="accent6"/>
          </a:lnRef>
          <a:fillRef idx="1">
            <a:schemeClr val="lt1"/>
          </a:fillRef>
          <a:effectRef idx="0">
            <a:schemeClr val="accent6"/>
          </a:effectRef>
          <a:fontRef idx="minor"/>
        </p:style>
        <p:txBody>
          <a:bodyPr lIns="90000" tIns="45000" rIns="90000" bIns="45000" anchor="ctr">
            <a:noAutofit/>
          </a:bodyPr>
          <a:lstStyle/>
          <a:p>
            <a:pPr algn="ctr">
              <a:lnSpc>
                <a:spcPct val="100000"/>
              </a:lnSpc>
              <a:defRPr/>
            </a:pPr>
            <a:r>
              <a:rPr lang="en-US" sz="1800" b="1" strike="noStrike" spc="0">
                <a:solidFill>
                  <a:schemeClr val="dk1"/>
                </a:solidFill>
                <a:latin typeface="Calibri"/>
                <a:ea typeface="DejaVu Sans"/>
              </a:rPr>
              <a:t>F</a:t>
            </a:r>
            <a:endParaRPr lang="en-US" sz="1800" b="0" strike="noStrike" spc="0">
              <a:solidFill>
                <a:srgbClr val="000000"/>
              </a:solidFill>
              <a:latin typeface="Arial"/>
            </a:endParaRPr>
          </a:p>
        </p:txBody>
      </p:sp>
      <p:cxnSp>
        <p:nvCxnSpPr>
          <p:cNvPr id="912500933" name="Straight Connector 10"/>
          <p:cNvCxnSpPr>
            <a:cxnSpLocks/>
            <a:stCxn id="662810681" idx="3"/>
            <a:endCxn id="652839336" idx="7"/>
          </p:cNvCxnSpPr>
          <p:nvPr/>
        </p:nvCxnSpPr>
        <p:spPr bwMode="auto">
          <a:xfrm flipH="1">
            <a:off x="5512680" y="2274480"/>
            <a:ext cx="714600" cy="762480"/>
          </a:xfrm>
          <a:prstGeom prst="straightConnector1">
            <a:avLst/>
          </a:prstGeom>
          <a:ln w="38100">
            <a:solidFill>
              <a:srgbClr val="000000"/>
            </a:solidFill>
            <a:round/>
          </a:ln>
        </p:spPr>
      </p:cxnSp>
      <p:cxnSp>
        <p:nvCxnSpPr>
          <p:cNvPr id="500123205" name="Straight Connector 13"/>
          <p:cNvCxnSpPr>
            <a:cxnSpLocks/>
            <a:endCxn id="1684420346" idx="7"/>
          </p:cNvCxnSpPr>
          <p:nvPr/>
        </p:nvCxnSpPr>
        <p:spPr bwMode="auto">
          <a:xfrm flipH="1">
            <a:off x="4650480" y="3494160"/>
            <a:ext cx="445320" cy="732960"/>
          </a:xfrm>
          <a:prstGeom prst="straightConnector1">
            <a:avLst/>
          </a:prstGeom>
          <a:ln w="38100">
            <a:solidFill>
              <a:srgbClr val="000000"/>
            </a:solidFill>
            <a:round/>
          </a:ln>
        </p:spPr>
      </p:cxnSp>
      <p:cxnSp>
        <p:nvCxnSpPr>
          <p:cNvPr id="1092398834" name="Straight Connector 15"/>
          <p:cNvCxnSpPr>
            <a:cxnSpLocks/>
            <a:endCxn id="1409066263" idx="1"/>
          </p:cNvCxnSpPr>
          <p:nvPr/>
        </p:nvCxnSpPr>
        <p:spPr bwMode="auto">
          <a:xfrm>
            <a:off x="6742440" y="2274840"/>
            <a:ext cx="631440" cy="747720"/>
          </a:xfrm>
          <a:prstGeom prst="straightConnector1">
            <a:avLst/>
          </a:prstGeom>
          <a:ln w="38100">
            <a:solidFill>
              <a:srgbClr val="000000"/>
            </a:solidFill>
            <a:round/>
          </a:ln>
        </p:spPr>
      </p:cxnSp>
      <p:cxnSp>
        <p:nvCxnSpPr>
          <p:cNvPr id="310373986" name="Straight Connector 17"/>
          <p:cNvCxnSpPr>
            <a:cxnSpLocks/>
          </p:cNvCxnSpPr>
          <p:nvPr/>
        </p:nvCxnSpPr>
        <p:spPr bwMode="auto">
          <a:xfrm>
            <a:off x="5385600" y="3606480"/>
            <a:ext cx="460800" cy="628920"/>
          </a:xfrm>
          <a:prstGeom prst="straightConnector1">
            <a:avLst/>
          </a:prstGeom>
          <a:ln w="38100">
            <a:solidFill>
              <a:srgbClr val="000000"/>
            </a:solidFill>
            <a:round/>
          </a:ln>
        </p:spPr>
      </p:cxnSp>
      <p:cxnSp>
        <p:nvCxnSpPr>
          <p:cNvPr id="737242884" name="Straight Connector 19"/>
          <p:cNvCxnSpPr>
            <a:cxnSpLocks/>
            <a:endCxn id="445375181" idx="0"/>
          </p:cNvCxnSpPr>
          <p:nvPr/>
        </p:nvCxnSpPr>
        <p:spPr bwMode="auto">
          <a:xfrm flipH="1">
            <a:off x="7169400" y="3559320"/>
            <a:ext cx="343438" cy="570240"/>
          </a:xfrm>
          <a:prstGeom prst="straightConnector1">
            <a:avLst/>
          </a:prstGeom>
          <a:ln w="38100">
            <a:solidFill>
              <a:srgbClr val="000000"/>
            </a:solidFill>
            <a:roun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678387904" name="Picture 678387903"/>
          <p:cNvPicPr>
            <a:picLocks noChangeAspect="1"/>
          </p:cNvPicPr>
          <p:nvPr/>
        </p:nvPicPr>
        <p:blipFill>
          <a:blip r:embed="rId3"/>
          <a:stretch/>
        </p:blipFill>
        <p:spPr bwMode="auto">
          <a:xfrm>
            <a:off x="2650433" y="982316"/>
            <a:ext cx="6481968" cy="460844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77191892"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Binary Search Tree</a:t>
            </a:r>
            <a:endParaRPr lang="en-US" sz="4400" b="0" strike="noStrike" spc="0">
              <a:solidFill>
                <a:srgbClr val="000000"/>
              </a:solidFill>
              <a:latin typeface="Arial"/>
            </a:endParaRPr>
          </a:p>
        </p:txBody>
      </p:sp>
      <p:sp>
        <p:nvSpPr>
          <p:cNvPr id="210512610" name="PlaceHolder 2"/>
          <p:cNvSpPr>
            <a:spLocks noGrp="1"/>
          </p:cNvSpPr>
          <p:nvPr>
            <p:ph/>
          </p:nvPr>
        </p:nvSpPr>
        <p:spPr bwMode="auto">
          <a:xfrm>
            <a:off x="685800" y="2063520"/>
            <a:ext cx="10393560" cy="331020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It is called a binary tree because each tree node has a maximum of two children.</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A binary search tree follows some order to arrange the elements. In a Binary search tree, the value of left node must be smaller than the parent node, and the value of right node must be greater than the parent node. </a:t>
            </a:r>
            <a:endParaRPr lang="en-US" sz="2800" b="0" strike="noStrike" spc="0">
              <a:solidFill>
                <a:srgbClr val="00000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6418589"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Binary Search Tree</a:t>
            </a:r>
            <a:endParaRPr lang="en-US" sz="4400" b="0" strike="noStrike" spc="0">
              <a:solidFill>
                <a:srgbClr val="000000"/>
              </a:solidFill>
              <a:latin typeface="Arial"/>
            </a:endParaRPr>
          </a:p>
        </p:txBody>
      </p:sp>
      <p:sp>
        <p:nvSpPr>
          <p:cNvPr id="39891435" name="PlaceHolder 2"/>
          <p:cNvSpPr>
            <a:spLocks noGrp="1"/>
          </p:cNvSpPr>
          <p:nvPr>
            <p:ph/>
          </p:nvPr>
        </p:nvSpPr>
        <p:spPr bwMode="auto">
          <a:xfrm>
            <a:off x="685800" y="2063520"/>
            <a:ext cx="10393560" cy="3310200"/>
          </a:xfrm>
          <a:prstGeom prst="rect">
            <a:avLst/>
          </a:prstGeom>
          <a:noFill/>
          <a:ln w="0">
            <a:noFill/>
          </a:ln>
        </p:spPr>
        <p:txBody>
          <a:bodyPr lIns="90000" tIns="45000" rIns="90000" bIns="45000" anchor="t">
            <a:noAutofit/>
          </a:bodyPr>
          <a:lstStyle/>
          <a:p>
            <a:pPr indent="0">
              <a:lnSpc>
                <a:spcPct val="90000"/>
              </a:lnSpc>
              <a:spcBef>
                <a:spcPts val="1000"/>
              </a:spcBef>
              <a:buNone/>
              <a:tabLst>
                <a:tab pos="0" algn="l"/>
              </a:tabLst>
              <a:defRPr/>
            </a:pPr>
            <a:r>
              <a:rPr lang="en-US" sz="2800" b="0" strike="noStrike" spc="0">
                <a:solidFill>
                  <a:srgbClr val="000000"/>
                </a:solidFill>
                <a:latin typeface="Calibri"/>
              </a:rPr>
              <a:t>Following are the properties of Binary Search Tree (BST);</a:t>
            </a:r>
            <a:endParaRPr lang="en-US" sz="2800" b="0" strike="noStrike" spc="0">
              <a:solidFill>
                <a:srgbClr val="000000"/>
              </a:solidFill>
              <a:latin typeface="Arial"/>
            </a:endParaRPr>
          </a:p>
          <a:p>
            <a:pPr indent="0">
              <a:lnSpc>
                <a:spcPct val="90000"/>
              </a:lnSpc>
              <a:spcBef>
                <a:spcPts val="1000"/>
              </a:spcBef>
              <a:buNone/>
              <a:tabLst>
                <a:tab pos="0" algn="l"/>
              </a:tabLst>
              <a:defRPr/>
            </a:pPr>
            <a:r>
              <a:rPr lang="en-US" sz="2800" b="0" strike="noStrike" spc="0">
                <a:solidFill>
                  <a:srgbClr val="000000"/>
                </a:solidFill>
                <a:latin typeface="Calibri"/>
              </a:rPr>
              <a:t>i) All nodes of left sub tree are lesser.</a:t>
            </a:r>
            <a:endParaRPr lang="en-US" sz="2800" b="0" strike="noStrike" spc="0">
              <a:solidFill>
                <a:srgbClr val="000000"/>
              </a:solidFill>
              <a:latin typeface="Arial"/>
            </a:endParaRPr>
          </a:p>
          <a:p>
            <a:pPr indent="0">
              <a:lnSpc>
                <a:spcPct val="90000"/>
              </a:lnSpc>
              <a:spcBef>
                <a:spcPts val="1000"/>
              </a:spcBef>
              <a:buNone/>
              <a:tabLst>
                <a:tab pos="0" algn="l"/>
              </a:tabLst>
              <a:defRPr/>
            </a:pPr>
            <a:r>
              <a:rPr lang="en-US" sz="2800" b="0" strike="noStrike" spc="0">
                <a:solidFill>
                  <a:srgbClr val="000000"/>
                </a:solidFill>
                <a:latin typeface="Calibri"/>
              </a:rPr>
              <a:t>ii) All nodes of right sub tree are greater.</a:t>
            </a:r>
            <a:endParaRPr lang="en-US" sz="2800" b="0" strike="noStrike" spc="0">
              <a:solidFill>
                <a:srgbClr val="000000"/>
              </a:solidFill>
              <a:latin typeface="Arial"/>
            </a:endParaRPr>
          </a:p>
          <a:p>
            <a:pPr indent="0">
              <a:lnSpc>
                <a:spcPct val="90000"/>
              </a:lnSpc>
              <a:spcBef>
                <a:spcPts val="1000"/>
              </a:spcBef>
              <a:buNone/>
              <a:tabLst>
                <a:tab pos="0" algn="l"/>
              </a:tabLst>
              <a:defRPr/>
            </a:pPr>
            <a:r>
              <a:rPr lang="en-US" sz="2800" b="0" strike="noStrike" spc="0">
                <a:solidFill>
                  <a:srgbClr val="000000"/>
                </a:solidFill>
                <a:latin typeface="Calibri"/>
              </a:rPr>
              <a:t>iii) Left and right sub tree are also BST.</a:t>
            </a:r>
            <a:endParaRPr lang="en-US" sz="2800" b="0" strike="noStrike" spc="0">
              <a:solidFill>
                <a:srgbClr val="000000"/>
              </a:solidFill>
              <a:latin typeface="Arial"/>
            </a:endParaRPr>
          </a:p>
          <a:p>
            <a:pPr indent="0">
              <a:lnSpc>
                <a:spcPct val="90000"/>
              </a:lnSpc>
              <a:spcBef>
                <a:spcPts val="1000"/>
              </a:spcBef>
              <a:buNone/>
              <a:tabLst>
                <a:tab pos="0" algn="l"/>
              </a:tabLst>
              <a:defRPr/>
            </a:pPr>
            <a:r>
              <a:rPr lang="en-US" sz="2800" b="0" strike="noStrike" spc="0">
                <a:solidFill>
                  <a:srgbClr val="000000"/>
                </a:solidFill>
                <a:latin typeface="Calibri"/>
              </a:rPr>
              <a:t>iv) There are no duplicate nodes.</a:t>
            </a:r>
            <a:endParaRPr lang="en-US" sz="2800" b="0" strike="noStrike" spc="0">
              <a:solidFill>
                <a:srgbClr val="000000"/>
              </a:solidFill>
              <a:latin typeface="Arial"/>
            </a:endParaRPr>
          </a:p>
          <a:p>
            <a:pPr indent="0">
              <a:lnSpc>
                <a:spcPct val="90000"/>
              </a:lnSpc>
              <a:spcBef>
                <a:spcPts val="1000"/>
              </a:spcBef>
              <a:buNone/>
              <a:tabLst>
                <a:tab pos="0" algn="l"/>
              </a:tabLst>
              <a:defRPr/>
            </a:pPr>
            <a:r>
              <a:rPr lang="en-US" sz="2800" b="0" strike="noStrike" spc="0">
                <a:solidFill>
                  <a:srgbClr val="000000"/>
                </a:solidFill>
                <a:latin typeface="Calibri"/>
              </a:rPr>
              <a:t>v) Inorder traversal of a BST gives an ascending sorted array.</a:t>
            </a:r>
            <a:endParaRPr lang="en-US" sz="2800" b="0" strike="noStrike" spc="0">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009458447" name="Picture 2" descr="A tree having a right subtree with one value smaller than the root is shown to demonstrate that it is not a valid binary search tree"/>
          <p:cNvPicPr/>
          <p:nvPr/>
        </p:nvPicPr>
        <p:blipFill>
          <a:blip r:embed="rId3"/>
          <a:stretch/>
        </p:blipFill>
        <p:spPr bwMode="auto">
          <a:xfrm>
            <a:off x="507960" y="0"/>
            <a:ext cx="11173320" cy="6856920"/>
          </a:xfrm>
          <a:prstGeom prst="rect">
            <a:avLst/>
          </a:prstGeom>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6764048"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0" strike="noStrike" spc="0">
                <a:solidFill>
                  <a:srgbClr val="000000"/>
                </a:solidFill>
                <a:latin typeface="Calibri Light"/>
              </a:rPr>
              <a:t>Binary search tree</a:t>
            </a:r>
            <a:endParaRPr lang="en-US" sz="4400" b="0" strike="noStrike" spc="0">
              <a:solidFill>
                <a:srgbClr val="000000"/>
              </a:solidFill>
              <a:latin typeface="Arial"/>
            </a:endParaRPr>
          </a:p>
        </p:txBody>
      </p:sp>
      <p:sp>
        <p:nvSpPr>
          <p:cNvPr id="683862109"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Operation :-</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Searching</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Insertion</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Deletion</a:t>
            </a: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Traversing</a:t>
            </a:r>
            <a:endParaRPr lang="en-US" sz="2400" b="0" strike="noStrike" spc="0">
              <a:solidFill>
                <a:srgbClr val="00000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85514386"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Insertion Operation</a:t>
            </a:r>
            <a:endParaRPr lang="en-US" sz="4400" b="0" strike="noStrike" spc="0">
              <a:solidFill>
                <a:srgbClr val="000000"/>
              </a:solidFill>
              <a:latin typeface="Arial"/>
            </a:endParaRPr>
          </a:p>
        </p:txBody>
      </p:sp>
      <p:sp>
        <p:nvSpPr>
          <p:cNvPr id="463079036"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rmAutofit fontScale="87000"/>
          </a:bodyPr>
          <a:lstStyle/>
          <a:p>
            <a:pPr marL="213840" indent="-213840">
              <a:lnSpc>
                <a:spcPct val="90000"/>
              </a:lnSpc>
              <a:spcBef>
                <a:spcPts val="1000"/>
              </a:spcBef>
              <a:buClr>
                <a:srgbClr val="000000"/>
              </a:buClr>
              <a:buFont typeface="Arial"/>
              <a:buChar char="•"/>
              <a:defRPr/>
            </a:pPr>
            <a:r>
              <a:rPr lang="en-US" sz="2800" b="0" strike="noStrike" spc="0">
                <a:solidFill>
                  <a:srgbClr val="000000"/>
                </a:solidFill>
                <a:latin typeface="Calibri"/>
              </a:rPr>
              <a:t>Start at the root node of the tree.</a:t>
            </a:r>
            <a:endParaRPr lang="en-US" sz="2800" b="0" strike="noStrike" spc="0">
              <a:solidFill>
                <a:srgbClr val="000000"/>
              </a:solidFill>
              <a:latin typeface="Arial"/>
            </a:endParaRPr>
          </a:p>
          <a:p>
            <a:pPr marL="213840" indent="-213840">
              <a:lnSpc>
                <a:spcPct val="90000"/>
              </a:lnSpc>
              <a:spcBef>
                <a:spcPts val="1000"/>
              </a:spcBef>
              <a:buClr>
                <a:srgbClr val="000000"/>
              </a:buClr>
              <a:buFont typeface="Arial"/>
              <a:buChar char="•"/>
              <a:defRPr/>
            </a:pPr>
            <a:r>
              <a:rPr lang="en-US" sz="2800" b="0" strike="noStrike" spc="0">
                <a:solidFill>
                  <a:srgbClr val="000000"/>
                </a:solidFill>
                <a:latin typeface="Calibri"/>
              </a:rPr>
              <a:t>If the tree is empty, create a new node with the given value and make it the root.</a:t>
            </a:r>
            <a:endParaRPr lang="en-US" sz="2800" b="0" strike="noStrike" spc="0">
              <a:solidFill>
                <a:srgbClr val="000000"/>
              </a:solidFill>
              <a:latin typeface="Arial"/>
            </a:endParaRPr>
          </a:p>
          <a:p>
            <a:pPr marL="213840" indent="-213840">
              <a:lnSpc>
                <a:spcPct val="90000"/>
              </a:lnSpc>
              <a:spcBef>
                <a:spcPts val="1000"/>
              </a:spcBef>
              <a:buClr>
                <a:srgbClr val="000000"/>
              </a:buClr>
              <a:buFont typeface="Arial"/>
              <a:buChar char="•"/>
              <a:defRPr/>
            </a:pPr>
            <a:r>
              <a:rPr lang="en-US" sz="2800" b="0" strike="noStrike" spc="0">
                <a:solidFill>
                  <a:srgbClr val="000000"/>
                </a:solidFill>
                <a:latin typeface="Calibri"/>
              </a:rPr>
              <a:t>Else</a:t>
            </a:r>
            <a:endParaRPr lang="en-US" sz="2800" b="0" strike="noStrike" spc="0">
              <a:solidFill>
                <a:srgbClr val="000000"/>
              </a:solidFill>
              <a:latin typeface="Arial"/>
            </a:endParaRPr>
          </a:p>
          <a:p>
            <a:pPr marL="213840" indent="-213840">
              <a:lnSpc>
                <a:spcPct val="90000"/>
              </a:lnSpc>
              <a:spcBef>
                <a:spcPts val="1000"/>
              </a:spcBef>
              <a:buClr>
                <a:srgbClr val="000000"/>
              </a:buClr>
              <a:buFont typeface="Arial"/>
              <a:buChar char="•"/>
              <a:defRPr/>
            </a:pPr>
            <a:r>
              <a:rPr lang="en-US" sz="2800" b="0" strike="noStrike" spc="0">
                <a:solidFill>
                  <a:srgbClr val="000000"/>
                </a:solidFill>
                <a:latin typeface="Calibri"/>
              </a:rPr>
              <a:t>Compare the value of the new node to the value of the root node.</a:t>
            </a:r>
            <a:endParaRPr lang="en-US" sz="2800" b="0" strike="noStrike" spc="0">
              <a:solidFill>
                <a:srgbClr val="000000"/>
              </a:solidFill>
              <a:latin typeface="Arial"/>
            </a:endParaRPr>
          </a:p>
          <a:p>
            <a:pPr marL="213840" indent="-213840">
              <a:lnSpc>
                <a:spcPct val="90000"/>
              </a:lnSpc>
              <a:spcBef>
                <a:spcPts val="1000"/>
              </a:spcBef>
              <a:buClr>
                <a:srgbClr val="000000"/>
              </a:buClr>
              <a:buFont typeface="Arial"/>
              <a:buChar char="•"/>
              <a:defRPr/>
            </a:pPr>
            <a:r>
              <a:rPr lang="en-US" sz="2800" b="0" strike="noStrike" spc="0">
                <a:solidFill>
                  <a:srgbClr val="000000"/>
                </a:solidFill>
                <a:latin typeface="Calibri"/>
              </a:rPr>
              <a:t>If the value of the new node is less than the value of the root node, then recursively insert the new node into the left subtree of the root node.</a:t>
            </a:r>
            <a:endParaRPr lang="en-US" sz="2800" b="0" strike="noStrike" spc="0">
              <a:solidFill>
                <a:srgbClr val="000000"/>
              </a:solidFill>
              <a:latin typeface="Arial"/>
            </a:endParaRPr>
          </a:p>
          <a:p>
            <a:pPr marL="213840" indent="-213840">
              <a:lnSpc>
                <a:spcPct val="90000"/>
              </a:lnSpc>
              <a:spcBef>
                <a:spcPts val="1000"/>
              </a:spcBef>
              <a:buClr>
                <a:srgbClr val="000000"/>
              </a:buClr>
              <a:buFont typeface="Arial"/>
              <a:buChar char="•"/>
              <a:defRPr/>
            </a:pPr>
            <a:r>
              <a:rPr lang="en-US" sz="2800" b="0" strike="noStrike" spc="0">
                <a:solidFill>
                  <a:srgbClr val="000000"/>
                </a:solidFill>
                <a:latin typeface="Calibri"/>
              </a:rPr>
              <a:t>If the value of the new node is greater than the value of the root node, then recursively insert the new node into the right subtree of the root node.</a:t>
            </a:r>
            <a:endParaRPr lang="en-US" sz="2800" b="0" strike="noStrike" spc="0">
              <a:solidFill>
                <a:srgbClr val="000000"/>
              </a:solidFill>
              <a:latin typeface="Arial"/>
            </a:endParaRPr>
          </a:p>
          <a:p>
            <a:pPr marL="213840" indent="-213840">
              <a:lnSpc>
                <a:spcPct val="90000"/>
              </a:lnSpc>
              <a:spcBef>
                <a:spcPts val="1000"/>
              </a:spcBef>
              <a:buClr>
                <a:srgbClr val="000000"/>
              </a:buClr>
              <a:buFont typeface="Arial"/>
              <a:buChar char="•"/>
              <a:defRPr/>
            </a:pPr>
            <a:r>
              <a:rPr lang="en-US" sz="2800" b="0" strike="noStrike" spc="0">
                <a:solidFill>
                  <a:srgbClr val="000000"/>
                </a:solidFill>
                <a:latin typeface="Calibri"/>
              </a:rPr>
              <a:t>If the value of the new node is equal to the value of the root node, then do nothing.</a:t>
            </a:r>
            <a:endParaRPr lang="en-US" sz="2800" b="0" strike="noStrike" spc="0">
              <a:solidFill>
                <a:srgbClr val="000000"/>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59227695"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Deletion operation</a:t>
            </a:r>
            <a:endParaRPr lang="en-US" sz="4400" b="0" strike="noStrike" spc="0">
              <a:solidFill>
                <a:srgbClr val="000000"/>
              </a:solidFill>
              <a:latin typeface="Arial"/>
            </a:endParaRPr>
          </a:p>
        </p:txBody>
      </p:sp>
      <p:sp>
        <p:nvSpPr>
          <p:cNvPr id="1173608918"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rmAutofit fontScale="81500" lnSpcReduction="20000"/>
          </a:bodyPr>
          <a:lstStyle/>
          <a:p>
            <a:pPr marL="217440" indent="-217440">
              <a:lnSpc>
                <a:spcPct val="90000"/>
              </a:lnSpc>
              <a:spcBef>
                <a:spcPts val="1000"/>
              </a:spcBef>
              <a:buClr>
                <a:srgbClr val="000000"/>
              </a:buClr>
              <a:buFont typeface="Arial"/>
              <a:buChar char="•"/>
              <a:defRPr/>
            </a:pPr>
            <a:r>
              <a:rPr lang="en-US" sz="2800" b="0" strike="noStrike" spc="0">
                <a:solidFill>
                  <a:srgbClr val="000000"/>
                </a:solidFill>
                <a:latin typeface="Calibri"/>
              </a:rPr>
              <a:t>Start at the root node and traverse the tree to find the node to be deleted, keeping track of the parent node.</a:t>
            </a:r>
            <a:endParaRPr lang="en-US" sz="2800" b="0" strike="noStrike" spc="0">
              <a:solidFill>
                <a:srgbClr val="000000"/>
              </a:solidFill>
              <a:latin typeface="Arial"/>
            </a:endParaRPr>
          </a:p>
          <a:p>
            <a:pPr marL="217440" indent="-217440">
              <a:lnSpc>
                <a:spcPct val="90000"/>
              </a:lnSpc>
              <a:spcBef>
                <a:spcPts val="1000"/>
              </a:spcBef>
              <a:buClr>
                <a:srgbClr val="000000"/>
              </a:buClr>
              <a:buFont typeface="Arial"/>
              <a:buChar char="•"/>
              <a:defRPr/>
            </a:pPr>
            <a:r>
              <a:rPr lang="en-US" sz="2800" b="0" strike="noStrike" spc="0">
                <a:solidFill>
                  <a:srgbClr val="000000"/>
                </a:solidFill>
                <a:latin typeface="Calibri"/>
              </a:rPr>
              <a:t>If the node with the given key value is not found, the deletion operation ends.</a:t>
            </a:r>
            <a:endParaRPr lang="en-US" sz="2800" b="0" strike="noStrike" spc="0">
              <a:solidFill>
                <a:srgbClr val="000000"/>
              </a:solidFill>
              <a:latin typeface="Arial"/>
            </a:endParaRPr>
          </a:p>
          <a:p>
            <a:pPr marL="217440" indent="-217440">
              <a:lnSpc>
                <a:spcPct val="90000"/>
              </a:lnSpc>
              <a:spcBef>
                <a:spcPts val="1000"/>
              </a:spcBef>
              <a:buClr>
                <a:srgbClr val="000000"/>
              </a:buClr>
              <a:buFont typeface="Arial"/>
              <a:buChar char="•"/>
              <a:defRPr/>
            </a:pPr>
            <a:r>
              <a:rPr lang="en-US" sz="2800" b="0" strike="noStrike" spc="0">
                <a:solidFill>
                  <a:srgbClr val="000000"/>
                </a:solidFill>
                <a:latin typeface="Calibri"/>
              </a:rPr>
              <a:t>If the node to be deleted has no children (it is a leaf node), simply remove it by updating the parent node's reference to NULL.</a:t>
            </a:r>
            <a:endParaRPr lang="en-US" sz="2800" b="0" strike="noStrike" spc="0">
              <a:solidFill>
                <a:srgbClr val="000000"/>
              </a:solidFill>
              <a:latin typeface="Arial"/>
            </a:endParaRPr>
          </a:p>
          <a:p>
            <a:pPr marL="217440" indent="-217440">
              <a:lnSpc>
                <a:spcPct val="90000"/>
              </a:lnSpc>
              <a:spcBef>
                <a:spcPts val="1000"/>
              </a:spcBef>
              <a:buClr>
                <a:srgbClr val="000000"/>
              </a:buClr>
              <a:buFont typeface="Arial"/>
              <a:buChar char="•"/>
              <a:defRPr/>
            </a:pPr>
            <a:r>
              <a:rPr lang="en-US" sz="2800" b="0" strike="noStrike" spc="0">
                <a:solidFill>
                  <a:srgbClr val="000000"/>
                </a:solidFill>
                <a:latin typeface="Calibri"/>
              </a:rPr>
              <a:t>If the node to be deleted has only one child, update the parent node's reference to point to the child node, bypassing the node to be deleted.</a:t>
            </a:r>
            <a:endParaRPr lang="en-US" sz="2800" b="0" strike="noStrike" spc="0">
              <a:solidFill>
                <a:srgbClr val="000000"/>
              </a:solidFill>
              <a:latin typeface="Arial"/>
            </a:endParaRPr>
          </a:p>
          <a:p>
            <a:pPr marL="217440" indent="-217440">
              <a:lnSpc>
                <a:spcPct val="90000"/>
              </a:lnSpc>
              <a:spcBef>
                <a:spcPts val="1000"/>
              </a:spcBef>
              <a:buClr>
                <a:srgbClr val="000000"/>
              </a:buClr>
              <a:buFont typeface="Arial"/>
              <a:buChar char="•"/>
              <a:defRPr/>
            </a:pPr>
            <a:r>
              <a:rPr lang="en-US" sz="2800" b="0" strike="noStrike" spc="0">
                <a:solidFill>
                  <a:srgbClr val="000000"/>
                </a:solidFill>
                <a:latin typeface="Calibri"/>
              </a:rPr>
              <a:t>If the node to be deleted has two children, find the node with the smallest key value in the right subtree(inorder successor) (or the node with the largest key value in the left subtree(inorder predecessor)). This node will be a leaf or a node with only one child.</a:t>
            </a:r>
            <a:endParaRPr lang="en-US" sz="2800" b="0" strike="noStrike" spc="0">
              <a:solidFill>
                <a:srgbClr val="000000"/>
              </a:solidFill>
              <a:latin typeface="Arial"/>
            </a:endParaRPr>
          </a:p>
          <a:p>
            <a:pPr marL="217440" indent="-217440">
              <a:lnSpc>
                <a:spcPct val="90000"/>
              </a:lnSpc>
              <a:spcBef>
                <a:spcPts val="1000"/>
              </a:spcBef>
              <a:buClr>
                <a:srgbClr val="000000"/>
              </a:buClr>
              <a:buFont typeface="Arial"/>
              <a:buChar char="•"/>
              <a:defRPr/>
            </a:pPr>
            <a:r>
              <a:rPr lang="en-US" sz="2800" b="0" strike="noStrike" spc="0">
                <a:solidFill>
                  <a:srgbClr val="000000"/>
                </a:solidFill>
                <a:latin typeface="Calibri"/>
              </a:rPr>
              <a:t>Replace the key value of the node to be deleted with the key value of the found node.</a:t>
            </a:r>
            <a:endParaRPr lang="en-US" sz="2800" b="0" strike="noStrike" spc="0">
              <a:solidFill>
                <a:srgbClr val="000000"/>
              </a:solidFill>
              <a:latin typeface="Arial"/>
            </a:endParaRPr>
          </a:p>
          <a:p>
            <a:pPr marL="217440" indent="-217440">
              <a:lnSpc>
                <a:spcPct val="90000"/>
              </a:lnSpc>
              <a:spcBef>
                <a:spcPts val="1000"/>
              </a:spcBef>
              <a:buClr>
                <a:srgbClr val="000000"/>
              </a:buClr>
              <a:buFont typeface="Arial"/>
              <a:buChar char="•"/>
              <a:defRPr/>
            </a:pPr>
            <a:r>
              <a:rPr lang="en-US" sz="2800" b="0" strike="noStrike" spc="0">
                <a:solidFill>
                  <a:srgbClr val="000000"/>
                </a:solidFill>
                <a:latin typeface="Calibri"/>
              </a:rPr>
              <a:t>Delete the found node using the same deletion algorithm recursively.</a:t>
            </a:r>
            <a:endParaRPr lang="en-US" sz="2800" b="0" strike="noStrike" spc="0">
              <a:solidFill>
                <a:srgbClr val="000000"/>
              </a:solidFill>
              <a:latin typeface="Arial"/>
            </a:endParaRPr>
          </a:p>
          <a:p>
            <a:pPr marL="217440" indent="-217440">
              <a:lnSpc>
                <a:spcPct val="90000"/>
              </a:lnSpc>
              <a:spcBef>
                <a:spcPts val="1000"/>
              </a:spcBef>
              <a:buClr>
                <a:srgbClr val="000000"/>
              </a:buClr>
              <a:buFont typeface="Arial"/>
              <a:buChar char="•"/>
              <a:defRPr/>
            </a:pPr>
            <a:r>
              <a:rPr lang="en-US" sz="2800" b="0" strike="noStrike" spc="0">
                <a:solidFill>
                  <a:srgbClr val="000000"/>
                </a:solidFill>
                <a:latin typeface="Calibri"/>
              </a:rPr>
              <a:t>Return the modified tree.</a:t>
            </a:r>
            <a:endParaRPr lang="en-US" sz="2800" b="0" strike="noStrike" spc="0">
              <a:solidFill>
                <a:srgbClr val="00000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6253600"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Search Operation</a:t>
            </a:r>
            <a:endParaRPr lang="en-US" sz="4400" b="0" strike="noStrike" spc="0">
              <a:solidFill>
                <a:srgbClr val="000000"/>
              </a:solidFill>
              <a:latin typeface="Arial"/>
            </a:endParaRPr>
          </a:p>
        </p:txBody>
      </p:sp>
      <p:sp>
        <p:nvSpPr>
          <p:cNvPr id="905407415"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rmAutofit fontScale="90500" lnSpcReduction="20000"/>
          </a:bodyPr>
          <a:lstStyle/>
          <a:p>
            <a:pPr marL="204120" indent="-204120">
              <a:lnSpc>
                <a:spcPct val="90000"/>
              </a:lnSpc>
              <a:spcBef>
                <a:spcPts val="1000"/>
              </a:spcBef>
              <a:buClr>
                <a:srgbClr val="000000"/>
              </a:buClr>
              <a:buFont typeface="Arial"/>
              <a:buChar char="•"/>
              <a:defRPr/>
            </a:pPr>
            <a:r>
              <a:rPr lang="en-US" sz="2800" b="0" strike="noStrike" spc="0">
                <a:solidFill>
                  <a:srgbClr val="000000"/>
                </a:solidFill>
                <a:latin typeface="Calibri"/>
              </a:rPr>
              <a:t>Start at the root: Begin the search at the root node of the BST.</a:t>
            </a:r>
            <a:endParaRPr lang="en-US" sz="2800" b="0" strike="noStrike" spc="0">
              <a:solidFill>
                <a:srgbClr val="000000"/>
              </a:solidFill>
              <a:latin typeface="Arial"/>
            </a:endParaRPr>
          </a:p>
          <a:p>
            <a:pPr marL="204120" indent="-204120">
              <a:lnSpc>
                <a:spcPct val="90000"/>
              </a:lnSpc>
              <a:spcBef>
                <a:spcPts val="1000"/>
              </a:spcBef>
              <a:buClr>
                <a:srgbClr val="000000"/>
              </a:buClr>
              <a:buFont typeface="Arial"/>
              <a:buChar char="•"/>
              <a:defRPr/>
            </a:pPr>
            <a:r>
              <a:rPr lang="en-US" sz="2800" b="0" strike="noStrike" spc="0">
                <a:solidFill>
                  <a:srgbClr val="000000"/>
                </a:solidFill>
                <a:latin typeface="Calibri"/>
              </a:rPr>
              <a:t>Compare the key value: Compare the target key value with the key value of the current node.</a:t>
            </a:r>
            <a:endParaRPr lang="en-US" sz="2800" b="0" strike="noStrike" spc="0">
              <a:solidFill>
                <a:srgbClr val="000000"/>
              </a:solidFill>
              <a:latin typeface="Arial"/>
            </a:endParaRPr>
          </a:p>
          <a:p>
            <a:pPr marL="204120" indent="-204120">
              <a:lnSpc>
                <a:spcPct val="90000"/>
              </a:lnSpc>
              <a:spcBef>
                <a:spcPts val="1000"/>
              </a:spcBef>
              <a:buClr>
                <a:srgbClr val="000000"/>
              </a:buClr>
              <a:buFont typeface="Arial"/>
              <a:buChar char="•"/>
              <a:defRPr/>
            </a:pPr>
            <a:r>
              <a:rPr lang="en-US" sz="2800" b="0" strike="noStrike" spc="0">
                <a:solidFill>
                  <a:srgbClr val="000000"/>
                </a:solidFill>
                <a:latin typeface="Calibri"/>
              </a:rPr>
              <a:t>Go left or right: If the target key value is less than the current node's key value, move to the left child of the current node. Otherwise, if the target key value is greater than the current node's key value, move to the right child of the current node.</a:t>
            </a:r>
            <a:endParaRPr lang="en-US" sz="2800" b="0" strike="noStrike" spc="0">
              <a:solidFill>
                <a:srgbClr val="000000"/>
              </a:solidFill>
              <a:latin typeface="Arial"/>
            </a:endParaRPr>
          </a:p>
          <a:p>
            <a:pPr marL="204120" indent="-204120">
              <a:lnSpc>
                <a:spcPct val="90000"/>
              </a:lnSpc>
              <a:spcBef>
                <a:spcPts val="1000"/>
              </a:spcBef>
              <a:buClr>
                <a:srgbClr val="000000"/>
              </a:buClr>
              <a:buFont typeface="Arial"/>
              <a:buChar char="•"/>
              <a:defRPr/>
            </a:pPr>
            <a:r>
              <a:rPr lang="en-US" sz="2800" b="0" strike="noStrike" spc="0">
                <a:solidFill>
                  <a:srgbClr val="000000"/>
                </a:solidFill>
                <a:latin typeface="Calibri"/>
              </a:rPr>
              <a:t>Repeat until found or not found: Repeat steps 2 and 3 recursively, moving down the tree based on the comparison results. If the target key value is equal to the current node's key value, the search is successful, and the node containing the key value is found. </a:t>
            </a:r>
            <a:endParaRPr lang="en-US" sz="2800" b="0" strike="noStrike" spc="0">
              <a:solidFill>
                <a:srgbClr val="000000"/>
              </a:solidFill>
              <a:latin typeface="Arial"/>
            </a:endParaRPr>
          </a:p>
          <a:p>
            <a:pPr marL="204120" indent="-204120">
              <a:lnSpc>
                <a:spcPct val="90000"/>
              </a:lnSpc>
              <a:spcBef>
                <a:spcPts val="1000"/>
              </a:spcBef>
              <a:buClr>
                <a:srgbClr val="000000"/>
              </a:buClr>
              <a:buFont typeface="Arial"/>
              <a:buChar char="•"/>
              <a:defRPr/>
            </a:pPr>
            <a:r>
              <a:rPr lang="en-US" sz="2800" b="0" strike="noStrike" spc="0">
                <a:solidFill>
                  <a:srgbClr val="000000"/>
                </a:solidFill>
                <a:latin typeface="Calibri"/>
              </a:rPr>
              <a:t>If a null node is encountered during the search, it means the target key value is not present in the BST.</a:t>
            </a:r>
            <a:endParaRPr lang="en-US" sz="2800" b="0" strike="noStrike" spc="0">
              <a:solidFill>
                <a:srgbClr val="00000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90548826"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Binary Search Tree</a:t>
            </a:r>
            <a:endParaRPr lang="en-US" sz="4400" b="0" strike="noStrike" spc="0">
              <a:solidFill>
                <a:srgbClr val="000000"/>
              </a:solidFill>
              <a:latin typeface="Arial"/>
            </a:endParaRPr>
          </a:p>
        </p:txBody>
      </p:sp>
      <p:sp>
        <p:nvSpPr>
          <p:cNvPr id="105495892"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Construct Binary search tree </a:t>
            </a:r>
            <a:endParaRPr lang="en-US" sz="2800" b="0" strike="noStrike" spc="0">
              <a:solidFill>
                <a:srgbClr val="000000"/>
              </a:solidFill>
              <a:latin typeface="Arial"/>
            </a:endParaRPr>
          </a:p>
          <a:p>
            <a:pPr indent="0">
              <a:lnSpc>
                <a:spcPct val="90000"/>
              </a:lnSpc>
              <a:spcBef>
                <a:spcPts val="1000"/>
              </a:spcBef>
              <a:buNone/>
              <a:tabLst>
                <a:tab pos="0" algn="l"/>
              </a:tabLst>
              <a:defRPr/>
            </a:pPr>
            <a:r>
              <a:rPr lang="en-US" sz="2800" b="0" strike="noStrike" spc="0">
                <a:solidFill>
                  <a:srgbClr val="000000"/>
                </a:solidFill>
                <a:latin typeface="Calibri"/>
              </a:rPr>
              <a:t>		Example  : -50,70,60,20,90,10,40,100</a:t>
            </a:r>
          </a:p>
          <a:p>
            <a:pPr indent="0">
              <a:lnSpc>
                <a:spcPct val="90000"/>
              </a:lnSpc>
              <a:spcBef>
                <a:spcPts val="1000"/>
              </a:spcBef>
              <a:buNone/>
              <a:tabLst>
                <a:tab pos="0" algn="l"/>
              </a:tabLst>
              <a:defRPr/>
            </a:pPr>
            <a:r>
              <a:rPr lang="en-US" sz="2800" b="0" strike="noStrike" spc="0">
                <a:solidFill>
                  <a:srgbClr val="000000"/>
                </a:solidFill>
                <a:latin typeface="Calibri"/>
              </a:rPr>
              <a:t>		Example : - </a:t>
            </a:r>
            <a:r>
              <a:rPr lang="en-US" sz="2800" b="0" i="0" u="none" strike="noStrike" cap="none" spc="0">
                <a:solidFill>
                  <a:srgbClr val="000000"/>
                </a:solidFill>
                <a:latin typeface="Calibri"/>
                <a:ea typeface="Calibri"/>
                <a:cs typeface="Calibri"/>
              </a:rPr>
              <a:t>30 , 40, 24, 58, 48, 26, 11, 13</a:t>
            </a:r>
            <a:endParaRPr lang="en-US" sz="2800" b="0" strike="noStrike" spc="0">
              <a:solidFill>
                <a:srgbClr val="000000"/>
              </a:solidFill>
              <a:latin typeface="Arial"/>
            </a:endParaRPr>
          </a:p>
          <a:p>
            <a:pPr indent="0">
              <a:lnSpc>
                <a:spcPct val="90000"/>
              </a:lnSpc>
              <a:spcBef>
                <a:spcPts val="498"/>
              </a:spcBef>
              <a:buNone/>
              <a:tabLst>
                <a:tab pos="0" algn="l"/>
              </a:tabLst>
              <a:defRPr/>
            </a:pPr>
            <a:endParaRPr lang="en-US" sz="2400" b="0" strike="noStrike" spc="0">
              <a:solidFill>
                <a:srgbClr val="00000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EIGHT AND DEPTH OF THE TREE">
            <a:extLst>
              <a:ext uri="{FF2B5EF4-FFF2-40B4-BE49-F238E27FC236}">
                <a16:creationId xmlns:a16="http://schemas.microsoft.com/office/drawing/2014/main" id="{A8C11EDF-001E-9BDC-C99A-C1B74F1CFA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931" y="323557"/>
            <a:ext cx="5819140" cy="33934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tree, with height and depth of each node">
            <a:extLst>
              <a:ext uri="{FF2B5EF4-FFF2-40B4-BE49-F238E27FC236}">
                <a16:creationId xmlns:a16="http://schemas.microsoft.com/office/drawing/2014/main" id="{0634ADB9-1EC8-B5CB-1936-8D617552A7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8987" y="444451"/>
            <a:ext cx="3590925" cy="39433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F2BE75C-D38D-2C26-467B-7666CF010FF6}"/>
              </a:ext>
            </a:extLst>
          </p:cNvPr>
          <p:cNvSpPr txBox="1"/>
          <p:nvPr/>
        </p:nvSpPr>
        <p:spPr>
          <a:xfrm>
            <a:off x="1809602" y="4936221"/>
            <a:ext cx="8572796" cy="1477328"/>
          </a:xfrm>
          <a:prstGeom prst="rect">
            <a:avLst/>
          </a:prstGeom>
          <a:noFill/>
        </p:spPr>
        <p:txBody>
          <a:bodyPr wrap="none" rtlCol="0">
            <a:spAutoFit/>
          </a:bodyPr>
          <a:lstStyle/>
          <a:p>
            <a:pPr algn="l" fontAlgn="base">
              <a:buFont typeface="Arial" panose="020B0604020202020204" pitchFamily="34" charset="0"/>
              <a:buChar char="•"/>
            </a:pPr>
            <a:r>
              <a:rPr lang="en-US" b="0" i="0" dirty="0">
                <a:solidFill>
                  <a:srgbClr val="0C0D0E"/>
                </a:solidFill>
                <a:effectLst/>
                <a:latin typeface="inherit"/>
              </a:rPr>
              <a:t>The </a:t>
            </a:r>
            <a:r>
              <a:rPr lang="en-US" b="1" i="0" dirty="0">
                <a:solidFill>
                  <a:srgbClr val="0C0D0E"/>
                </a:solidFill>
                <a:effectLst/>
                <a:latin typeface="inherit"/>
              </a:rPr>
              <a:t>depth</a:t>
            </a:r>
            <a:r>
              <a:rPr lang="en-US" b="0" i="0" dirty="0">
                <a:solidFill>
                  <a:srgbClr val="0C0D0E"/>
                </a:solidFill>
                <a:effectLst/>
                <a:latin typeface="inherit"/>
              </a:rPr>
              <a:t> of a node is the number of edges from the node to the tree's root node.</a:t>
            </a:r>
            <a:br>
              <a:rPr lang="en-US" b="0" i="0" dirty="0">
                <a:solidFill>
                  <a:srgbClr val="0C0D0E"/>
                </a:solidFill>
                <a:effectLst/>
                <a:latin typeface="inherit"/>
              </a:rPr>
            </a:br>
            <a:r>
              <a:rPr lang="en-US" b="0" i="0" dirty="0">
                <a:solidFill>
                  <a:srgbClr val="0C0D0E"/>
                </a:solidFill>
                <a:effectLst/>
                <a:latin typeface="inherit"/>
              </a:rPr>
              <a:t>A root node will have a depth of 0.</a:t>
            </a:r>
          </a:p>
          <a:p>
            <a:pPr algn="l" fontAlgn="base">
              <a:buFont typeface="Arial" panose="020B0604020202020204" pitchFamily="34" charset="0"/>
              <a:buChar char="•"/>
            </a:pPr>
            <a:r>
              <a:rPr lang="en-US" b="0" i="0" dirty="0">
                <a:solidFill>
                  <a:srgbClr val="0C0D0E"/>
                </a:solidFill>
                <a:effectLst/>
                <a:latin typeface="inherit"/>
              </a:rPr>
              <a:t>The </a:t>
            </a:r>
            <a:r>
              <a:rPr lang="en-US" b="1" i="0" dirty="0">
                <a:solidFill>
                  <a:srgbClr val="0C0D0E"/>
                </a:solidFill>
                <a:effectLst/>
                <a:latin typeface="inherit"/>
              </a:rPr>
              <a:t>height</a:t>
            </a:r>
            <a:r>
              <a:rPr lang="en-US" b="0" i="0" dirty="0">
                <a:solidFill>
                  <a:srgbClr val="0C0D0E"/>
                </a:solidFill>
                <a:effectLst/>
                <a:latin typeface="inherit"/>
              </a:rPr>
              <a:t> of a node is the number of edges on the </a:t>
            </a:r>
            <a:r>
              <a:rPr lang="en-US" b="0" i="1" dirty="0">
                <a:solidFill>
                  <a:srgbClr val="0C0D0E"/>
                </a:solidFill>
                <a:effectLst/>
                <a:latin typeface="inherit"/>
              </a:rPr>
              <a:t>longest path</a:t>
            </a:r>
            <a:r>
              <a:rPr lang="en-US" b="0" i="0" dirty="0">
                <a:solidFill>
                  <a:srgbClr val="0C0D0E"/>
                </a:solidFill>
                <a:effectLst/>
                <a:latin typeface="inherit"/>
              </a:rPr>
              <a:t> from the node to a leaf.</a:t>
            </a:r>
            <a:br>
              <a:rPr lang="en-US" b="0" i="0" dirty="0">
                <a:solidFill>
                  <a:srgbClr val="0C0D0E"/>
                </a:solidFill>
                <a:effectLst/>
                <a:latin typeface="inherit"/>
              </a:rPr>
            </a:br>
            <a:r>
              <a:rPr lang="en-US" b="0" i="0" dirty="0">
                <a:solidFill>
                  <a:srgbClr val="0C0D0E"/>
                </a:solidFill>
                <a:effectLst/>
                <a:latin typeface="inherit"/>
              </a:rPr>
              <a:t>A leaf node will have a height of 0.</a:t>
            </a:r>
          </a:p>
          <a:p>
            <a:endParaRPr lang="en-US" dirty="0"/>
          </a:p>
        </p:txBody>
      </p:sp>
    </p:spTree>
    <p:extLst>
      <p:ext uri="{BB962C8B-B14F-4D97-AF65-F5344CB8AC3E}">
        <p14:creationId xmlns:p14="http://schemas.microsoft.com/office/powerpoint/2010/main" val="2581139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34850913"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Balanced binary tree</a:t>
            </a:r>
            <a:endParaRPr/>
          </a:p>
        </p:txBody>
      </p:sp>
      <p:sp>
        <p:nvSpPr>
          <p:cNvPr id="1531334219" name="Content Placeholder 2"/>
          <p:cNvSpPr>
            <a:spLocks noGrp="1"/>
          </p:cNvSpPr>
          <p:nvPr>
            <p:ph idx="1"/>
          </p:nvPr>
        </p:nvSpPr>
        <p:spPr bwMode="auto"/>
        <p:txBody>
          <a:bodyPr/>
          <a:lstStyle/>
          <a:p>
            <a:pPr>
              <a:defRPr/>
            </a:pPr>
            <a:r>
              <a:rPr lang="en-US" sz="2800" b="0" i="0" u="none" strike="noStrike" cap="none" spc="0">
                <a:solidFill>
                  <a:schemeClr val="tx1"/>
                </a:solidFill>
                <a:latin typeface="Arial"/>
                <a:ea typeface="Arial"/>
                <a:cs typeface="Arial"/>
              </a:rPr>
              <a:t>1.Height Balance</a:t>
            </a:r>
          </a:p>
          <a:p>
            <a:pPr>
              <a:defRPr/>
            </a:pPr>
            <a:r>
              <a:rPr lang="en-US" sz="2800" b="0" i="0" u="none" strike="noStrike" cap="none" spc="0">
                <a:solidFill>
                  <a:schemeClr val="tx1"/>
                </a:solidFill>
                <a:latin typeface="Arial"/>
                <a:ea typeface="Arial"/>
                <a:cs typeface="Arial"/>
              </a:rPr>
              <a:t>2. Weight Balance</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A balanced binary tree is a binary tree that follows the 3 conditions:</a:t>
            </a:r>
          </a:p>
          <a:p>
            <a:pPr>
              <a:defRPr/>
            </a:pPr>
            <a:r>
              <a:rPr lang="en-US" sz="2800" b="0" i="0" u="none" strike="noStrike" cap="none" spc="0">
                <a:solidFill>
                  <a:schemeClr val="tx1"/>
                </a:solidFill>
                <a:latin typeface="Arial"/>
                <a:ea typeface="Arial"/>
                <a:cs typeface="Arial"/>
              </a:rPr>
              <a:t>The height of the left and right tree for any node does not differ by more than 1.</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The left subtree of that node is also balanced.</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The right subtree of that node is also balanced.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61413743" name="Title 1"/>
          <p:cNvSpPr>
            <a:spLocks noGrp="1"/>
          </p:cNvSpPr>
          <p:nvPr>
            <p:ph type="title"/>
          </p:nvPr>
        </p:nvSpPr>
        <p:spPr bwMode="auto"/>
        <p:txBody>
          <a:bodyPr/>
          <a:lstStyle/>
          <a:p>
            <a:pPr>
              <a:defRPr/>
            </a:pPr>
            <a:r>
              <a:t>Problem with unbalance binary trees</a:t>
            </a:r>
          </a:p>
        </p:txBody>
      </p:sp>
      <p:sp>
        <p:nvSpPr>
          <p:cNvPr id="144309524" name="Content Placeholder 2"/>
          <p:cNvSpPr>
            <a:spLocks noGrp="1"/>
          </p:cNvSpPr>
          <p:nvPr>
            <p:ph idx="1"/>
          </p:nvPr>
        </p:nvSpPr>
        <p:spPr bwMode="auto"/>
        <p:txBody>
          <a:bodyPr/>
          <a:lstStyle/>
          <a:p>
            <a:pPr>
              <a:defRPr/>
            </a:pPr>
            <a:r>
              <a:rPr lang="en-US" sz="2800" b="0" i="0" u="none" strike="noStrike" cap="none" spc="0">
                <a:solidFill>
                  <a:schemeClr val="tx1"/>
                </a:solidFill>
                <a:latin typeface="Arial"/>
                <a:ea typeface="Arial"/>
                <a:cs typeface="Arial"/>
              </a:rPr>
              <a:t>This is a problem for binary search trees (BSTs) because an ordered linked list is a BST and searching it is linear. Thus, a BST has log-time searching on average, but a linear-time worst case.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Solving this problem and guaranteeing that the tree remains more-or-less balanced is one of the main motivations behind more complex BST-like data structures, e.g. AVL trees[1] and red-black trees[2].</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37308289"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Balanced binary tree</a:t>
            </a:r>
            <a:endParaRPr/>
          </a:p>
        </p:txBody>
      </p:sp>
      <p:sp>
        <p:nvSpPr>
          <p:cNvPr id="1144932338"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97500" lnSpcReduction="12000"/>
          </a:bodyPr>
          <a:lstStyle/>
          <a:p>
            <a:pPr>
              <a:defRPr/>
            </a:pPr>
            <a:r>
              <a:rPr lang="en-US" sz="2800" b="0" i="0" u="none" strike="noStrike" cap="none" spc="0">
                <a:solidFill>
                  <a:schemeClr val="tx1"/>
                </a:solidFill>
                <a:latin typeface="Arial"/>
                <a:ea typeface="Arial"/>
                <a:cs typeface="Arial"/>
              </a:rPr>
              <a:t>A balanced binary tree is also known as height balanced tree. </a:t>
            </a:r>
          </a:p>
          <a:p>
            <a:pPr>
              <a:defRPr/>
            </a:pPr>
            <a:r>
              <a:rPr lang="en-US" sz="2800" b="0" i="0" u="none" strike="noStrike" cap="none" spc="0">
                <a:solidFill>
                  <a:schemeClr val="tx1"/>
                </a:solidFill>
                <a:latin typeface="Arial"/>
                <a:ea typeface="Arial"/>
                <a:cs typeface="Arial"/>
              </a:rPr>
              <a:t>It is defined as binary tree in when the difference between the height of the left subtree and right subtree is not more than m, where m is usually equal to 1.</a:t>
            </a:r>
          </a:p>
          <a:p>
            <a:pPr>
              <a:defRPr/>
            </a:pPr>
            <a:r>
              <a:rPr lang="en-US" sz="2800" b="0" i="0" u="none" strike="noStrike" cap="none" spc="0">
                <a:solidFill>
                  <a:schemeClr val="tx1"/>
                </a:solidFill>
                <a:latin typeface="Arial"/>
                <a:ea typeface="Arial"/>
                <a:cs typeface="Arial"/>
              </a:rPr>
              <a:t> The height of a tree is the number of edges on the longest path between the root node and the leaf node.</a:t>
            </a:r>
          </a:p>
          <a:p>
            <a:pPr>
              <a:defRPr/>
            </a:pPr>
            <a:r>
              <a:rPr lang="en-US" sz="2800" b="0" i="0" u="none" strike="noStrike" cap="none" spc="0">
                <a:solidFill>
                  <a:schemeClr val="tx1"/>
                </a:solidFill>
                <a:latin typeface="Arial"/>
                <a:ea typeface="Arial"/>
                <a:cs typeface="Arial"/>
              </a:rPr>
              <a:t> Searching, insertion, and deletion operations have time complexity of O(log n), where n is the number of nodes, ensuring efficient performance.</a:t>
            </a:r>
          </a:p>
          <a:p>
            <a:pPr>
              <a:defRPr/>
            </a:pPr>
            <a:r>
              <a:rPr lang="en-US" sz="2700" b="0" i="0" u="none" strike="noStrike" cap="none" spc="0">
                <a:solidFill>
                  <a:schemeClr val="tx1"/>
                </a:solidFill>
                <a:latin typeface="Arial"/>
                <a:ea typeface="Arial"/>
                <a:cs typeface="Arial"/>
              </a:rPr>
              <a:t>Application databases, compilers, and network </a:t>
            </a:r>
          </a:p>
          <a:p>
            <a:pPr marL="0" indent="0">
              <a:buFont typeface="Arial"/>
              <a:buNone/>
              <a:defRPr/>
            </a:pPr>
            <a:r>
              <a:rPr lang="en-US" sz="2700" b="0" i="0" u="none" strike="noStrike" cap="none" spc="0">
                <a:solidFill>
                  <a:schemeClr val="tx1"/>
                </a:solidFill>
                <a:latin typeface="Arial"/>
                <a:ea typeface="Arial"/>
                <a:cs typeface="Arial"/>
              </a:rPr>
              <a:t>   routing algorithms.</a:t>
            </a:r>
          </a:p>
        </p:txBody>
      </p:sp>
      <p:pic>
        <p:nvPicPr>
          <p:cNvPr id="1744754052" name="Picture 1744754051"/>
          <p:cNvPicPr>
            <a:picLocks noChangeAspect="1"/>
          </p:cNvPicPr>
          <p:nvPr/>
        </p:nvPicPr>
        <p:blipFill>
          <a:blip r:embed="rId3"/>
          <a:stretch/>
        </p:blipFill>
        <p:spPr bwMode="auto">
          <a:xfrm>
            <a:off x="9024533" y="4001293"/>
            <a:ext cx="2843008" cy="262188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36515461"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0" strike="noStrike" spc="0">
                <a:solidFill>
                  <a:srgbClr val="000000"/>
                </a:solidFill>
                <a:latin typeface="Calibri Light"/>
              </a:rPr>
              <a:t>AVL Tree</a:t>
            </a:r>
            <a:endParaRPr lang="en-US" sz="4400" b="0" strike="noStrike" spc="0">
              <a:solidFill>
                <a:srgbClr val="000000"/>
              </a:solidFill>
              <a:latin typeface="Arial"/>
            </a:endParaRPr>
          </a:p>
        </p:txBody>
      </p:sp>
      <p:sp>
        <p:nvSpPr>
          <p:cNvPr id="1062974363"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rmAutofit fontScale="97000"/>
          </a:bodyPr>
          <a:lstStyle/>
          <a:p>
            <a:pPr marL="238680" indent="-238680">
              <a:lnSpc>
                <a:spcPct val="90000"/>
              </a:lnSpc>
              <a:spcBef>
                <a:spcPts val="1000"/>
              </a:spcBef>
              <a:buClr>
                <a:srgbClr val="000000"/>
              </a:buClr>
              <a:buFont typeface="Arial"/>
              <a:buChar char="•"/>
              <a:defRPr/>
            </a:pPr>
            <a:r>
              <a:rPr lang="en-US" sz="2800" b="0" strike="noStrike" spc="0">
                <a:solidFill>
                  <a:srgbClr val="000000"/>
                </a:solidFill>
                <a:latin typeface="Calibri"/>
              </a:rPr>
              <a:t>AVL Tree is a self-balancing binary search tree in which the heights of the left and right subtrees of any node differ by at most one.</a:t>
            </a:r>
            <a:endParaRPr lang="en-US" sz="2800" b="0" strike="noStrike" spc="0">
              <a:solidFill>
                <a:srgbClr val="000000"/>
              </a:solidFill>
              <a:latin typeface="Arial"/>
            </a:endParaRPr>
          </a:p>
          <a:p>
            <a:pPr marL="238680" indent="-238680">
              <a:lnSpc>
                <a:spcPct val="90000"/>
              </a:lnSpc>
              <a:spcBef>
                <a:spcPts val="1000"/>
              </a:spcBef>
              <a:buClr>
                <a:srgbClr val="000000"/>
              </a:buClr>
              <a:buFont typeface="Arial"/>
              <a:buChar char="•"/>
              <a:defRPr/>
            </a:pPr>
            <a:r>
              <a:rPr lang="en-US" sz="2800" b="0" strike="noStrike" spc="0">
                <a:solidFill>
                  <a:srgbClr val="000000"/>
                </a:solidFill>
                <a:latin typeface="Calibri"/>
              </a:rPr>
              <a:t>It is named after its inventors Adelson-Velsky and Landis.</a:t>
            </a:r>
            <a:endParaRPr lang="en-US" sz="2800" b="0" strike="noStrike" spc="0">
              <a:solidFill>
                <a:srgbClr val="000000"/>
              </a:solidFill>
              <a:latin typeface="Arial"/>
            </a:endParaRPr>
          </a:p>
          <a:p>
            <a:pPr marL="238680" indent="-238680">
              <a:lnSpc>
                <a:spcPct val="90000"/>
              </a:lnSpc>
              <a:spcBef>
                <a:spcPts val="1000"/>
              </a:spcBef>
              <a:buClr>
                <a:srgbClr val="000000"/>
              </a:buClr>
              <a:buFont typeface="Arial"/>
              <a:buChar char="•"/>
              <a:defRPr/>
            </a:pPr>
            <a:r>
              <a:rPr lang="en-US" sz="2800" b="0" strike="noStrike" spc="0">
                <a:solidFill>
                  <a:srgbClr val="000000"/>
                </a:solidFill>
                <a:latin typeface="Calibri"/>
              </a:rPr>
              <a:t> The balancing property of AVL trees ensures efficient search, insert, and delete operations with a time complexity of O(log n) in the worst case.</a:t>
            </a:r>
            <a:endParaRPr lang="en-US" sz="2800" b="0" strike="noStrike" spc="0">
              <a:solidFill>
                <a:srgbClr val="000000"/>
              </a:solidFill>
              <a:latin typeface="Arial"/>
            </a:endParaRPr>
          </a:p>
          <a:p>
            <a:pPr marL="238680" indent="-238680">
              <a:lnSpc>
                <a:spcPct val="90000"/>
              </a:lnSpc>
              <a:spcBef>
                <a:spcPts val="1000"/>
              </a:spcBef>
              <a:buClr>
                <a:srgbClr val="000000"/>
              </a:buClr>
              <a:buFont typeface="Arial"/>
              <a:buChar char="•"/>
              <a:defRPr/>
            </a:pPr>
            <a:r>
              <a:rPr lang="en-US" sz="2800" b="0" strike="noStrike" spc="0">
                <a:solidFill>
                  <a:srgbClr val="000000"/>
                </a:solidFill>
                <a:latin typeface="Calibri"/>
              </a:rPr>
              <a:t>Balance Factor: The balance factor of a node is the difference between the heights of its left and right subtrees. It can have three possible values: -1, 0, or +1.</a:t>
            </a:r>
            <a:endParaRPr lang="en-US" sz="2800" b="0" strike="noStrike" spc="0">
              <a:solidFill>
                <a:srgbClr val="000000"/>
              </a:solidFill>
              <a:latin typeface="Arial"/>
            </a:endParaRPr>
          </a:p>
          <a:p>
            <a:pPr marL="238680" indent="-238680">
              <a:lnSpc>
                <a:spcPct val="90000"/>
              </a:lnSpc>
              <a:spcBef>
                <a:spcPts val="1000"/>
              </a:spcBef>
              <a:buClr>
                <a:srgbClr val="000000"/>
              </a:buClr>
              <a:buFont typeface="Arial"/>
              <a:buChar char="•"/>
              <a:defRPr/>
            </a:pPr>
            <a:r>
              <a:rPr lang="en-US" sz="2800" b="0" strike="noStrike" spc="0">
                <a:solidFill>
                  <a:srgbClr val="000000"/>
                </a:solidFill>
                <a:latin typeface="Calibri"/>
              </a:rPr>
              <a:t>Height-Balanced: The AVL tree maintains its height balance by performing rotations or restructurings.</a:t>
            </a:r>
            <a:endParaRPr lang="en-US" sz="2800" b="0" strike="noStrike" spc="0">
              <a:solidFill>
                <a:srgbClr val="000000"/>
              </a:solidFill>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967372762" name="Picture 4" descr="AVL Tree (Data Structures) - javatpoint"/>
          <p:cNvPicPr/>
          <p:nvPr/>
        </p:nvPicPr>
        <p:blipFill>
          <a:blip r:embed="rId3"/>
          <a:srcRect b="12605"/>
          <a:stretch/>
        </p:blipFill>
        <p:spPr bwMode="auto">
          <a:xfrm>
            <a:off x="3522600" y="262440"/>
            <a:ext cx="5583240" cy="5951520"/>
          </a:xfrm>
          <a:prstGeom prst="rect">
            <a:avLst/>
          </a:prstGeom>
          <a:ln w="0">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13106617"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0" strike="noStrike" spc="0">
                <a:solidFill>
                  <a:srgbClr val="000000"/>
                </a:solidFill>
                <a:latin typeface="Calibri Light"/>
              </a:rPr>
              <a:t>AVL TREE Rotation</a:t>
            </a:r>
            <a:endParaRPr lang="en-US" sz="4400" b="0" strike="noStrike" spc="0">
              <a:solidFill>
                <a:srgbClr val="000000"/>
              </a:solidFill>
              <a:latin typeface="Arial"/>
            </a:endParaRPr>
          </a:p>
        </p:txBody>
      </p:sp>
      <p:sp>
        <p:nvSpPr>
          <p:cNvPr id="1969287043"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Single rotations: These are rotations that involve a single node. There are two types of single rotations: left rotations and right rotations.</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Double rotations: These are rotations that involve two nodes. There are two types of double rotations: left-right rotations and right-left rotations.</a:t>
            </a:r>
            <a:endParaRPr lang="en-US" sz="2800" b="0" strike="noStrike" spc="0">
              <a:solidFill>
                <a:srgbClr val="000000"/>
              </a:solidFill>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4809646"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AVL TREE Rotation</a:t>
            </a:r>
            <a:endParaRPr lang="en-US" sz="4400" b="0" strike="noStrike" spc="0">
              <a:solidFill>
                <a:srgbClr val="000000"/>
              </a:solidFill>
              <a:latin typeface="Arial"/>
            </a:endParaRPr>
          </a:p>
        </p:txBody>
      </p:sp>
      <p:sp>
        <p:nvSpPr>
          <p:cNvPr id="1843081321"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RR Rotation : - Anti Clockwise Rotation (Single Left Rotation)</a:t>
            </a:r>
            <a:endParaRPr lang="en-US" sz="2800" b="0" strike="noStrike" spc="0">
              <a:solidFill>
                <a:srgbClr val="000000"/>
              </a:solidFill>
              <a:latin typeface="Arial"/>
            </a:endParaRPr>
          </a:p>
        </p:txBody>
      </p:sp>
      <p:pic>
        <p:nvPicPr>
          <p:cNvPr id="92649098" name="Picture 4" descr="RR_Rotations"/>
          <p:cNvPicPr/>
          <p:nvPr/>
        </p:nvPicPr>
        <p:blipFill>
          <a:blip r:embed="rId3"/>
          <a:stretch/>
        </p:blipFill>
        <p:spPr bwMode="auto">
          <a:xfrm>
            <a:off x="1019160" y="2238840"/>
            <a:ext cx="10152360" cy="3523680"/>
          </a:xfrm>
          <a:prstGeom prst="rect">
            <a:avLst/>
          </a:prstGeom>
          <a:ln w="0">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50661773"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AVL TREE Rotation</a:t>
            </a:r>
            <a:endParaRPr lang="en-US" sz="4400" b="0" strike="noStrike" spc="0">
              <a:solidFill>
                <a:srgbClr val="000000"/>
              </a:solidFill>
              <a:latin typeface="Arial"/>
            </a:endParaRPr>
          </a:p>
        </p:txBody>
      </p:sp>
      <p:sp>
        <p:nvSpPr>
          <p:cNvPr id="1828298353"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LL Rotation : - Clockwise rotation</a:t>
            </a:r>
            <a:endParaRPr lang="en-US" sz="2800" b="0" strike="noStrike" spc="0">
              <a:solidFill>
                <a:srgbClr val="000000"/>
              </a:solidFill>
              <a:latin typeface="Arial"/>
            </a:endParaRPr>
          </a:p>
        </p:txBody>
      </p:sp>
      <p:pic>
        <p:nvPicPr>
          <p:cNvPr id="689394508" name="Picture 2" descr="LL Rotations"/>
          <p:cNvPicPr/>
          <p:nvPr/>
        </p:nvPicPr>
        <p:blipFill>
          <a:blip r:embed="rId3"/>
          <a:stretch/>
        </p:blipFill>
        <p:spPr bwMode="auto">
          <a:xfrm>
            <a:off x="1129320" y="2352240"/>
            <a:ext cx="9932040" cy="4062960"/>
          </a:xfrm>
          <a:prstGeom prst="rect">
            <a:avLst/>
          </a:prstGeom>
          <a:ln w="0">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9705109"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AVL TREE Rotation</a:t>
            </a:r>
            <a:endParaRPr lang="en-US" sz="4400" b="0" strike="noStrike" spc="0">
              <a:solidFill>
                <a:srgbClr val="000000"/>
              </a:solidFill>
              <a:latin typeface="Arial"/>
            </a:endParaRPr>
          </a:p>
        </p:txBody>
      </p:sp>
      <p:sp>
        <p:nvSpPr>
          <p:cNvPr id="1903173909"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 Right-Left Rotation : –</a:t>
            </a:r>
            <a:r>
              <a:rPr lang="en-US" sz="2800" b="0" i="0" u="none" strike="noStrike" cap="none" spc="0">
                <a:solidFill>
                  <a:srgbClr val="000000"/>
                </a:solidFill>
                <a:latin typeface="Calibri"/>
                <a:ea typeface="Calibri"/>
                <a:cs typeface="Calibri"/>
              </a:rPr>
              <a:t>LL rotation and RR rotation</a:t>
            </a:r>
            <a:endParaRPr lang="en-US" sz="2800" b="0" strike="noStrike" spc="0">
              <a:solidFill>
                <a:srgbClr val="000000"/>
              </a:solidFill>
              <a:latin typeface="Arial"/>
            </a:endParaRPr>
          </a:p>
        </p:txBody>
      </p:sp>
      <p:pic>
        <p:nvPicPr>
          <p:cNvPr id="461698741" name="Picture 4" descr="RL Rotations"/>
          <p:cNvPicPr/>
          <p:nvPr/>
        </p:nvPicPr>
        <p:blipFill>
          <a:blip r:embed="rId3"/>
          <a:stretch/>
        </p:blipFill>
        <p:spPr bwMode="auto">
          <a:xfrm>
            <a:off x="1317960" y="3066480"/>
            <a:ext cx="9554760" cy="3425400"/>
          </a:xfrm>
          <a:prstGeom prst="rect">
            <a:avLst/>
          </a:prstGeom>
          <a:ln w="0">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05667340"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AVL TREE Rotation</a:t>
            </a:r>
            <a:endParaRPr lang="en-US" sz="4400" b="0" strike="noStrike" spc="0">
              <a:solidFill>
                <a:srgbClr val="000000"/>
              </a:solidFill>
              <a:latin typeface="Arial"/>
            </a:endParaRPr>
          </a:p>
        </p:txBody>
      </p:sp>
      <p:sp>
        <p:nvSpPr>
          <p:cNvPr id="1691785074"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Left-Right Rotation :</a:t>
            </a:r>
            <a:r>
              <a:rPr lang="en-US" sz="2800" b="0" i="0" u="none" strike="noStrike" cap="none" spc="0">
                <a:solidFill>
                  <a:srgbClr val="000000"/>
                </a:solidFill>
                <a:latin typeface="Calibri"/>
                <a:ea typeface="Calibri"/>
                <a:cs typeface="Calibri"/>
              </a:rPr>
              <a:t> RR rotation and </a:t>
            </a:r>
            <a:r>
              <a:rPr lang="en-US"/>
              <a:t>LL rotation</a:t>
            </a:r>
            <a:r>
              <a:rPr lang="en-US" sz="2800" b="0" i="0" u="none" strike="noStrike" cap="none" spc="0">
                <a:solidFill>
                  <a:srgbClr val="000000"/>
                </a:solidFill>
                <a:latin typeface="Calibri"/>
                <a:ea typeface="Calibri"/>
                <a:cs typeface="Calibri"/>
              </a:rPr>
              <a:t>. </a:t>
            </a:r>
            <a:endParaRPr lang="en-US" sz="2800" b="0" strike="noStrike" spc="0">
              <a:solidFill>
                <a:srgbClr val="000000"/>
              </a:solidFill>
              <a:latin typeface="Arial"/>
            </a:endParaRPr>
          </a:p>
        </p:txBody>
      </p:sp>
      <p:pic>
        <p:nvPicPr>
          <p:cNvPr id="391446555" name="Picture 2" descr="LR_Rotation"/>
          <p:cNvPicPr/>
          <p:nvPr/>
        </p:nvPicPr>
        <p:blipFill>
          <a:blip r:embed="rId3"/>
          <a:stretch/>
        </p:blipFill>
        <p:spPr bwMode="auto">
          <a:xfrm>
            <a:off x="1706400" y="3051360"/>
            <a:ext cx="8778240" cy="3440160"/>
          </a:xfrm>
          <a:prstGeom prst="rect">
            <a:avLst/>
          </a:prstGeom>
          <a:ln w="0">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74470906"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Creation of AVL Tree</a:t>
            </a:r>
            <a:endParaRPr lang="en-US" sz="4400" b="0" strike="noStrike" spc="0">
              <a:solidFill>
                <a:srgbClr val="000000"/>
              </a:solidFill>
              <a:latin typeface="Arial"/>
            </a:endParaRPr>
          </a:p>
        </p:txBody>
      </p:sp>
      <p:sp>
        <p:nvSpPr>
          <p:cNvPr id="542332435"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Example : - 1,2,3,4,5,6,7,8</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Practice : - 40,20,10,25,30,22,50</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Practice : -  35,40,20,90,36,85,15,25,10,5</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Practice : - 3,5 ,1,8,4,1,12,7,2,6</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Practice : - 35,50,40,25,30,60,78,20,28</a:t>
            </a:r>
            <a:endParaRPr lang="en-US" sz="28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Practice : - 21, 26, 30, 9, 4, 14, 28, 18,15,10, 2, 3, 7</a:t>
            </a:r>
            <a:endParaRPr lang="en-US" sz="2800" b="0" strike="noStrike" spc="0">
              <a:solidFill>
                <a:srgbClr val="000000"/>
              </a:solidFill>
              <a:latin typeface="Arial"/>
            </a:endParaRPr>
          </a:p>
          <a:p>
            <a:pPr indent="0">
              <a:lnSpc>
                <a:spcPct val="90000"/>
              </a:lnSpc>
              <a:spcBef>
                <a:spcPts val="1000"/>
              </a:spcBef>
              <a:buNone/>
              <a:tabLst>
                <a:tab pos="0" algn="l"/>
              </a:tabLst>
              <a:defRPr/>
            </a:pPr>
            <a:endParaRPr lang="en-US" sz="2800" b="0" strike="noStrike" spc="0">
              <a:solidFill>
                <a:srgbClr val="000000"/>
              </a:solidFill>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74144325"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Deletion on AVL Tree</a:t>
            </a:r>
            <a:endParaRPr lang="en-US" sz="4400" b="0" strike="noStrike" spc="0">
              <a:solidFill>
                <a:srgbClr val="000000"/>
              </a:solidFill>
              <a:latin typeface="Arial"/>
            </a:endParaRPr>
          </a:p>
        </p:txBody>
      </p:sp>
      <p:sp>
        <p:nvSpPr>
          <p:cNvPr id="1130269845" name="PlaceHolder 2"/>
          <p:cNvSpPr>
            <a:spLocks noGrp="1"/>
          </p:cNvSpPr>
          <p:nvPr>
            <p:ph/>
          </p:nvPr>
        </p:nvSpPr>
        <p:spPr bwMode="auto">
          <a:xfrm>
            <a:off x="838080" y="1825560"/>
            <a:ext cx="10514520" cy="4350240"/>
          </a:xfrm>
          <a:prstGeom prst="rect">
            <a:avLst/>
          </a:prstGeom>
          <a:noFill/>
          <a:ln w="0">
            <a:noFill/>
          </a:ln>
        </p:spPr>
        <p:txBody>
          <a:bodyPr vertOverflow="overflow" horzOverflow="overflow" vert="horz" wrap="square" lIns="90000" tIns="45000" rIns="90000" bIns="45000" numCol="1" spcCol="0" rtlCol="0" fromWordArt="0" anchor="t" anchorCtr="0" forceAA="0" compatLnSpc="0">
            <a:normAutofit fontScale="87500" lnSpcReduction="14000"/>
          </a:bodyPr>
          <a:lstStyle/>
          <a:p>
            <a:pPr marL="214560" indent="-214560">
              <a:lnSpc>
                <a:spcPct val="90000"/>
              </a:lnSpc>
              <a:spcBef>
                <a:spcPts val="1000"/>
              </a:spcBef>
              <a:buClr>
                <a:srgbClr val="000000"/>
              </a:buClr>
              <a:buFont typeface="Arial"/>
              <a:buChar char="•"/>
              <a:defRPr/>
            </a:pPr>
            <a:r>
              <a:rPr lang="en-US" sz="2800" b="0" strike="noStrike" spc="0">
                <a:solidFill>
                  <a:srgbClr val="000000"/>
                </a:solidFill>
                <a:latin typeface="Calibri"/>
              </a:rPr>
              <a:t>PREDECESSOR(X) SUCCESSOR(X) If X has two children, its predecessor is the maximum value in its left subtree and its successor the minimum value in its right subtree.</a:t>
            </a:r>
            <a:endParaRPr lang="en-US" sz="2800" b="0" strike="noStrike" spc="0">
              <a:solidFill>
                <a:srgbClr val="000000"/>
              </a:solidFill>
              <a:latin typeface="Arial"/>
            </a:endParaRPr>
          </a:p>
          <a:p>
            <a:pPr marL="214560" indent="-214560">
              <a:lnSpc>
                <a:spcPct val="90000"/>
              </a:lnSpc>
              <a:spcBef>
                <a:spcPts val="1000"/>
              </a:spcBef>
              <a:buClr>
                <a:srgbClr val="000000"/>
              </a:buClr>
              <a:buFont typeface="Arial"/>
              <a:buChar char="•"/>
              <a:defRPr/>
            </a:pPr>
            <a:r>
              <a:rPr lang="en-US" sz="2800" b="0" strike="noStrike" spc="0">
                <a:solidFill>
                  <a:srgbClr val="000000"/>
                </a:solidFill>
                <a:latin typeface="Calibri"/>
              </a:rPr>
              <a:t>8,9,10,2,1,5,3,4,6 =&gt;10(delete)</a:t>
            </a:r>
            <a:endParaRPr lang="en-US" sz="2800" b="0" strike="noStrike" spc="0">
              <a:solidFill>
                <a:srgbClr val="000000"/>
              </a:solidFill>
              <a:latin typeface="Arial"/>
            </a:endParaRPr>
          </a:p>
          <a:p>
            <a:pPr marL="214560" indent="-214560">
              <a:lnSpc>
                <a:spcPct val="90000"/>
              </a:lnSpc>
              <a:spcBef>
                <a:spcPts val="1000"/>
              </a:spcBef>
              <a:buClr>
                <a:srgbClr val="000000"/>
              </a:buClr>
              <a:buFont typeface="Arial"/>
              <a:buChar char="•"/>
              <a:defRPr/>
            </a:pPr>
            <a:r>
              <a:rPr lang="en-US" sz="2800" b="0" strike="noStrike" spc="0">
                <a:solidFill>
                  <a:srgbClr val="000000"/>
                </a:solidFill>
                <a:latin typeface="Calibri"/>
              </a:rPr>
              <a:t>25,40,60,30,27,35,35,32,33,31,65 =&gt; 40(delete)</a:t>
            </a:r>
            <a:endParaRPr lang="en-US" sz="2800" b="0" strike="noStrike" spc="0">
              <a:solidFill>
                <a:srgbClr val="000000"/>
              </a:solidFill>
              <a:latin typeface="Arial"/>
            </a:endParaRPr>
          </a:p>
          <a:p>
            <a:pPr marL="214560" indent="-214560">
              <a:lnSpc>
                <a:spcPct val="90000"/>
              </a:lnSpc>
              <a:spcBef>
                <a:spcPts val="1000"/>
              </a:spcBef>
              <a:buClr>
                <a:srgbClr val="000000"/>
              </a:buClr>
              <a:buFont typeface="Arial"/>
              <a:buChar char="•"/>
              <a:defRPr/>
            </a:pPr>
            <a:r>
              <a:rPr lang="en-US" sz="2800" b="0" strike="noStrike" spc="0">
                <a:solidFill>
                  <a:srgbClr val="000000"/>
                </a:solidFill>
                <a:latin typeface="Calibri"/>
              </a:rPr>
              <a:t>Rule:-</a:t>
            </a:r>
            <a:endParaRPr lang="en-US" sz="2800" b="0" strike="noStrike" spc="0">
              <a:solidFill>
                <a:srgbClr val="000000"/>
              </a:solidFill>
              <a:latin typeface="Arial"/>
            </a:endParaRPr>
          </a:p>
          <a:p>
            <a:pPr marL="645120" lvl="1" indent="-214560">
              <a:lnSpc>
                <a:spcPct val="90000"/>
              </a:lnSpc>
              <a:spcBef>
                <a:spcPts val="498"/>
              </a:spcBef>
              <a:buClr>
                <a:srgbClr val="000000"/>
              </a:buClr>
              <a:buFont typeface="Arial"/>
              <a:buChar char="•"/>
              <a:defRPr/>
            </a:pPr>
            <a:r>
              <a:rPr lang="en-US" sz="2400" b="0" strike="noStrike" spc="0">
                <a:solidFill>
                  <a:srgbClr val="000000"/>
                </a:solidFill>
                <a:latin typeface="Calibri"/>
              </a:rPr>
              <a:t>R(0)=&gt; LL</a:t>
            </a:r>
            <a:endParaRPr lang="en-US" sz="2400" b="0" strike="noStrike" spc="0">
              <a:solidFill>
                <a:srgbClr val="000000"/>
              </a:solidFill>
              <a:latin typeface="Arial"/>
            </a:endParaRPr>
          </a:p>
          <a:p>
            <a:pPr marL="645120" lvl="1" indent="-214560">
              <a:lnSpc>
                <a:spcPct val="90000"/>
              </a:lnSpc>
              <a:spcBef>
                <a:spcPts val="498"/>
              </a:spcBef>
              <a:buClr>
                <a:srgbClr val="000000"/>
              </a:buClr>
              <a:buFont typeface="Arial"/>
              <a:buChar char="•"/>
              <a:defRPr/>
            </a:pPr>
            <a:r>
              <a:rPr lang="en-US" sz="2400" b="0" strike="noStrike" spc="0">
                <a:solidFill>
                  <a:srgbClr val="000000"/>
                </a:solidFill>
                <a:latin typeface="Calibri"/>
              </a:rPr>
              <a:t>R(1) =&gt; LL</a:t>
            </a:r>
            <a:endParaRPr lang="en-US" sz="2400" b="0" strike="noStrike" spc="0">
              <a:solidFill>
                <a:srgbClr val="000000"/>
              </a:solidFill>
              <a:latin typeface="Arial"/>
            </a:endParaRPr>
          </a:p>
          <a:p>
            <a:pPr marL="645120" lvl="1" indent="-214560">
              <a:lnSpc>
                <a:spcPct val="90000"/>
              </a:lnSpc>
              <a:spcBef>
                <a:spcPts val="498"/>
              </a:spcBef>
              <a:buClr>
                <a:srgbClr val="000000"/>
              </a:buClr>
              <a:buFont typeface="Arial"/>
              <a:buChar char="•"/>
              <a:defRPr/>
            </a:pPr>
            <a:r>
              <a:rPr lang="en-US" sz="2400" b="0" strike="noStrike" spc="0">
                <a:solidFill>
                  <a:srgbClr val="000000"/>
                </a:solidFill>
                <a:latin typeface="Calibri"/>
              </a:rPr>
              <a:t>R(-1) =&gt; LR</a:t>
            </a:r>
            <a:endParaRPr lang="en-US" sz="2400" b="0" strike="noStrike" spc="0">
              <a:solidFill>
                <a:srgbClr val="000000"/>
              </a:solidFill>
              <a:latin typeface="Arial"/>
            </a:endParaRPr>
          </a:p>
          <a:p>
            <a:pPr marL="645120" lvl="1" indent="-214560">
              <a:lnSpc>
                <a:spcPct val="90000"/>
              </a:lnSpc>
              <a:spcBef>
                <a:spcPts val="498"/>
              </a:spcBef>
              <a:buClr>
                <a:srgbClr val="000000"/>
              </a:buClr>
              <a:buFont typeface="Arial"/>
              <a:buChar char="•"/>
              <a:defRPr/>
            </a:pPr>
            <a:r>
              <a:rPr lang="en-US" sz="2400" b="0" strike="noStrike" spc="0">
                <a:solidFill>
                  <a:srgbClr val="000000"/>
                </a:solidFill>
                <a:latin typeface="Calibri"/>
              </a:rPr>
              <a:t>L(0) =&gt; RR</a:t>
            </a:r>
            <a:endParaRPr lang="en-US" sz="2400" b="0" strike="noStrike" spc="0">
              <a:solidFill>
                <a:srgbClr val="000000"/>
              </a:solidFill>
              <a:latin typeface="Arial"/>
            </a:endParaRPr>
          </a:p>
          <a:p>
            <a:pPr marL="645120" lvl="1" indent="-214560">
              <a:lnSpc>
                <a:spcPct val="90000"/>
              </a:lnSpc>
              <a:spcBef>
                <a:spcPts val="498"/>
              </a:spcBef>
              <a:buClr>
                <a:srgbClr val="000000"/>
              </a:buClr>
              <a:buFont typeface="Arial"/>
              <a:buChar char="•"/>
              <a:defRPr/>
            </a:pPr>
            <a:r>
              <a:rPr lang="en-US" sz="2400" b="0" strike="noStrike" spc="0">
                <a:solidFill>
                  <a:srgbClr val="000000"/>
                </a:solidFill>
                <a:latin typeface="Calibri"/>
              </a:rPr>
              <a:t>L(1)=&gt;RL</a:t>
            </a:r>
            <a:endParaRPr lang="en-US" sz="2400" b="0" strike="noStrike" spc="0">
              <a:solidFill>
                <a:srgbClr val="000000"/>
              </a:solidFill>
              <a:latin typeface="Arial"/>
            </a:endParaRPr>
          </a:p>
          <a:p>
            <a:pPr marL="645120" lvl="1" indent="-214560">
              <a:lnSpc>
                <a:spcPct val="90000"/>
              </a:lnSpc>
              <a:spcBef>
                <a:spcPts val="498"/>
              </a:spcBef>
              <a:buClr>
                <a:srgbClr val="000000"/>
              </a:buClr>
              <a:buFont typeface="Arial"/>
              <a:buChar char="•"/>
              <a:defRPr/>
            </a:pPr>
            <a:r>
              <a:rPr lang="en-US" sz="2400" b="0" strike="noStrike" spc="0">
                <a:solidFill>
                  <a:srgbClr val="000000"/>
                </a:solidFill>
                <a:latin typeface="Calibri"/>
              </a:rPr>
              <a:t>L(-1)=&gt;RR</a:t>
            </a:r>
            <a:endParaRPr lang="en-US" sz="2400" b="0" strike="noStrike" spc="0">
              <a:solidFill>
                <a:srgbClr val="000000"/>
              </a:solidFill>
              <a:latin typeface="Arial"/>
            </a:endParaRPr>
          </a:p>
        </p:txBody>
      </p:sp>
      <p:pic>
        <p:nvPicPr>
          <p:cNvPr id="2137493070" name="Picture 2137493069"/>
          <p:cNvPicPr>
            <a:picLocks noChangeAspect="1"/>
          </p:cNvPicPr>
          <p:nvPr/>
        </p:nvPicPr>
        <p:blipFill>
          <a:blip r:embed="rId3"/>
          <a:stretch/>
        </p:blipFill>
        <p:spPr bwMode="auto">
          <a:xfrm>
            <a:off x="4536482" y="3487118"/>
            <a:ext cx="7476355" cy="315190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8396250"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0" strike="noStrike" spc="0">
                <a:solidFill>
                  <a:srgbClr val="000000"/>
                </a:solidFill>
                <a:latin typeface="Calibri Light"/>
              </a:rPr>
              <a:t>B-Tree</a:t>
            </a:r>
            <a:endParaRPr lang="en-US" sz="4400" b="0" strike="noStrike" spc="0">
              <a:solidFill>
                <a:srgbClr val="000000"/>
              </a:solidFill>
              <a:latin typeface="Arial"/>
            </a:endParaRPr>
          </a:p>
        </p:txBody>
      </p:sp>
      <p:sp>
        <p:nvSpPr>
          <p:cNvPr id="873455957"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rmAutofit fontScale="92000" lnSpcReduction="10000"/>
          </a:bodyPr>
          <a:lstStyle/>
          <a:p>
            <a:pPr marL="226440" indent="-226440">
              <a:lnSpc>
                <a:spcPct val="90000"/>
              </a:lnSpc>
              <a:spcBef>
                <a:spcPts val="1000"/>
              </a:spcBef>
              <a:buClr>
                <a:srgbClr val="000000"/>
              </a:buClr>
              <a:buFont typeface="Arial"/>
              <a:buChar char="•"/>
              <a:defRPr/>
            </a:pPr>
            <a:r>
              <a:rPr lang="en-US" sz="2800" b="0" strike="noStrike" spc="0">
                <a:solidFill>
                  <a:srgbClr val="000000"/>
                </a:solidFill>
                <a:latin typeface="Calibri"/>
              </a:rPr>
              <a:t>A B-tree is a self-balancing tree data structure that maintains sorted data and allows searches, sequential access, insertions, and deletions in logarithmic time.</a:t>
            </a:r>
            <a:endParaRPr lang="en-US" sz="2800" b="0" strike="noStrike" spc="0">
              <a:solidFill>
                <a:srgbClr val="000000"/>
              </a:solidFill>
              <a:latin typeface="Arial"/>
            </a:endParaRPr>
          </a:p>
          <a:p>
            <a:pPr marL="226440" indent="-226440">
              <a:lnSpc>
                <a:spcPct val="90000"/>
              </a:lnSpc>
              <a:spcBef>
                <a:spcPts val="1000"/>
              </a:spcBef>
              <a:buClr>
                <a:srgbClr val="000000"/>
              </a:buClr>
              <a:buFont typeface="Arial"/>
              <a:buChar char="•"/>
              <a:defRPr/>
            </a:pPr>
            <a:r>
              <a:rPr lang="en-US" sz="2800" b="0" strike="noStrike" spc="0">
                <a:solidFill>
                  <a:srgbClr val="000000"/>
                </a:solidFill>
                <a:latin typeface="Calibri"/>
              </a:rPr>
              <a:t> The B-tree generalizes the binary search tree, allowing for nodes with more than two children.</a:t>
            </a:r>
            <a:endParaRPr lang="en-US" sz="2800" b="0" strike="noStrike" spc="0">
              <a:solidFill>
                <a:srgbClr val="000000"/>
              </a:solidFill>
              <a:latin typeface="Arial"/>
            </a:endParaRPr>
          </a:p>
          <a:p>
            <a:pPr marL="226440" indent="-226440">
              <a:lnSpc>
                <a:spcPct val="90000"/>
              </a:lnSpc>
              <a:spcBef>
                <a:spcPts val="1000"/>
              </a:spcBef>
              <a:buClr>
                <a:srgbClr val="000000"/>
              </a:buClr>
              <a:buFont typeface="Arial"/>
              <a:buChar char="•"/>
              <a:defRPr/>
            </a:pPr>
            <a:r>
              <a:rPr lang="en-US" sz="2800" b="0" strike="noStrike" spc="0">
                <a:solidFill>
                  <a:srgbClr val="000000"/>
                </a:solidFill>
                <a:latin typeface="Calibri"/>
              </a:rPr>
              <a:t>The order of a B-tree is the maximum number of keys that can be stored in a node.</a:t>
            </a:r>
            <a:endParaRPr lang="en-US" sz="2800" b="0" strike="noStrike" spc="0">
              <a:solidFill>
                <a:srgbClr val="000000"/>
              </a:solidFill>
              <a:latin typeface="Arial"/>
            </a:endParaRPr>
          </a:p>
          <a:p>
            <a:pPr marL="226440" indent="-226440">
              <a:lnSpc>
                <a:spcPct val="90000"/>
              </a:lnSpc>
              <a:spcBef>
                <a:spcPts val="1000"/>
              </a:spcBef>
              <a:buClr>
                <a:srgbClr val="000000"/>
              </a:buClr>
              <a:buFont typeface="Arial"/>
              <a:buChar char="•"/>
              <a:defRPr/>
            </a:pPr>
            <a:r>
              <a:rPr lang="en-US" sz="2800" b="0" strike="noStrike" spc="0">
                <a:solidFill>
                  <a:srgbClr val="000000"/>
                </a:solidFill>
                <a:latin typeface="Calibri"/>
              </a:rPr>
              <a:t> The order of a B-tree is denoted by m. </a:t>
            </a:r>
            <a:endParaRPr lang="en-US" sz="2800" b="0" strike="noStrike" spc="0">
              <a:solidFill>
                <a:srgbClr val="000000"/>
              </a:solidFill>
              <a:latin typeface="Arial"/>
            </a:endParaRPr>
          </a:p>
          <a:p>
            <a:pPr marL="226440" indent="-226440">
              <a:lnSpc>
                <a:spcPct val="90000"/>
              </a:lnSpc>
              <a:spcBef>
                <a:spcPts val="1000"/>
              </a:spcBef>
              <a:buClr>
                <a:srgbClr val="000000"/>
              </a:buClr>
              <a:buFont typeface="Arial"/>
              <a:buChar char="•"/>
              <a:defRPr/>
            </a:pPr>
            <a:r>
              <a:rPr lang="en-US" sz="2800" b="0" strike="noStrike" spc="0">
                <a:solidFill>
                  <a:srgbClr val="000000"/>
                </a:solidFill>
                <a:latin typeface="Calibri"/>
              </a:rPr>
              <a:t>B-tree guarantees that the time complexity for operations such as insertion, deletion, and searching is always O(log n), regardless of the initial shape of the tree.</a:t>
            </a:r>
            <a:endParaRPr lang="en-US" sz="2800" b="0" strike="noStrike" spc="0">
              <a:solidFill>
                <a:srgbClr val="000000"/>
              </a:solidFill>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48212407"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B-Tree Applications</a:t>
            </a:r>
            <a:endParaRPr/>
          </a:p>
        </p:txBody>
      </p:sp>
      <p:sp>
        <p:nvSpPr>
          <p:cNvPr id="901002415" name="Content Placeholder 2"/>
          <p:cNvSpPr>
            <a:spLocks noGrp="1"/>
          </p:cNvSpPr>
          <p:nvPr>
            <p:ph idx="1"/>
          </p:nvPr>
        </p:nvSpPr>
        <p:spPr bwMode="auto"/>
        <p:txBody>
          <a:bodyPr/>
          <a:lstStyle/>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Since accessing values held in a vast database saved on a disc takes a long time, B trees index all data and allow quick access to the information stored on the discs.</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Large databases employ it to access information stored on discs.</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Using the B-Tree, data in a dataset could be found in less time.</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Multilevel indexing is possible with the indexing feature.</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The majority of servers also use the B-tree method.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14831061"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0">
                <a:solidFill>
                  <a:srgbClr val="000000"/>
                </a:solidFill>
                <a:latin typeface="Calibri Light"/>
              </a:rPr>
              <a:t>B-Tree properties </a:t>
            </a:r>
            <a:endParaRPr lang="en-US" sz="4400" b="0" strike="noStrike" spc="0">
              <a:solidFill>
                <a:srgbClr val="000000"/>
              </a:solidFill>
              <a:latin typeface="Arial"/>
            </a:endParaRPr>
          </a:p>
        </p:txBody>
      </p:sp>
      <p:sp>
        <p:nvSpPr>
          <p:cNvPr id="1423152745" name="PlaceHolder 2"/>
          <p:cNvSpPr>
            <a:spLocks noGrp="1"/>
          </p:cNvSpPr>
          <p:nvPr>
            <p:ph/>
          </p:nvPr>
        </p:nvSpPr>
        <p:spPr bwMode="auto">
          <a:xfrm>
            <a:off x="838080" y="1518840"/>
            <a:ext cx="10514520" cy="4656960"/>
          </a:xfrm>
          <a:prstGeom prst="rect">
            <a:avLst/>
          </a:prstGeom>
          <a:noFill/>
          <a:ln w="0">
            <a:noFill/>
          </a:ln>
        </p:spPr>
        <p:txBody>
          <a:bodyPr lIns="90000" tIns="45000" rIns="90000" bIns="45000" anchor="t">
            <a:normAutofit fontScale="96000" lnSpcReduction="10000"/>
          </a:bodyPr>
          <a:lstStyle/>
          <a:p>
            <a:pPr marL="236160" indent="-236160">
              <a:lnSpc>
                <a:spcPct val="90000"/>
              </a:lnSpc>
              <a:spcBef>
                <a:spcPts val="1000"/>
              </a:spcBef>
              <a:buClr>
                <a:srgbClr val="000000"/>
              </a:buClr>
              <a:buFont typeface="Arial"/>
              <a:buChar char="•"/>
              <a:defRPr/>
            </a:pPr>
            <a:r>
              <a:rPr lang="en-US" sz="2800" b="0" strike="noStrike" spc="0">
                <a:solidFill>
                  <a:srgbClr val="000000"/>
                </a:solidFill>
                <a:latin typeface="Calibri"/>
              </a:rPr>
              <a:t>Each node can have at most m children, m is the order of trees.</a:t>
            </a:r>
            <a:endParaRPr lang="en-US" sz="2800" b="0" strike="noStrike" spc="0">
              <a:solidFill>
                <a:srgbClr val="000000"/>
              </a:solidFill>
              <a:latin typeface="Arial"/>
            </a:endParaRPr>
          </a:p>
          <a:p>
            <a:pPr marL="710639" lvl="1" indent="-236160">
              <a:lnSpc>
                <a:spcPct val="90000"/>
              </a:lnSpc>
              <a:spcBef>
                <a:spcPts val="498"/>
              </a:spcBef>
              <a:buClr>
                <a:srgbClr val="000000"/>
              </a:buClr>
              <a:buFont typeface="Arial"/>
              <a:buChar char="•"/>
              <a:defRPr/>
            </a:pPr>
            <a:r>
              <a:rPr lang="en-US" sz="2400" b="0" strike="noStrike" spc="0">
                <a:solidFill>
                  <a:srgbClr val="000000"/>
                </a:solidFill>
                <a:latin typeface="Calibri"/>
              </a:rPr>
              <a:t>Minimum Children : </a:t>
            </a:r>
            <a:endParaRPr lang="en-US" sz="2400" b="0" strike="noStrike" spc="0">
              <a:solidFill>
                <a:srgbClr val="000000"/>
              </a:solidFill>
              <a:latin typeface="Arial"/>
            </a:endParaRPr>
          </a:p>
          <a:p>
            <a:pPr marL="1185120" lvl="2" indent="-236160">
              <a:lnSpc>
                <a:spcPct val="90000"/>
              </a:lnSpc>
              <a:spcBef>
                <a:spcPts val="498"/>
              </a:spcBef>
              <a:buClr>
                <a:srgbClr val="000000"/>
              </a:buClr>
              <a:buFont typeface="Arial"/>
              <a:buChar char="•"/>
              <a:defRPr/>
            </a:pPr>
            <a:r>
              <a:rPr lang="en-US" sz="2000" b="0" strike="noStrike" spc="0">
                <a:solidFill>
                  <a:srgbClr val="000000"/>
                </a:solidFill>
                <a:latin typeface="Calibri"/>
              </a:rPr>
              <a:t>Leaf Node --&gt; 0</a:t>
            </a:r>
            <a:endParaRPr lang="en-US" sz="2000" b="0" strike="noStrike" spc="0">
              <a:solidFill>
                <a:srgbClr val="000000"/>
              </a:solidFill>
              <a:latin typeface="Arial"/>
            </a:endParaRPr>
          </a:p>
          <a:p>
            <a:pPr marL="1185120" lvl="2" indent="-236160">
              <a:lnSpc>
                <a:spcPct val="90000"/>
              </a:lnSpc>
              <a:spcBef>
                <a:spcPts val="498"/>
              </a:spcBef>
              <a:buClr>
                <a:srgbClr val="000000"/>
              </a:buClr>
              <a:buFont typeface="Arial"/>
              <a:buChar char="•"/>
              <a:defRPr/>
            </a:pPr>
            <a:r>
              <a:rPr lang="en-US" sz="2000" b="0" strike="noStrike" spc="0">
                <a:solidFill>
                  <a:srgbClr val="000000"/>
                </a:solidFill>
                <a:latin typeface="Calibri"/>
              </a:rPr>
              <a:t>Root Node --&gt; 2</a:t>
            </a:r>
            <a:endParaRPr lang="en-US" sz="2000" b="0" strike="noStrike" spc="0">
              <a:solidFill>
                <a:srgbClr val="000000"/>
              </a:solidFill>
              <a:latin typeface="Arial"/>
            </a:endParaRPr>
          </a:p>
          <a:p>
            <a:pPr marL="1185120" lvl="2" indent="-236160">
              <a:lnSpc>
                <a:spcPct val="90000"/>
              </a:lnSpc>
              <a:spcBef>
                <a:spcPts val="498"/>
              </a:spcBef>
              <a:buClr>
                <a:srgbClr val="000000"/>
              </a:buClr>
              <a:buFont typeface="Arial"/>
              <a:buChar char="•"/>
              <a:defRPr/>
            </a:pPr>
            <a:r>
              <a:rPr lang="en-US" sz="2000" b="0" strike="noStrike" spc="0">
                <a:solidFill>
                  <a:srgbClr val="000000"/>
                </a:solidFill>
                <a:latin typeface="Calibri"/>
              </a:rPr>
              <a:t>Internal Nodes --&gt; ceil(m/2)</a:t>
            </a:r>
            <a:endParaRPr lang="en-US" sz="2000" b="0" strike="noStrike" spc="0">
              <a:solidFill>
                <a:srgbClr val="000000"/>
              </a:solidFill>
              <a:latin typeface="Arial"/>
            </a:endParaRPr>
          </a:p>
          <a:p>
            <a:pPr marL="236160" indent="-236160">
              <a:lnSpc>
                <a:spcPct val="90000"/>
              </a:lnSpc>
              <a:spcBef>
                <a:spcPts val="1000"/>
              </a:spcBef>
              <a:buClr>
                <a:srgbClr val="000000"/>
              </a:buClr>
              <a:buFont typeface="Arial"/>
              <a:buChar char="•"/>
              <a:defRPr/>
            </a:pPr>
            <a:r>
              <a:rPr lang="en-US" sz="2800" b="0" strike="noStrike" spc="0">
                <a:solidFill>
                  <a:srgbClr val="000000"/>
                </a:solidFill>
                <a:latin typeface="Calibri"/>
              </a:rPr>
              <a:t>Every node has maximum (m-1) keys.</a:t>
            </a:r>
            <a:endParaRPr lang="en-US" sz="2800" b="0" strike="noStrike" spc="0">
              <a:solidFill>
                <a:srgbClr val="000000"/>
              </a:solidFill>
              <a:latin typeface="Arial"/>
            </a:endParaRPr>
          </a:p>
          <a:p>
            <a:pPr marL="710639" lvl="1" indent="-236160">
              <a:lnSpc>
                <a:spcPct val="90000"/>
              </a:lnSpc>
              <a:spcBef>
                <a:spcPts val="498"/>
              </a:spcBef>
              <a:buClr>
                <a:srgbClr val="000000"/>
              </a:buClr>
              <a:buFont typeface="Arial"/>
              <a:buChar char="•"/>
              <a:defRPr/>
            </a:pPr>
            <a:r>
              <a:rPr lang="en-US" sz="2400" b="0" strike="noStrike" spc="0">
                <a:solidFill>
                  <a:srgbClr val="000000"/>
                </a:solidFill>
                <a:latin typeface="Calibri"/>
              </a:rPr>
              <a:t>Minimum keys : </a:t>
            </a:r>
            <a:endParaRPr lang="en-US" sz="2400" b="0" strike="noStrike" spc="0">
              <a:solidFill>
                <a:srgbClr val="000000"/>
              </a:solidFill>
              <a:latin typeface="Arial"/>
            </a:endParaRPr>
          </a:p>
          <a:p>
            <a:pPr marL="1185120" lvl="2" indent="-236160">
              <a:lnSpc>
                <a:spcPct val="90000"/>
              </a:lnSpc>
              <a:spcBef>
                <a:spcPts val="498"/>
              </a:spcBef>
              <a:buClr>
                <a:srgbClr val="000000"/>
              </a:buClr>
              <a:buFont typeface="Arial"/>
              <a:buChar char="•"/>
              <a:defRPr/>
            </a:pPr>
            <a:r>
              <a:rPr lang="en-US" sz="2000" b="0" strike="noStrike" spc="0">
                <a:solidFill>
                  <a:srgbClr val="000000"/>
                </a:solidFill>
                <a:latin typeface="Calibri"/>
              </a:rPr>
              <a:t>Root Node --&gt; 1</a:t>
            </a:r>
            <a:endParaRPr lang="en-US" sz="2000" b="0" strike="noStrike" spc="0">
              <a:solidFill>
                <a:srgbClr val="000000"/>
              </a:solidFill>
              <a:latin typeface="Arial"/>
            </a:endParaRPr>
          </a:p>
          <a:p>
            <a:pPr marL="1185120" lvl="2" indent="-236160">
              <a:lnSpc>
                <a:spcPct val="90000"/>
              </a:lnSpc>
              <a:spcBef>
                <a:spcPts val="498"/>
              </a:spcBef>
              <a:buClr>
                <a:srgbClr val="000000"/>
              </a:buClr>
              <a:buFont typeface="Arial"/>
              <a:buChar char="•"/>
              <a:defRPr/>
            </a:pPr>
            <a:r>
              <a:rPr lang="en-US" sz="2000" b="0" strike="noStrike" spc="0">
                <a:solidFill>
                  <a:srgbClr val="000000"/>
                </a:solidFill>
                <a:latin typeface="Calibri"/>
              </a:rPr>
              <a:t>All other nodes : ceil(m/2) -1</a:t>
            </a:r>
            <a:endParaRPr lang="en-US" sz="2000" b="0" strike="noStrike" spc="0">
              <a:solidFill>
                <a:srgbClr val="000000"/>
              </a:solidFill>
              <a:latin typeface="Arial"/>
            </a:endParaRPr>
          </a:p>
          <a:p>
            <a:pPr marL="236160" indent="-236160">
              <a:lnSpc>
                <a:spcPct val="90000"/>
              </a:lnSpc>
              <a:spcBef>
                <a:spcPts val="1000"/>
              </a:spcBef>
              <a:buClr>
                <a:srgbClr val="000000"/>
              </a:buClr>
              <a:buFont typeface="Arial"/>
              <a:buChar char="•"/>
              <a:defRPr/>
            </a:pPr>
            <a:r>
              <a:rPr lang="en-US" sz="2800" b="0" strike="noStrike" spc="0">
                <a:solidFill>
                  <a:srgbClr val="000000"/>
                </a:solidFill>
                <a:latin typeface="Calibri"/>
              </a:rPr>
              <a:t>All the leaves are in the same level</a:t>
            </a:r>
            <a:endParaRPr lang="en-US" sz="2800" b="0" strike="noStrike" spc="0">
              <a:solidFill>
                <a:srgbClr val="000000"/>
              </a:solidFill>
              <a:latin typeface="Arial"/>
            </a:endParaRPr>
          </a:p>
          <a:p>
            <a:pPr marL="236160" indent="-236160">
              <a:lnSpc>
                <a:spcPct val="90000"/>
              </a:lnSpc>
              <a:spcBef>
                <a:spcPts val="1000"/>
              </a:spcBef>
              <a:buClr>
                <a:srgbClr val="000000"/>
              </a:buClr>
              <a:buFont typeface="Arial"/>
              <a:buChar char="•"/>
              <a:defRPr/>
            </a:pPr>
            <a:r>
              <a:rPr lang="en-US" sz="2800" b="0" strike="noStrike" spc="0">
                <a:solidFill>
                  <a:srgbClr val="000000"/>
                </a:solidFill>
                <a:latin typeface="Calibri"/>
              </a:rPr>
              <a:t>Insertion is always on leaf node.</a:t>
            </a:r>
            <a:endParaRPr lang="en-US" sz="2800" b="0" strike="noStrike" spc="0">
              <a:solidFill>
                <a:srgbClr val="000000"/>
              </a:solidFill>
              <a:latin typeface="Arial"/>
            </a:endParaRPr>
          </a:p>
          <a:p>
            <a:pPr marL="236160" indent="-236160">
              <a:lnSpc>
                <a:spcPct val="90000"/>
              </a:lnSpc>
              <a:spcBef>
                <a:spcPts val="1000"/>
              </a:spcBef>
              <a:buClr>
                <a:srgbClr val="000000"/>
              </a:buClr>
              <a:buFont typeface="Arial"/>
              <a:buChar char="•"/>
              <a:defRPr/>
            </a:pPr>
            <a:r>
              <a:rPr lang="en-US" sz="2800" b="0" strike="noStrike" spc="0">
                <a:solidFill>
                  <a:srgbClr val="000000"/>
                </a:solidFill>
                <a:latin typeface="Calibri"/>
              </a:rPr>
              <a:t>All the key values in a node must be in Ascending Order..</a:t>
            </a:r>
            <a:endParaRPr lang="en-US" sz="2800" b="0" strike="noStrike" spc="0">
              <a:solidFill>
                <a:srgbClr val="000000"/>
              </a:solidFill>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07930482"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Insertion Operation in B-Tree</a:t>
            </a:r>
            <a:endParaRPr lang="en-US" sz="4400" b="0" strike="noStrike" spc="0">
              <a:solidFill>
                <a:srgbClr val="000000"/>
              </a:solidFill>
              <a:latin typeface="Arial"/>
            </a:endParaRPr>
          </a:p>
        </p:txBody>
      </p:sp>
      <p:sp>
        <p:nvSpPr>
          <p:cNvPr id="1507493628"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rmAutofit fontScale="82500" lnSpcReduction="20000"/>
          </a:bodyPr>
          <a:lstStyle/>
          <a:p>
            <a:pPr marL="220320" indent="-220320">
              <a:lnSpc>
                <a:spcPct val="90000"/>
              </a:lnSpc>
              <a:spcBef>
                <a:spcPts val="1000"/>
              </a:spcBef>
              <a:buClr>
                <a:srgbClr val="000000"/>
              </a:buClr>
              <a:buFont typeface="Arial"/>
              <a:buChar char="•"/>
              <a:defRPr/>
            </a:pPr>
            <a:r>
              <a:rPr lang="en-US" sz="2800" b="0" strike="noStrike" spc="0">
                <a:solidFill>
                  <a:srgbClr val="000000"/>
                </a:solidFill>
                <a:latin typeface="Calibri"/>
              </a:rPr>
              <a:t>In a B-Tree, a new element must be added only at the leaf node. </a:t>
            </a:r>
            <a:endParaRPr lang="en-US" sz="2800" b="0" strike="noStrike" spc="0">
              <a:solidFill>
                <a:srgbClr val="000000"/>
              </a:solidFill>
              <a:latin typeface="Arial"/>
            </a:endParaRPr>
          </a:p>
          <a:p>
            <a:pPr marL="220320" indent="-220320">
              <a:lnSpc>
                <a:spcPct val="90000"/>
              </a:lnSpc>
              <a:spcBef>
                <a:spcPts val="1000"/>
              </a:spcBef>
              <a:buClr>
                <a:srgbClr val="000000"/>
              </a:buClr>
              <a:buFont typeface="Arial"/>
              <a:buChar char="•"/>
              <a:defRPr/>
            </a:pPr>
            <a:r>
              <a:rPr lang="en-US" sz="2800" b="0" strike="noStrike" spc="0">
                <a:solidFill>
                  <a:srgbClr val="000000"/>
                </a:solidFill>
                <a:latin typeface="Calibri"/>
              </a:rPr>
              <a:t>That means, the new keyValue is always attached to the leaf node only.</a:t>
            </a:r>
            <a:endParaRPr lang="en-US" sz="2800" b="0" strike="noStrike" spc="0">
              <a:solidFill>
                <a:srgbClr val="000000"/>
              </a:solidFill>
              <a:latin typeface="Arial"/>
            </a:endParaRPr>
          </a:p>
          <a:p>
            <a:pPr marL="220320" indent="-220320">
              <a:lnSpc>
                <a:spcPct val="90000"/>
              </a:lnSpc>
              <a:spcBef>
                <a:spcPts val="1000"/>
              </a:spcBef>
              <a:buClr>
                <a:srgbClr val="000000"/>
              </a:buClr>
              <a:buFont typeface="Arial"/>
              <a:buChar char="•"/>
              <a:defRPr/>
            </a:pPr>
            <a:r>
              <a:rPr lang="en-US" sz="2800" b="1" strike="noStrike" spc="0">
                <a:solidFill>
                  <a:srgbClr val="000000"/>
                </a:solidFill>
                <a:latin typeface="Calibri"/>
              </a:rPr>
              <a:t>Step 1 - </a:t>
            </a:r>
            <a:r>
              <a:rPr lang="en-US" sz="2800" b="0" strike="noStrike" spc="0">
                <a:solidFill>
                  <a:srgbClr val="000000"/>
                </a:solidFill>
                <a:latin typeface="Calibri"/>
              </a:rPr>
              <a:t>Check whether tree is Empty.</a:t>
            </a:r>
            <a:endParaRPr lang="en-US" sz="2800" b="0" strike="noStrike" spc="0">
              <a:solidFill>
                <a:srgbClr val="000000"/>
              </a:solidFill>
              <a:latin typeface="Arial"/>
            </a:endParaRPr>
          </a:p>
          <a:p>
            <a:pPr marL="220320" indent="-220320">
              <a:lnSpc>
                <a:spcPct val="90000"/>
              </a:lnSpc>
              <a:spcBef>
                <a:spcPts val="1000"/>
              </a:spcBef>
              <a:buClr>
                <a:srgbClr val="000000"/>
              </a:buClr>
              <a:buFont typeface="Arial"/>
              <a:buChar char="•"/>
              <a:defRPr/>
            </a:pPr>
            <a:r>
              <a:rPr lang="en-US" sz="2800" b="1" strike="noStrike" spc="0">
                <a:solidFill>
                  <a:srgbClr val="000000"/>
                </a:solidFill>
                <a:latin typeface="Calibri"/>
              </a:rPr>
              <a:t>Step 2 - </a:t>
            </a:r>
            <a:r>
              <a:rPr lang="en-US" sz="2800" b="0" strike="noStrike" spc="0">
                <a:solidFill>
                  <a:srgbClr val="000000"/>
                </a:solidFill>
                <a:latin typeface="Calibri"/>
              </a:rPr>
              <a:t>If tree is Empty, then create a new node with new key value and insert it into the tree as a root node.</a:t>
            </a:r>
            <a:endParaRPr lang="en-US" sz="2800" b="0" strike="noStrike" spc="0">
              <a:solidFill>
                <a:srgbClr val="000000"/>
              </a:solidFill>
              <a:latin typeface="Arial"/>
            </a:endParaRPr>
          </a:p>
          <a:p>
            <a:pPr marL="220320" indent="-220320">
              <a:lnSpc>
                <a:spcPct val="90000"/>
              </a:lnSpc>
              <a:spcBef>
                <a:spcPts val="1000"/>
              </a:spcBef>
              <a:buClr>
                <a:srgbClr val="000000"/>
              </a:buClr>
              <a:buFont typeface="Arial"/>
              <a:buChar char="•"/>
              <a:defRPr/>
            </a:pPr>
            <a:r>
              <a:rPr lang="en-US" sz="2800" b="1" strike="noStrike" spc="0">
                <a:solidFill>
                  <a:srgbClr val="000000"/>
                </a:solidFill>
                <a:latin typeface="Calibri"/>
              </a:rPr>
              <a:t>Step 3 - </a:t>
            </a:r>
            <a:r>
              <a:rPr lang="en-US" sz="2800" b="0" strike="noStrike" spc="0">
                <a:solidFill>
                  <a:srgbClr val="000000"/>
                </a:solidFill>
                <a:latin typeface="Calibri"/>
              </a:rPr>
              <a:t>If tree is Not Empty, then find the suitable leaf node to which the new key value is added using Binary Search Tree logic.</a:t>
            </a:r>
            <a:endParaRPr lang="en-US" sz="2800" b="0" strike="noStrike" spc="0">
              <a:solidFill>
                <a:srgbClr val="000000"/>
              </a:solidFill>
              <a:latin typeface="Arial"/>
            </a:endParaRPr>
          </a:p>
          <a:p>
            <a:pPr marL="220320" indent="-220320">
              <a:lnSpc>
                <a:spcPct val="90000"/>
              </a:lnSpc>
              <a:spcBef>
                <a:spcPts val="1000"/>
              </a:spcBef>
              <a:buClr>
                <a:srgbClr val="000000"/>
              </a:buClr>
              <a:buFont typeface="Arial"/>
              <a:buChar char="•"/>
              <a:defRPr/>
            </a:pPr>
            <a:r>
              <a:rPr lang="en-US" sz="2800" b="1" strike="noStrike" spc="0">
                <a:solidFill>
                  <a:srgbClr val="000000"/>
                </a:solidFill>
                <a:latin typeface="Calibri"/>
              </a:rPr>
              <a:t>Step 4 - </a:t>
            </a:r>
            <a:r>
              <a:rPr lang="en-US" sz="2800" b="0" strike="noStrike" spc="0">
                <a:solidFill>
                  <a:srgbClr val="000000"/>
                </a:solidFill>
                <a:latin typeface="Calibri"/>
              </a:rPr>
              <a:t>If that leaf node has empty position, add the new key value to that leaf node in ascending order of key value within the node.</a:t>
            </a:r>
            <a:endParaRPr lang="en-US" sz="2800" b="0" strike="noStrike" spc="0">
              <a:solidFill>
                <a:srgbClr val="000000"/>
              </a:solidFill>
              <a:latin typeface="Arial"/>
            </a:endParaRPr>
          </a:p>
          <a:p>
            <a:pPr marL="220320" indent="-220320">
              <a:lnSpc>
                <a:spcPct val="90000"/>
              </a:lnSpc>
              <a:spcBef>
                <a:spcPts val="1000"/>
              </a:spcBef>
              <a:buClr>
                <a:srgbClr val="000000"/>
              </a:buClr>
              <a:buFont typeface="Arial"/>
              <a:buChar char="•"/>
              <a:defRPr/>
            </a:pPr>
            <a:r>
              <a:rPr lang="en-US" sz="2800" b="1" strike="noStrike" spc="0">
                <a:solidFill>
                  <a:srgbClr val="000000"/>
                </a:solidFill>
                <a:latin typeface="Calibri"/>
              </a:rPr>
              <a:t>Step 5 - </a:t>
            </a:r>
            <a:r>
              <a:rPr lang="en-US" sz="2800" b="0" strike="noStrike" spc="0">
                <a:solidFill>
                  <a:srgbClr val="000000"/>
                </a:solidFill>
                <a:latin typeface="Calibri"/>
              </a:rPr>
              <a:t>If that leaf node is already full, split that leaf node by sending middle value to its parent node. Repeat the same until the sending value is fixed into a node.</a:t>
            </a:r>
            <a:endParaRPr lang="en-US" sz="2800" b="0" strike="noStrike" spc="0">
              <a:solidFill>
                <a:srgbClr val="000000"/>
              </a:solidFill>
              <a:latin typeface="Arial"/>
            </a:endParaRPr>
          </a:p>
          <a:p>
            <a:pPr marL="220320" indent="-220320">
              <a:lnSpc>
                <a:spcPct val="90000"/>
              </a:lnSpc>
              <a:spcBef>
                <a:spcPts val="1000"/>
              </a:spcBef>
              <a:buClr>
                <a:srgbClr val="000000"/>
              </a:buClr>
              <a:buFont typeface="Arial"/>
              <a:buChar char="•"/>
              <a:defRPr/>
            </a:pPr>
            <a:r>
              <a:rPr lang="en-US" sz="2800" b="1" strike="noStrike" spc="0">
                <a:solidFill>
                  <a:srgbClr val="000000"/>
                </a:solidFill>
                <a:latin typeface="Calibri"/>
              </a:rPr>
              <a:t>Step 6 -</a:t>
            </a:r>
            <a:r>
              <a:rPr lang="en-US" sz="2800" b="0" strike="noStrike" spc="0">
                <a:solidFill>
                  <a:srgbClr val="000000"/>
                </a:solidFill>
                <a:latin typeface="Calibri"/>
              </a:rPr>
              <a:t> If the spilting is performed at root node then the middle value becomes new root node for the tree and the height of the tree is increased by one.</a:t>
            </a:r>
            <a:endParaRPr lang="en-US" sz="2800" b="0" strike="noStrike" spc="0">
              <a:solidFill>
                <a:srgbClr val="000000"/>
              </a:solidFill>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29964385" name="PlaceHolder 1"/>
          <p:cNvSpPr>
            <a:spLocks noGrp="1"/>
          </p:cNvSpPr>
          <p:nvPr>
            <p:ph type="title"/>
          </p:nvPr>
        </p:nvSpPr>
        <p:spPr bwMode="auto">
          <a:xfrm>
            <a:off x="838080" y="365040"/>
            <a:ext cx="10514520" cy="132444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0" strike="noStrike" spc="0">
                <a:solidFill>
                  <a:srgbClr val="000000"/>
                </a:solidFill>
                <a:latin typeface="Calibri Light"/>
              </a:rPr>
              <a:t>B-tree Practice Question</a:t>
            </a:r>
            <a:endParaRPr lang="en-US" sz="4400" b="0" strike="noStrike" spc="0">
              <a:solidFill>
                <a:srgbClr val="000000"/>
              </a:solidFill>
              <a:latin typeface="Arial"/>
            </a:endParaRPr>
          </a:p>
        </p:txBody>
      </p:sp>
      <p:sp>
        <p:nvSpPr>
          <p:cNvPr id="1079812869" name="PlaceHolder 2"/>
          <p:cNvSpPr>
            <a:spLocks noGrp="1"/>
          </p:cNvSpPr>
          <p:nvPr>
            <p:ph/>
          </p:nvPr>
        </p:nvSpPr>
        <p:spPr bwMode="auto">
          <a:xfrm>
            <a:off x="838080" y="1825560"/>
            <a:ext cx="10514520" cy="4350240"/>
          </a:xfrm>
          <a:prstGeom prst="rect">
            <a:avLst/>
          </a:prstGeom>
          <a:noFill/>
          <a:ln w="0">
            <a:noFill/>
          </a:ln>
        </p:spPr>
        <p:txBody>
          <a:bodyPr lIns="90000" tIns="45000" rIns="90000" bIns="45000" anchor="t">
            <a:noAutofit/>
          </a:bodyPr>
          <a:lstStyle/>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Order of 3</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1,2,3,4,5,6,7,8,9,10</a:t>
            </a:r>
            <a:endParaRPr lang="en-US" sz="24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Order of 4</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5,9,3,7,1,2,8,6,0,4</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13,76,45,28,47,23,33,29,18,45,56,24,78,88,12</a:t>
            </a:r>
            <a:endParaRPr lang="en-US" sz="2400" b="0" strike="noStrike" spc="0">
              <a:solidFill>
                <a:srgbClr val="000000"/>
              </a:solidFill>
              <a:latin typeface="Arial"/>
            </a:endParaRPr>
          </a:p>
          <a:p>
            <a:pPr marL="228600" indent="-228600">
              <a:lnSpc>
                <a:spcPct val="90000"/>
              </a:lnSpc>
              <a:spcBef>
                <a:spcPts val="1000"/>
              </a:spcBef>
              <a:buClr>
                <a:srgbClr val="000000"/>
              </a:buClr>
              <a:buFont typeface="Arial"/>
              <a:buChar char="•"/>
              <a:defRPr/>
            </a:pPr>
            <a:r>
              <a:rPr lang="en-US" sz="2800" b="0" strike="noStrike" spc="0">
                <a:solidFill>
                  <a:srgbClr val="000000"/>
                </a:solidFill>
                <a:latin typeface="Calibri"/>
              </a:rPr>
              <a:t>Order of 5</a:t>
            </a:r>
            <a:endParaRPr lang="en-US" sz="28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8,14,2,15,3,1,16,6,5,27,37,18,25,7,13,20,22,23,24</a:t>
            </a:r>
            <a:endParaRPr lang="en-US" sz="2400" b="0" strike="noStrike" spc="0">
              <a:solidFill>
                <a:srgbClr val="000000"/>
              </a:solidFill>
              <a:latin typeface="Arial"/>
            </a:endParaRPr>
          </a:p>
          <a:p>
            <a:pPr marL="685800" lvl="1" indent="-228600">
              <a:lnSpc>
                <a:spcPct val="90000"/>
              </a:lnSpc>
              <a:spcBef>
                <a:spcPts val="498"/>
              </a:spcBef>
              <a:buClr>
                <a:srgbClr val="000000"/>
              </a:buClr>
              <a:buFont typeface="Arial"/>
              <a:buChar char="•"/>
              <a:defRPr/>
            </a:pPr>
            <a:r>
              <a:rPr lang="en-US" sz="2400" b="0" strike="noStrike" spc="0">
                <a:solidFill>
                  <a:srgbClr val="000000"/>
                </a:solidFill>
                <a:latin typeface="Calibri"/>
              </a:rPr>
              <a:t>A,G,F,B,K,D,H,M,J,E,S,I,R,X,C,L,N,T,U,P</a:t>
            </a:r>
            <a:endParaRPr lang="en-US" sz="2400" b="0" strike="noStrike" spc="0">
              <a:solidFill>
                <a:srgbClr val="000000"/>
              </a:solidFill>
              <a:latin typeface="Arial"/>
            </a:endParaRPr>
          </a:p>
          <a:p>
            <a:pPr indent="0">
              <a:lnSpc>
                <a:spcPct val="90000"/>
              </a:lnSpc>
              <a:spcBef>
                <a:spcPts val="498"/>
              </a:spcBef>
              <a:buNone/>
              <a:tabLst>
                <a:tab pos="0" algn="l"/>
              </a:tabLst>
              <a:defRPr/>
            </a:pPr>
            <a:endParaRPr lang="en-US" sz="2400" b="0" strike="noStrike" spc="0">
              <a:solidFill>
                <a:srgbClr val="000000"/>
              </a:solidFill>
              <a:latin typeface="Arial"/>
            </a:endParaRPr>
          </a:p>
          <a:p>
            <a:pPr marL="457200" indent="0">
              <a:lnSpc>
                <a:spcPct val="90000"/>
              </a:lnSpc>
              <a:spcBef>
                <a:spcPts val="498"/>
              </a:spcBef>
              <a:buNone/>
              <a:tabLst>
                <a:tab pos="0" algn="l"/>
              </a:tabLst>
              <a:defRPr/>
            </a:pPr>
            <a:endParaRPr lang="en-US" sz="2400" b="0" strike="noStrike" spc="0">
              <a:solidFill>
                <a:srgbClr val="000000"/>
              </a:solidFill>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94802753" name="Title 1"/>
          <p:cNvSpPr>
            <a:spLocks noGrp="1"/>
          </p:cNvSpPr>
          <p:nvPr>
            <p:ph type="title"/>
          </p:nvPr>
        </p:nvSpPr>
        <p:spPr bwMode="auto"/>
        <p:txBody>
          <a:bodyPr/>
          <a:lstStyle/>
          <a:p>
            <a:pPr>
              <a:defRPr/>
            </a:pPr>
            <a:r>
              <a:t>Huffman Algorithm</a:t>
            </a:r>
          </a:p>
        </p:txBody>
      </p:sp>
      <p:sp>
        <p:nvSpPr>
          <p:cNvPr id="1722804872"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90000" lnSpcReduction="2000"/>
          </a:bodyPr>
          <a:lstStyle/>
          <a:p>
            <a:pPr>
              <a:defRPr/>
            </a:pPr>
            <a:r>
              <a:rPr lang="en-US" sz="2800" b="0" i="0" u="none" strike="noStrike" cap="none" spc="0">
                <a:solidFill>
                  <a:schemeClr val="tx1"/>
                </a:solidFill>
                <a:latin typeface="Arial"/>
                <a:ea typeface="Arial"/>
                <a:cs typeface="Arial"/>
              </a:rPr>
              <a:t>When constructing a Huffman tree, which is a specific type of binary tree used in the encoding process, a full binary tree is preferred for efficiency. </a:t>
            </a:r>
          </a:p>
          <a:p>
            <a:pPr>
              <a:defRPr/>
            </a:pPr>
            <a:r>
              <a:rPr lang="en-US" sz="2800" b="0" i="0" u="none" strike="noStrike" cap="none" spc="0">
                <a:solidFill>
                  <a:schemeClr val="tx1"/>
                </a:solidFill>
                <a:latin typeface="Arial"/>
                <a:ea typeface="Arial"/>
                <a:cs typeface="Arial"/>
              </a:rPr>
              <a:t>This is because, in a full binary tree, each internal node has exactly two children, ensuring that the resulting code will be uniquely decodable. </a:t>
            </a:r>
          </a:p>
          <a:p>
            <a:pPr>
              <a:defRPr/>
            </a:pPr>
            <a:r>
              <a:rPr lang="en-US" sz="2800" b="0" i="0" u="none" strike="noStrike" cap="none" spc="0">
                <a:solidFill>
                  <a:schemeClr val="tx1"/>
                </a:solidFill>
                <a:latin typeface="Arial"/>
                <a:ea typeface="Arial"/>
                <a:cs typeface="Arial"/>
              </a:rPr>
              <a:t>Huffman coding is a technique used for lossless data compression, commonly used in file compression algorithms like ZIP. </a:t>
            </a:r>
          </a:p>
          <a:p>
            <a:pPr>
              <a:defRPr/>
            </a:pPr>
            <a:r>
              <a:rPr lang="en-US" sz="2800" b="0" i="0" u="none" strike="noStrike" cap="none" spc="0">
                <a:solidFill>
                  <a:schemeClr val="tx1"/>
                </a:solidFill>
                <a:latin typeface="Arial"/>
                <a:ea typeface="Arial"/>
                <a:cs typeface="Arial"/>
              </a:rPr>
              <a:t>It works by assigning variable-length codes to input characters, with shorter codes assigned to more frequent characters, thus reducing the average number of bits required to represent the data.</a:t>
            </a:r>
            <a:endParaRPr lang="en-US" sz="2800" b="0" i="0" u="none" strike="noStrike" cap="none" spc="0">
              <a:solidFill>
                <a:schemeClr val="tx1"/>
              </a:solidFill>
              <a:latin typeface="Arial"/>
              <a:cs typeface="Arial"/>
            </a:endParaRPr>
          </a:p>
          <a:p>
            <a:pPr>
              <a:defRPr/>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60482368" name="Title 1"/>
          <p:cNvSpPr>
            <a:spLocks noGrp="1"/>
          </p:cNvSpPr>
          <p:nvPr>
            <p:ph type="title"/>
          </p:nvPr>
        </p:nvSpPr>
        <p:spPr bwMode="auto"/>
        <p:txBody>
          <a:bodyPr/>
          <a:lstStyle/>
          <a:p>
            <a:pPr>
              <a:defRPr/>
            </a:pPr>
            <a:r>
              <a:rPr lang="en-US" sz="4400" b="0" i="0" u="none" strike="noStrike" cap="none" spc="0">
                <a:solidFill>
                  <a:schemeClr val="tx1"/>
                </a:solidFill>
                <a:latin typeface="+mj-lt"/>
                <a:ea typeface="+mj-ea"/>
                <a:cs typeface="+mj-cs"/>
              </a:rPr>
              <a:t>Huffman Coding</a:t>
            </a:r>
            <a:endParaRPr sz="4400"/>
          </a:p>
        </p:txBody>
      </p:sp>
      <p:sp>
        <p:nvSpPr>
          <p:cNvPr id="895992750" name="Content Placeholder 2"/>
          <p:cNvSpPr>
            <a:spLocks noGrp="1"/>
          </p:cNvSpPr>
          <p:nvPr>
            <p:ph idx="1"/>
          </p:nvPr>
        </p:nvSpPr>
        <p:spPr bwMode="auto"/>
        <p:txBody>
          <a:bodyPr/>
          <a:lstStyle/>
          <a:p>
            <a:pPr>
              <a:defRPr/>
            </a:pPr>
            <a:r>
              <a:t>ASCII</a:t>
            </a:r>
          </a:p>
          <a:p>
            <a:pPr lvl="1">
              <a:defRPr/>
            </a:pPr>
            <a:r>
              <a:rPr lang="en-US" sz="2400" b="0" i="0" u="none" strike="noStrike" cap="none" spc="0">
                <a:solidFill>
                  <a:schemeClr val="tx1"/>
                </a:solidFill>
                <a:latin typeface="+mn-lt"/>
                <a:ea typeface="+mn-ea"/>
                <a:cs typeface="+mn-cs"/>
              </a:rPr>
              <a:t>A =&gt;65 =&gt;01000001 =&gt; for single character we need 8 bits</a:t>
            </a:r>
            <a:endParaRPr lang="en-US" sz="2400" b="0" i="0" u="none" strike="noStrike" cap="none" spc="0">
              <a:solidFill>
                <a:schemeClr val="tx1"/>
              </a:solidFill>
              <a:latin typeface="Times New Roman"/>
              <a:cs typeface="Times New Roman"/>
            </a:endParaRPr>
          </a:p>
          <a:p>
            <a:pPr lvl="2">
              <a:defRPr/>
            </a:pPr>
            <a:r>
              <a:rPr lang="en-US" sz="2000" b="0" i="0" u="none" strike="noStrike" cap="none" spc="0">
                <a:solidFill>
                  <a:schemeClr val="tx1"/>
                </a:solidFill>
                <a:latin typeface="Arial"/>
                <a:ea typeface="Arial"/>
                <a:cs typeface="Arial"/>
              </a:rPr>
              <a:t>1bit =&gt;2 character ,2bit =&gt;4 character </a:t>
            </a:r>
            <a:endParaRPr sz="2400"/>
          </a:p>
          <a:p>
            <a:pPr lvl="2">
              <a:defRPr/>
            </a:pPr>
            <a:r>
              <a:rPr lang="en-US" sz="2000" b="0" i="0" u="none" strike="noStrike" cap="none" spc="0">
                <a:solidFill>
                  <a:schemeClr val="tx1"/>
                </a:solidFill>
                <a:latin typeface="+mn-lt"/>
                <a:ea typeface="+mn-ea"/>
                <a:cs typeface="+mn-cs"/>
              </a:rPr>
              <a:t>Fixed length coding</a:t>
            </a:r>
            <a:endParaRPr lang="en-US" sz="2000" b="0" i="0" u="none" strike="noStrike" cap="none" spc="0">
              <a:solidFill>
                <a:schemeClr val="tx1"/>
              </a:solidFill>
              <a:latin typeface="Times New Roman"/>
              <a:cs typeface="Times New Roman"/>
            </a:endParaRPr>
          </a:p>
          <a:p>
            <a:pPr lvl="2">
              <a:defRPr/>
            </a:pPr>
            <a:r>
              <a:rPr lang="en-US" sz="2000" b="0" i="0" u="none" strike="noStrike" cap="none" spc="0">
                <a:solidFill>
                  <a:schemeClr val="tx1"/>
                </a:solidFill>
                <a:latin typeface="Arial"/>
                <a:ea typeface="Arial"/>
                <a:cs typeface="Arial"/>
              </a:rPr>
              <a:t>Send file also (along with our conversion) //basically rule for conversion</a:t>
            </a:r>
            <a:endParaRPr/>
          </a:p>
          <a:p>
            <a:pPr>
              <a:defRPr/>
            </a:pPr>
            <a:r>
              <a:t>Huffman coding</a:t>
            </a:r>
          </a:p>
          <a:p>
            <a:pPr lvl="1">
              <a:defRPr/>
            </a:pPr>
            <a:r>
              <a:t>Variable length coding</a:t>
            </a:r>
          </a:p>
          <a:p>
            <a:pPr lvl="1">
              <a:defRPr/>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67499679"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Huffman Coding</a:t>
            </a:r>
            <a:endParaRPr sz="4400"/>
          </a:p>
        </p:txBody>
      </p:sp>
      <p:sp>
        <p:nvSpPr>
          <p:cNvPr id="1988644184"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90000" lnSpcReduction="2000"/>
          </a:bodyPr>
          <a:lstStyle/>
          <a:p>
            <a:pPr marL="457200" lvl="1" indent="0">
              <a:buFont typeface="Arial"/>
              <a:buNone/>
              <a:defRPr/>
            </a:pPr>
            <a:r>
              <a:t>1.frequency in ascending order (frequency is number of character repetition)</a:t>
            </a:r>
          </a:p>
          <a:p>
            <a:pPr marL="457200" lvl="1" indent="0">
              <a:buFont typeface="Arial"/>
              <a:buNone/>
              <a:defRPr/>
            </a:pPr>
            <a:r>
              <a:t>2.take 2 minimum frequency [from order] character where from those 2 character smallest in left and greater in right and sum the frequency (make tree)</a:t>
            </a:r>
          </a:p>
          <a:p>
            <a:pPr marL="457200" lvl="1" indent="0">
              <a:buFont typeface="Arial"/>
              <a:buNone/>
              <a:defRPr/>
            </a:pPr>
            <a:r>
              <a:t>3. Now again re- arrange the frequency table </a:t>
            </a:r>
          </a:p>
          <a:p>
            <a:pPr marL="457200" lvl="1" indent="0">
              <a:buFont typeface="Arial"/>
              <a:buNone/>
              <a:defRPr/>
            </a:pPr>
            <a:r>
              <a:t>4. Repeat step 2 and 3</a:t>
            </a:r>
          </a:p>
          <a:p>
            <a:pPr marL="457200" lvl="1" indent="0">
              <a:buFont typeface="Arial"/>
              <a:buNone/>
              <a:defRPr/>
            </a:pPr>
            <a:r>
              <a:t>5. End all character should be in leaf node.</a:t>
            </a:r>
          </a:p>
          <a:p>
            <a:pPr marL="457200" lvl="1" indent="0">
              <a:buFont typeface="Arial"/>
              <a:buNone/>
              <a:defRPr/>
            </a:pPr>
            <a:r>
              <a:t>6. Now give each edge a value left side 0 and right side 1</a:t>
            </a:r>
          </a:p>
          <a:p>
            <a:pPr marL="457200" lvl="1" indent="0">
              <a:buFont typeface="Arial"/>
              <a:buNone/>
              <a:defRPr/>
            </a:pPr>
            <a:r>
              <a:t>7. Now go from root to the leaf node until character found following each edge and you will get the binary value</a:t>
            </a:r>
          </a:p>
          <a:p>
            <a:pPr marL="457200" lvl="1" indent="0">
              <a:buFont typeface="Arial"/>
              <a:buNone/>
              <a:defRPr/>
            </a:pPr>
            <a:r>
              <a:t>8. Now calculate size by =&gt; frequency*number of bits </a:t>
            </a:r>
          </a:p>
          <a:p>
            <a:pPr marL="457200" lvl="1" indent="0">
              <a:buFont typeface="Arial"/>
              <a:buNone/>
              <a:defRPr/>
            </a:pPr>
            <a:endParaRPr/>
          </a:p>
          <a:p>
            <a:pPr marL="457200" lvl="1" indent="0">
              <a:buFont typeface="Arial"/>
              <a:buNone/>
              <a:defRPr/>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91184039" name="Title 1"/>
          <p:cNvSpPr>
            <a:spLocks noGrp="1"/>
          </p:cNvSpPr>
          <p:nvPr>
            <p:ph type="title"/>
          </p:nvPr>
        </p:nvSpPr>
        <p:spPr bwMode="auto"/>
        <p:txBody>
          <a:bodyPr/>
          <a:lstStyle/>
          <a:p>
            <a:pPr>
              <a:defRPr/>
            </a:pPr>
            <a:r>
              <a:t>Example</a:t>
            </a:r>
          </a:p>
        </p:txBody>
      </p:sp>
      <p:graphicFrame>
        <p:nvGraphicFramePr>
          <p:cNvPr id="51731953" name="Table 51731952"/>
          <p:cNvGraphicFramePr>
            <a:graphicFrameLocks/>
          </p:cNvGraphicFramePr>
          <p:nvPr/>
        </p:nvGraphicFramePr>
        <p:xfrm>
          <a:off x="950346" y="4681133"/>
          <a:ext cx="8127995" cy="731520"/>
        </p:xfrm>
        <a:graphic>
          <a:graphicData uri="http://schemas.openxmlformats.org/drawingml/2006/table">
            <a:tbl>
              <a:tblPr firstRow="1" bandRow="1">
                <a:tableStyleId>{5C22544A-7EE6-4342-B048-85BDC9FD1C3A}</a:tableStyleId>
              </a:tblPr>
              <a:tblGrid>
                <a:gridCol w="1530000">
                  <a:extLst>
                    <a:ext uri="{9D8B030D-6E8A-4147-A177-3AD203B41FA5}">
                      <a16:colId xmlns:a16="http://schemas.microsoft.com/office/drawing/2014/main" val="20000"/>
                    </a:ext>
                  </a:extLst>
                </a:gridCol>
                <a:gridCol w="792285">
                  <a:extLst>
                    <a:ext uri="{9D8B030D-6E8A-4147-A177-3AD203B41FA5}">
                      <a16:colId xmlns:a16="http://schemas.microsoft.com/office/drawing/2014/main" val="20001"/>
                    </a:ext>
                  </a:extLst>
                </a:gridCol>
                <a:gridCol w="1161142">
                  <a:extLst>
                    <a:ext uri="{9D8B030D-6E8A-4147-A177-3AD203B41FA5}">
                      <a16:colId xmlns:a16="http://schemas.microsoft.com/office/drawing/2014/main" val="20002"/>
                    </a:ext>
                  </a:extLst>
                </a:gridCol>
                <a:gridCol w="1161142">
                  <a:extLst>
                    <a:ext uri="{9D8B030D-6E8A-4147-A177-3AD203B41FA5}">
                      <a16:colId xmlns:a16="http://schemas.microsoft.com/office/drawing/2014/main" val="20003"/>
                    </a:ext>
                  </a:extLst>
                </a:gridCol>
                <a:gridCol w="1161142">
                  <a:extLst>
                    <a:ext uri="{9D8B030D-6E8A-4147-A177-3AD203B41FA5}">
                      <a16:colId xmlns:a16="http://schemas.microsoft.com/office/drawing/2014/main" val="20004"/>
                    </a:ext>
                  </a:extLst>
                </a:gridCol>
                <a:gridCol w="1161142">
                  <a:extLst>
                    <a:ext uri="{9D8B030D-6E8A-4147-A177-3AD203B41FA5}">
                      <a16:colId xmlns:a16="http://schemas.microsoft.com/office/drawing/2014/main" val="20005"/>
                    </a:ext>
                  </a:extLst>
                </a:gridCol>
                <a:gridCol w="1161142">
                  <a:extLst>
                    <a:ext uri="{9D8B030D-6E8A-4147-A177-3AD203B41FA5}">
                      <a16:colId xmlns:a16="http://schemas.microsoft.com/office/drawing/2014/main" val="20006"/>
                    </a:ext>
                  </a:extLst>
                </a:gridCol>
              </a:tblGrid>
              <a:tr h="365760">
                <a:tc>
                  <a:txBody>
                    <a:bodyPr/>
                    <a:lstStyle/>
                    <a:p>
                      <a:pPr>
                        <a:defRPr/>
                      </a:pPr>
                      <a:r>
                        <a:t>Character</a:t>
                      </a:r>
                    </a:p>
                  </a:txBody>
                  <a:tcPr/>
                </a:tc>
                <a:tc>
                  <a:txBody>
                    <a:bodyPr/>
                    <a:lstStyle/>
                    <a:p>
                      <a:pPr>
                        <a:defRPr/>
                      </a:pPr>
                      <a:r>
                        <a:t>P</a:t>
                      </a:r>
                    </a:p>
                  </a:txBody>
                  <a:tcPr/>
                </a:tc>
                <a:tc>
                  <a:txBody>
                    <a:bodyPr/>
                    <a:lstStyle/>
                    <a:p>
                      <a:pPr>
                        <a:defRPr/>
                      </a:pPr>
                      <a:r>
                        <a:t>O</a:t>
                      </a:r>
                    </a:p>
                  </a:txBody>
                  <a:tcPr/>
                </a:tc>
                <a:tc>
                  <a:txBody>
                    <a:bodyPr/>
                    <a:lstStyle/>
                    <a:p>
                      <a:pPr>
                        <a:defRPr/>
                      </a:pPr>
                      <a:r>
                        <a:t>K</a:t>
                      </a:r>
                    </a:p>
                  </a:txBody>
                  <a:tcPr/>
                </a:tc>
                <a:tc>
                  <a:txBody>
                    <a:bodyPr/>
                    <a:lstStyle/>
                    <a:p>
                      <a:pPr>
                        <a:defRPr/>
                      </a:pPr>
                      <a:r>
                        <a:t>H</a:t>
                      </a:r>
                    </a:p>
                  </a:txBody>
                  <a:tcPr/>
                </a:tc>
                <a:tc>
                  <a:txBody>
                    <a:bodyPr/>
                    <a:lstStyle/>
                    <a:p>
                      <a:pPr>
                        <a:defRPr/>
                      </a:pPr>
                      <a:r>
                        <a:t>A</a:t>
                      </a:r>
                    </a:p>
                  </a:txBody>
                  <a:tcPr/>
                </a:tc>
                <a:tc>
                  <a:txBody>
                    <a:bodyPr/>
                    <a:lstStyle/>
                    <a:p>
                      <a:pPr>
                        <a:defRPr/>
                      </a:pPr>
                      <a:r>
                        <a:t>R</a:t>
                      </a:r>
                    </a:p>
                  </a:txBody>
                  <a:tcPr/>
                </a:tc>
                <a:extLst>
                  <a:ext uri="{0D108BD9-81ED-4DB2-BD59-A6C34878D82A}">
                    <a16:rowId xmlns:a16="http://schemas.microsoft.com/office/drawing/2014/main" val="10000"/>
                  </a:ext>
                </a:extLst>
              </a:tr>
              <a:tr h="365760">
                <a:tc>
                  <a:txBody>
                    <a:bodyPr/>
                    <a:lstStyle/>
                    <a:p>
                      <a:pPr>
                        <a:defRPr/>
                      </a:pPr>
                      <a:r>
                        <a:t>Frequency</a:t>
                      </a:r>
                    </a:p>
                  </a:txBody>
                  <a:tcPr/>
                </a:tc>
                <a:tc>
                  <a:txBody>
                    <a:bodyPr/>
                    <a:lstStyle/>
                    <a:p>
                      <a:pPr>
                        <a:defRPr/>
                      </a:pPr>
                      <a:r>
                        <a:t>22</a:t>
                      </a:r>
                    </a:p>
                  </a:txBody>
                  <a:tcPr/>
                </a:tc>
                <a:tc>
                  <a:txBody>
                    <a:bodyPr/>
                    <a:lstStyle/>
                    <a:p>
                      <a:pPr>
                        <a:defRPr/>
                      </a:pPr>
                      <a:r>
                        <a:t>9</a:t>
                      </a:r>
                    </a:p>
                  </a:txBody>
                  <a:tcPr/>
                </a:tc>
                <a:tc>
                  <a:txBody>
                    <a:bodyPr/>
                    <a:lstStyle/>
                    <a:p>
                      <a:pPr>
                        <a:defRPr/>
                      </a:pPr>
                      <a:r>
                        <a:t>41</a:t>
                      </a:r>
                    </a:p>
                  </a:txBody>
                  <a:tcPr/>
                </a:tc>
                <a:tc>
                  <a:txBody>
                    <a:bodyPr/>
                    <a:lstStyle/>
                    <a:p>
                      <a:pPr>
                        <a:defRPr/>
                      </a:pPr>
                      <a:r>
                        <a:t>7</a:t>
                      </a:r>
                    </a:p>
                  </a:txBody>
                  <a:tcPr/>
                </a:tc>
                <a:tc>
                  <a:txBody>
                    <a:bodyPr/>
                    <a:lstStyle/>
                    <a:p>
                      <a:pPr>
                        <a:defRPr/>
                      </a:pPr>
                      <a:r>
                        <a:t>2</a:t>
                      </a:r>
                    </a:p>
                  </a:txBody>
                  <a:tcPr/>
                </a:tc>
                <a:tc>
                  <a:txBody>
                    <a:bodyPr/>
                    <a:lstStyle/>
                    <a:p>
                      <a:pPr>
                        <a:defRPr/>
                      </a:pPr>
                      <a:r>
                        <a:t>32</a:t>
                      </a:r>
                    </a:p>
                  </a:txBody>
                  <a:tcPr/>
                </a:tc>
                <a:extLst>
                  <a:ext uri="{0D108BD9-81ED-4DB2-BD59-A6C34878D82A}">
                    <a16:rowId xmlns:a16="http://schemas.microsoft.com/office/drawing/2014/main" val="10001"/>
                  </a:ext>
                </a:extLst>
              </a:tr>
            </a:tbl>
          </a:graphicData>
        </a:graphic>
      </p:graphicFrame>
      <p:graphicFrame>
        <p:nvGraphicFramePr>
          <p:cNvPr id="613547467" name="Table 613547466"/>
          <p:cNvGraphicFramePr>
            <a:graphicFrameLocks/>
          </p:cNvGraphicFramePr>
          <p:nvPr/>
        </p:nvGraphicFramePr>
        <p:xfrm>
          <a:off x="963046" y="2356387"/>
          <a:ext cx="8127996" cy="731520"/>
        </p:xfrm>
        <a:graphic>
          <a:graphicData uri="http://schemas.openxmlformats.org/drawingml/2006/table">
            <a:tbl>
              <a:tblPr firstRow="1" bandRow="1">
                <a:tableStyleId>{5C22544A-7EE6-4342-B048-85BDC9FD1C3A}</a:tableStyleId>
              </a:tblPr>
              <a:tblGrid>
                <a:gridCol w="1354666">
                  <a:extLst>
                    <a:ext uri="{9D8B030D-6E8A-4147-A177-3AD203B41FA5}">
                      <a16:colId xmlns:a16="http://schemas.microsoft.com/office/drawing/2014/main" val="20000"/>
                    </a:ext>
                  </a:extLst>
                </a:gridCol>
                <a:gridCol w="1354666">
                  <a:extLst>
                    <a:ext uri="{9D8B030D-6E8A-4147-A177-3AD203B41FA5}">
                      <a16:colId xmlns:a16="http://schemas.microsoft.com/office/drawing/2014/main" val="20001"/>
                    </a:ext>
                  </a:extLst>
                </a:gridCol>
                <a:gridCol w="1354666">
                  <a:extLst>
                    <a:ext uri="{9D8B030D-6E8A-4147-A177-3AD203B41FA5}">
                      <a16:colId xmlns:a16="http://schemas.microsoft.com/office/drawing/2014/main" val="20002"/>
                    </a:ext>
                  </a:extLst>
                </a:gridCol>
                <a:gridCol w="1354666">
                  <a:extLst>
                    <a:ext uri="{9D8B030D-6E8A-4147-A177-3AD203B41FA5}">
                      <a16:colId xmlns:a16="http://schemas.microsoft.com/office/drawing/2014/main" val="20003"/>
                    </a:ext>
                  </a:extLst>
                </a:gridCol>
                <a:gridCol w="1354666">
                  <a:extLst>
                    <a:ext uri="{9D8B030D-6E8A-4147-A177-3AD203B41FA5}">
                      <a16:colId xmlns:a16="http://schemas.microsoft.com/office/drawing/2014/main" val="20004"/>
                    </a:ext>
                  </a:extLst>
                </a:gridCol>
                <a:gridCol w="1354666">
                  <a:extLst>
                    <a:ext uri="{9D8B030D-6E8A-4147-A177-3AD203B41FA5}">
                      <a16:colId xmlns:a16="http://schemas.microsoft.com/office/drawing/2014/main" val="20005"/>
                    </a:ext>
                  </a:extLst>
                </a:gridCol>
              </a:tblGrid>
              <a:tr h="365760">
                <a:tc>
                  <a:txBody>
                    <a:bodyPr/>
                    <a:lstStyle/>
                    <a:p>
                      <a:pPr>
                        <a:defRPr/>
                      </a:pPr>
                      <a:r>
                        <a:t>Character</a:t>
                      </a:r>
                    </a:p>
                  </a:txBody>
                  <a:tcPr/>
                </a:tc>
                <a:tc>
                  <a:txBody>
                    <a:bodyPr/>
                    <a:lstStyle/>
                    <a:p>
                      <a:pPr>
                        <a:defRPr/>
                      </a:pPr>
                      <a:r>
                        <a:t>A</a:t>
                      </a:r>
                    </a:p>
                  </a:txBody>
                  <a:tcPr/>
                </a:tc>
                <a:tc>
                  <a:txBody>
                    <a:bodyPr/>
                    <a:lstStyle/>
                    <a:p>
                      <a:pPr>
                        <a:defRPr/>
                      </a:pPr>
                      <a:r>
                        <a:t>B</a:t>
                      </a:r>
                    </a:p>
                  </a:txBody>
                  <a:tcPr/>
                </a:tc>
                <a:tc>
                  <a:txBody>
                    <a:bodyPr/>
                    <a:lstStyle/>
                    <a:p>
                      <a:pPr>
                        <a:defRPr/>
                      </a:pPr>
                      <a:r>
                        <a:t>C</a:t>
                      </a:r>
                    </a:p>
                  </a:txBody>
                  <a:tcPr/>
                </a:tc>
                <a:tc>
                  <a:txBody>
                    <a:bodyPr/>
                    <a:lstStyle/>
                    <a:p>
                      <a:pPr>
                        <a:defRPr/>
                      </a:pPr>
                      <a:r>
                        <a:t>D</a:t>
                      </a:r>
                    </a:p>
                  </a:txBody>
                  <a:tcPr/>
                </a:tc>
                <a:tc>
                  <a:txBody>
                    <a:bodyPr/>
                    <a:lstStyle/>
                    <a:p>
                      <a:pPr>
                        <a:defRPr/>
                      </a:pPr>
                      <a:r>
                        <a:t>E</a:t>
                      </a:r>
                    </a:p>
                  </a:txBody>
                  <a:tcPr/>
                </a:tc>
                <a:extLst>
                  <a:ext uri="{0D108BD9-81ED-4DB2-BD59-A6C34878D82A}">
                    <a16:rowId xmlns:a16="http://schemas.microsoft.com/office/drawing/2014/main" val="10000"/>
                  </a:ext>
                </a:extLst>
              </a:tr>
              <a:tr h="365760">
                <a:tc>
                  <a:txBody>
                    <a:bodyPr/>
                    <a:lstStyle/>
                    <a:p>
                      <a:pPr>
                        <a:defRPr/>
                      </a:pPr>
                      <a:r>
                        <a:t>Frequency</a:t>
                      </a:r>
                    </a:p>
                  </a:txBody>
                  <a:tcPr/>
                </a:tc>
                <a:tc>
                  <a:txBody>
                    <a:bodyPr/>
                    <a:lstStyle/>
                    <a:p>
                      <a:pPr>
                        <a:defRPr/>
                      </a:pPr>
                      <a:r>
                        <a:t>4</a:t>
                      </a:r>
                    </a:p>
                  </a:txBody>
                  <a:tcPr/>
                </a:tc>
                <a:tc>
                  <a:txBody>
                    <a:bodyPr/>
                    <a:lstStyle/>
                    <a:p>
                      <a:pPr>
                        <a:defRPr/>
                      </a:pPr>
                      <a:r>
                        <a:t>7</a:t>
                      </a:r>
                    </a:p>
                  </a:txBody>
                  <a:tcPr/>
                </a:tc>
                <a:tc>
                  <a:txBody>
                    <a:bodyPr/>
                    <a:lstStyle/>
                    <a:p>
                      <a:pPr>
                        <a:defRPr/>
                      </a:pPr>
                      <a:r>
                        <a:t>3</a:t>
                      </a:r>
                    </a:p>
                  </a:txBody>
                  <a:tcPr/>
                </a:tc>
                <a:tc>
                  <a:txBody>
                    <a:bodyPr/>
                    <a:lstStyle/>
                    <a:p>
                      <a:pPr>
                        <a:defRPr/>
                      </a:pPr>
                      <a:r>
                        <a:t>2</a:t>
                      </a:r>
                    </a:p>
                  </a:txBody>
                  <a:tcPr/>
                </a:tc>
                <a:tc>
                  <a:txBody>
                    <a:bodyPr/>
                    <a:lstStyle/>
                    <a:p>
                      <a:pPr>
                        <a:defRPr/>
                      </a:pPr>
                      <a:r>
                        <a:t>4</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3912</Words>
  <Application>Microsoft Office PowerPoint</Application>
  <PresentationFormat>Widescreen</PresentationFormat>
  <Paragraphs>368</Paragraphs>
  <Slides>49</Slides>
  <Notes>47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Calibri Light</vt:lpstr>
      <vt:lpstr>inherit</vt:lpstr>
      <vt:lpstr>Times New Roman</vt:lpstr>
      <vt:lpstr>Wingdings</vt:lpstr>
      <vt:lpstr>Office Theme</vt:lpstr>
      <vt:lpstr>Tree</vt:lpstr>
      <vt:lpstr>Introduction to Trees</vt:lpstr>
      <vt:lpstr>Introduction to Trees</vt:lpstr>
      <vt:lpstr>PowerPoint Presentation</vt:lpstr>
      <vt:lpstr>Terminologies used in Tree</vt:lpstr>
      <vt:lpstr>Terminologies used in Tree</vt:lpstr>
      <vt:lpstr>most common applications of trees</vt:lpstr>
      <vt:lpstr>most common applications of trees</vt:lpstr>
      <vt:lpstr>Binary Tree</vt:lpstr>
      <vt:lpstr>Binary Tree Components</vt:lpstr>
      <vt:lpstr>Array and Linked List Representation</vt:lpstr>
      <vt:lpstr>Types of Binary Tree</vt:lpstr>
      <vt:lpstr>Types of Binary Tree</vt:lpstr>
      <vt:lpstr>Types of Binary Tree</vt:lpstr>
      <vt:lpstr>Create a Binary tree</vt:lpstr>
      <vt:lpstr>Tree traversal </vt:lpstr>
      <vt:lpstr>Tree traversal </vt:lpstr>
      <vt:lpstr>Example</vt:lpstr>
      <vt:lpstr>PowerPoint Presentation</vt:lpstr>
      <vt:lpstr>Binary Search Tree</vt:lpstr>
      <vt:lpstr>Binary Search Tree</vt:lpstr>
      <vt:lpstr>PowerPoint Presentation</vt:lpstr>
      <vt:lpstr>Binary search tree</vt:lpstr>
      <vt:lpstr>Insertion Operation</vt:lpstr>
      <vt:lpstr>Deletion operation</vt:lpstr>
      <vt:lpstr>Search Operation</vt:lpstr>
      <vt:lpstr>Binary Search Tree</vt:lpstr>
      <vt:lpstr>PowerPoint Presentation</vt:lpstr>
      <vt:lpstr>Balanced binary tree</vt:lpstr>
      <vt:lpstr>Problem with unbalance binary trees</vt:lpstr>
      <vt:lpstr>Balanced binary tree</vt:lpstr>
      <vt:lpstr>AVL Tree</vt:lpstr>
      <vt:lpstr>PowerPoint Presentation</vt:lpstr>
      <vt:lpstr>AVL TREE Rotation</vt:lpstr>
      <vt:lpstr>AVL TREE Rotation</vt:lpstr>
      <vt:lpstr>AVL TREE Rotation</vt:lpstr>
      <vt:lpstr>AVL TREE Rotation</vt:lpstr>
      <vt:lpstr>AVL TREE Rotation</vt:lpstr>
      <vt:lpstr>Creation of AVL Tree</vt:lpstr>
      <vt:lpstr>Deletion on AVL Tree</vt:lpstr>
      <vt:lpstr>B-Tree</vt:lpstr>
      <vt:lpstr>B-Tree Applications</vt:lpstr>
      <vt:lpstr>B-Tree properties </vt:lpstr>
      <vt:lpstr>Insertion Operation in B-Tree</vt:lpstr>
      <vt:lpstr>B-tree Practice Question</vt:lpstr>
      <vt:lpstr>Huffman Algorithm</vt:lpstr>
      <vt:lpstr>Huffman Coding</vt:lpstr>
      <vt:lpstr>Huffman Coding</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pathak</dc:creator>
  <cp:lastModifiedBy>shiva pathak</cp:lastModifiedBy>
  <cp:revision>2</cp:revision>
  <dcterms:created xsi:type="dcterms:W3CDTF">2025-05-19T12:11:01Z</dcterms:created>
  <dcterms:modified xsi:type="dcterms:W3CDTF">2025-05-27T11:28:34Z</dcterms:modified>
</cp:coreProperties>
</file>