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8" r:id="rId3"/>
    <p:sldId id="259" r:id="rId4"/>
    <p:sldId id="260" r:id="rId5"/>
    <p:sldId id="261" r:id="rId6"/>
    <p:sldId id="262" r:id="rId7"/>
    <p:sldId id="263" r:id="rId8"/>
    <p:sldId id="264" r:id="rId9"/>
    <p:sldId id="265" r:id="rId10"/>
    <p:sldId id="266" r:id="rId11"/>
    <p:sldId id="268" r:id="rId12"/>
    <p:sldId id="269" r:id="rId13"/>
    <p:sldId id="270" r:id="rId14"/>
    <p:sldId id="271" r:id="rId15"/>
    <p:sldId id="272" r:id="rId16"/>
    <p:sldId id="273" r:id="rId17"/>
    <p:sldId id="274" r:id="rId18"/>
    <p:sldId id="275" r:id="rId19"/>
    <p:sldId id="2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1713" autoAdjust="0"/>
  </p:normalViewPr>
  <p:slideViewPr>
    <p:cSldViewPr snapToGrid="0">
      <p:cViewPr varScale="1">
        <p:scale>
          <a:sx n="66" d="100"/>
          <a:sy n="66" d="100"/>
        </p:scale>
        <p:origin x="90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35B5D1-87F7-4819-9C8F-19C504067E52}" type="datetimeFigureOut">
              <a:rPr lang="en-US" smtClean="0"/>
              <a:t>4/27/2025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24336A-0C27-46FB-B743-A74023C7809C}" type="slidenum">
              <a:rPr lang="en-US" smtClean="0"/>
              <a:t>‹#›</a:t>
            </a:fld>
            <a:endParaRPr lang="en-US"/>
          </a:p>
        </p:txBody>
      </p:sp>
    </p:spTree>
    <p:extLst>
      <p:ext uri="{BB962C8B-B14F-4D97-AF65-F5344CB8AC3E}">
        <p14:creationId xmlns:p14="http://schemas.microsoft.com/office/powerpoint/2010/main" val="1630142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 stack || postfix/output || remarks</a:t>
            </a:r>
          </a:p>
        </p:txBody>
      </p:sp>
      <p:sp>
        <p:nvSpPr>
          <p:cNvPr id="4" name="Slide Number Placeholder 3"/>
          <p:cNvSpPr>
            <a:spLocks noGrp="1"/>
          </p:cNvSpPr>
          <p:nvPr>
            <p:ph type="sldNum" sz="quarter" idx="5"/>
          </p:nvPr>
        </p:nvSpPr>
        <p:spPr/>
        <p:txBody>
          <a:bodyPr/>
          <a:lstStyle/>
          <a:p>
            <a:fld id="{A224336A-0C27-46FB-B743-A74023C7809C}" type="slidenum">
              <a:rPr lang="en-US" smtClean="0"/>
              <a:t>18</a:t>
            </a:fld>
            <a:endParaRPr lang="en-US"/>
          </a:p>
        </p:txBody>
      </p:sp>
    </p:spTree>
    <p:extLst>
      <p:ext uri="{BB962C8B-B14F-4D97-AF65-F5344CB8AC3E}">
        <p14:creationId xmlns:p14="http://schemas.microsoft.com/office/powerpoint/2010/main" val="610721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88586-A0B3-84B5-32FE-56CB0EB0B0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7B894D-38C6-93AF-34C4-C2D77331FA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B069E07-E013-1A52-B89B-A6153F5921B8}"/>
              </a:ext>
            </a:extLst>
          </p:cNvPr>
          <p:cNvSpPr>
            <a:spLocks noGrp="1"/>
          </p:cNvSpPr>
          <p:nvPr>
            <p:ph type="dt" sz="half" idx="10"/>
          </p:nvPr>
        </p:nvSpPr>
        <p:spPr/>
        <p:txBody>
          <a:bodyPr/>
          <a:lstStyle/>
          <a:p>
            <a:fld id="{8E89325C-DFEE-4CAF-B91E-2969BC33B6F5}" type="datetimeFigureOut">
              <a:rPr lang="en-US" smtClean="0"/>
              <a:t>4/27/2025</a:t>
            </a:fld>
            <a:endParaRPr lang="en-US"/>
          </a:p>
        </p:txBody>
      </p:sp>
      <p:sp>
        <p:nvSpPr>
          <p:cNvPr id="5" name="Footer Placeholder 4">
            <a:extLst>
              <a:ext uri="{FF2B5EF4-FFF2-40B4-BE49-F238E27FC236}">
                <a16:creationId xmlns:a16="http://schemas.microsoft.com/office/drawing/2014/main" id="{AAE6932D-8F81-E9FB-C26B-69A20AB0E1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1B8E34-7D73-2354-6E55-8B0E773AA3F7}"/>
              </a:ext>
            </a:extLst>
          </p:cNvPr>
          <p:cNvSpPr>
            <a:spLocks noGrp="1"/>
          </p:cNvSpPr>
          <p:nvPr>
            <p:ph type="sldNum" sz="quarter" idx="12"/>
          </p:nvPr>
        </p:nvSpPr>
        <p:spPr/>
        <p:txBody>
          <a:bodyPr/>
          <a:lstStyle/>
          <a:p>
            <a:fld id="{1E3F42A9-2E40-42DD-AA6B-FC41D4ECD035}" type="slidenum">
              <a:rPr lang="en-US" smtClean="0"/>
              <a:t>‹#›</a:t>
            </a:fld>
            <a:endParaRPr lang="en-US"/>
          </a:p>
        </p:txBody>
      </p:sp>
    </p:spTree>
    <p:extLst>
      <p:ext uri="{BB962C8B-B14F-4D97-AF65-F5344CB8AC3E}">
        <p14:creationId xmlns:p14="http://schemas.microsoft.com/office/powerpoint/2010/main" val="58650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BBA84-3B60-32DE-5CAD-8CECFD0D19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F9E337-A505-7E87-6D52-DA2DB69710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152EA-4969-BFF6-92F1-EF6192A8A8A7}"/>
              </a:ext>
            </a:extLst>
          </p:cNvPr>
          <p:cNvSpPr>
            <a:spLocks noGrp="1"/>
          </p:cNvSpPr>
          <p:nvPr>
            <p:ph type="dt" sz="half" idx="10"/>
          </p:nvPr>
        </p:nvSpPr>
        <p:spPr/>
        <p:txBody>
          <a:bodyPr/>
          <a:lstStyle/>
          <a:p>
            <a:fld id="{8E89325C-DFEE-4CAF-B91E-2969BC33B6F5}" type="datetimeFigureOut">
              <a:rPr lang="en-US" smtClean="0"/>
              <a:t>4/27/2025</a:t>
            </a:fld>
            <a:endParaRPr lang="en-US"/>
          </a:p>
        </p:txBody>
      </p:sp>
      <p:sp>
        <p:nvSpPr>
          <p:cNvPr id="5" name="Footer Placeholder 4">
            <a:extLst>
              <a:ext uri="{FF2B5EF4-FFF2-40B4-BE49-F238E27FC236}">
                <a16:creationId xmlns:a16="http://schemas.microsoft.com/office/drawing/2014/main" id="{F39CA5E1-D160-5FB3-F398-D09C8C0879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FFE2E4-55F6-E25B-028C-6B259E394368}"/>
              </a:ext>
            </a:extLst>
          </p:cNvPr>
          <p:cNvSpPr>
            <a:spLocks noGrp="1"/>
          </p:cNvSpPr>
          <p:nvPr>
            <p:ph type="sldNum" sz="quarter" idx="12"/>
          </p:nvPr>
        </p:nvSpPr>
        <p:spPr/>
        <p:txBody>
          <a:bodyPr/>
          <a:lstStyle/>
          <a:p>
            <a:fld id="{1E3F42A9-2E40-42DD-AA6B-FC41D4ECD035}" type="slidenum">
              <a:rPr lang="en-US" smtClean="0"/>
              <a:t>‹#›</a:t>
            </a:fld>
            <a:endParaRPr lang="en-US"/>
          </a:p>
        </p:txBody>
      </p:sp>
    </p:spTree>
    <p:extLst>
      <p:ext uri="{BB962C8B-B14F-4D97-AF65-F5344CB8AC3E}">
        <p14:creationId xmlns:p14="http://schemas.microsoft.com/office/powerpoint/2010/main" val="3031713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BED3-5ED9-BEC1-0EBA-2380C9C8C3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6C3A654-1D73-5909-4A45-0D3ABBAC4E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F4363C-D091-DD10-2FFE-6CAE4A437E81}"/>
              </a:ext>
            </a:extLst>
          </p:cNvPr>
          <p:cNvSpPr>
            <a:spLocks noGrp="1"/>
          </p:cNvSpPr>
          <p:nvPr>
            <p:ph type="dt" sz="half" idx="10"/>
          </p:nvPr>
        </p:nvSpPr>
        <p:spPr/>
        <p:txBody>
          <a:bodyPr/>
          <a:lstStyle/>
          <a:p>
            <a:fld id="{8E89325C-DFEE-4CAF-B91E-2969BC33B6F5}" type="datetimeFigureOut">
              <a:rPr lang="en-US" smtClean="0"/>
              <a:t>4/27/2025</a:t>
            </a:fld>
            <a:endParaRPr lang="en-US"/>
          </a:p>
        </p:txBody>
      </p:sp>
      <p:sp>
        <p:nvSpPr>
          <p:cNvPr id="5" name="Footer Placeholder 4">
            <a:extLst>
              <a:ext uri="{FF2B5EF4-FFF2-40B4-BE49-F238E27FC236}">
                <a16:creationId xmlns:a16="http://schemas.microsoft.com/office/drawing/2014/main" id="{A18233CD-ABC5-A453-6245-86551C87E2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A1733D-8C4E-8D24-6098-9484825CB784}"/>
              </a:ext>
            </a:extLst>
          </p:cNvPr>
          <p:cNvSpPr>
            <a:spLocks noGrp="1"/>
          </p:cNvSpPr>
          <p:nvPr>
            <p:ph type="sldNum" sz="quarter" idx="12"/>
          </p:nvPr>
        </p:nvSpPr>
        <p:spPr/>
        <p:txBody>
          <a:bodyPr/>
          <a:lstStyle/>
          <a:p>
            <a:fld id="{1E3F42A9-2E40-42DD-AA6B-FC41D4ECD035}" type="slidenum">
              <a:rPr lang="en-US" smtClean="0"/>
              <a:t>‹#›</a:t>
            </a:fld>
            <a:endParaRPr lang="en-US"/>
          </a:p>
        </p:txBody>
      </p:sp>
    </p:spTree>
    <p:extLst>
      <p:ext uri="{BB962C8B-B14F-4D97-AF65-F5344CB8AC3E}">
        <p14:creationId xmlns:p14="http://schemas.microsoft.com/office/powerpoint/2010/main" val="70282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F950-198F-97D1-FBE3-B18DD01958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9400D9-14CD-0A9B-59B2-E7E59323A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101CE1-F925-9CE8-F8F9-8E242CD878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A81A5D-53A3-5821-88A3-130FCA7E08A5}"/>
              </a:ext>
            </a:extLst>
          </p:cNvPr>
          <p:cNvSpPr>
            <a:spLocks noGrp="1"/>
          </p:cNvSpPr>
          <p:nvPr>
            <p:ph type="dt" sz="half" idx="10"/>
          </p:nvPr>
        </p:nvSpPr>
        <p:spPr/>
        <p:txBody>
          <a:bodyPr/>
          <a:lstStyle/>
          <a:p>
            <a:fld id="{8E89325C-DFEE-4CAF-B91E-2969BC33B6F5}" type="datetimeFigureOut">
              <a:rPr lang="en-US" smtClean="0"/>
              <a:t>4/27/2025</a:t>
            </a:fld>
            <a:endParaRPr lang="en-US"/>
          </a:p>
        </p:txBody>
      </p:sp>
      <p:sp>
        <p:nvSpPr>
          <p:cNvPr id="6" name="Footer Placeholder 5">
            <a:extLst>
              <a:ext uri="{FF2B5EF4-FFF2-40B4-BE49-F238E27FC236}">
                <a16:creationId xmlns:a16="http://schemas.microsoft.com/office/drawing/2014/main" id="{38EE4138-334B-683C-C7D0-3992687062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64A671-B745-737F-49EC-96670D101BA2}"/>
              </a:ext>
            </a:extLst>
          </p:cNvPr>
          <p:cNvSpPr>
            <a:spLocks noGrp="1"/>
          </p:cNvSpPr>
          <p:nvPr>
            <p:ph type="sldNum" sz="quarter" idx="12"/>
          </p:nvPr>
        </p:nvSpPr>
        <p:spPr/>
        <p:txBody>
          <a:bodyPr/>
          <a:lstStyle/>
          <a:p>
            <a:fld id="{1E3F42A9-2E40-42DD-AA6B-FC41D4ECD035}" type="slidenum">
              <a:rPr lang="en-US" smtClean="0"/>
              <a:t>‹#›</a:t>
            </a:fld>
            <a:endParaRPr lang="en-US"/>
          </a:p>
        </p:txBody>
      </p:sp>
    </p:spTree>
    <p:extLst>
      <p:ext uri="{BB962C8B-B14F-4D97-AF65-F5344CB8AC3E}">
        <p14:creationId xmlns:p14="http://schemas.microsoft.com/office/powerpoint/2010/main" val="655945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05D80-702E-0DB2-16ED-65BD51BFFC0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EF9FA5-1B27-9F9E-4F25-A9462398D2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641CA5-35F0-B9A9-DA4D-ED4BD6422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35B361-36D4-C273-B202-9C7F6754D9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FA444F-9CC7-9013-4DF1-AA57ABCF0C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05E3A8-2273-01FB-C0B0-43F84CCD1F6D}"/>
              </a:ext>
            </a:extLst>
          </p:cNvPr>
          <p:cNvSpPr>
            <a:spLocks noGrp="1"/>
          </p:cNvSpPr>
          <p:nvPr>
            <p:ph type="dt" sz="half" idx="10"/>
          </p:nvPr>
        </p:nvSpPr>
        <p:spPr/>
        <p:txBody>
          <a:bodyPr/>
          <a:lstStyle/>
          <a:p>
            <a:fld id="{8E89325C-DFEE-4CAF-B91E-2969BC33B6F5}" type="datetimeFigureOut">
              <a:rPr lang="en-US" smtClean="0"/>
              <a:t>4/27/2025</a:t>
            </a:fld>
            <a:endParaRPr lang="en-US"/>
          </a:p>
        </p:txBody>
      </p:sp>
      <p:sp>
        <p:nvSpPr>
          <p:cNvPr id="8" name="Footer Placeholder 7">
            <a:extLst>
              <a:ext uri="{FF2B5EF4-FFF2-40B4-BE49-F238E27FC236}">
                <a16:creationId xmlns:a16="http://schemas.microsoft.com/office/drawing/2014/main" id="{6DE6D006-EE30-33F7-D785-C6D1C982822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D43247-A2E0-8454-12BE-2FCB397A8388}"/>
              </a:ext>
            </a:extLst>
          </p:cNvPr>
          <p:cNvSpPr>
            <a:spLocks noGrp="1"/>
          </p:cNvSpPr>
          <p:nvPr>
            <p:ph type="sldNum" sz="quarter" idx="12"/>
          </p:nvPr>
        </p:nvSpPr>
        <p:spPr/>
        <p:txBody>
          <a:bodyPr/>
          <a:lstStyle/>
          <a:p>
            <a:fld id="{1E3F42A9-2E40-42DD-AA6B-FC41D4ECD035}" type="slidenum">
              <a:rPr lang="en-US" smtClean="0"/>
              <a:t>‹#›</a:t>
            </a:fld>
            <a:endParaRPr lang="en-US"/>
          </a:p>
        </p:txBody>
      </p:sp>
    </p:spTree>
    <p:extLst>
      <p:ext uri="{BB962C8B-B14F-4D97-AF65-F5344CB8AC3E}">
        <p14:creationId xmlns:p14="http://schemas.microsoft.com/office/powerpoint/2010/main" val="1886807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3A3DC-FC77-8813-441B-83B1BD48FD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E7FB3B-2863-25E8-A5FB-41C2EB0F4DDF}"/>
              </a:ext>
            </a:extLst>
          </p:cNvPr>
          <p:cNvSpPr>
            <a:spLocks noGrp="1"/>
          </p:cNvSpPr>
          <p:nvPr>
            <p:ph type="dt" sz="half" idx="10"/>
          </p:nvPr>
        </p:nvSpPr>
        <p:spPr/>
        <p:txBody>
          <a:bodyPr/>
          <a:lstStyle/>
          <a:p>
            <a:fld id="{8E89325C-DFEE-4CAF-B91E-2969BC33B6F5}" type="datetimeFigureOut">
              <a:rPr lang="en-US" smtClean="0"/>
              <a:t>4/27/2025</a:t>
            </a:fld>
            <a:endParaRPr lang="en-US"/>
          </a:p>
        </p:txBody>
      </p:sp>
      <p:sp>
        <p:nvSpPr>
          <p:cNvPr id="4" name="Footer Placeholder 3">
            <a:extLst>
              <a:ext uri="{FF2B5EF4-FFF2-40B4-BE49-F238E27FC236}">
                <a16:creationId xmlns:a16="http://schemas.microsoft.com/office/drawing/2014/main" id="{4F3CBEA8-74F3-00D1-3347-E0D04CEA327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D074D0-D4A5-2620-4545-5EFE30414E13}"/>
              </a:ext>
            </a:extLst>
          </p:cNvPr>
          <p:cNvSpPr>
            <a:spLocks noGrp="1"/>
          </p:cNvSpPr>
          <p:nvPr>
            <p:ph type="sldNum" sz="quarter" idx="12"/>
          </p:nvPr>
        </p:nvSpPr>
        <p:spPr/>
        <p:txBody>
          <a:bodyPr/>
          <a:lstStyle/>
          <a:p>
            <a:fld id="{1E3F42A9-2E40-42DD-AA6B-FC41D4ECD035}" type="slidenum">
              <a:rPr lang="en-US" smtClean="0"/>
              <a:t>‹#›</a:t>
            </a:fld>
            <a:endParaRPr lang="en-US"/>
          </a:p>
        </p:txBody>
      </p:sp>
    </p:spTree>
    <p:extLst>
      <p:ext uri="{BB962C8B-B14F-4D97-AF65-F5344CB8AC3E}">
        <p14:creationId xmlns:p14="http://schemas.microsoft.com/office/powerpoint/2010/main" val="66733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EAE046-B237-C8C6-084B-EFE9EC518E07}"/>
              </a:ext>
            </a:extLst>
          </p:cNvPr>
          <p:cNvSpPr>
            <a:spLocks noGrp="1"/>
          </p:cNvSpPr>
          <p:nvPr>
            <p:ph type="dt" sz="half" idx="10"/>
          </p:nvPr>
        </p:nvSpPr>
        <p:spPr/>
        <p:txBody>
          <a:bodyPr/>
          <a:lstStyle/>
          <a:p>
            <a:fld id="{8E89325C-DFEE-4CAF-B91E-2969BC33B6F5}" type="datetimeFigureOut">
              <a:rPr lang="en-US" smtClean="0"/>
              <a:t>4/27/2025</a:t>
            </a:fld>
            <a:endParaRPr lang="en-US"/>
          </a:p>
        </p:txBody>
      </p:sp>
      <p:sp>
        <p:nvSpPr>
          <p:cNvPr id="3" name="Footer Placeholder 2">
            <a:extLst>
              <a:ext uri="{FF2B5EF4-FFF2-40B4-BE49-F238E27FC236}">
                <a16:creationId xmlns:a16="http://schemas.microsoft.com/office/drawing/2014/main" id="{8282AD64-42BA-891C-EFB8-CF7BA67EF3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A7D2AF-8C57-F961-7624-583575179758}"/>
              </a:ext>
            </a:extLst>
          </p:cNvPr>
          <p:cNvSpPr>
            <a:spLocks noGrp="1"/>
          </p:cNvSpPr>
          <p:nvPr>
            <p:ph type="sldNum" sz="quarter" idx="12"/>
          </p:nvPr>
        </p:nvSpPr>
        <p:spPr/>
        <p:txBody>
          <a:bodyPr/>
          <a:lstStyle/>
          <a:p>
            <a:fld id="{1E3F42A9-2E40-42DD-AA6B-FC41D4ECD035}" type="slidenum">
              <a:rPr lang="en-US" smtClean="0"/>
              <a:t>‹#›</a:t>
            </a:fld>
            <a:endParaRPr lang="en-US"/>
          </a:p>
        </p:txBody>
      </p:sp>
    </p:spTree>
    <p:extLst>
      <p:ext uri="{BB962C8B-B14F-4D97-AF65-F5344CB8AC3E}">
        <p14:creationId xmlns:p14="http://schemas.microsoft.com/office/powerpoint/2010/main" val="1319442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65FBE-C489-A0E9-5442-D78D48D2DE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E1E41C-FB9F-ED91-333A-671958BBF8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A2256D-84C0-14EB-43F3-E72F0EC53F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9BD657-9D4E-BDE0-BD7E-BB9D85420D09}"/>
              </a:ext>
            </a:extLst>
          </p:cNvPr>
          <p:cNvSpPr>
            <a:spLocks noGrp="1"/>
          </p:cNvSpPr>
          <p:nvPr>
            <p:ph type="dt" sz="half" idx="10"/>
          </p:nvPr>
        </p:nvSpPr>
        <p:spPr/>
        <p:txBody>
          <a:bodyPr/>
          <a:lstStyle/>
          <a:p>
            <a:fld id="{8E89325C-DFEE-4CAF-B91E-2969BC33B6F5}" type="datetimeFigureOut">
              <a:rPr lang="en-US" smtClean="0"/>
              <a:t>4/27/2025</a:t>
            </a:fld>
            <a:endParaRPr lang="en-US"/>
          </a:p>
        </p:txBody>
      </p:sp>
      <p:sp>
        <p:nvSpPr>
          <p:cNvPr id="6" name="Footer Placeholder 5">
            <a:extLst>
              <a:ext uri="{FF2B5EF4-FFF2-40B4-BE49-F238E27FC236}">
                <a16:creationId xmlns:a16="http://schemas.microsoft.com/office/drawing/2014/main" id="{3A76291B-EE52-C1A3-5804-8C8DA53928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DC0406-991A-E99F-FEF0-3C81B629F509}"/>
              </a:ext>
            </a:extLst>
          </p:cNvPr>
          <p:cNvSpPr>
            <a:spLocks noGrp="1"/>
          </p:cNvSpPr>
          <p:nvPr>
            <p:ph type="sldNum" sz="quarter" idx="12"/>
          </p:nvPr>
        </p:nvSpPr>
        <p:spPr/>
        <p:txBody>
          <a:bodyPr/>
          <a:lstStyle/>
          <a:p>
            <a:fld id="{1E3F42A9-2E40-42DD-AA6B-FC41D4ECD035}" type="slidenum">
              <a:rPr lang="en-US" smtClean="0"/>
              <a:t>‹#›</a:t>
            </a:fld>
            <a:endParaRPr lang="en-US"/>
          </a:p>
        </p:txBody>
      </p:sp>
    </p:spTree>
    <p:extLst>
      <p:ext uri="{BB962C8B-B14F-4D97-AF65-F5344CB8AC3E}">
        <p14:creationId xmlns:p14="http://schemas.microsoft.com/office/powerpoint/2010/main" val="134694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877A-1445-620F-0A70-A2E14ED7F8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7576D3-9514-B988-726A-5D97AFBD42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AE061C-379B-E6F2-6850-08AF70D61A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2E0752-835D-1088-AA13-2275521F5DC1}"/>
              </a:ext>
            </a:extLst>
          </p:cNvPr>
          <p:cNvSpPr>
            <a:spLocks noGrp="1"/>
          </p:cNvSpPr>
          <p:nvPr>
            <p:ph type="dt" sz="half" idx="10"/>
          </p:nvPr>
        </p:nvSpPr>
        <p:spPr/>
        <p:txBody>
          <a:bodyPr/>
          <a:lstStyle/>
          <a:p>
            <a:fld id="{8E89325C-DFEE-4CAF-B91E-2969BC33B6F5}" type="datetimeFigureOut">
              <a:rPr lang="en-US" smtClean="0"/>
              <a:t>4/27/2025</a:t>
            </a:fld>
            <a:endParaRPr lang="en-US"/>
          </a:p>
        </p:txBody>
      </p:sp>
      <p:sp>
        <p:nvSpPr>
          <p:cNvPr id="6" name="Footer Placeholder 5">
            <a:extLst>
              <a:ext uri="{FF2B5EF4-FFF2-40B4-BE49-F238E27FC236}">
                <a16:creationId xmlns:a16="http://schemas.microsoft.com/office/drawing/2014/main" id="{25DAA223-E6DF-12C2-7CBD-8B1F416816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595B0C-86E9-8D69-15EF-CA08FAE386D8}"/>
              </a:ext>
            </a:extLst>
          </p:cNvPr>
          <p:cNvSpPr>
            <a:spLocks noGrp="1"/>
          </p:cNvSpPr>
          <p:nvPr>
            <p:ph type="sldNum" sz="quarter" idx="12"/>
          </p:nvPr>
        </p:nvSpPr>
        <p:spPr/>
        <p:txBody>
          <a:bodyPr/>
          <a:lstStyle/>
          <a:p>
            <a:fld id="{1E3F42A9-2E40-42DD-AA6B-FC41D4ECD035}" type="slidenum">
              <a:rPr lang="en-US" smtClean="0"/>
              <a:t>‹#›</a:t>
            </a:fld>
            <a:endParaRPr lang="en-US"/>
          </a:p>
        </p:txBody>
      </p:sp>
    </p:spTree>
    <p:extLst>
      <p:ext uri="{BB962C8B-B14F-4D97-AF65-F5344CB8AC3E}">
        <p14:creationId xmlns:p14="http://schemas.microsoft.com/office/powerpoint/2010/main" val="1360261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6C0-94A8-8E68-A9B4-D4B341C894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10B0312-4C94-1C8B-1D13-4CDDA01162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AF45CF-2CAD-73F6-5987-F1435C92AE29}"/>
              </a:ext>
            </a:extLst>
          </p:cNvPr>
          <p:cNvSpPr>
            <a:spLocks noGrp="1"/>
          </p:cNvSpPr>
          <p:nvPr>
            <p:ph type="dt" sz="half" idx="10"/>
          </p:nvPr>
        </p:nvSpPr>
        <p:spPr/>
        <p:txBody>
          <a:bodyPr/>
          <a:lstStyle/>
          <a:p>
            <a:fld id="{8E89325C-DFEE-4CAF-B91E-2969BC33B6F5}" type="datetimeFigureOut">
              <a:rPr lang="en-US" smtClean="0"/>
              <a:t>4/27/2025</a:t>
            </a:fld>
            <a:endParaRPr lang="en-US"/>
          </a:p>
        </p:txBody>
      </p:sp>
      <p:sp>
        <p:nvSpPr>
          <p:cNvPr id="5" name="Footer Placeholder 4">
            <a:extLst>
              <a:ext uri="{FF2B5EF4-FFF2-40B4-BE49-F238E27FC236}">
                <a16:creationId xmlns:a16="http://schemas.microsoft.com/office/drawing/2014/main" id="{2A5D97BD-D258-4E3F-4A34-6C2A9E082A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4D9B88-521F-FE01-CA19-29EC619A8583}"/>
              </a:ext>
            </a:extLst>
          </p:cNvPr>
          <p:cNvSpPr>
            <a:spLocks noGrp="1"/>
          </p:cNvSpPr>
          <p:nvPr>
            <p:ph type="sldNum" sz="quarter" idx="12"/>
          </p:nvPr>
        </p:nvSpPr>
        <p:spPr/>
        <p:txBody>
          <a:bodyPr/>
          <a:lstStyle/>
          <a:p>
            <a:fld id="{1E3F42A9-2E40-42DD-AA6B-FC41D4ECD035}" type="slidenum">
              <a:rPr lang="en-US" smtClean="0"/>
              <a:t>‹#›</a:t>
            </a:fld>
            <a:endParaRPr lang="en-US"/>
          </a:p>
        </p:txBody>
      </p:sp>
    </p:spTree>
    <p:extLst>
      <p:ext uri="{BB962C8B-B14F-4D97-AF65-F5344CB8AC3E}">
        <p14:creationId xmlns:p14="http://schemas.microsoft.com/office/powerpoint/2010/main" val="1468018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796237-812D-B33C-F839-9B4ACF6EC68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B4921F-529F-9086-9589-26C98F080C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25590D-D852-7F31-DB2D-61B8EF28BE7F}"/>
              </a:ext>
            </a:extLst>
          </p:cNvPr>
          <p:cNvSpPr>
            <a:spLocks noGrp="1"/>
          </p:cNvSpPr>
          <p:nvPr>
            <p:ph type="dt" sz="half" idx="10"/>
          </p:nvPr>
        </p:nvSpPr>
        <p:spPr/>
        <p:txBody>
          <a:bodyPr/>
          <a:lstStyle/>
          <a:p>
            <a:fld id="{8E89325C-DFEE-4CAF-B91E-2969BC33B6F5}" type="datetimeFigureOut">
              <a:rPr lang="en-US" smtClean="0"/>
              <a:t>4/27/2025</a:t>
            </a:fld>
            <a:endParaRPr lang="en-US"/>
          </a:p>
        </p:txBody>
      </p:sp>
      <p:sp>
        <p:nvSpPr>
          <p:cNvPr id="5" name="Footer Placeholder 4">
            <a:extLst>
              <a:ext uri="{FF2B5EF4-FFF2-40B4-BE49-F238E27FC236}">
                <a16:creationId xmlns:a16="http://schemas.microsoft.com/office/drawing/2014/main" id="{862BD91C-11BE-D13B-4038-285285FFA6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1A5719-3B47-781D-0E51-7000EE843850}"/>
              </a:ext>
            </a:extLst>
          </p:cNvPr>
          <p:cNvSpPr>
            <a:spLocks noGrp="1"/>
          </p:cNvSpPr>
          <p:nvPr>
            <p:ph type="sldNum" sz="quarter" idx="12"/>
          </p:nvPr>
        </p:nvSpPr>
        <p:spPr/>
        <p:txBody>
          <a:bodyPr/>
          <a:lstStyle/>
          <a:p>
            <a:fld id="{1E3F42A9-2E40-42DD-AA6B-FC41D4ECD035}" type="slidenum">
              <a:rPr lang="en-US" smtClean="0"/>
              <a:t>‹#›</a:t>
            </a:fld>
            <a:endParaRPr lang="en-US"/>
          </a:p>
        </p:txBody>
      </p:sp>
    </p:spTree>
    <p:extLst>
      <p:ext uri="{BB962C8B-B14F-4D97-AF65-F5344CB8AC3E}">
        <p14:creationId xmlns:p14="http://schemas.microsoft.com/office/powerpoint/2010/main" val="3086600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8E28E7-8C1D-CE0B-9D50-E77A2FB084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BE0DF0-1242-B115-AE91-72F73014B6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B47959-723B-3E9C-9111-E7C6CC7157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89325C-DFEE-4CAF-B91E-2969BC33B6F5}" type="datetimeFigureOut">
              <a:rPr lang="en-US" smtClean="0"/>
              <a:t>4/27/2025</a:t>
            </a:fld>
            <a:endParaRPr lang="en-US"/>
          </a:p>
        </p:txBody>
      </p:sp>
      <p:sp>
        <p:nvSpPr>
          <p:cNvPr id="5" name="Footer Placeholder 4">
            <a:extLst>
              <a:ext uri="{FF2B5EF4-FFF2-40B4-BE49-F238E27FC236}">
                <a16:creationId xmlns:a16="http://schemas.microsoft.com/office/drawing/2014/main" id="{690814BB-127C-B78F-1B38-455D8510C4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5EE856-7559-5A53-5A92-EADE772DC8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3F42A9-2E40-42DD-AA6B-FC41D4ECD035}" type="slidenum">
              <a:rPr lang="en-US" smtClean="0"/>
              <a:t>‹#›</a:t>
            </a:fld>
            <a:endParaRPr lang="en-US"/>
          </a:p>
        </p:txBody>
      </p:sp>
    </p:spTree>
    <p:extLst>
      <p:ext uri="{BB962C8B-B14F-4D97-AF65-F5344CB8AC3E}">
        <p14:creationId xmlns:p14="http://schemas.microsoft.com/office/powerpoint/2010/main" val="2528051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F1121-2119-222A-674F-75CE63B0F8D7}"/>
              </a:ext>
            </a:extLst>
          </p:cNvPr>
          <p:cNvSpPr>
            <a:spLocks noGrp="1"/>
          </p:cNvSpPr>
          <p:nvPr>
            <p:ph type="ctrTitle"/>
          </p:nvPr>
        </p:nvSpPr>
        <p:spPr/>
        <p:txBody>
          <a:bodyPr/>
          <a:lstStyle/>
          <a:p>
            <a:r>
              <a:rPr lang="en-US" dirty="0"/>
              <a:t>Stack	</a:t>
            </a:r>
          </a:p>
        </p:txBody>
      </p:sp>
      <p:sp>
        <p:nvSpPr>
          <p:cNvPr id="3" name="Subtitle 2">
            <a:extLst>
              <a:ext uri="{FF2B5EF4-FFF2-40B4-BE49-F238E27FC236}">
                <a16:creationId xmlns:a16="http://schemas.microsoft.com/office/drawing/2014/main" id="{12A89178-987D-3F57-CD48-636BC7ED065F}"/>
              </a:ext>
            </a:extLst>
          </p:cNvPr>
          <p:cNvSpPr>
            <a:spLocks noGrp="1"/>
          </p:cNvSpPr>
          <p:nvPr>
            <p:ph type="subTitle" idx="1"/>
          </p:nvPr>
        </p:nvSpPr>
        <p:spPr/>
        <p:txBody>
          <a:bodyPr/>
          <a:lstStyle/>
          <a:p>
            <a:r>
              <a:rPr lang="en-US" dirty="0"/>
              <a:t>Unit-3</a:t>
            </a:r>
          </a:p>
        </p:txBody>
      </p:sp>
    </p:spTree>
    <p:extLst>
      <p:ext uri="{BB962C8B-B14F-4D97-AF65-F5344CB8AC3E}">
        <p14:creationId xmlns:p14="http://schemas.microsoft.com/office/powerpoint/2010/main" val="1403360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PlaceHolder 1"/>
          <p:cNvSpPr>
            <a:spLocks noGrp="1"/>
          </p:cNvSpPr>
          <p:nvPr>
            <p:ph type="title"/>
          </p:nvPr>
        </p:nvSpPr>
        <p:spPr>
          <a:xfrm>
            <a:off x="1523631" y="1121991"/>
            <a:ext cx="8982020" cy="260361"/>
          </a:xfrm>
          <a:prstGeom prst="rect">
            <a:avLst/>
          </a:prstGeom>
          <a:noFill/>
          <a:ln w="0">
            <a:noFill/>
          </a:ln>
        </p:spPr>
        <p:txBody>
          <a:bodyPr lIns="0" tIns="0" rIns="0" bIns="0" anchor="b">
            <a:noAutofit/>
          </a:bodyPr>
          <a:lstStyle/>
          <a:p>
            <a:pPr algn="ctr"/>
            <a:r>
              <a:rPr lang="en-US" sz="7256" b="1" spc="-1">
                <a:solidFill>
                  <a:srgbClr val="000000"/>
                </a:solidFill>
                <a:latin typeface="Calibri Light"/>
              </a:rPr>
              <a:t>Stack </a:t>
            </a:r>
            <a:endParaRPr lang="en-US" sz="7256" spc="-1">
              <a:solidFill>
                <a:srgbClr val="000000"/>
              </a:solidFill>
              <a:latin typeface="Arial"/>
            </a:endParaRPr>
          </a:p>
        </p:txBody>
      </p:sp>
      <p:pic>
        <p:nvPicPr>
          <p:cNvPr id="437" name="Picture 3"/>
          <p:cNvPicPr/>
          <p:nvPr/>
        </p:nvPicPr>
        <p:blipFill>
          <a:blip r:embed="rId2"/>
          <a:stretch/>
        </p:blipFill>
        <p:spPr>
          <a:xfrm>
            <a:off x="1935506" y="1382351"/>
            <a:ext cx="8633711" cy="5111436"/>
          </a:xfrm>
          <a:prstGeom prst="rect">
            <a:avLst/>
          </a:prstGeom>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 name="PlaceHolder 1"/>
          <p:cNvSpPr>
            <a:spLocks noGrp="1"/>
          </p:cNvSpPr>
          <p:nvPr>
            <p:ph type="title"/>
          </p:nvPr>
        </p:nvSpPr>
        <p:spPr>
          <a:xfrm>
            <a:off x="837897" y="364854"/>
            <a:ext cx="10514580" cy="1324881"/>
          </a:xfrm>
          <a:prstGeom prst="rect">
            <a:avLst/>
          </a:prstGeom>
          <a:noFill/>
          <a:ln w="0">
            <a:noFill/>
          </a:ln>
        </p:spPr>
        <p:txBody>
          <a:bodyPr lIns="108847" tIns="54423" rIns="108847" bIns="54423" anchor="ctr">
            <a:noAutofit/>
          </a:bodyPr>
          <a:lstStyle/>
          <a:p>
            <a:pPr algn="ctr"/>
            <a:r>
              <a:rPr lang="en-US" sz="5321" b="1" spc="-1">
                <a:solidFill>
                  <a:srgbClr val="000000"/>
                </a:solidFill>
                <a:latin typeface="Calibri Light"/>
              </a:rPr>
              <a:t>STACK </a:t>
            </a:r>
            <a:endParaRPr lang="en-US" sz="5321" spc="-1">
              <a:solidFill>
                <a:srgbClr val="000000"/>
              </a:solidFill>
              <a:latin typeface="Arial"/>
            </a:endParaRPr>
          </a:p>
        </p:txBody>
      </p:sp>
      <p:sp>
        <p:nvSpPr>
          <p:cNvPr id="439" name="PlaceHolder 2"/>
          <p:cNvSpPr>
            <a:spLocks noGrp="1"/>
          </p:cNvSpPr>
          <p:nvPr>
            <p:ph/>
          </p:nvPr>
        </p:nvSpPr>
        <p:spPr>
          <a:xfrm>
            <a:off x="837897" y="1825140"/>
            <a:ext cx="10514580" cy="4350380"/>
          </a:xfrm>
          <a:prstGeom prst="rect">
            <a:avLst/>
          </a:prstGeom>
          <a:noFill/>
          <a:ln w="0">
            <a:noFill/>
          </a:ln>
        </p:spPr>
        <p:txBody>
          <a:bodyPr lIns="108847" tIns="54423" rIns="108847" bIns="54423" anchor="t">
            <a:normAutofit/>
          </a:bodyPr>
          <a:lstStyle/>
          <a:p>
            <a:pPr marL="291707" indent="-276469">
              <a:spcBef>
                <a:spcPts val="1211"/>
              </a:spcBef>
              <a:buClr>
                <a:srgbClr val="000000"/>
              </a:buClr>
              <a:buFont typeface="Arial"/>
              <a:buChar char="•"/>
            </a:pPr>
            <a:r>
              <a:rPr lang="en-US" sz="2661" spc="-1">
                <a:solidFill>
                  <a:srgbClr val="000000"/>
                </a:solidFill>
                <a:latin typeface="Calibri"/>
              </a:rPr>
              <a:t>Stack is a data structure in which elements can be added and removed from one end known as "TOP". </a:t>
            </a:r>
            <a:endParaRPr lang="en-US" sz="2661" spc="-1">
              <a:solidFill>
                <a:srgbClr val="000000"/>
              </a:solidFill>
              <a:latin typeface="Arial"/>
            </a:endParaRPr>
          </a:p>
          <a:p>
            <a:pPr marL="291707" indent="-276469">
              <a:spcBef>
                <a:spcPts val="1211"/>
              </a:spcBef>
              <a:buClr>
                <a:srgbClr val="000000"/>
              </a:buClr>
              <a:buFont typeface="Arial"/>
              <a:buChar char="•"/>
            </a:pPr>
            <a:r>
              <a:rPr lang="en-US" sz="2661" spc="-1">
                <a:solidFill>
                  <a:srgbClr val="000000"/>
                </a:solidFill>
                <a:latin typeface="Calibri"/>
              </a:rPr>
              <a:t>The operations in Stack are performed in LIFO order. </a:t>
            </a:r>
            <a:endParaRPr lang="en-US" sz="2661" spc="-1">
              <a:solidFill>
                <a:srgbClr val="000000"/>
              </a:solidFill>
              <a:latin typeface="Arial"/>
            </a:endParaRPr>
          </a:p>
          <a:p>
            <a:pPr marL="291707" indent="-276469">
              <a:spcBef>
                <a:spcPts val="1211"/>
              </a:spcBef>
              <a:buClr>
                <a:srgbClr val="000000"/>
              </a:buClr>
              <a:buFont typeface="Arial"/>
              <a:buChar char="•"/>
            </a:pPr>
            <a:r>
              <a:rPr lang="en-US" sz="2661" spc="-1">
                <a:solidFill>
                  <a:srgbClr val="000000"/>
                </a:solidFill>
                <a:latin typeface="Calibri"/>
              </a:rPr>
              <a:t>The last element inserted in the stack is the first element to be removed from the stack.</a:t>
            </a:r>
            <a:endParaRPr lang="en-US" sz="2661" spc="-1">
              <a:solidFill>
                <a:srgbClr val="000000"/>
              </a:solidFill>
              <a:latin typeface="Arial"/>
            </a:endParaRPr>
          </a:p>
          <a:p>
            <a:pPr marL="291707" indent="-276469">
              <a:spcBef>
                <a:spcPts val="1211"/>
              </a:spcBef>
              <a:buClr>
                <a:srgbClr val="000000"/>
              </a:buClr>
              <a:buFont typeface="Arial"/>
              <a:buChar char="•"/>
            </a:pPr>
            <a:r>
              <a:rPr lang="en-US" sz="2661" spc="-1">
                <a:solidFill>
                  <a:srgbClr val="000000"/>
                </a:solidFill>
                <a:latin typeface="Calibri"/>
              </a:rPr>
              <a:t>Stack can be implemented using array or linked list.</a:t>
            </a:r>
            <a:endParaRPr lang="en-US" sz="2661" spc="-1">
              <a:solidFill>
                <a:srgbClr val="000000"/>
              </a:solidFill>
              <a:latin typeface="Arial"/>
            </a:endParaRPr>
          </a:p>
          <a:p>
            <a:pPr marL="291707" indent="-276469">
              <a:spcBef>
                <a:spcPts val="1211"/>
              </a:spcBef>
              <a:buClr>
                <a:srgbClr val="000000"/>
              </a:buClr>
              <a:buFont typeface="Arial"/>
              <a:buChar char="•"/>
            </a:pPr>
            <a:r>
              <a:rPr lang="en-US" sz="2661" spc="-1">
                <a:solidFill>
                  <a:srgbClr val="000000"/>
                </a:solidFill>
                <a:latin typeface="Calibri"/>
              </a:rPr>
              <a:t>Array implementation of Stack is static in nature; that is the size of stack if fixed. </a:t>
            </a:r>
            <a:endParaRPr lang="en-US" sz="2661" spc="-1">
              <a:solidFill>
                <a:srgbClr val="000000"/>
              </a:solidFill>
              <a:latin typeface="Arial"/>
            </a:endParaRPr>
          </a:p>
          <a:p>
            <a:pPr marL="291707" indent="-276469">
              <a:spcBef>
                <a:spcPts val="1211"/>
              </a:spcBef>
              <a:buClr>
                <a:srgbClr val="000000"/>
              </a:buClr>
              <a:buFont typeface="Arial"/>
              <a:buChar char="•"/>
            </a:pPr>
            <a:r>
              <a:rPr lang="en-US" sz="2661" spc="-1">
                <a:solidFill>
                  <a:srgbClr val="000000"/>
                </a:solidFill>
                <a:latin typeface="Calibri"/>
              </a:rPr>
              <a:t>Linked List implementation of Stack is dynamic.</a:t>
            </a:r>
            <a:endParaRPr lang="en-US" sz="2661"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PlaceHolder 1"/>
          <p:cNvSpPr>
            <a:spLocks noGrp="1"/>
          </p:cNvSpPr>
          <p:nvPr>
            <p:ph type="title"/>
          </p:nvPr>
        </p:nvSpPr>
        <p:spPr>
          <a:xfrm>
            <a:off x="837897" y="364854"/>
            <a:ext cx="10497165" cy="1017498"/>
          </a:xfrm>
          <a:prstGeom prst="rect">
            <a:avLst/>
          </a:prstGeom>
          <a:noFill/>
          <a:ln w="0">
            <a:noFill/>
          </a:ln>
        </p:spPr>
        <p:txBody>
          <a:bodyPr lIns="108847" tIns="54423" rIns="108847" bIns="54423" anchor="ctr">
            <a:noAutofit/>
          </a:bodyPr>
          <a:lstStyle/>
          <a:p>
            <a:pPr algn="ctr"/>
            <a:r>
              <a:rPr lang="en-US" sz="5321" b="1" spc="-1">
                <a:solidFill>
                  <a:srgbClr val="000000"/>
                </a:solidFill>
                <a:latin typeface="Calibri Light"/>
              </a:rPr>
              <a:t>STACK ADT </a:t>
            </a:r>
            <a:endParaRPr lang="en-US" sz="5321" spc="-1">
              <a:solidFill>
                <a:srgbClr val="000000"/>
              </a:solidFill>
              <a:latin typeface="Arial"/>
            </a:endParaRPr>
          </a:p>
        </p:txBody>
      </p:sp>
      <p:sp>
        <p:nvSpPr>
          <p:cNvPr id="441" name="PlaceHolder 2"/>
          <p:cNvSpPr>
            <a:spLocks noGrp="1"/>
          </p:cNvSpPr>
          <p:nvPr>
            <p:ph/>
          </p:nvPr>
        </p:nvSpPr>
        <p:spPr>
          <a:xfrm>
            <a:off x="837897" y="1455497"/>
            <a:ext cx="10514580" cy="4350380"/>
          </a:xfrm>
          <a:prstGeom prst="rect">
            <a:avLst/>
          </a:prstGeom>
          <a:noFill/>
          <a:ln w="0">
            <a:noFill/>
          </a:ln>
        </p:spPr>
        <p:txBody>
          <a:bodyPr lIns="108847" tIns="54423" rIns="108847" bIns="54423" anchor="t">
            <a:normAutofit fontScale="89365"/>
          </a:bodyPr>
          <a:lstStyle/>
          <a:p>
            <a:pPr marL="407084" indent="-391846">
              <a:spcBef>
                <a:spcPts val="1211"/>
              </a:spcBef>
              <a:buClr>
                <a:srgbClr val="000000"/>
              </a:buClr>
              <a:buSzPct val="75000"/>
              <a:buFont typeface="Symbol" charset="2"/>
              <a:buChar char=""/>
            </a:pPr>
            <a:r>
              <a:rPr lang="en-US" sz="3386" spc="-1">
                <a:solidFill>
                  <a:srgbClr val="000000"/>
                </a:solidFill>
                <a:latin typeface="Calibri"/>
              </a:rPr>
              <a:t>Some common operations on stacks include:</a:t>
            </a:r>
            <a:endParaRPr lang="en-US" sz="3386" spc="-1">
              <a:solidFill>
                <a:srgbClr val="000000"/>
              </a:solidFill>
              <a:latin typeface="Arial"/>
            </a:endParaRPr>
          </a:p>
          <a:p>
            <a:pPr marL="1044922" lvl="1" indent="391846">
              <a:spcBef>
                <a:spcPts val="1416"/>
              </a:spcBef>
              <a:buClr>
                <a:srgbClr val="000000"/>
              </a:buClr>
              <a:buSzPct val="45000"/>
              <a:buFont typeface="Wingdings" charset="2"/>
              <a:buChar char=""/>
            </a:pPr>
            <a:r>
              <a:rPr lang="en-US" sz="2903" spc="-1">
                <a:solidFill>
                  <a:srgbClr val="FF0000"/>
                </a:solidFill>
                <a:latin typeface="Calibri"/>
              </a:rPr>
              <a:t>Push: Adds an element to the top of the stack.</a:t>
            </a:r>
            <a:endParaRPr lang="en-US" sz="2903" spc="-1">
              <a:solidFill>
                <a:srgbClr val="000000"/>
              </a:solidFill>
              <a:latin typeface="Arial"/>
            </a:endParaRPr>
          </a:p>
          <a:p>
            <a:pPr marL="1044922" lvl="1" indent="391846">
              <a:spcBef>
                <a:spcPts val="1416"/>
              </a:spcBef>
              <a:buClr>
                <a:srgbClr val="000000"/>
              </a:buClr>
              <a:buSzPct val="45000"/>
              <a:buFont typeface="Wingdings" charset="2"/>
              <a:buChar char=""/>
            </a:pPr>
            <a:r>
              <a:rPr lang="en-US" sz="2903" spc="-1">
                <a:solidFill>
                  <a:srgbClr val="FF0000"/>
                </a:solidFill>
                <a:latin typeface="Calibri"/>
              </a:rPr>
              <a:t>Pop: Removes the top element from the stack.</a:t>
            </a:r>
            <a:endParaRPr lang="en-US" sz="2903" spc="-1">
              <a:solidFill>
                <a:srgbClr val="000000"/>
              </a:solidFill>
              <a:latin typeface="Arial"/>
            </a:endParaRPr>
          </a:p>
          <a:p>
            <a:pPr marL="1044922" lvl="1" indent="391846">
              <a:spcBef>
                <a:spcPts val="1416"/>
              </a:spcBef>
              <a:buClr>
                <a:srgbClr val="000000"/>
              </a:buClr>
              <a:buSzPct val="45000"/>
              <a:buFont typeface="Wingdings" charset="2"/>
              <a:buChar char=""/>
            </a:pPr>
            <a:r>
              <a:rPr lang="en-US" sz="2903" spc="-1">
                <a:solidFill>
                  <a:srgbClr val="000000"/>
                </a:solidFill>
                <a:latin typeface="Calibri"/>
              </a:rPr>
              <a:t>Peek: Returns the top element of the stack without removing it.</a:t>
            </a:r>
            <a:endParaRPr lang="en-US" sz="2903" spc="-1">
              <a:solidFill>
                <a:srgbClr val="000000"/>
              </a:solidFill>
              <a:latin typeface="Arial"/>
            </a:endParaRPr>
          </a:p>
          <a:p>
            <a:pPr marL="1044922" lvl="1" indent="391846">
              <a:spcBef>
                <a:spcPts val="1416"/>
              </a:spcBef>
              <a:buClr>
                <a:srgbClr val="000000"/>
              </a:buClr>
              <a:buSzPct val="45000"/>
              <a:buFont typeface="Wingdings" charset="2"/>
              <a:buChar char=""/>
            </a:pPr>
            <a:r>
              <a:rPr lang="en-US" sz="2903" spc="-1">
                <a:solidFill>
                  <a:srgbClr val="000000"/>
                </a:solidFill>
                <a:latin typeface="Calibri"/>
              </a:rPr>
              <a:t>IsEmpty: Checks if the stack is empty.</a:t>
            </a:r>
            <a:endParaRPr lang="en-US" sz="2903" spc="-1">
              <a:solidFill>
                <a:srgbClr val="000000"/>
              </a:solidFill>
              <a:latin typeface="Arial"/>
            </a:endParaRPr>
          </a:p>
          <a:p>
            <a:pPr marL="1044922" lvl="1" indent="391846">
              <a:spcBef>
                <a:spcPts val="1416"/>
              </a:spcBef>
              <a:buClr>
                <a:srgbClr val="000000"/>
              </a:buClr>
              <a:buSzPct val="45000"/>
              <a:buFont typeface="Wingdings" charset="2"/>
              <a:buChar char=""/>
            </a:pPr>
            <a:r>
              <a:rPr lang="en-US" sz="2903" spc="-1">
                <a:solidFill>
                  <a:srgbClr val="000000"/>
                </a:solidFill>
                <a:latin typeface="Calibri"/>
              </a:rPr>
              <a:t>IsFull: Checks if the stack is full.</a:t>
            </a:r>
            <a:endParaRPr lang="en-US" sz="2903" spc="-1">
              <a:solidFill>
                <a:srgbClr val="000000"/>
              </a:solidFill>
              <a:latin typeface="Arial"/>
            </a:endParaRPr>
          </a:p>
          <a:p>
            <a:pPr marL="829407" lvl="1" indent="276469">
              <a:spcBef>
                <a:spcPts val="603"/>
              </a:spcBef>
              <a:buClr>
                <a:srgbClr val="000000"/>
              </a:buClr>
              <a:buSzPct val="45000"/>
              <a:buFont typeface="Wingdings" charset="2"/>
              <a:buChar char=""/>
            </a:pPr>
            <a:r>
              <a:rPr lang="en-US" sz="2903" spc="-1">
                <a:solidFill>
                  <a:srgbClr val="000000"/>
                </a:solidFill>
                <a:latin typeface="Calibri"/>
              </a:rPr>
              <a:t>These operations define how we interact with a stack, regardless of whether it's implemented using arrays, linked lists, or any other underlying data structure. </a:t>
            </a:r>
            <a:endParaRPr lang="en-US" sz="2903"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title"/>
          </p:nvPr>
        </p:nvSpPr>
        <p:spPr>
          <a:xfrm>
            <a:off x="837897" y="364854"/>
            <a:ext cx="10514580" cy="1324881"/>
          </a:xfrm>
          <a:prstGeom prst="rect">
            <a:avLst/>
          </a:prstGeom>
          <a:noFill/>
          <a:ln w="0">
            <a:noFill/>
          </a:ln>
        </p:spPr>
        <p:txBody>
          <a:bodyPr lIns="108847" tIns="54423" rIns="108847" bIns="54423" anchor="ctr">
            <a:noAutofit/>
          </a:bodyPr>
          <a:lstStyle/>
          <a:p>
            <a:pPr algn="ctr"/>
            <a:r>
              <a:rPr lang="en-US" sz="5321" b="1" spc="-1" dirty="0">
                <a:solidFill>
                  <a:srgbClr val="000000"/>
                </a:solidFill>
                <a:latin typeface="Calibri Light"/>
              </a:rPr>
              <a:t>STACK ADT-Array Implementation</a:t>
            </a:r>
            <a:endParaRPr lang="en-US" sz="5321" spc="-1" dirty="0">
              <a:solidFill>
                <a:srgbClr val="000000"/>
              </a:solidFill>
              <a:latin typeface="Arial"/>
            </a:endParaRPr>
          </a:p>
        </p:txBody>
      </p:sp>
      <p:sp>
        <p:nvSpPr>
          <p:cNvPr id="443" name="PlaceHolder 2"/>
          <p:cNvSpPr>
            <a:spLocks noGrp="1"/>
          </p:cNvSpPr>
          <p:nvPr>
            <p:ph/>
          </p:nvPr>
        </p:nvSpPr>
        <p:spPr>
          <a:xfrm>
            <a:off x="837897" y="2211763"/>
            <a:ext cx="10514580" cy="4350380"/>
          </a:xfrm>
          <a:prstGeom prst="rect">
            <a:avLst/>
          </a:prstGeom>
          <a:noFill/>
          <a:ln w="0">
            <a:noFill/>
          </a:ln>
        </p:spPr>
        <p:txBody>
          <a:bodyPr lIns="108847" tIns="54423" rIns="108847" bIns="54423" anchor="t">
            <a:normAutofit/>
          </a:bodyPr>
          <a:lstStyle/>
          <a:p>
            <a:pPr marL="291707" indent="-276469">
              <a:spcBef>
                <a:spcPts val="1211"/>
              </a:spcBef>
              <a:buClr>
                <a:srgbClr val="000000"/>
              </a:buClr>
              <a:buFont typeface="Arial"/>
              <a:buChar char="•"/>
            </a:pPr>
            <a:r>
              <a:rPr lang="en-US" sz="2661" spc="-1">
                <a:solidFill>
                  <a:srgbClr val="000000"/>
                </a:solidFill>
                <a:latin typeface="Calibri"/>
              </a:rPr>
              <a:t>First of all since the implementation is static we need to declare the array size ahead of time. </a:t>
            </a:r>
            <a:endParaRPr lang="en-US" sz="2661" spc="-1">
              <a:solidFill>
                <a:srgbClr val="000000"/>
              </a:solidFill>
              <a:latin typeface="Arial"/>
            </a:endParaRPr>
          </a:p>
          <a:p>
            <a:pPr marL="407084" indent="-391846">
              <a:spcBef>
                <a:spcPts val="1211"/>
              </a:spcBef>
              <a:buClr>
                <a:srgbClr val="000000"/>
              </a:buClr>
              <a:buSzPct val="75000"/>
              <a:buFont typeface="Symbol" charset="2"/>
              <a:buChar char=""/>
            </a:pPr>
            <a:r>
              <a:rPr lang="en-US" sz="2661" spc="-1">
                <a:solidFill>
                  <a:srgbClr val="000000"/>
                </a:solidFill>
                <a:latin typeface="Calibri"/>
              </a:rPr>
              <a:t>The following are two of the attributes associated with the Stack:</a:t>
            </a:r>
            <a:endParaRPr lang="en-US" sz="2661" spc="-1">
              <a:solidFill>
                <a:srgbClr val="000000"/>
              </a:solidFill>
              <a:latin typeface="Arial"/>
            </a:endParaRPr>
          </a:p>
          <a:p>
            <a:pPr marL="1044922" lvl="1" indent="391846">
              <a:spcBef>
                <a:spcPts val="1416"/>
              </a:spcBef>
              <a:buClr>
                <a:srgbClr val="000000"/>
              </a:buClr>
              <a:buSzPct val="45000"/>
              <a:buFont typeface="Wingdings" charset="2"/>
              <a:buChar char=""/>
            </a:pPr>
            <a:r>
              <a:rPr lang="en-US" sz="2661" spc="-1">
                <a:solidFill>
                  <a:srgbClr val="000000"/>
                </a:solidFill>
                <a:latin typeface="Calibri"/>
              </a:rPr>
              <a:t>MaxSize: This is the maximum size of the stack and is the size of the array.</a:t>
            </a:r>
            <a:endParaRPr lang="en-US" sz="2661" spc="-1">
              <a:solidFill>
                <a:srgbClr val="000000"/>
              </a:solidFill>
              <a:latin typeface="Arial"/>
            </a:endParaRPr>
          </a:p>
          <a:p>
            <a:pPr marL="1044922" lvl="1" indent="391846">
              <a:spcBef>
                <a:spcPts val="1416"/>
              </a:spcBef>
              <a:buClr>
                <a:srgbClr val="000000"/>
              </a:buClr>
              <a:buSzPct val="45000"/>
              <a:buFont typeface="Wingdings" charset="2"/>
              <a:buChar char=""/>
            </a:pPr>
            <a:r>
              <a:rPr lang="en-US" sz="2661" spc="-1">
                <a:solidFill>
                  <a:srgbClr val="000000"/>
                </a:solidFill>
                <a:latin typeface="Calibri"/>
              </a:rPr>
              <a:t>Top: This is the index of the top element of stack Stack which is the array which stores elements of stack</a:t>
            </a:r>
            <a:endParaRPr lang="en-US" sz="2661"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 name="PlaceHolder 1"/>
          <p:cNvSpPr>
            <a:spLocks noGrp="1"/>
          </p:cNvSpPr>
          <p:nvPr>
            <p:ph type="title"/>
          </p:nvPr>
        </p:nvSpPr>
        <p:spPr>
          <a:xfrm>
            <a:off x="837897" y="364854"/>
            <a:ext cx="10514580" cy="1324881"/>
          </a:xfrm>
          <a:prstGeom prst="rect">
            <a:avLst/>
          </a:prstGeom>
          <a:noFill/>
          <a:ln w="0">
            <a:noFill/>
          </a:ln>
        </p:spPr>
        <p:txBody>
          <a:bodyPr lIns="108847" tIns="54423" rIns="108847" bIns="54423" anchor="ctr">
            <a:noAutofit/>
          </a:bodyPr>
          <a:lstStyle/>
          <a:p>
            <a:pPr algn="ctr"/>
            <a:r>
              <a:rPr lang="en-US" sz="5321" b="1" spc="-1">
                <a:solidFill>
                  <a:srgbClr val="000000"/>
                </a:solidFill>
                <a:latin typeface="Calibri Light"/>
              </a:rPr>
              <a:t>Algorithm stack</a:t>
            </a:r>
            <a:endParaRPr lang="en-US" sz="5321" spc="-1">
              <a:solidFill>
                <a:srgbClr val="000000"/>
              </a:solidFill>
              <a:latin typeface="Arial"/>
            </a:endParaRPr>
          </a:p>
        </p:txBody>
      </p:sp>
      <p:sp>
        <p:nvSpPr>
          <p:cNvPr id="445" name="PlaceHolder 2"/>
          <p:cNvSpPr>
            <a:spLocks noGrp="1"/>
          </p:cNvSpPr>
          <p:nvPr>
            <p:ph/>
          </p:nvPr>
        </p:nvSpPr>
        <p:spPr>
          <a:xfrm>
            <a:off x="837897" y="1825140"/>
            <a:ext cx="10514580" cy="4350380"/>
          </a:xfrm>
          <a:prstGeom prst="rect">
            <a:avLst/>
          </a:prstGeom>
          <a:noFill/>
          <a:ln w="0">
            <a:noFill/>
          </a:ln>
        </p:spPr>
        <p:txBody>
          <a:bodyPr lIns="108847" tIns="54423" rIns="108847" bIns="54423" anchor="t">
            <a:normAutofit/>
          </a:bodyPr>
          <a:lstStyle/>
          <a:p>
            <a:pPr marL="291707" indent="-276469">
              <a:spcBef>
                <a:spcPts val="1211"/>
              </a:spcBef>
              <a:buClr>
                <a:srgbClr val="000000"/>
              </a:buClr>
              <a:buFont typeface="Arial"/>
              <a:buChar char="•"/>
            </a:pPr>
            <a:r>
              <a:rPr lang="en-US" sz="3386" spc="-1" dirty="0">
                <a:solidFill>
                  <a:srgbClr val="000000"/>
                </a:solidFill>
                <a:latin typeface="Calibri"/>
              </a:rPr>
              <a:t>Step 1 - Include all the header files which are used in the program and define a constant 'SIZE' with specific value.</a:t>
            </a:r>
            <a:endParaRPr lang="en-US" sz="3386" spc="-1" dirty="0">
              <a:solidFill>
                <a:srgbClr val="000000"/>
              </a:solidFill>
              <a:latin typeface="Arial"/>
            </a:endParaRPr>
          </a:p>
          <a:p>
            <a:pPr marL="291707" indent="-276469">
              <a:spcBef>
                <a:spcPts val="1211"/>
              </a:spcBef>
              <a:buClr>
                <a:srgbClr val="000000"/>
              </a:buClr>
              <a:buFont typeface="Arial"/>
              <a:buChar char="•"/>
            </a:pPr>
            <a:r>
              <a:rPr lang="en-US" sz="3386" spc="-1" dirty="0">
                <a:solidFill>
                  <a:srgbClr val="000000"/>
                </a:solidFill>
                <a:latin typeface="Calibri"/>
              </a:rPr>
              <a:t>Step 2 - Declare all the functions used in stack implementation.</a:t>
            </a:r>
            <a:endParaRPr lang="en-US" sz="3386" spc="-1" dirty="0">
              <a:solidFill>
                <a:srgbClr val="000000"/>
              </a:solidFill>
              <a:latin typeface="Arial"/>
            </a:endParaRPr>
          </a:p>
          <a:p>
            <a:pPr marL="291707" indent="-276469">
              <a:spcBef>
                <a:spcPts val="1211"/>
              </a:spcBef>
              <a:buClr>
                <a:srgbClr val="000000"/>
              </a:buClr>
              <a:buFont typeface="Arial"/>
              <a:buChar char="•"/>
            </a:pPr>
            <a:r>
              <a:rPr lang="en-US" sz="3386" spc="-1" dirty="0">
                <a:solidFill>
                  <a:srgbClr val="000000"/>
                </a:solidFill>
                <a:latin typeface="Calibri"/>
              </a:rPr>
              <a:t>Step 3 - Create a one dimensional array with fixed size (int stack[SIZE])</a:t>
            </a:r>
            <a:endParaRPr lang="en-US" sz="3386" spc="-1" dirty="0">
              <a:solidFill>
                <a:srgbClr val="000000"/>
              </a:solidFill>
              <a:latin typeface="Arial"/>
            </a:endParaRPr>
          </a:p>
          <a:p>
            <a:pPr marL="291707" indent="-276469">
              <a:spcBef>
                <a:spcPts val="1211"/>
              </a:spcBef>
              <a:buClr>
                <a:srgbClr val="000000"/>
              </a:buClr>
              <a:buFont typeface="Arial"/>
              <a:buChar char="•"/>
            </a:pPr>
            <a:r>
              <a:rPr lang="en-US" sz="3386" spc="-1" dirty="0">
                <a:solidFill>
                  <a:srgbClr val="000000"/>
                </a:solidFill>
                <a:latin typeface="Calibri"/>
              </a:rPr>
              <a:t>Step 4 - Define a integer variable 'top' and initialize with '-1'. (int top = -1)</a:t>
            </a:r>
            <a:endParaRPr lang="en-US" sz="3386" spc="-1" dirty="0">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 name="PlaceHolder 1"/>
          <p:cNvSpPr>
            <a:spLocks noGrp="1"/>
          </p:cNvSpPr>
          <p:nvPr>
            <p:ph type="title"/>
          </p:nvPr>
        </p:nvSpPr>
        <p:spPr>
          <a:xfrm>
            <a:off x="837897" y="364854"/>
            <a:ext cx="10514580" cy="1324881"/>
          </a:xfrm>
          <a:prstGeom prst="rect">
            <a:avLst/>
          </a:prstGeom>
          <a:noFill/>
          <a:ln w="0">
            <a:noFill/>
          </a:ln>
        </p:spPr>
        <p:txBody>
          <a:bodyPr lIns="108847" tIns="54423" rIns="108847" bIns="54423" anchor="ctr">
            <a:noAutofit/>
          </a:bodyPr>
          <a:lstStyle/>
          <a:p>
            <a:pPr algn="ctr"/>
            <a:r>
              <a:rPr lang="en-US" sz="5321" b="1" spc="-1">
                <a:solidFill>
                  <a:srgbClr val="000000"/>
                </a:solidFill>
                <a:latin typeface="Calibri Light"/>
              </a:rPr>
              <a:t>Push() and Pop() Operation Using Array</a:t>
            </a:r>
            <a:endParaRPr lang="en-US" sz="5321" spc="-1">
              <a:solidFill>
                <a:srgbClr val="000000"/>
              </a:solidFill>
              <a:latin typeface="Arial"/>
            </a:endParaRPr>
          </a:p>
        </p:txBody>
      </p:sp>
      <p:sp>
        <p:nvSpPr>
          <p:cNvPr id="447" name="PlaceHolder 2"/>
          <p:cNvSpPr>
            <a:spLocks noGrp="1"/>
          </p:cNvSpPr>
          <p:nvPr>
            <p:ph/>
          </p:nvPr>
        </p:nvSpPr>
        <p:spPr>
          <a:xfrm>
            <a:off x="837897" y="1825140"/>
            <a:ext cx="10514580" cy="4350380"/>
          </a:xfrm>
          <a:prstGeom prst="rect">
            <a:avLst/>
          </a:prstGeom>
          <a:noFill/>
          <a:ln w="0">
            <a:noFill/>
          </a:ln>
        </p:spPr>
        <p:txBody>
          <a:bodyPr lIns="108847" tIns="54423" rIns="108847" bIns="54423" anchor="t">
            <a:normAutofit/>
          </a:bodyPr>
          <a:lstStyle/>
          <a:p>
            <a:pPr marL="291707" indent="-276469">
              <a:spcBef>
                <a:spcPts val="1211"/>
              </a:spcBef>
              <a:buClr>
                <a:srgbClr val="000000"/>
              </a:buClr>
              <a:buFont typeface="Arial"/>
              <a:buChar char="•"/>
            </a:pPr>
            <a:r>
              <a:rPr lang="en-US" sz="3386" spc="-1">
                <a:solidFill>
                  <a:srgbClr val="000000"/>
                </a:solidFill>
                <a:latin typeface="Calibri"/>
              </a:rPr>
              <a:t>Discuss Code in Class</a:t>
            </a:r>
            <a:endParaRPr lang="en-US" sz="3386"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7D40E-27D5-C96D-5FCC-6530C450EF58}"/>
              </a:ext>
            </a:extLst>
          </p:cNvPr>
          <p:cNvSpPr>
            <a:spLocks noGrp="1"/>
          </p:cNvSpPr>
          <p:nvPr>
            <p:ph type="title"/>
          </p:nvPr>
        </p:nvSpPr>
        <p:spPr/>
        <p:txBody>
          <a:bodyPr/>
          <a:lstStyle/>
          <a:p>
            <a:r>
              <a:rPr lang="en-US" dirty="0"/>
              <a:t>Stack Application</a:t>
            </a:r>
          </a:p>
        </p:txBody>
      </p:sp>
      <p:sp>
        <p:nvSpPr>
          <p:cNvPr id="3" name="Content Placeholder 2">
            <a:extLst>
              <a:ext uri="{FF2B5EF4-FFF2-40B4-BE49-F238E27FC236}">
                <a16:creationId xmlns:a16="http://schemas.microsoft.com/office/drawing/2014/main" id="{1C0EA2D3-FD7D-BA24-5B75-E2F085741FD8}"/>
              </a:ext>
            </a:extLst>
          </p:cNvPr>
          <p:cNvSpPr>
            <a:spLocks noGrp="1"/>
          </p:cNvSpPr>
          <p:nvPr>
            <p:ph idx="1"/>
          </p:nvPr>
        </p:nvSpPr>
        <p:spPr/>
        <p:txBody>
          <a:bodyPr/>
          <a:lstStyle/>
          <a:p>
            <a:pPr marL="0" indent="0">
              <a:buNone/>
            </a:pPr>
            <a:r>
              <a:rPr lang="en-US" dirty="0"/>
              <a:t>1.Stack Frame</a:t>
            </a:r>
          </a:p>
          <a:p>
            <a:pPr lvl="1"/>
            <a:r>
              <a:rPr lang="en-US" dirty="0"/>
              <a:t>Each function has local memory associated with it to hold incoming parameters, local variables, and (in some cases) temporary variables. This region of memory is called a stack frame and is allocated on the process’ stack.</a:t>
            </a:r>
          </a:p>
          <a:p>
            <a:pPr lvl="1"/>
            <a:r>
              <a:rPr lang="en-US" dirty="0"/>
              <a:t>Each stack frame contains 4 parts:</a:t>
            </a:r>
          </a:p>
          <a:p>
            <a:pPr lvl="2"/>
            <a:r>
              <a:rPr lang="en-US" dirty="0"/>
              <a:t>Parameter passed to the callee function</a:t>
            </a:r>
          </a:p>
          <a:p>
            <a:pPr lvl="2"/>
            <a:r>
              <a:rPr lang="en-US" dirty="0"/>
              <a:t>Return address of the caller function</a:t>
            </a:r>
          </a:p>
          <a:p>
            <a:pPr lvl="2"/>
            <a:r>
              <a:rPr lang="en-US" dirty="0"/>
              <a:t>Base pointer</a:t>
            </a:r>
          </a:p>
          <a:p>
            <a:pPr lvl="2"/>
            <a:r>
              <a:rPr lang="en-US" dirty="0"/>
              <a:t>Local variables of the callee function</a:t>
            </a:r>
          </a:p>
        </p:txBody>
      </p:sp>
      <p:pic>
        <p:nvPicPr>
          <p:cNvPr id="1026" name="Picture 2" descr="stack-contents">
            <a:extLst>
              <a:ext uri="{FF2B5EF4-FFF2-40B4-BE49-F238E27FC236}">
                <a16:creationId xmlns:a16="http://schemas.microsoft.com/office/drawing/2014/main" id="{CD5FF192-D7FE-329F-2D6F-3C674E7747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719" y="3503270"/>
            <a:ext cx="4990588" cy="2808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0633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70C54-4F49-6E29-9D81-587920B1C7F3}"/>
              </a:ext>
            </a:extLst>
          </p:cNvPr>
          <p:cNvSpPr>
            <a:spLocks noGrp="1"/>
          </p:cNvSpPr>
          <p:nvPr>
            <p:ph type="title"/>
          </p:nvPr>
        </p:nvSpPr>
        <p:spPr/>
        <p:txBody>
          <a:bodyPr/>
          <a:lstStyle/>
          <a:p>
            <a:r>
              <a:rPr lang="en-US" dirty="0"/>
              <a:t>Stack Application</a:t>
            </a:r>
          </a:p>
        </p:txBody>
      </p:sp>
      <p:sp>
        <p:nvSpPr>
          <p:cNvPr id="3" name="Content Placeholder 2">
            <a:extLst>
              <a:ext uri="{FF2B5EF4-FFF2-40B4-BE49-F238E27FC236}">
                <a16:creationId xmlns:a16="http://schemas.microsoft.com/office/drawing/2014/main" id="{E9A5F827-5FEA-A741-DF60-3D8548F0DC9D}"/>
              </a:ext>
            </a:extLst>
          </p:cNvPr>
          <p:cNvSpPr>
            <a:spLocks noGrp="1"/>
          </p:cNvSpPr>
          <p:nvPr>
            <p:ph idx="1"/>
          </p:nvPr>
        </p:nvSpPr>
        <p:spPr/>
        <p:txBody>
          <a:bodyPr>
            <a:normAutofit/>
          </a:bodyPr>
          <a:lstStyle/>
          <a:p>
            <a:pPr marL="0" indent="0">
              <a:buNone/>
            </a:pPr>
            <a:r>
              <a:rPr lang="en-US" dirty="0"/>
              <a:t>2. Reverse String</a:t>
            </a:r>
          </a:p>
          <a:p>
            <a:pPr marL="0" indent="0">
              <a:buNone/>
            </a:pPr>
            <a:r>
              <a:rPr lang="en-US" dirty="0"/>
              <a:t>3. Calculate the postfix operation/Evaluation</a:t>
            </a:r>
          </a:p>
          <a:p>
            <a:pPr marL="416365" indent="-285750">
              <a:spcBef>
                <a:spcPts val="1416"/>
              </a:spcBef>
              <a:buClr>
                <a:srgbClr val="000000"/>
              </a:buClr>
              <a:buSzPct val="45000"/>
            </a:pPr>
            <a:r>
              <a:rPr lang="en-US" sz="1800" b="1" spc="-1" dirty="0">
                <a:solidFill>
                  <a:srgbClr val="000000"/>
                </a:solidFill>
                <a:latin typeface="Arial"/>
              </a:rPr>
              <a:t>E.g.1 2*</a:t>
            </a:r>
          </a:p>
          <a:p>
            <a:pPr marL="416365" indent="-285750">
              <a:spcBef>
                <a:spcPts val="1416"/>
              </a:spcBef>
              <a:buClr>
                <a:srgbClr val="000000"/>
              </a:buClr>
              <a:buSzPct val="45000"/>
            </a:pPr>
            <a:r>
              <a:rPr lang="en-US" sz="1800" b="1" spc="-1" dirty="0">
                <a:solidFill>
                  <a:srgbClr val="000000"/>
                </a:solidFill>
                <a:latin typeface="Arial"/>
              </a:rPr>
              <a:t>This notation is known as postﬁx, or reverse Polish notation</a:t>
            </a:r>
          </a:p>
          <a:p>
            <a:pPr marL="416365" indent="-285750">
              <a:spcBef>
                <a:spcPts val="1416"/>
              </a:spcBef>
              <a:buClr>
                <a:srgbClr val="000000"/>
              </a:buClr>
              <a:buSzPct val="75000"/>
            </a:pPr>
            <a:r>
              <a:rPr lang="en-US" sz="1800" b="1" spc="-1" dirty="0">
                <a:solidFill>
                  <a:srgbClr val="000000"/>
                </a:solidFill>
                <a:latin typeface="Arial"/>
              </a:rPr>
              <a:t>Practice</a:t>
            </a:r>
          </a:p>
          <a:p>
            <a:pPr marL="416365" indent="-285750">
              <a:spcBef>
                <a:spcPts val="1416"/>
              </a:spcBef>
              <a:buClr>
                <a:srgbClr val="000000"/>
              </a:buClr>
              <a:buSzPct val="75000"/>
            </a:pPr>
            <a:r>
              <a:rPr lang="en-US" sz="1800" b="1" spc="-1" dirty="0">
                <a:solidFill>
                  <a:srgbClr val="000000"/>
                </a:solidFill>
                <a:latin typeface="Arial"/>
              </a:rPr>
              <a:t>Evaluate postfix expression =&gt; 6523+8*+3+* and 2 3 4 * +</a:t>
            </a:r>
          </a:p>
          <a:p>
            <a:pPr marL="416365" indent="-285750">
              <a:spcBef>
                <a:spcPts val="1416"/>
              </a:spcBef>
              <a:buClr>
                <a:srgbClr val="000000"/>
              </a:buClr>
              <a:buSzPct val="75000"/>
            </a:pPr>
            <a:r>
              <a:rPr lang="en-US" sz="1800" b="1" spc="-1" dirty="0">
                <a:solidFill>
                  <a:srgbClr val="000000"/>
                </a:solidFill>
                <a:latin typeface="Arial"/>
              </a:rPr>
              <a:t>=&gt;623+-382/+*2$3+</a:t>
            </a:r>
          </a:p>
          <a:p>
            <a:pPr marL="0" indent="0">
              <a:buNone/>
            </a:pPr>
            <a:endParaRPr lang="en-US" dirty="0"/>
          </a:p>
        </p:txBody>
      </p:sp>
    </p:spTree>
    <p:extLst>
      <p:ext uri="{BB962C8B-B14F-4D97-AF65-F5344CB8AC3E}">
        <p14:creationId xmlns:p14="http://schemas.microsoft.com/office/powerpoint/2010/main" val="423482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34E359-8E29-FD38-6421-9F9B242B2B53}"/>
              </a:ext>
            </a:extLst>
          </p:cNvPr>
          <p:cNvPicPr>
            <a:picLocks noChangeAspect="1"/>
          </p:cNvPicPr>
          <p:nvPr/>
        </p:nvPicPr>
        <p:blipFill>
          <a:blip r:embed="rId2"/>
          <a:stretch>
            <a:fillRect/>
          </a:stretch>
        </p:blipFill>
        <p:spPr>
          <a:xfrm>
            <a:off x="2316710" y="815926"/>
            <a:ext cx="7432201" cy="5138766"/>
          </a:xfrm>
          <a:prstGeom prst="rect">
            <a:avLst/>
          </a:prstGeom>
        </p:spPr>
      </p:pic>
    </p:spTree>
    <p:extLst>
      <p:ext uri="{BB962C8B-B14F-4D97-AF65-F5344CB8AC3E}">
        <p14:creationId xmlns:p14="http://schemas.microsoft.com/office/powerpoint/2010/main" val="4082653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 name="PlaceHolder 1"/>
          <p:cNvSpPr>
            <a:spLocks noGrp="1"/>
          </p:cNvSpPr>
          <p:nvPr>
            <p:ph type="title"/>
          </p:nvPr>
        </p:nvSpPr>
        <p:spPr>
          <a:xfrm>
            <a:off x="837897" y="364854"/>
            <a:ext cx="10514580" cy="1324881"/>
          </a:xfrm>
          <a:prstGeom prst="rect">
            <a:avLst/>
          </a:prstGeom>
          <a:noFill/>
          <a:ln w="0">
            <a:noFill/>
          </a:ln>
        </p:spPr>
        <p:txBody>
          <a:bodyPr lIns="108847" tIns="54423" rIns="108847" bIns="54423" anchor="ctr">
            <a:noAutofit/>
          </a:bodyPr>
          <a:lstStyle/>
          <a:p>
            <a:pPr algn="ctr"/>
            <a:r>
              <a:rPr lang="en-US" sz="5321" b="1" spc="-1">
                <a:solidFill>
                  <a:srgbClr val="000000"/>
                </a:solidFill>
                <a:latin typeface="Calibri Light"/>
              </a:rPr>
              <a:t>Expression Notation</a:t>
            </a:r>
            <a:endParaRPr lang="en-US" sz="5321" spc="-1">
              <a:solidFill>
                <a:srgbClr val="000000"/>
              </a:solidFill>
              <a:latin typeface="Arial"/>
            </a:endParaRPr>
          </a:p>
        </p:txBody>
      </p:sp>
      <p:sp>
        <p:nvSpPr>
          <p:cNvPr id="449" name="PlaceHolder 2"/>
          <p:cNvSpPr>
            <a:spLocks noGrp="1"/>
          </p:cNvSpPr>
          <p:nvPr>
            <p:ph/>
          </p:nvPr>
        </p:nvSpPr>
        <p:spPr>
          <a:xfrm>
            <a:off x="837897" y="1825140"/>
            <a:ext cx="10514580" cy="4350380"/>
          </a:xfrm>
          <a:prstGeom prst="rect">
            <a:avLst/>
          </a:prstGeom>
          <a:noFill/>
          <a:ln w="0">
            <a:noFill/>
          </a:ln>
        </p:spPr>
        <p:txBody>
          <a:bodyPr lIns="108847" tIns="54423" rIns="108847" bIns="54423" anchor="t">
            <a:normAutofit lnSpcReduction="10000"/>
          </a:bodyPr>
          <a:lstStyle/>
          <a:p>
            <a:pPr marL="291707" indent="-276469">
              <a:spcBef>
                <a:spcPts val="1211"/>
              </a:spcBef>
              <a:buClr>
                <a:srgbClr val="000000"/>
              </a:buClr>
              <a:buFont typeface="Arial"/>
              <a:buChar char="•"/>
            </a:pPr>
            <a:r>
              <a:rPr lang="en-US" sz="3024" spc="-1" dirty="0">
                <a:solidFill>
                  <a:srgbClr val="000000"/>
                </a:solidFill>
                <a:latin typeface="Calibri"/>
              </a:rPr>
              <a:t>4 + 5+ 6 ∗ 2=? </a:t>
            </a:r>
            <a:endParaRPr lang="en-US" sz="3024" spc="-1" dirty="0">
              <a:solidFill>
                <a:srgbClr val="000000"/>
              </a:solidFill>
              <a:latin typeface="Arial"/>
            </a:endParaRPr>
          </a:p>
          <a:p>
            <a:pPr marL="291707" indent="-276469">
              <a:spcBef>
                <a:spcPts val="1211"/>
              </a:spcBef>
              <a:buClr>
                <a:srgbClr val="000000"/>
              </a:buClr>
              <a:buFont typeface="Arial"/>
              <a:buChar char="•"/>
            </a:pPr>
            <a:r>
              <a:rPr lang="en-US" sz="3024" spc="-1" dirty="0">
                <a:solidFill>
                  <a:srgbClr val="000000"/>
                </a:solidFill>
                <a:latin typeface="Calibri"/>
              </a:rPr>
              <a:t>Stacks provide a convenient data structure for handling the order of operations, managing operands and operators, and ensuring the </a:t>
            </a:r>
            <a:r>
              <a:rPr lang="en-US" sz="3024" spc="-1" dirty="0">
                <a:solidFill>
                  <a:srgbClr val="FF0000"/>
                </a:solidFill>
                <a:latin typeface="Calibri"/>
              </a:rPr>
              <a:t>correct evaluation of expressions </a:t>
            </a:r>
            <a:r>
              <a:rPr lang="en-US" sz="3024" spc="-1" dirty="0">
                <a:solidFill>
                  <a:srgbClr val="000000"/>
                </a:solidFill>
                <a:latin typeface="Calibri"/>
              </a:rPr>
              <a:t>in various expression notations.</a:t>
            </a:r>
            <a:endParaRPr lang="en-US" sz="3024" spc="-1" dirty="0">
              <a:solidFill>
                <a:srgbClr val="000000"/>
              </a:solidFill>
              <a:latin typeface="Arial"/>
            </a:endParaRPr>
          </a:p>
          <a:p>
            <a:pPr marL="291707" indent="-276469">
              <a:spcBef>
                <a:spcPts val="1211"/>
              </a:spcBef>
              <a:buClr>
                <a:srgbClr val="000000"/>
              </a:buClr>
              <a:buFont typeface="Arial"/>
              <a:buChar char="•"/>
            </a:pPr>
            <a:r>
              <a:rPr lang="en-US" sz="3024" spc="-1" dirty="0">
                <a:solidFill>
                  <a:srgbClr val="000000"/>
                </a:solidFill>
                <a:latin typeface="Calibri"/>
              </a:rPr>
              <a:t>Types of expression notations:-</a:t>
            </a:r>
            <a:endParaRPr lang="en-US" sz="3024" spc="-1" dirty="0">
              <a:solidFill>
                <a:srgbClr val="000000"/>
              </a:solidFill>
              <a:latin typeface="Arial"/>
            </a:endParaRPr>
          </a:p>
          <a:p>
            <a:pPr marL="829407" lvl="1" indent="276469">
              <a:spcBef>
                <a:spcPts val="603"/>
              </a:spcBef>
              <a:buClr>
                <a:srgbClr val="000000"/>
              </a:buClr>
              <a:buSzPct val="45000"/>
              <a:buFont typeface="Wingdings" charset="2"/>
              <a:buChar char=""/>
            </a:pPr>
            <a:r>
              <a:rPr lang="en-US" sz="3024" spc="-1" dirty="0">
                <a:solidFill>
                  <a:srgbClr val="000000"/>
                </a:solidFill>
                <a:latin typeface="Calibri"/>
              </a:rPr>
              <a:t>Infix notation</a:t>
            </a:r>
            <a:endParaRPr lang="en-US" sz="3024" spc="-1" dirty="0">
              <a:solidFill>
                <a:srgbClr val="000000"/>
              </a:solidFill>
              <a:latin typeface="Arial"/>
            </a:endParaRPr>
          </a:p>
          <a:p>
            <a:pPr marL="829407" lvl="1" indent="276469">
              <a:spcBef>
                <a:spcPts val="603"/>
              </a:spcBef>
              <a:buClr>
                <a:srgbClr val="000000"/>
              </a:buClr>
              <a:buSzPct val="45000"/>
              <a:buFont typeface="Wingdings" charset="2"/>
              <a:buChar char=""/>
            </a:pPr>
            <a:r>
              <a:rPr lang="en-US" sz="3024" spc="-1" dirty="0">
                <a:solidFill>
                  <a:srgbClr val="000000"/>
                </a:solidFill>
                <a:latin typeface="Calibri"/>
              </a:rPr>
              <a:t>Postfix notation</a:t>
            </a:r>
            <a:endParaRPr lang="en-US" sz="3024" spc="-1" dirty="0">
              <a:solidFill>
                <a:srgbClr val="000000"/>
              </a:solidFill>
              <a:latin typeface="Arial"/>
            </a:endParaRPr>
          </a:p>
          <a:p>
            <a:pPr marL="829407" lvl="1" indent="276469">
              <a:spcBef>
                <a:spcPts val="603"/>
              </a:spcBef>
              <a:buClr>
                <a:srgbClr val="000000"/>
              </a:buClr>
              <a:buSzPct val="45000"/>
              <a:buFont typeface="Wingdings" charset="2"/>
              <a:buChar char=""/>
            </a:pPr>
            <a:r>
              <a:rPr lang="en-US" sz="3024" spc="-1" dirty="0">
                <a:solidFill>
                  <a:srgbClr val="000000"/>
                </a:solidFill>
                <a:latin typeface="Calibri"/>
              </a:rPr>
              <a:t>Prefix notation</a:t>
            </a:r>
            <a:endParaRPr lang="en-US" sz="3024" spc="-1" dirty="0">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 name="PlaceHolder 1"/>
          <p:cNvSpPr>
            <a:spLocks noGrp="1"/>
          </p:cNvSpPr>
          <p:nvPr>
            <p:ph type="title"/>
          </p:nvPr>
        </p:nvSpPr>
        <p:spPr>
          <a:xfrm>
            <a:off x="837897" y="364854"/>
            <a:ext cx="10514580" cy="1324881"/>
          </a:xfrm>
          <a:prstGeom prst="rect">
            <a:avLst/>
          </a:prstGeom>
          <a:noFill/>
          <a:ln w="0">
            <a:noFill/>
          </a:ln>
        </p:spPr>
        <p:txBody>
          <a:bodyPr lIns="108847" tIns="54423" rIns="108847" bIns="54423" anchor="ctr">
            <a:noAutofit/>
          </a:bodyPr>
          <a:lstStyle/>
          <a:p>
            <a:pPr algn="ctr"/>
            <a:r>
              <a:rPr lang="en-US" sz="5321" spc="-1">
                <a:solidFill>
                  <a:srgbClr val="000000"/>
                </a:solidFill>
                <a:latin typeface="Calibri Light"/>
              </a:rPr>
              <a:t>Infix Notation</a:t>
            </a:r>
            <a:endParaRPr lang="en-US" sz="5321" spc="-1">
              <a:solidFill>
                <a:srgbClr val="000000"/>
              </a:solidFill>
              <a:latin typeface="Arial"/>
            </a:endParaRPr>
          </a:p>
        </p:txBody>
      </p:sp>
      <p:sp>
        <p:nvSpPr>
          <p:cNvPr id="451" name="PlaceHolder 2"/>
          <p:cNvSpPr>
            <a:spLocks noGrp="1"/>
          </p:cNvSpPr>
          <p:nvPr>
            <p:ph/>
          </p:nvPr>
        </p:nvSpPr>
        <p:spPr>
          <a:xfrm>
            <a:off x="837897" y="1825140"/>
            <a:ext cx="10514580" cy="4350380"/>
          </a:xfrm>
          <a:prstGeom prst="rect">
            <a:avLst/>
          </a:prstGeom>
          <a:noFill/>
          <a:ln w="0">
            <a:noFill/>
          </a:ln>
        </p:spPr>
        <p:txBody>
          <a:bodyPr lIns="108847" tIns="54423" rIns="108847" bIns="54423" anchor="t">
            <a:normAutofit/>
          </a:bodyPr>
          <a:lstStyle/>
          <a:p>
            <a:pPr marL="291707" indent="-276469">
              <a:spcBef>
                <a:spcPts val="1211"/>
              </a:spcBef>
              <a:buClr>
                <a:srgbClr val="000000"/>
              </a:buClr>
              <a:buFont typeface="Arial"/>
              <a:buChar char="•"/>
            </a:pPr>
            <a:r>
              <a:rPr lang="en-US" sz="3386" spc="-1" dirty="0">
                <a:solidFill>
                  <a:srgbClr val="000000"/>
                </a:solidFill>
                <a:latin typeface="Calibri"/>
              </a:rPr>
              <a:t>Demo class</a:t>
            </a:r>
            <a:endParaRPr lang="en-US" sz="3386" spc="-1" dirty="0">
              <a:solidFill>
                <a:srgbClr val="000000"/>
              </a:solidFill>
              <a:latin typeface="Arial"/>
            </a:endParaRPr>
          </a:p>
          <a:p>
            <a:pPr marL="291707" indent="-276469">
              <a:spcBef>
                <a:spcPts val="1211"/>
              </a:spcBef>
              <a:buClr>
                <a:srgbClr val="000000"/>
              </a:buClr>
              <a:buFont typeface="Arial"/>
              <a:buChar char="•"/>
            </a:pPr>
            <a:r>
              <a:rPr lang="en-US" sz="3386" spc="-1" dirty="0">
                <a:solidFill>
                  <a:srgbClr val="000000"/>
                </a:solidFill>
                <a:latin typeface="Calibri"/>
              </a:rPr>
              <a:t>&lt;operands&gt; &lt;operators&gt; &lt;operands&gt;</a:t>
            </a:r>
            <a:endParaRPr lang="en-US" sz="3386" spc="-1" dirty="0">
              <a:solidFill>
                <a:srgbClr val="000000"/>
              </a:solidFill>
              <a:latin typeface="Arial"/>
            </a:endParaRPr>
          </a:p>
          <a:p>
            <a:pPr marL="291707" indent="-276469">
              <a:spcBef>
                <a:spcPts val="1211"/>
              </a:spcBef>
              <a:buClr>
                <a:srgbClr val="000000"/>
              </a:buClr>
              <a:buFont typeface="Arial"/>
              <a:buChar char="•"/>
            </a:pPr>
            <a:r>
              <a:rPr lang="en-US" sz="3386" spc="-1" dirty="0">
                <a:solidFill>
                  <a:srgbClr val="000000"/>
                </a:solidFill>
                <a:latin typeface="Calibri"/>
              </a:rPr>
              <a:t>Not use due to ambiguity </a:t>
            </a:r>
            <a:endParaRPr lang="en-US" sz="3386" spc="-1" dirty="0">
              <a:solidFill>
                <a:srgbClr val="000000"/>
              </a:solidFill>
              <a:latin typeface="Arial"/>
            </a:endParaRPr>
          </a:p>
          <a:p>
            <a:pPr marL="829407" lvl="1" indent="276469">
              <a:spcBef>
                <a:spcPts val="603"/>
              </a:spcBef>
              <a:buClr>
                <a:srgbClr val="000000"/>
              </a:buClr>
              <a:buSzPct val="45000"/>
              <a:buFont typeface="Wingdings" charset="2"/>
              <a:buChar char=""/>
            </a:pPr>
            <a:r>
              <a:rPr lang="en-US" sz="2903" spc="-1" dirty="0">
                <a:solidFill>
                  <a:srgbClr val="000000"/>
                </a:solidFill>
                <a:latin typeface="Calibri"/>
              </a:rPr>
              <a:t>ambiguity refers to situations where the interpretation of an expression is not clear or can be interpreted in multiple ways. </a:t>
            </a:r>
            <a:endParaRPr lang="en-US" sz="2903" spc="-1" dirty="0">
              <a:solidFill>
                <a:srgbClr val="000000"/>
              </a:solidFill>
              <a:latin typeface="Arial"/>
            </a:endParaRPr>
          </a:p>
          <a:p>
            <a:pPr marL="829407" lvl="1" indent="276469">
              <a:spcBef>
                <a:spcPts val="603"/>
              </a:spcBef>
              <a:buClr>
                <a:srgbClr val="000000"/>
              </a:buClr>
              <a:buSzPct val="45000"/>
              <a:buFont typeface="Wingdings" charset="2"/>
              <a:buChar char=""/>
            </a:pPr>
            <a:r>
              <a:rPr lang="en-US" sz="2903" spc="-1" dirty="0">
                <a:solidFill>
                  <a:srgbClr val="000000"/>
                </a:solidFill>
                <a:latin typeface="Calibri"/>
              </a:rPr>
              <a:t>This ambiguity arises due to the presence of operators with the same precedence or when parentheses are not used to explicitly define the order of operations.</a:t>
            </a:r>
            <a:endParaRPr lang="en-US" sz="2903" spc="-1" dirty="0">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2" name="Picture 4"/>
          <p:cNvPicPr/>
          <p:nvPr/>
        </p:nvPicPr>
        <p:blipFill>
          <a:blip r:embed="rId2"/>
          <a:stretch/>
        </p:blipFill>
        <p:spPr>
          <a:xfrm>
            <a:off x="894062" y="764103"/>
            <a:ext cx="5198513" cy="2848733"/>
          </a:xfrm>
          <a:prstGeom prst="rect">
            <a:avLst/>
          </a:prstGeom>
          <a:ln w="0">
            <a:noFill/>
          </a:ln>
        </p:spPr>
      </p:pic>
      <p:pic>
        <p:nvPicPr>
          <p:cNvPr id="453" name="Picture 5"/>
          <p:cNvPicPr/>
          <p:nvPr/>
        </p:nvPicPr>
        <p:blipFill>
          <a:blip r:embed="rId3"/>
          <a:stretch/>
        </p:blipFill>
        <p:spPr>
          <a:xfrm>
            <a:off x="6565840" y="4047787"/>
            <a:ext cx="4488833" cy="2341508"/>
          </a:xfrm>
          <a:prstGeom prst="rect">
            <a:avLst/>
          </a:prstGeom>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PlaceHolder 1"/>
          <p:cNvSpPr>
            <a:spLocks noGrp="1"/>
          </p:cNvSpPr>
          <p:nvPr>
            <p:ph type="title"/>
          </p:nvPr>
        </p:nvSpPr>
        <p:spPr>
          <a:xfrm>
            <a:off x="837897" y="364854"/>
            <a:ext cx="10514580" cy="1324881"/>
          </a:xfrm>
          <a:prstGeom prst="rect">
            <a:avLst/>
          </a:prstGeom>
          <a:noFill/>
          <a:ln w="0">
            <a:noFill/>
          </a:ln>
        </p:spPr>
        <p:txBody>
          <a:bodyPr lIns="108847" tIns="54423" rIns="108847" bIns="54423" anchor="ctr">
            <a:noAutofit/>
          </a:bodyPr>
          <a:lstStyle/>
          <a:p>
            <a:pPr algn="ctr"/>
            <a:r>
              <a:rPr lang="en-US" sz="5321" b="1" spc="-1">
                <a:solidFill>
                  <a:srgbClr val="000000"/>
                </a:solidFill>
                <a:latin typeface="Calibri Light"/>
              </a:rPr>
              <a:t>Postfix Notation</a:t>
            </a:r>
            <a:endParaRPr lang="en-US" sz="5321" spc="-1">
              <a:solidFill>
                <a:srgbClr val="000000"/>
              </a:solidFill>
              <a:latin typeface="Arial"/>
            </a:endParaRPr>
          </a:p>
        </p:txBody>
      </p:sp>
      <p:sp>
        <p:nvSpPr>
          <p:cNvPr id="455" name="PlaceHolder 2"/>
          <p:cNvSpPr>
            <a:spLocks noGrp="1"/>
          </p:cNvSpPr>
          <p:nvPr>
            <p:ph/>
          </p:nvPr>
        </p:nvSpPr>
        <p:spPr>
          <a:xfrm>
            <a:off x="837897" y="1825140"/>
            <a:ext cx="10514580" cy="4350380"/>
          </a:xfrm>
          <a:prstGeom prst="rect">
            <a:avLst/>
          </a:prstGeom>
          <a:noFill/>
          <a:ln w="0">
            <a:noFill/>
          </a:ln>
        </p:spPr>
        <p:txBody>
          <a:bodyPr lIns="108847" tIns="54423" rIns="108847" bIns="54423" anchor="t">
            <a:normAutofit/>
          </a:bodyPr>
          <a:lstStyle/>
          <a:p>
            <a:pPr marL="291707" indent="-276469">
              <a:spcBef>
                <a:spcPts val="1211"/>
              </a:spcBef>
              <a:buClr>
                <a:srgbClr val="000000"/>
              </a:buClr>
              <a:buFont typeface="Arial"/>
              <a:buChar char="•"/>
            </a:pPr>
            <a:r>
              <a:rPr lang="en-US" sz="3386" spc="-1">
                <a:solidFill>
                  <a:srgbClr val="000000"/>
                </a:solidFill>
                <a:latin typeface="Calibri"/>
              </a:rPr>
              <a:t>Demo Class</a:t>
            </a:r>
            <a:endParaRPr lang="en-US" sz="3386" spc="-1">
              <a:solidFill>
                <a:srgbClr val="000000"/>
              </a:solidFill>
              <a:latin typeface="Arial"/>
            </a:endParaRPr>
          </a:p>
          <a:p>
            <a:pPr marL="291707" indent="-276469">
              <a:spcBef>
                <a:spcPts val="1211"/>
              </a:spcBef>
              <a:buClr>
                <a:srgbClr val="000000"/>
              </a:buClr>
              <a:buFont typeface="Arial"/>
              <a:buChar char="•"/>
            </a:pPr>
            <a:r>
              <a:rPr lang="en-US" sz="3386" spc="-1">
                <a:solidFill>
                  <a:srgbClr val="000000"/>
                </a:solidFill>
                <a:latin typeface="Calibri"/>
              </a:rPr>
              <a:t>&lt;operands&gt; &lt;operands&gt; &lt;operators&gt; </a:t>
            </a:r>
            <a:endParaRPr lang="en-US" sz="3386" spc="-1">
              <a:solidFill>
                <a:srgbClr val="000000"/>
              </a:solidFill>
              <a:latin typeface="Arial"/>
            </a:endParaRPr>
          </a:p>
          <a:p>
            <a:pPr indent="0">
              <a:spcBef>
                <a:spcPts val="1211"/>
              </a:spcBef>
              <a:buNone/>
            </a:pPr>
            <a:endParaRPr lang="en-US" sz="3386" spc="-1">
              <a:solidFill>
                <a:srgbClr val="000000"/>
              </a:solidFill>
              <a:latin typeface="Arial"/>
            </a:endParaRPr>
          </a:p>
          <a:p>
            <a:pPr indent="0">
              <a:spcBef>
                <a:spcPts val="1211"/>
              </a:spcBef>
              <a:buNone/>
            </a:pPr>
            <a:endParaRPr lang="en-US" sz="3386" spc="-1">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 name="PlaceHolder 1"/>
          <p:cNvSpPr>
            <a:spLocks noGrp="1"/>
          </p:cNvSpPr>
          <p:nvPr>
            <p:ph type="title"/>
          </p:nvPr>
        </p:nvSpPr>
        <p:spPr>
          <a:xfrm>
            <a:off x="837897" y="364854"/>
            <a:ext cx="10514580" cy="1324881"/>
          </a:xfrm>
          <a:prstGeom prst="rect">
            <a:avLst/>
          </a:prstGeom>
          <a:noFill/>
          <a:ln w="0">
            <a:noFill/>
          </a:ln>
        </p:spPr>
        <p:txBody>
          <a:bodyPr lIns="108847" tIns="54423" rIns="108847" bIns="54423" anchor="ctr">
            <a:noAutofit/>
          </a:bodyPr>
          <a:lstStyle/>
          <a:p>
            <a:pPr algn="ctr"/>
            <a:r>
              <a:rPr lang="en-US" sz="5321" b="1" spc="-1">
                <a:solidFill>
                  <a:srgbClr val="000000"/>
                </a:solidFill>
                <a:latin typeface="Calibri Light"/>
              </a:rPr>
              <a:t>Prefix Notation</a:t>
            </a:r>
            <a:endParaRPr lang="en-US" sz="5321" spc="-1">
              <a:solidFill>
                <a:srgbClr val="000000"/>
              </a:solidFill>
              <a:latin typeface="Arial"/>
            </a:endParaRPr>
          </a:p>
        </p:txBody>
      </p:sp>
      <p:sp>
        <p:nvSpPr>
          <p:cNvPr id="457" name="PlaceHolder 2"/>
          <p:cNvSpPr>
            <a:spLocks noGrp="1"/>
          </p:cNvSpPr>
          <p:nvPr>
            <p:ph/>
          </p:nvPr>
        </p:nvSpPr>
        <p:spPr>
          <a:xfrm>
            <a:off x="837897" y="1825140"/>
            <a:ext cx="10514580" cy="4350380"/>
          </a:xfrm>
          <a:prstGeom prst="rect">
            <a:avLst/>
          </a:prstGeom>
          <a:noFill/>
          <a:ln w="0">
            <a:noFill/>
          </a:ln>
        </p:spPr>
        <p:txBody>
          <a:bodyPr lIns="108847" tIns="54423" rIns="108847" bIns="54423" anchor="t">
            <a:normAutofit/>
          </a:bodyPr>
          <a:lstStyle/>
          <a:p>
            <a:pPr marL="291707" indent="-276469">
              <a:spcBef>
                <a:spcPts val="1211"/>
              </a:spcBef>
              <a:buClr>
                <a:srgbClr val="000000"/>
              </a:buClr>
              <a:buFont typeface="Arial"/>
              <a:buChar char="•"/>
            </a:pPr>
            <a:r>
              <a:rPr lang="en-US" sz="3386" spc="-1">
                <a:solidFill>
                  <a:srgbClr val="000000"/>
                </a:solidFill>
                <a:latin typeface="Calibri"/>
              </a:rPr>
              <a:t>Demo Class</a:t>
            </a:r>
            <a:endParaRPr lang="en-US" sz="3386" spc="-1">
              <a:solidFill>
                <a:srgbClr val="000000"/>
              </a:solidFill>
              <a:latin typeface="Arial"/>
            </a:endParaRPr>
          </a:p>
          <a:p>
            <a:pPr marL="291707" indent="-276469">
              <a:spcBef>
                <a:spcPts val="1211"/>
              </a:spcBef>
              <a:buClr>
                <a:srgbClr val="000000"/>
              </a:buClr>
              <a:buFont typeface="Arial"/>
              <a:buChar char="•"/>
            </a:pPr>
            <a:r>
              <a:rPr lang="en-US" sz="3386" spc="-1">
                <a:solidFill>
                  <a:srgbClr val="000000"/>
                </a:solidFill>
                <a:latin typeface="Calibri"/>
              </a:rPr>
              <a:t> &lt;operators&gt; &lt;operands&gt; &lt;operands&gt;</a:t>
            </a:r>
            <a:endParaRPr lang="en-US" sz="3386" spc="-1">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PlaceHolder 1"/>
          <p:cNvSpPr>
            <a:spLocks noGrp="1"/>
          </p:cNvSpPr>
          <p:nvPr>
            <p:ph type="title"/>
          </p:nvPr>
        </p:nvSpPr>
        <p:spPr>
          <a:xfrm>
            <a:off x="837897" y="682480"/>
            <a:ext cx="10514580" cy="1007255"/>
          </a:xfrm>
          <a:prstGeom prst="rect">
            <a:avLst/>
          </a:prstGeom>
          <a:noFill/>
          <a:ln w="0">
            <a:noFill/>
          </a:ln>
        </p:spPr>
        <p:txBody>
          <a:bodyPr lIns="108847" tIns="54423" rIns="108847" bIns="54423" anchor="ctr">
            <a:noAutofit/>
          </a:bodyPr>
          <a:lstStyle/>
          <a:p>
            <a:pPr algn="ctr"/>
            <a:r>
              <a:rPr lang="en-US" sz="5321" b="1" spc="-1" dirty="0">
                <a:solidFill>
                  <a:srgbClr val="333333"/>
                </a:solidFill>
                <a:latin typeface="inter-bold"/>
              </a:rPr>
              <a:t>Rules for the conversion from infix to postfix expression</a:t>
            </a:r>
            <a:br>
              <a:rPr sz="5321" dirty="0"/>
            </a:br>
            <a:endParaRPr lang="en-US" sz="5321" spc="-1" dirty="0">
              <a:solidFill>
                <a:srgbClr val="000000"/>
              </a:solidFill>
              <a:latin typeface="Arial"/>
            </a:endParaRPr>
          </a:p>
        </p:txBody>
      </p:sp>
      <p:sp>
        <p:nvSpPr>
          <p:cNvPr id="461" name="PlaceHolder 2"/>
          <p:cNvSpPr>
            <a:spLocks noGrp="1"/>
          </p:cNvSpPr>
          <p:nvPr>
            <p:ph/>
          </p:nvPr>
        </p:nvSpPr>
        <p:spPr>
          <a:xfrm>
            <a:off x="837897" y="1825140"/>
            <a:ext cx="10514580" cy="4350380"/>
          </a:xfrm>
          <a:prstGeom prst="rect">
            <a:avLst/>
          </a:prstGeom>
          <a:noFill/>
          <a:ln w="0">
            <a:noFill/>
          </a:ln>
        </p:spPr>
        <p:txBody>
          <a:bodyPr lIns="108847" tIns="54423" rIns="108847" bIns="54423" anchor="t">
            <a:normAutofit/>
          </a:bodyPr>
          <a:lstStyle/>
          <a:p>
            <a:pPr marL="275598" indent="-260360" algn="just">
              <a:spcBef>
                <a:spcPts val="1211"/>
              </a:spcBef>
              <a:buClr>
                <a:srgbClr val="000000"/>
              </a:buClr>
              <a:buFont typeface="OpenSymbol"/>
              <a:buAutoNum type="arabicPlain"/>
            </a:pPr>
            <a:r>
              <a:rPr lang="en-US" sz="1693" spc="-1" dirty="0">
                <a:solidFill>
                  <a:srgbClr val="000000"/>
                </a:solidFill>
                <a:latin typeface="inter-regular"/>
              </a:rPr>
              <a:t>Print the operand as they arrive.</a:t>
            </a:r>
            <a:endParaRPr lang="en-US" sz="1693" spc="-1" dirty="0">
              <a:solidFill>
                <a:srgbClr val="000000"/>
              </a:solidFill>
              <a:latin typeface="Arial"/>
            </a:endParaRPr>
          </a:p>
          <a:p>
            <a:pPr marL="275598" indent="-260360" algn="just">
              <a:spcBef>
                <a:spcPts val="1211"/>
              </a:spcBef>
              <a:buClr>
                <a:srgbClr val="000000"/>
              </a:buClr>
              <a:buFont typeface="OpenSymbol"/>
              <a:buAutoNum type="arabicPlain"/>
            </a:pPr>
            <a:r>
              <a:rPr lang="en-US" sz="1693" spc="-1" dirty="0">
                <a:solidFill>
                  <a:srgbClr val="000000"/>
                </a:solidFill>
                <a:latin typeface="inter-regular"/>
              </a:rPr>
              <a:t>If the stack is empty or contains a left parenthesis on top, push the incoming operator on to the stack.</a:t>
            </a:r>
            <a:endParaRPr lang="en-US" sz="1693" spc="-1" dirty="0">
              <a:solidFill>
                <a:srgbClr val="000000"/>
              </a:solidFill>
              <a:latin typeface="Arial"/>
            </a:endParaRPr>
          </a:p>
          <a:p>
            <a:pPr marL="275598" indent="-260360" algn="just">
              <a:spcBef>
                <a:spcPts val="1211"/>
              </a:spcBef>
              <a:buClr>
                <a:srgbClr val="000000"/>
              </a:buClr>
              <a:buFont typeface="OpenSymbol"/>
              <a:buAutoNum type="arabicPlain"/>
            </a:pPr>
            <a:r>
              <a:rPr lang="en-US" sz="1693" spc="-1" dirty="0">
                <a:solidFill>
                  <a:srgbClr val="000000"/>
                </a:solidFill>
                <a:latin typeface="inter-regular"/>
              </a:rPr>
              <a:t>If the incoming symbol is '(', push it on to the stack.</a:t>
            </a:r>
            <a:endParaRPr lang="en-US" sz="1693" spc="-1" dirty="0">
              <a:solidFill>
                <a:srgbClr val="000000"/>
              </a:solidFill>
              <a:latin typeface="Arial"/>
            </a:endParaRPr>
          </a:p>
          <a:p>
            <a:pPr marL="275598" indent="-260360" algn="just">
              <a:spcBef>
                <a:spcPts val="1211"/>
              </a:spcBef>
              <a:buClr>
                <a:srgbClr val="000000"/>
              </a:buClr>
              <a:buFont typeface="OpenSymbol"/>
              <a:buAutoNum type="arabicPlain"/>
            </a:pPr>
            <a:r>
              <a:rPr lang="en-US" sz="1693" spc="-1" dirty="0">
                <a:solidFill>
                  <a:srgbClr val="000000"/>
                </a:solidFill>
                <a:latin typeface="inter-regular"/>
              </a:rPr>
              <a:t>If the incoming symbol is ')', pop the stack and print the operators until the left parenthesis is found.</a:t>
            </a:r>
            <a:endParaRPr lang="en-US" sz="1693" spc="-1" dirty="0">
              <a:solidFill>
                <a:srgbClr val="000000"/>
              </a:solidFill>
              <a:latin typeface="Arial"/>
            </a:endParaRPr>
          </a:p>
          <a:p>
            <a:pPr marL="275598" indent="-260360" algn="just">
              <a:spcBef>
                <a:spcPts val="1211"/>
              </a:spcBef>
              <a:buClr>
                <a:srgbClr val="000000"/>
              </a:buClr>
              <a:buFont typeface="OpenSymbol"/>
              <a:buAutoNum type="arabicPlain"/>
            </a:pPr>
            <a:r>
              <a:rPr lang="en-US" sz="1693" spc="-1" dirty="0">
                <a:solidFill>
                  <a:srgbClr val="000000"/>
                </a:solidFill>
                <a:latin typeface="inter-regular"/>
              </a:rPr>
              <a:t>If the incoming symbol has higher precedence than the top of the stack, push it on the stack.</a:t>
            </a:r>
            <a:endParaRPr lang="en-US" sz="1693" spc="-1" dirty="0">
              <a:solidFill>
                <a:srgbClr val="000000"/>
              </a:solidFill>
              <a:latin typeface="Arial"/>
            </a:endParaRPr>
          </a:p>
          <a:p>
            <a:pPr marL="275598" indent="-260360" algn="just">
              <a:spcBef>
                <a:spcPts val="1211"/>
              </a:spcBef>
              <a:buClr>
                <a:srgbClr val="000000"/>
              </a:buClr>
              <a:buFont typeface="OpenSymbol"/>
              <a:buAutoNum type="arabicPlain"/>
            </a:pPr>
            <a:r>
              <a:rPr lang="en-US" sz="1693" spc="-1" dirty="0">
                <a:solidFill>
                  <a:srgbClr val="000000"/>
                </a:solidFill>
                <a:latin typeface="inter-regular"/>
              </a:rPr>
              <a:t>If the incoming symbol has lower precedence than the top of the stack, pop and print the top of the stack. Then test the incoming operator against the new top of the stack.</a:t>
            </a:r>
            <a:endParaRPr lang="en-US" sz="1693" spc="-1" dirty="0">
              <a:solidFill>
                <a:srgbClr val="000000"/>
              </a:solidFill>
              <a:latin typeface="Arial"/>
            </a:endParaRPr>
          </a:p>
          <a:p>
            <a:pPr marL="275598" indent="-260360" algn="just">
              <a:spcBef>
                <a:spcPts val="1211"/>
              </a:spcBef>
              <a:buClr>
                <a:srgbClr val="000000"/>
              </a:buClr>
              <a:buFont typeface="OpenSymbol"/>
              <a:buAutoNum type="arabicPlain"/>
            </a:pPr>
            <a:r>
              <a:rPr lang="en-US" sz="1693" spc="-1" dirty="0">
                <a:solidFill>
                  <a:srgbClr val="000000"/>
                </a:solidFill>
                <a:latin typeface="inter-regular"/>
              </a:rPr>
              <a:t>If the incoming operator has the same precedence with the top of the stack then use the associativity rules. If the associativity is from left to right then pop and print the top of the stack then push the incoming operator. If the associativity is from right to left then push the incoming operator.</a:t>
            </a:r>
            <a:endParaRPr lang="en-US" sz="1693" spc="-1" dirty="0">
              <a:solidFill>
                <a:srgbClr val="000000"/>
              </a:solidFill>
              <a:latin typeface="Arial"/>
            </a:endParaRPr>
          </a:p>
          <a:p>
            <a:pPr marL="275598" indent="-260360" algn="just">
              <a:spcBef>
                <a:spcPts val="1211"/>
              </a:spcBef>
              <a:buClr>
                <a:srgbClr val="000000"/>
              </a:buClr>
              <a:buFont typeface="OpenSymbol"/>
              <a:buAutoNum type="arabicPlain"/>
            </a:pPr>
            <a:r>
              <a:rPr lang="en-US" sz="1693" spc="-1" dirty="0">
                <a:solidFill>
                  <a:srgbClr val="000000"/>
                </a:solidFill>
                <a:latin typeface="inter-regular"/>
              </a:rPr>
              <a:t>At the end of the expression, pop and print all the operators of the stack.</a:t>
            </a:r>
            <a:endParaRPr lang="en-US" sz="1693" spc="-1" dirty="0">
              <a:solidFill>
                <a:srgbClr val="000000"/>
              </a:solidFill>
              <a:latin typeface="Arial"/>
            </a:endParaRPr>
          </a:p>
          <a:p>
            <a:pPr indent="0">
              <a:spcBef>
                <a:spcPts val="1211"/>
              </a:spcBef>
              <a:buNone/>
            </a:pPr>
            <a:endParaRPr lang="en-US" sz="1693" spc="-1" dirty="0">
              <a:solidFill>
                <a:srgbClr val="00000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 name="PlaceHolder 1"/>
          <p:cNvSpPr>
            <a:spLocks noGrp="1"/>
          </p:cNvSpPr>
          <p:nvPr>
            <p:ph type="title"/>
          </p:nvPr>
        </p:nvSpPr>
        <p:spPr>
          <a:xfrm>
            <a:off x="837897" y="364854"/>
            <a:ext cx="10514580" cy="1324881"/>
          </a:xfrm>
          <a:prstGeom prst="rect">
            <a:avLst/>
          </a:prstGeom>
          <a:noFill/>
          <a:ln w="0">
            <a:noFill/>
          </a:ln>
        </p:spPr>
        <p:txBody>
          <a:bodyPr lIns="108847" tIns="54423" rIns="108847" bIns="54423" anchor="ctr">
            <a:noAutofit/>
          </a:bodyPr>
          <a:lstStyle/>
          <a:p>
            <a:pPr algn="ctr"/>
            <a:r>
              <a:rPr lang="en-US" sz="5321" b="1" spc="-1">
                <a:solidFill>
                  <a:srgbClr val="000000"/>
                </a:solidFill>
                <a:latin typeface="Calibri Light"/>
              </a:rPr>
              <a:t>convert infix to prefix expression</a:t>
            </a:r>
            <a:endParaRPr lang="en-US" sz="5321" spc="-1">
              <a:solidFill>
                <a:srgbClr val="000000"/>
              </a:solidFill>
              <a:latin typeface="Arial"/>
            </a:endParaRPr>
          </a:p>
        </p:txBody>
      </p:sp>
      <p:sp>
        <p:nvSpPr>
          <p:cNvPr id="463" name="PlaceHolder 2"/>
          <p:cNvSpPr>
            <a:spLocks noGrp="1"/>
          </p:cNvSpPr>
          <p:nvPr>
            <p:ph/>
          </p:nvPr>
        </p:nvSpPr>
        <p:spPr>
          <a:xfrm>
            <a:off x="837897" y="1825140"/>
            <a:ext cx="10514580" cy="4350380"/>
          </a:xfrm>
          <a:prstGeom prst="rect">
            <a:avLst/>
          </a:prstGeom>
          <a:noFill/>
          <a:ln w="0">
            <a:noFill/>
          </a:ln>
        </p:spPr>
        <p:txBody>
          <a:bodyPr lIns="108847" tIns="54423" rIns="108847" bIns="54423" anchor="t">
            <a:normAutofit/>
          </a:bodyPr>
          <a:lstStyle/>
          <a:p>
            <a:pPr marL="291707" indent="-276469">
              <a:spcBef>
                <a:spcPts val="1211"/>
              </a:spcBef>
              <a:buClr>
                <a:srgbClr val="000000"/>
              </a:buClr>
              <a:buFont typeface="Arial"/>
              <a:buChar char="•"/>
            </a:pPr>
            <a:r>
              <a:rPr lang="en-US" sz="2661" spc="-1">
                <a:solidFill>
                  <a:srgbClr val="000000"/>
                </a:solidFill>
                <a:latin typeface="Calibri"/>
              </a:rPr>
              <a:t>Reverse the input infix.</a:t>
            </a:r>
            <a:endParaRPr lang="en-US" sz="2661" spc="-1">
              <a:solidFill>
                <a:srgbClr val="000000"/>
              </a:solidFill>
              <a:latin typeface="Arial"/>
            </a:endParaRPr>
          </a:p>
          <a:p>
            <a:pPr marL="829407" lvl="1" indent="276469">
              <a:spcBef>
                <a:spcPts val="603"/>
              </a:spcBef>
              <a:buClr>
                <a:srgbClr val="000000"/>
              </a:buClr>
              <a:buSzPct val="45000"/>
              <a:buFont typeface="Wingdings" charset="2"/>
              <a:buChar char=""/>
            </a:pPr>
            <a:r>
              <a:rPr lang="en-US" sz="2661" spc="-1">
                <a:solidFill>
                  <a:srgbClr val="000000"/>
                </a:solidFill>
                <a:latin typeface="Calibri"/>
              </a:rPr>
              <a:t>Left parenthesis ( convert to  </a:t>
            </a:r>
            <a:r>
              <a:rPr lang="en-US" sz="2661" spc="-1">
                <a:solidFill>
                  <a:srgbClr val="000000"/>
                </a:solidFill>
                <a:latin typeface="Wingdings"/>
              </a:rPr>
              <a:t></a:t>
            </a:r>
            <a:r>
              <a:rPr lang="en-US" sz="2661" spc="-1">
                <a:solidFill>
                  <a:srgbClr val="000000"/>
                </a:solidFill>
                <a:latin typeface="Calibri"/>
              </a:rPr>
              <a:t> right parenthesis ) and vice versa.</a:t>
            </a:r>
            <a:endParaRPr lang="en-US" sz="2661" spc="-1">
              <a:solidFill>
                <a:srgbClr val="000000"/>
              </a:solidFill>
              <a:latin typeface="Arial"/>
            </a:endParaRPr>
          </a:p>
          <a:p>
            <a:pPr marL="829407" lvl="1" indent="276469">
              <a:spcBef>
                <a:spcPts val="1371"/>
              </a:spcBef>
              <a:buClr>
                <a:srgbClr val="000000"/>
              </a:buClr>
              <a:buSzPct val="45000"/>
              <a:buFont typeface="Wingdings" charset="2"/>
              <a:buChar char=""/>
            </a:pPr>
            <a:r>
              <a:rPr lang="en-US" sz="2661" spc="-1">
                <a:solidFill>
                  <a:srgbClr val="000000"/>
                </a:solidFill>
                <a:latin typeface="Calibri"/>
              </a:rPr>
              <a:t>Convert the reversed infix into postfix expression.But While converting to postfix expression, instead of using pop operation to pop operators with greater than or equal precedence, here we will only pop the operators from stack that have greater precedence.</a:t>
            </a:r>
            <a:endParaRPr lang="en-US" sz="2661" spc="-1">
              <a:solidFill>
                <a:srgbClr val="000000"/>
              </a:solidFill>
              <a:latin typeface="Arial"/>
            </a:endParaRPr>
          </a:p>
          <a:p>
            <a:pPr marL="291707" indent="-276469">
              <a:spcBef>
                <a:spcPts val="1211"/>
              </a:spcBef>
              <a:buClr>
                <a:srgbClr val="000000"/>
              </a:buClr>
              <a:buFont typeface="Arial"/>
              <a:buChar char="•"/>
            </a:pPr>
            <a:r>
              <a:rPr lang="en-US" sz="2661" spc="-1">
                <a:solidFill>
                  <a:srgbClr val="000000"/>
                </a:solidFill>
                <a:latin typeface="Calibri"/>
              </a:rPr>
              <a:t>Now reverse the resulting postfix expression obtained from the previous step. The resulting expression is prefix expression</a:t>
            </a:r>
            <a:endParaRPr lang="en-US" sz="2661" spc="-1">
              <a:solidFill>
                <a:srgbClr val="000000"/>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4" name="Picture 463"/>
          <p:cNvPicPr/>
          <p:nvPr/>
        </p:nvPicPr>
        <p:blipFill>
          <a:blip r:embed="rId3"/>
          <a:stretch/>
        </p:blipFill>
        <p:spPr>
          <a:xfrm>
            <a:off x="914090" y="279083"/>
            <a:ext cx="10283825" cy="6269563"/>
          </a:xfrm>
          <a:prstGeom prst="rect">
            <a:avLst/>
          </a:prstGeom>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5" name="Picture 464"/>
          <p:cNvPicPr/>
          <p:nvPr/>
        </p:nvPicPr>
        <p:blipFill>
          <a:blip r:embed="rId2"/>
          <a:stretch/>
        </p:blipFill>
        <p:spPr>
          <a:xfrm>
            <a:off x="685512" y="639147"/>
            <a:ext cx="10693088" cy="5533760"/>
          </a:xfrm>
          <a:prstGeom prst="rect">
            <a:avLst/>
          </a:prstGeom>
          <a:ln w="0">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TotalTime>
  <Words>914</Words>
  <Application>Microsoft Office PowerPoint</Application>
  <PresentationFormat>Widescreen</PresentationFormat>
  <Paragraphs>81</Paragraphs>
  <Slides>19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Calibri Light</vt:lpstr>
      <vt:lpstr>inter-bold</vt:lpstr>
      <vt:lpstr>inter-regular</vt:lpstr>
      <vt:lpstr>OpenSymbol</vt:lpstr>
      <vt:lpstr>Symbol</vt:lpstr>
      <vt:lpstr>Wingdings</vt:lpstr>
      <vt:lpstr>Office Theme</vt:lpstr>
      <vt:lpstr>Stack </vt:lpstr>
      <vt:lpstr>Stack </vt:lpstr>
      <vt:lpstr>STACK </vt:lpstr>
      <vt:lpstr>STACK ADT </vt:lpstr>
      <vt:lpstr>STACK ADT-Array Implementation</vt:lpstr>
      <vt:lpstr>Algorithm stack</vt:lpstr>
      <vt:lpstr>Push() and Pop() Operation Using Array</vt:lpstr>
      <vt:lpstr>Stack Application</vt:lpstr>
      <vt:lpstr>Stack Application</vt:lpstr>
      <vt:lpstr>PowerPoint Presentation</vt:lpstr>
      <vt:lpstr>Expression Notation</vt:lpstr>
      <vt:lpstr>Infix Notation</vt:lpstr>
      <vt:lpstr>PowerPoint Presentation</vt:lpstr>
      <vt:lpstr>Postfix Notation</vt:lpstr>
      <vt:lpstr>Prefix Notation</vt:lpstr>
      <vt:lpstr>Rules for the conversion from infix to postfix expression </vt:lpstr>
      <vt:lpstr>convert infix to prefix expression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 pathak</dc:creator>
  <cp:lastModifiedBy>shiva pathak</cp:lastModifiedBy>
  <cp:revision>9</cp:revision>
  <dcterms:created xsi:type="dcterms:W3CDTF">2025-04-26T14:36:34Z</dcterms:created>
  <dcterms:modified xsi:type="dcterms:W3CDTF">2025-04-27T14:57:23Z</dcterms:modified>
</cp:coreProperties>
</file>