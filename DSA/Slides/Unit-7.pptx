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6/10/2025</a:t>
            </a:fld>
            <a:endParaRPr lang="en-US"/>
          </a:p>
        </p:txBody>
      </p:sp>
      <p:sp>
        <p:nvSpPr>
          <p:cNvPr id="4"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685800" y="1143000"/>
            <a:ext cx="5486400" cy="3086100"/>
          </a:xfrm>
        </p:spPr>
      </p:sp>
      <p:sp>
        <p:nvSpPr>
          <p:cNvPr id="3" name="Notes Placeholder 2"/>
          <p:cNvSpPr>
            <a:spLocks noGrp="1"/>
          </p:cNvSpPr>
          <p:nvPr>
            <p:ph type="body" idx="1"/>
          </p:nvPr>
        </p:nvSpPr>
        <p:spPr bwMode="auto"/>
        <p:txBody>
          <a:bodyPr/>
          <a:lstStyle/>
          <a:p>
            <a:pPr>
              <a:defRPr/>
            </a:pPr>
            <a:endParaRPr lang="en-US">
              <a:latin typeface="Arial"/>
              <a:cs typeface="Arial"/>
            </a:endParaRPr>
          </a:p>
        </p:txBody>
      </p:sp>
      <p:sp>
        <p:nvSpPr>
          <p:cNvPr id="4"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69B2D15-2212-09C2-39F3-B5C51D25816E}"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1CF2684-4982-69BC-BC8F-1DDBD3E15FFE}"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2629296" name="Slide Image Placeholder 1"/>
          <p:cNvSpPr>
            <a:spLocks noGrp="1" noRot="1" noChangeAspect="1"/>
          </p:cNvSpPr>
          <p:nvPr>
            <p:ph type="sldImg"/>
          </p:nvPr>
        </p:nvSpPr>
        <p:spPr bwMode="auto"/>
      </p:sp>
      <p:sp>
        <p:nvSpPr>
          <p:cNvPr id="810711836" name="Notes Placeholder 2"/>
          <p:cNvSpPr>
            <a:spLocks noGrp="1"/>
          </p:cNvSpPr>
          <p:nvPr>
            <p:ph type="body" idx="1"/>
          </p:nvPr>
        </p:nvSpPr>
        <p:spPr bwMode="auto"/>
        <p:txBody>
          <a:bodyPr/>
          <a:lstStyle/>
          <a:p>
            <a:pPr>
              <a:defRPr/>
            </a:pPr>
            <a:endParaRPr/>
          </a:p>
        </p:txBody>
      </p:sp>
      <p:sp>
        <p:nvSpPr>
          <p:cNvPr id="795160149" name="Slide Number Placeholder 3"/>
          <p:cNvSpPr>
            <a:spLocks noGrp="1"/>
          </p:cNvSpPr>
          <p:nvPr>
            <p:ph type="sldNum" sz="quarter" idx="10"/>
          </p:nvPr>
        </p:nvSpPr>
        <p:spPr bwMode="auto"/>
        <p:txBody>
          <a:bodyPr/>
          <a:lstStyle/>
          <a:p>
            <a:pPr>
              <a:defRPr/>
            </a:pPr>
            <a:fld id="{4CC7CADD-EB85-B84D-C915-C03BB11BB6C9}"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0454634" name="Slide Image Placeholder 1"/>
          <p:cNvSpPr>
            <a:spLocks noGrp="1" noRot="1" noChangeAspect="1"/>
          </p:cNvSpPr>
          <p:nvPr>
            <p:ph type="sldImg"/>
          </p:nvPr>
        </p:nvSpPr>
        <p:spPr bwMode="auto"/>
      </p:sp>
      <p:sp>
        <p:nvSpPr>
          <p:cNvPr id="952499949" name="Notes Placeholder 2"/>
          <p:cNvSpPr>
            <a:spLocks noGrp="1"/>
          </p:cNvSpPr>
          <p:nvPr>
            <p:ph type="body" idx="1"/>
          </p:nvPr>
        </p:nvSpPr>
        <p:spPr bwMode="auto"/>
        <p:txBody>
          <a:bodyPr/>
          <a:lstStyle/>
          <a:p>
            <a:pPr>
              <a:defRPr/>
            </a:pPr>
            <a:r>
              <a:t>First element are sorted , 0 (index) element is sorted by default or rule of insertion sort</a:t>
            </a:r>
          </a:p>
        </p:txBody>
      </p:sp>
      <p:sp>
        <p:nvSpPr>
          <p:cNvPr id="2056064714" name="Slide Number Placeholder 3"/>
          <p:cNvSpPr>
            <a:spLocks noGrp="1"/>
          </p:cNvSpPr>
          <p:nvPr>
            <p:ph type="sldNum" sz="quarter" idx="10"/>
          </p:nvPr>
        </p:nvSpPr>
        <p:spPr bwMode="auto"/>
        <p:txBody>
          <a:bodyPr/>
          <a:lstStyle/>
          <a:p>
            <a:pPr>
              <a:defRPr/>
            </a:pPr>
            <a:fld id="{65E4F88B-B4A4-7482-F7F8-6139D0C4D21F}"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18307737" name="Slide Image Placeholder 1"/>
          <p:cNvSpPr>
            <a:spLocks noGrp="1" noRot="1" noChangeAspect="1"/>
          </p:cNvSpPr>
          <p:nvPr>
            <p:ph type="sldImg"/>
          </p:nvPr>
        </p:nvSpPr>
        <p:spPr bwMode="auto"/>
      </p:sp>
      <p:sp>
        <p:nvSpPr>
          <p:cNvPr id="1879084712" name="Notes Placeholder 2"/>
          <p:cNvSpPr>
            <a:spLocks noGrp="1"/>
          </p:cNvSpPr>
          <p:nvPr>
            <p:ph type="body" idx="1"/>
          </p:nvPr>
        </p:nvSpPr>
        <p:spPr bwMode="auto"/>
        <p:txBody>
          <a:bodyPr/>
          <a:lstStyle/>
          <a:p>
            <a:pPr>
              <a:defRPr/>
            </a:pPr>
            <a:r>
              <a:t>First element are sorted</a:t>
            </a:r>
          </a:p>
        </p:txBody>
      </p:sp>
      <p:sp>
        <p:nvSpPr>
          <p:cNvPr id="1464966387" name="Slide Number Placeholder 3"/>
          <p:cNvSpPr>
            <a:spLocks noGrp="1"/>
          </p:cNvSpPr>
          <p:nvPr>
            <p:ph type="sldNum" sz="quarter" idx="10"/>
          </p:nvPr>
        </p:nvSpPr>
        <p:spPr bwMode="auto"/>
        <p:txBody>
          <a:bodyPr/>
          <a:lstStyle/>
          <a:p>
            <a:pPr>
              <a:defRPr/>
            </a:pPr>
            <a:fld id="{21740716-6E8B-6548-73D0-90234CCFF121}"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7313947" name="Slide Image Placeholder 1"/>
          <p:cNvSpPr>
            <a:spLocks noGrp="1" noRot="1" noChangeAspect="1"/>
          </p:cNvSpPr>
          <p:nvPr>
            <p:ph type="sldImg"/>
          </p:nvPr>
        </p:nvSpPr>
        <p:spPr bwMode="auto"/>
      </p:sp>
      <p:sp>
        <p:nvSpPr>
          <p:cNvPr id="1616911358" name="Notes Placeholder 2"/>
          <p:cNvSpPr>
            <a:spLocks noGrp="1"/>
          </p:cNvSpPr>
          <p:nvPr>
            <p:ph type="body" idx="1"/>
          </p:nvPr>
        </p:nvSpPr>
        <p:spPr bwMode="auto"/>
        <p:txBody>
          <a:bodyPr/>
          <a:lstStyle/>
          <a:p>
            <a:pPr>
              <a:defRPr/>
            </a:pPr>
            <a:endParaRPr/>
          </a:p>
        </p:txBody>
      </p:sp>
      <p:sp>
        <p:nvSpPr>
          <p:cNvPr id="1835205061" name="Slide Number Placeholder 3"/>
          <p:cNvSpPr>
            <a:spLocks noGrp="1"/>
          </p:cNvSpPr>
          <p:nvPr>
            <p:ph type="sldNum" sz="quarter" idx="10"/>
          </p:nvPr>
        </p:nvSpPr>
        <p:spPr bwMode="auto"/>
        <p:txBody>
          <a:bodyPr/>
          <a:lstStyle/>
          <a:p>
            <a:pPr>
              <a:defRPr/>
            </a:pPr>
            <a:fld id="{25B027CA-93F7-FDDA-E0AA-B7AEDD2C45E0}"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677036" name="Slide Image Placeholder 1"/>
          <p:cNvSpPr>
            <a:spLocks noGrp="1" noRot="1" noChangeAspect="1"/>
          </p:cNvSpPr>
          <p:nvPr>
            <p:ph type="sldImg"/>
          </p:nvPr>
        </p:nvSpPr>
        <p:spPr bwMode="auto"/>
      </p:sp>
      <p:sp>
        <p:nvSpPr>
          <p:cNvPr id="1863623018" name="Notes Placeholder 2"/>
          <p:cNvSpPr>
            <a:spLocks noGrp="1"/>
          </p:cNvSpPr>
          <p:nvPr>
            <p:ph type="body" idx="1"/>
          </p:nvPr>
        </p:nvSpPr>
        <p:spPr bwMode="auto"/>
        <p:txBody>
          <a:bodyPr/>
          <a:lstStyle/>
          <a:p>
            <a:pPr>
              <a:defRPr/>
            </a:pPr>
            <a:endParaRPr/>
          </a:p>
        </p:txBody>
      </p:sp>
      <p:sp>
        <p:nvSpPr>
          <p:cNvPr id="1277880293" name="Slide Number Placeholder 3"/>
          <p:cNvSpPr>
            <a:spLocks noGrp="1"/>
          </p:cNvSpPr>
          <p:nvPr>
            <p:ph type="sldNum" sz="quarter" idx="10"/>
          </p:nvPr>
        </p:nvSpPr>
        <p:spPr bwMode="auto"/>
        <p:txBody>
          <a:bodyPr/>
          <a:lstStyle/>
          <a:p>
            <a:pPr>
              <a:defRPr/>
            </a:pPr>
            <a:fld id="{4CD11F45-9D0C-5A89-3494-D55C307EE36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1822678" name="Slide Image Placeholder 1"/>
          <p:cNvSpPr>
            <a:spLocks noGrp="1" noRot="1" noChangeAspect="1"/>
          </p:cNvSpPr>
          <p:nvPr>
            <p:ph type="sldImg"/>
          </p:nvPr>
        </p:nvSpPr>
        <p:spPr bwMode="auto"/>
      </p:sp>
      <p:sp>
        <p:nvSpPr>
          <p:cNvPr id="1541406065" name="Notes Placeholder 2"/>
          <p:cNvSpPr>
            <a:spLocks noGrp="1"/>
          </p:cNvSpPr>
          <p:nvPr>
            <p:ph type="body" idx="1"/>
          </p:nvPr>
        </p:nvSpPr>
        <p:spPr bwMode="auto"/>
        <p:txBody>
          <a:bodyPr/>
          <a:lstStyle/>
          <a:p>
            <a:pPr>
              <a:defRPr/>
            </a:pPr>
            <a:endParaRPr/>
          </a:p>
        </p:txBody>
      </p:sp>
      <p:sp>
        <p:nvSpPr>
          <p:cNvPr id="1305176117" name="Slide Number Placeholder 3"/>
          <p:cNvSpPr>
            <a:spLocks noGrp="1"/>
          </p:cNvSpPr>
          <p:nvPr>
            <p:ph type="sldNum" sz="quarter" idx="10"/>
          </p:nvPr>
        </p:nvSpPr>
        <p:spPr bwMode="auto"/>
        <p:txBody>
          <a:bodyPr/>
          <a:lstStyle/>
          <a:p>
            <a:pPr>
              <a:defRPr/>
            </a:pPr>
            <a:fld id="{13F0BB13-A50D-2DF5-9011-805320FB2D3C}"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3049540" name="Slide Image Placeholder 1"/>
          <p:cNvSpPr>
            <a:spLocks noGrp="1" noRot="1" noChangeAspect="1"/>
          </p:cNvSpPr>
          <p:nvPr>
            <p:ph type="sldImg"/>
          </p:nvPr>
        </p:nvSpPr>
        <p:spPr bwMode="auto"/>
      </p:sp>
      <p:sp>
        <p:nvSpPr>
          <p:cNvPr id="1084942776" name="Notes Placeholder 2"/>
          <p:cNvSpPr>
            <a:spLocks noGrp="1"/>
          </p:cNvSpPr>
          <p:nvPr>
            <p:ph type="body" idx="1"/>
          </p:nvPr>
        </p:nvSpPr>
        <p:spPr bwMode="auto"/>
        <p:txBody>
          <a:bodyPr/>
          <a:lstStyle/>
          <a:p>
            <a:pPr>
              <a:defRPr/>
            </a:pPr>
            <a:endParaRPr/>
          </a:p>
        </p:txBody>
      </p:sp>
      <p:sp>
        <p:nvSpPr>
          <p:cNvPr id="2059355376" name="Slide Number Placeholder 3"/>
          <p:cNvSpPr>
            <a:spLocks noGrp="1"/>
          </p:cNvSpPr>
          <p:nvPr>
            <p:ph type="sldNum" sz="quarter" idx="10"/>
          </p:nvPr>
        </p:nvSpPr>
        <p:spPr bwMode="auto"/>
        <p:txBody>
          <a:bodyPr/>
          <a:lstStyle/>
          <a:p>
            <a:pPr>
              <a:defRPr/>
            </a:pPr>
            <a:fld id="{566003C8-3D9F-DE47-61B8-696EF37199D8}"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69664495" name="Slide Image Placeholder 1"/>
          <p:cNvSpPr>
            <a:spLocks noGrp="1" noRot="1" noChangeAspect="1"/>
          </p:cNvSpPr>
          <p:nvPr>
            <p:ph type="sldImg"/>
          </p:nvPr>
        </p:nvSpPr>
        <p:spPr bwMode="auto"/>
      </p:sp>
      <p:sp>
        <p:nvSpPr>
          <p:cNvPr id="1952891645" name="Notes Placeholder 2"/>
          <p:cNvSpPr>
            <a:spLocks noGrp="1"/>
          </p:cNvSpPr>
          <p:nvPr>
            <p:ph type="body" idx="1"/>
          </p:nvPr>
        </p:nvSpPr>
        <p:spPr bwMode="auto"/>
        <p:txBody>
          <a:bodyPr/>
          <a:lstStyle/>
          <a:p>
            <a:pPr>
              <a:defRPr/>
            </a:pPr>
            <a:endParaRPr/>
          </a:p>
        </p:txBody>
      </p:sp>
      <p:sp>
        <p:nvSpPr>
          <p:cNvPr id="716462258" name="Slide Number Placeholder 3"/>
          <p:cNvSpPr>
            <a:spLocks noGrp="1"/>
          </p:cNvSpPr>
          <p:nvPr>
            <p:ph type="sldNum" sz="quarter" idx="10"/>
          </p:nvPr>
        </p:nvSpPr>
        <p:spPr bwMode="auto"/>
        <p:txBody>
          <a:bodyPr/>
          <a:lstStyle/>
          <a:p>
            <a:pPr>
              <a:defRPr/>
            </a:pPr>
            <a:fld id="{02C789C6-6520-B44D-AB6B-3EBEE01713A6}"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165345" name="Slide Image Placeholder 1"/>
          <p:cNvSpPr>
            <a:spLocks noGrp="1" noRot="1" noChangeAspect="1"/>
          </p:cNvSpPr>
          <p:nvPr>
            <p:ph type="sldImg"/>
          </p:nvPr>
        </p:nvSpPr>
        <p:spPr bwMode="auto"/>
      </p:sp>
      <p:sp>
        <p:nvSpPr>
          <p:cNvPr id="209764962" name="Notes Placeholder 2"/>
          <p:cNvSpPr>
            <a:spLocks noGrp="1"/>
          </p:cNvSpPr>
          <p:nvPr>
            <p:ph type="body" idx="1"/>
          </p:nvPr>
        </p:nvSpPr>
        <p:spPr bwMode="auto"/>
        <p:txBody>
          <a:bodyPr/>
          <a:lstStyle/>
          <a:p>
            <a:pPr>
              <a:defRPr/>
            </a:pPr>
            <a:endParaRPr/>
          </a:p>
        </p:txBody>
      </p:sp>
      <p:sp>
        <p:nvSpPr>
          <p:cNvPr id="916013922" name="Slide Number Placeholder 3"/>
          <p:cNvSpPr>
            <a:spLocks noGrp="1"/>
          </p:cNvSpPr>
          <p:nvPr>
            <p:ph type="sldNum" sz="quarter" idx="10"/>
          </p:nvPr>
        </p:nvSpPr>
        <p:spPr bwMode="auto"/>
        <p:txBody>
          <a:bodyPr/>
          <a:lstStyle/>
          <a:p>
            <a:pPr>
              <a:defRPr/>
            </a:pPr>
            <a:fld id="{F8941E2E-FFB8-3877-2261-6B0C3372A9FE}"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41093008" name="Slide Image Placeholder 1"/>
          <p:cNvSpPr>
            <a:spLocks noGrp="1" noRot="1" noChangeAspect="1"/>
          </p:cNvSpPr>
          <p:nvPr>
            <p:ph type="sldImg"/>
          </p:nvPr>
        </p:nvSpPr>
        <p:spPr bwMode="auto"/>
      </p:sp>
      <p:sp>
        <p:nvSpPr>
          <p:cNvPr id="622061834" name="Notes Placeholder 2"/>
          <p:cNvSpPr>
            <a:spLocks noGrp="1"/>
          </p:cNvSpPr>
          <p:nvPr>
            <p:ph type="body" idx="1"/>
          </p:nvPr>
        </p:nvSpPr>
        <p:spPr bwMode="auto"/>
        <p:txBody>
          <a:bodyPr/>
          <a:lstStyle/>
          <a:p>
            <a:pPr>
              <a:defRPr/>
            </a:pPr>
            <a:endParaRPr/>
          </a:p>
        </p:txBody>
      </p:sp>
      <p:sp>
        <p:nvSpPr>
          <p:cNvPr id="1039837229" name="Slide Number Placeholder 3"/>
          <p:cNvSpPr>
            <a:spLocks noGrp="1"/>
          </p:cNvSpPr>
          <p:nvPr>
            <p:ph type="sldNum" sz="quarter" idx="10"/>
          </p:nvPr>
        </p:nvSpPr>
        <p:spPr bwMode="auto"/>
        <p:txBody>
          <a:bodyPr/>
          <a:lstStyle/>
          <a:p>
            <a:pPr>
              <a:defRPr/>
            </a:pPr>
            <a:fld id="{B98A76A8-58F5-9384-760C-B65F4B01AD92}"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07751275" name="PlaceHolder 1"/>
          <p:cNvSpPr>
            <a:spLocks noGrp="1" noRot="1" noChangeAspect="1"/>
          </p:cNvSpPr>
          <p:nvPr>
            <p:ph type="sldImg"/>
          </p:nvPr>
        </p:nvSpPr>
        <p:spPr bwMode="auto">
          <a:xfrm>
            <a:off x="685800" y="1143000"/>
            <a:ext cx="5485680" cy="3085560"/>
          </a:xfrm>
          <a:prstGeom prst="rect">
            <a:avLst/>
          </a:prstGeom>
          <a:ln w="0">
            <a:noFill/>
          </a:ln>
        </p:spPr>
      </p:sp>
      <p:sp>
        <p:nvSpPr>
          <p:cNvPr id="1388718571" name="PlaceHolder 2"/>
          <p:cNvSpPr>
            <a:spLocks noGrp="1"/>
          </p:cNvSpPr>
          <p:nvPr>
            <p:ph type="body"/>
          </p:nvPr>
        </p:nvSpPr>
        <p:spPr bwMode="auto">
          <a:xfrm>
            <a:off x="685800" y="4400640"/>
            <a:ext cx="5485680" cy="359964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0">
                <a:solidFill>
                  <a:srgbClr val="000000"/>
                </a:solidFill>
                <a:latin typeface="Arial"/>
              </a:rPr>
              <a:t> I will stop until it found greater than pivot</a:t>
            </a:r>
          </a:p>
          <a:p>
            <a:pPr marL="216000" indent="0">
              <a:lnSpc>
                <a:spcPct val="100000"/>
              </a:lnSpc>
              <a:buNone/>
              <a:tabLst>
                <a:tab pos="0" algn="l"/>
              </a:tabLst>
              <a:defRPr/>
            </a:pPr>
            <a:r>
              <a:rPr lang="en-US" sz="2000" b="0" strike="noStrike" spc="0">
                <a:solidFill>
                  <a:srgbClr val="000000"/>
                </a:solidFill>
                <a:latin typeface="Arial"/>
              </a:rPr>
              <a:t>J will stop until it found smaller than pivot</a:t>
            </a:r>
          </a:p>
          <a:p>
            <a:pPr marL="216000" indent="0">
              <a:lnSpc>
                <a:spcPct val="100000"/>
              </a:lnSpc>
              <a:buNone/>
              <a:tabLst>
                <a:tab pos="0" algn="l"/>
              </a:tabLst>
              <a:defRPr/>
            </a:pPr>
            <a:endParaRPr lang="en-US" sz="2000" b="0" strike="noStrike" spc="0">
              <a:solidFill>
                <a:srgbClr val="000000"/>
              </a:solidFill>
              <a:latin typeface="Arial"/>
            </a:endParaRPr>
          </a:p>
          <a:p>
            <a:pPr marL="216000" indent="0">
              <a:lnSpc>
                <a:spcPct val="100000"/>
              </a:lnSpc>
              <a:buNone/>
              <a:tabLst>
                <a:tab pos="0" algn="l"/>
              </a:tabLst>
              <a:defRPr/>
            </a:pPr>
            <a:r>
              <a:rPr lang="en-US" sz="2000" b="0" strike="noStrike" spc="0">
                <a:solidFill>
                  <a:srgbClr val="000000"/>
                </a:solidFill>
                <a:latin typeface="Arial"/>
              </a:rPr>
              <a:t>i&gt;pivot (stop)</a:t>
            </a:r>
          </a:p>
          <a:p>
            <a:pPr marL="216000" indent="0">
              <a:lnSpc>
                <a:spcPct val="100000"/>
              </a:lnSpc>
              <a:buNone/>
              <a:tabLst>
                <a:tab pos="0" algn="l"/>
              </a:tabLst>
              <a:defRPr/>
            </a:pPr>
            <a:r>
              <a:rPr lang="en-US" sz="2000" b="0" strike="noStrike" spc="0">
                <a:solidFill>
                  <a:srgbClr val="000000"/>
                </a:solidFill>
                <a:latin typeface="Arial"/>
              </a:rPr>
              <a:t>j&lt;=pivot (stop)</a:t>
            </a:r>
          </a:p>
          <a:p>
            <a:pPr marL="216000" indent="0">
              <a:lnSpc>
                <a:spcPct val="100000"/>
              </a:lnSpc>
              <a:buNone/>
              <a:tabLst>
                <a:tab pos="0" algn="l"/>
              </a:tabLst>
              <a:defRPr/>
            </a:pPr>
            <a:endParaRPr lang="en-US" sz="2000" b="0" strike="noStrike" spc="0">
              <a:solidFill>
                <a:srgbClr val="000000"/>
              </a:solidFill>
              <a:latin typeface="Arial"/>
            </a:endParaRPr>
          </a:p>
          <a:p>
            <a:pPr marL="216000" indent="0">
              <a:lnSpc>
                <a:spcPct val="100000"/>
              </a:lnSpc>
              <a:buNone/>
              <a:tabLst>
                <a:tab pos="0" algn="l"/>
              </a:tabLst>
              <a:defRPr/>
            </a:pPr>
            <a:r>
              <a:rPr lang="en-US" sz="2000" b="0" strike="noStrike" spc="0">
                <a:solidFill>
                  <a:srgbClr val="000000"/>
                </a:solidFill>
                <a:latin typeface="Arial"/>
              </a:rPr>
              <a:t>Small pivot greater (Partition)</a:t>
            </a:r>
          </a:p>
          <a:p>
            <a:pPr marL="216000" indent="0">
              <a:lnSpc>
                <a:spcPct val="100000"/>
              </a:lnSpc>
              <a:buNone/>
              <a:tabLst>
                <a:tab pos="0" algn="l"/>
              </a:tabLst>
              <a:defRPr/>
            </a:pPr>
            <a:endParaRPr lang="en-US" sz="2000" b="0" strike="noStrike" spc="0">
              <a:solidFill>
                <a:srgbClr val="000000"/>
              </a:solidFill>
              <a:latin typeface="Arial"/>
            </a:endParaRPr>
          </a:p>
          <a:p>
            <a:pPr marL="216000" indent="0">
              <a:lnSpc>
                <a:spcPct val="100000"/>
              </a:lnSpc>
              <a:buNone/>
              <a:tabLst>
                <a:tab pos="0" algn="l"/>
              </a:tabLst>
              <a:defRPr/>
            </a:pPr>
            <a:r>
              <a:rPr lang="en-US" sz="2000" b="0" strike="noStrike" spc="0">
                <a:solidFill>
                  <a:srgbClr val="000000"/>
                </a:solidFill>
                <a:latin typeface="Arial"/>
              </a:rPr>
              <a:t>If I and j don’t cross each other than swap each other element.</a:t>
            </a:r>
          </a:p>
          <a:p>
            <a:pPr marL="216000" indent="0">
              <a:lnSpc>
                <a:spcPct val="100000"/>
              </a:lnSpc>
              <a:buNone/>
              <a:tabLst>
                <a:tab pos="0" algn="l"/>
              </a:tabLst>
              <a:defRPr/>
            </a:pPr>
            <a:r>
              <a:rPr lang="en-US" sz="2000" b="0" strike="noStrike" spc="0">
                <a:solidFill>
                  <a:srgbClr val="000000"/>
                </a:solidFill>
                <a:latin typeface="Arial"/>
              </a:rPr>
              <a:t>If I and j cross each other swap pivot element with J</a:t>
            </a:r>
          </a:p>
          <a:p>
            <a:pPr marL="216000" indent="0">
              <a:lnSpc>
                <a:spcPct val="100000"/>
              </a:lnSpc>
              <a:buNone/>
              <a:tabLst>
                <a:tab pos="0" algn="l"/>
              </a:tabLst>
              <a:defRPr/>
            </a:pPr>
            <a:endParaRPr lang="en-US" sz="2000" b="0" strike="noStrike" spc="0">
              <a:solidFill>
                <a:srgbClr val="000000"/>
              </a:solidFill>
              <a:latin typeface="Arial"/>
            </a:endParaRPr>
          </a:p>
        </p:txBody>
      </p:sp>
      <p:sp>
        <p:nvSpPr>
          <p:cNvPr id="140073933" name="PlaceHolder 3"/>
          <p:cNvSpPr>
            <a:spLocks noGrp="1"/>
          </p:cNvSpPr>
          <p:nvPr>
            <p:ph type="sldNum" idx="11"/>
          </p:nvPr>
        </p:nvSpPr>
        <p:spPr bwMode="auto">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0">
                <a:solidFill>
                  <a:srgbClr val="000000"/>
                </a:solidFill>
                <a:latin typeface="Times New Roman"/>
              </a:defRPr>
            </a:lvl1pPr>
          </a:lstStyle>
          <a:p>
            <a:pPr indent="0" algn="r">
              <a:lnSpc>
                <a:spcPct val="100000"/>
              </a:lnSpc>
              <a:buNone/>
              <a:tabLst>
                <a:tab pos="0" algn="l"/>
              </a:tabLst>
              <a:defRPr/>
            </a:pPr>
            <a:fld id="{D72373BB-8ABF-E287-3557-C587C7548C56}" type="slidenum">
              <a:rPr lang="en-US" sz="1200" b="0" strike="noStrike" spc="0">
                <a:solidFill>
                  <a:srgbClr val="000000"/>
                </a:solidFill>
                <a:latin typeface="Times New Roman"/>
              </a:rPr>
              <a:t>14</a:t>
            </a:fld>
            <a:endParaRPr lang="en-US" sz="1200" b="0" strike="noStrike" spc="0">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1932950" name="Slide Image Placeholder 1"/>
          <p:cNvSpPr>
            <a:spLocks noGrp="1" noRot="1" noChangeAspect="1"/>
          </p:cNvSpPr>
          <p:nvPr>
            <p:ph type="sldImg"/>
          </p:nvPr>
        </p:nvSpPr>
        <p:spPr bwMode="auto"/>
      </p:sp>
      <p:sp>
        <p:nvSpPr>
          <p:cNvPr id="1441415111" name="Notes Placeholder 2"/>
          <p:cNvSpPr>
            <a:spLocks noGrp="1"/>
          </p:cNvSpPr>
          <p:nvPr>
            <p:ph type="body" idx="1"/>
          </p:nvPr>
        </p:nvSpPr>
        <p:spPr bwMode="auto"/>
        <p:txBody>
          <a:bodyPr/>
          <a:lstStyle/>
          <a:p>
            <a:pPr>
              <a:defRPr/>
            </a:pPr>
            <a:endParaRPr/>
          </a:p>
        </p:txBody>
      </p:sp>
      <p:sp>
        <p:nvSpPr>
          <p:cNvPr id="387619849" name="Slide Number Placeholder 3"/>
          <p:cNvSpPr>
            <a:spLocks noGrp="1"/>
          </p:cNvSpPr>
          <p:nvPr>
            <p:ph type="sldNum" sz="quarter" idx="10"/>
          </p:nvPr>
        </p:nvSpPr>
        <p:spPr bwMode="auto"/>
        <p:txBody>
          <a:bodyPr/>
          <a:lstStyle/>
          <a:p>
            <a:pPr>
              <a:defRPr/>
            </a:pPr>
            <a:fld id="{1B774781-5230-1328-FC10-6B790B84810F}"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81108097" name="Slide Image Placeholder 1"/>
          <p:cNvSpPr>
            <a:spLocks noGrp="1" noRot="1" noChangeAspect="1"/>
          </p:cNvSpPr>
          <p:nvPr>
            <p:ph type="sldImg"/>
          </p:nvPr>
        </p:nvSpPr>
        <p:spPr bwMode="auto"/>
      </p:sp>
      <p:sp>
        <p:nvSpPr>
          <p:cNvPr id="2016496584" name="Notes Placeholder 2"/>
          <p:cNvSpPr>
            <a:spLocks noGrp="1"/>
          </p:cNvSpPr>
          <p:nvPr>
            <p:ph type="body" idx="1"/>
          </p:nvPr>
        </p:nvSpPr>
        <p:spPr bwMode="auto"/>
        <p:txBody>
          <a:bodyPr/>
          <a:lstStyle/>
          <a:p>
            <a:pPr>
              <a:defRPr/>
            </a:pPr>
            <a:endParaRPr/>
          </a:p>
        </p:txBody>
      </p:sp>
      <p:sp>
        <p:nvSpPr>
          <p:cNvPr id="1697288316" name="Slide Number Placeholder 3"/>
          <p:cNvSpPr>
            <a:spLocks noGrp="1"/>
          </p:cNvSpPr>
          <p:nvPr>
            <p:ph type="sldNum" sz="quarter" idx="10"/>
          </p:nvPr>
        </p:nvSpPr>
        <p:spPr bwMode="auto"/>
        <p:txBody>
          <a:bodyPr/>
          <a:lstStyle/>
          <a:p>
            <a:pPr>
              <a:defRPr/>
            </a:pPr>
            <a:fld id="{8997852C-E299-378F-0B4C-63DB336F8560}"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34472082" name="PlaceHolder 1"/>
          <p:cNvSpPr>
            <a:spLocks noGrp="1" noRot="1" noChangeAspect="1"/>
          </p:cNvSpPr>
          <p:nvPr>
            <p:ph type="sldImg"/>
          </p:nvPr>
        </p:nvSpPr>
        <p:spPr bwMode="auto">
          <a:xfrm>
            <a:off x="685800" y="1143000"/>
            <a:ext cx="5485680" cy="3085560"/>
          </a:xfrm>
          <a:prstGeom prst="rect">
            <a:avLst/>
          </a:prstGeom>
          <a:ln w="0">
            <a:noFill/>
          </a:ln>
        </p:spPr>
      </p:sp>
      <p:sp>
        <p:nvSpPr>
          <p:cNvPr id="1136224903" name="PlaceHolder 2"/>
          <p:cNvSpPr>
            <a:spLocks noGrp="1"/>
          </p:cNvSpPr>
          <p:nvPr>
            <p:ph type="body"/>
          </p:nvPr>
        </p:nvSpPr>
        <p:spPr bwMode="auto">
          <a:xfrm>
            <a:off x="685800" y="4400640"/>
            <a:ext cx="5485680" cy="359964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0">
                <a:solidFill>
                  <a:srgbClr val="000000"/>
                </a:solidFill>
                <a:latin typeface="Arial"/>
              </a:rPr>
              <a:t>1. Give insertion sorted and unsorted first</a:t>
            </a:r>
          </a:p>
        </p:txBody>
      </p:sp>
      <p:sp>
        <p:nvSpPr>
          <p:cNvPr id="194555244" name="PlaceHolder 3"/>
          <p:cNvSpPr>
            <a:spLocks noGrp="1"/>
          </p:cNvSpPr>
          <p:nvPr>
            <p:ph type="sldNum" idx="10"/>
          </p:nvPr>
        </p:nvSpPr>
        <p:spPr bwMode="auto">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0">
                <a:solidFill>
                  <a:srgbClr val="000000"/>
                </a:solidFill>
                <a:latin typeface="Times New Roman"/>
              </a:defRPr>
            </a:lvl1pPr>
          </a:lstStyle>
          <a:p>
            <a:pPr indent="0" algn="r">
              <a:lnSpc>
                <a:spcPct val="100000"/>
              </a:lnSpc>
              <a:buNone/>
              <a:tabLst>
                <a:tab pos="0" algn="l"/>
              </a:tabLst>
              <a:defRPr/>
            </a:pPr>
            <a:fld id="{34CB3E96-3748-C3F6-BFAD-36A6BFE382B9}" type="slidenum">
              <a:rPr lang="en-US" sz="1200" b="0" strike="noStrike" spc="0">
                <a:solidFill>
                  <a:srgbClr val="000000"/>
                </a:solidFill>
                <a:latin typeface="Times New Roman"/>
              </a:rPr>
              <a:t>17</a:t>
            </a:fld>
            <a:endParaRPr lang="en-US" sz="1200" b="0" strike="noStrike" spc="0">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27746556" name="Slide Image Placeholder 1"/>
          <p:cNvSpPr>
            <a:spLocks noGrp="1" noRot="1" noChangeAspect="1"/>
          </p:cNvSpPr>
          <p:nvPr>
            <p:ph type="sldImg"/>
          </p:nvPr>
        </p:nvSpPr>
        <p:spPr bwMode="auto"/>
      </p:sp>
      <p:sp>
        <p:nvSpPr>
          <p:cNvPr id="13874486" name="Notes Placeholder 2"/>
          <p:cNvSpPr>
            <a:spLocks noGrp="1"/>
          </p:cNvSpPr>
          <p:nvPr>
            <p:ph type="body" idx="1"/>
          </p:nvPr>
        </p:nvSpPr>
        <p:spPr bwMode="auto"/>
        <p:txBody>
          <a:bodyPr/>
          <a:lstStyle/>
          <a:p>
            <a:pPr>
              <a:defRPr/>
            </a:pPr>
            <a:endParaRPr/>
          </a:p>
        </p:txBody>
      </p:sp>
      <p:sp>
        <p:nvSpPr>
          <p:cNvPr id="597664326" name="Slide Number Placeholder 3"/>
          <p:cNvSpPr>
            <a:spLocks noGrp="1"/>
          </p:cNvSpPr>
          <p:nvPr>
            <p:ph type="sldNum" sz="quarter" idx="10"/>
          </p:nvPr>
        </p:nvSpPr>
        <p:spPr bwMode="auto"/>
        <p:txBody>
          <a:bodyPr/>
          <a:lstStyle/>
          <a:p>
            <a:pPr>
              <a:defRPr/>
            </a:pPr>
            <a:fld id="{C8AB5A43-B9E6-00EF-C79A-13E9CB09BC5D}"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117584" name="Slide Image Placeholder 1"/>
          <p:cNvSpPr>
            <a:spLocks noGrp="1" noRot="1" noChangeAspect="1"/>
          </p:cNvSpPr>
          <p:nvPr>
            <p:ph type="sldImg"/>
          </p:nvPr>
        </p:nvSpPr>
        <p:spPr bwMode="auto"/>
      </p:sp>
      <p:sp>
        <p:nvSpPr>
          <p:cNvPr id="532934293" name="Notes Placeholder 2"/>
          <p:cNvSpPr>
            <a:spLocks noGrp="1"/>
          </p:cNvSpPr>
          <p:nvPr>
            <p:ph type="body" idx="1"/>
          </p:nvPr>
        </p:nvSpPr>
        <p:spPr bwMode="auto"/>
        <p:txBody>
          <a:bodyPr/>
          <a:lstStyle/>
          <a:p>
            <a:pPr>
              <a:defRPr/>
            </a:pPr>
            <a:endParaRPr/>
          </a:p>
        </p:txBody>
      </p:sp>
      <p:sp>
        <p:nvSpPr>
          <p:cNvPr id="1101617797" name="Slide Number Placeholder 3"/>
          <p:cNvSpPr>
            <a:spLocks noGrp="1"/>
          </p:cNvSpPr>
          <p:nvPr>
            <p:ph type="sldNum" sz="quarter" idx="10"/>
          </p:nvPr>
        </p:nvSpPr>
        <p:spPr bwMode="auto"/>
        <p:txBody>
          <a:bodyPr/>
          <a:lstStyle/>
          <a:p>
            <a:pPr>
              <a:defRPr/>
            </a:pPr>
            <a:fld id="{CBC88C18-8B2A-74C6-C852-44F6795D4CDE}"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86C8715-B4A9-CA42-BEBA-83009D1634FE}"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t>Make digit same if not </a:t>
            </a:r>
          </a:p>
        </p:txBody>
      </p:sp>
      <p:sp>
        <p:nvSpPr>
          <p:cNvPr id="4" name="Slide Number Placeholder 3"/>
          <p:cNvSpPr>
            <a:spLocks noGrp="1"/>
          </p:cNvSpPr>
          <p:nvPr>
            <p:ph type="sldNum" sz="quarter" idx="10"/>
          </p:nvPr>
        </p:nvSpPr>
        <p:spPr bwMode="auto"/>
        <p:txBody>
          <a:bodyPr/>
          <a:lstStyle/>
          <a:p>
            <a:pPr>
              <a:defRPr/>
            </a:pPr>
            <a:fld id="{1E48313A-AFD8-F6F6-77B6-B638BCAE9013}"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63319228" name="Slide Image Placeholder 1"/>
          <p:cNvSpPr>
            <a:spLocks noGrp="1" noRot="1" noChangeAspect="1"/>
          </p:cNvSpPr>
          <p:nvPr>
            <p:ph type="sldImg"/>
          </p:nvPr>
        </p:nvSpPr>
        <p:spPr bwMode="auto"/>
      </p:sp>
      <p:sp>
        <p:nvSpPr>
          <p:cNvPr id="43244196" name="Notes Placeholder 2"/>
          <p:cNvSpPr>
            <a:spLocks noGrp="1"/>
          </p:cNvSpPr>
          <p:nvPr>
            <p:ph type="body" idx="1"/>
          </p:nvPr>
        </p:nvSpPr>
        <p:spPr bwMode="auto"/>
        <p:txBody>
          <a:bodyPr/>
          <a:lstStyle/>
          <a:p>
            <a:pPr>
              <a:defRPr/>
            </a:pPr>
            <a:r>
              <a:t>Priority heap :=&gt; max and min heap</a:t>
            </a:r>
          </a:p>
        </p:txBody>
      </p:sp>
      <p:sp>
        <p:nvSpPr>
          <p:cNvPr id="744689021" name="Slide Number Placeholder 3"/>
          <p:cNvSpPr>
            <a:spLocks noGrp="1"/>
          </p:cNvSpPr>
          <p:nvPr>
            <p:ph type="sldNum" sz="quarter" idx="10"/>
          </p:nvPr>
        </p:nvSpPr>
        <p:spPr bwMode="auto"/>
        <p:txBody>
          <a:bodyPr/>
          <a:lstStyle/>
          <a:p>
            <a:pPr>
              <a:defRPr/>
            </a:pPr>
            <a:fld id="{67600AF9-5A0F-D563-067E-3CC401C43D3F}"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65720203" name="Slide Image Placeholder 1"/>
          <p:cNvSpPr>
            <a:spLocks noGrp="1" noRot="1" noChangeAspect="1"/>
          </p:cNvSpPr>
          <p:nvPr>
            <p:ph type="sldImg"/>
          </p:nvPr>
        </p:nvSpPr>
        <p:spPr bwMode="auto"/>
      </p:sp>
      <p:sp>
        <p:nvSpPr>
          <p:cNvPr id="2064294663" name="Notes Placeholder 2"/>
          <p:cNvSpPr>
            <a:spLocks noGrp="1"/>
          </p:cNvSpPr>
          <p:nvPr>
            <p:ph type="body" idx="1"/>
          </p:nvPr>
        </p:nvSpPr>
        <p:spPr bwMode="auto"/>
        <p:txBody>
          <a:bodyPr/>
          <a:lstStyle/>
          <a:p>
            <a:pPr>
              <a:defRPr/>
            </a:pPr>
            <a:endParaRPr/>
          </a:p>
        </p:txBody>
      </p:sp>
      <p:sp>
        <p:nvSpPr>
          <p:cNvPr id="1327676829" name="Slide Number Placeholder 3"/>
          <p:cNvSpPr>
            <a:spLocks noGrp="1"/>
          </p:cNvSpPr>
          <p:nvPr>
            <p:ph type="sldNum" sz="quarter" idx="10"/>
          </p:nvPr>
        </p:nvSpPr>
        <p:spPr bwMode="auto"/>
        <p:txBody>
          <a:bodyPr/>
          <a:lstStyle/>
          <a:p>
            <a:pPr>
              <a:defRPr/>
            </a:pPr>
            <a:fld id="{0B6FE47D-4CA1-2782-B8D0-DE1BD0FDCF13}"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46719852" name="Slide Image Placeholder 1"/>
          <p:cNvSpPr>
            <a:spLocks noGrp="1" noRot="1" noChangeAspect="1"/>
          </p:cNvSpPr>
          <p:nvPr>
            <p:ph type="sldImg"/>
          </p:nvPr>
        </p:nvSpPr>
        <p:spPr bwMode="auto"/>
      </p:sp>
      <p:sp>
        <p:nvSpPr>
          <p:cNvPr id="1707363764" name="Notes Placeholder 2"/>
          <p:cNvSpPr>
            <a:spLocks noGrp="1"/>
          </p:cNvSpPr>
          <p:nvPr>
            <p:ph type="body" idx="1"/>
          </p:nvPr>
        </p:nvSpPr>
        <p:spPr bwMode="auto"/>
        <p:txBody>
          <a:bodyPr/>
          <a:lstStyle/>
          <a:p>
            <a:pPr>
              <a:defRPr/>
            </a:pPr>
            <a:endParaRPr/>
          </a:p>
        </p:txBody>
      </p:sp>
      <p:sp>
        <p:nvSpPr>
          <p:cNvPr id="1688658733" name="Slide Number Placeholder 3"/>
          <p:cNvSpPr>
            <a:spLocks noGrp="1"/>
          </p:cNvSpPr>
          <p:nvPr>
            <p:ph type="sldNum" sz="quarter" idx="10"/>
          </p:nvPr>
        </p:nvSpPr>
        <p:spPr bwMode="auto"/>
        <p:txBody>
          <a:bodyPr/>
          <a:lstStyle/>
          <a:p>
            <a:pPr>
              <a:defRPr/>
            </a:pPr>
            <a:fld id="{969CC432-625A-B3D6-B454-4FA6C405A8A6}" type="slidenum">
              <a:rPr/>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p>
        </p:txBody>
      </p:sp>
      <p:sp>
        <p:nvSpPr>
          <p:cNvPr id="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p>
        </p:txBody>
      </p:sp>
      <p:sp>
        <p:nvSpPr>
          <p:cNvPr id="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365125"/>
            <a:ext cx="10515600" cy="1325563"/>
          </a:xfrm>
        </p:spPr>
        <p:txBody>
          <a:bodyPr/>
          <a:lstStyle/>
          <a:p>
            <a:pPr>
              <a:defRPr/>
            </a:pPr>
            <a:r>
              <a:rPr lang="en-US"/>
              <a:t>Click to edit Master title style</a:t>
            </a:r>
          </a:p>
        </p:txBody>
      </p:sp>
      <p:sp>
        <p:nvSpPr>
          <p:cNvPr id="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Date Placeholder 6"/>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Date Placeholder 2"/>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3"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3"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p>
        </p:txBody>
      </p:sp>
      <p:sp>
        <p:nvSpPr>
          <p:cNvPr id="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6/10/2025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6/10/2025</a:t>
            </a:fld>
            <a:endParaRPr lang="en-US"/>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a:lstStyle/>
          <a:p>
            <a:pPr>
              <a:defRPr/>
            </a:pPr>
            <a:r>
              <a:rPr lang="en-US" dirty="0"/>
              <a:t>Unit-7</a:t>
            </a:r>
          </a:p>
        </p:txBody>
      </p:sp>
      <p:sp>
        <p:nvSpPr>
          <p:cNvPr id="3" name="Subtitle 2"/>
          <p:cNvSpPr>
            <a:spLocks noGrp="1"/>
          </p:cNvSpPr>
          <p:nvPr>
            <p:ph type="subTitle" idx="1"/>
          </p:nvPr>
        </p:nvSpPr>
        <p:spPr bwMode="auto"/>
        <p:txBody>
          <a:bodyPr/>
          <a:lstStyle/>
          <a:p>
            <a:pPr>
              <a:defRPr/>
            </a:pPr>
            <a:r>
              <a:rPr lang="en-US"/>
              <a:t>Sorting Algorithms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5036635" name="Title 1"/>
          <p:cNvSpPr>
            <a:spLocks noGrp="1"/>
          </p:cNvSpPr>
          <p:nvPr>
            <p:ph type="title"/>
          </p:nvPr>
        </p:nvSpPr>
        <p:spPr bwMode="auto"/>
        <p:txBody>
          <a:bodyPr/>
          <a:lstStyle/>
          <a:p>
            <a:pPr>
              <a:defRPr/>
            </a:pPr>
            <a:r>
              <a:t>Internal/External Sort</a:t>
            </a:r>
          </a:p>
        </p:txBody>
      </p:sp>
      <p:sp>
        <p:nvSpPr>
          <p:cNvPr id="1057282192"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5000" lnSpcReduction="14000"/>
          </a:bodyPr>
          <a:lstStyle/>
          <a:p>
            <a:pPr>
              <a:defRPr/>
            </a:pPr>
            <a:r>
              <a:rPr lang="en-US" sz="2800" b="0" i="0" u="none" strike="noStrike" cap="none" spc="0">
                <a:solidFill>
                  <a:schemeClr val="tx1"/>
                </a:solidFill>
                <a:latin typeface="Arial"/>
                <a:ea typeface="Arial"/>
                <a:cs typeface="Arial"/>
              </a:rPr>
              <a:t>If the data sorting process takes place entirely within the Random-Access Memory (RAM) of a computer, it’s called internal sorting. This is possible whenever the size of the dataset to be sorted is small enough to be held in RAM.</a:t>
            </a:r>
          </a:p>
          <a:p>
            <a:pPr lvl="1">
              <a:defRPr/>
            </a:pPr>
            <a:r>
              <a:rPr lang="en-US" sz="2400" b="0" i="0" u="none" strike="noStrike" cap="none" spc="0">
                <a:solidFill>
                  <a:schemeClr val="tx1"/>
                </a:solidFill>
                <a:latin typeface="Arial"/>
                <a:ea typeface="Arial"/>
                <a:cs typeface="Arial"/>
              </a:rPr>
              <a:t>e.g. bubble,insertion, quick sort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For sorting larger datasets, it may be necessary to hold only a smaller chunk of data in memory at a time, since it won’t all fit in the RAM. The rest of the data is normally held on some larger, but slower medium, like a hard disk. The sorting of these large datasets will require different sets of algorithms which are called external sorting.</a:t>
            </a:r>
          </a:p>
          <a:p>
            <a:pPr lvl="1">
              <a:defRPr/>
            </a:pPr>
            <a:r>
              <a:rPr lang="en-US" sz="2400" b="0" i="0" u="none" strike="noStrike" cap="none" spc="0">
                <a:solidFill>
                  <a:schemeClr val="tx1"/>
                </a:solidFill>
                <a:latin typeface="Arial"/>
                <a:ea typeface="Arial"/>
                <a:cs typeface="Arial"/>
              </a:rPr>
              <a:t>Merge sort</a:t>
            </a:r>
            <a:endParaRPr lang="en-US" sz="2800" b="0" i="0" u="none" strike="noStrike" cap="none" spc="0">
              <a:solidFill>
                <a:schemeClr val="tx1"/>
              </a:solidFill>
              <a:latin typeface="Arial"/>
              <a:cs typeface="Arial"/>
            </a:endParaRPr>
          </a:p>
          <a:p>
            <a:pPr lvl="1">
              <a:defRPr/>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17546508" name="Title 1"/>
          <p:cNvSpPr>
            <a:spLocks noGrp="1"/>
          </p:cNvSpPr>
          <p:nvPr>
            <p:ph type="title"/>
          </p:nvPr>
        </p:nvSpPr>
        <p:spPr bwMode="auto"/>
        <p:txBody>
          <a:bodyPr/>
          <a:lstStyle/>
          <a:p>
            <a:pPr>
              <a:defRPr/>
            </a:pPr>
            <a:r>
              <a:t>Stable and Unstable sort</a:t>
            </a:r>
          </a:p>
        </p:txBody>
      </p:sp>
      <p:sp>
        <p:nvSpPr>
          <p:cNvPr id="219658292"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In a stable sorting algorithm, data is sorted in a way that preserves the original order of elements having equal keys. This means that if two elements have the same key, the one that appeared earlier in the input will also appear earlier in the sorted output.</a:t>
            </a:r>
          </a:p>
          <a:p>
            <a:pPr lvl="1">
              <a:defRPr/>
            </a:pPr>
            <a:r>
              <a:rPr lang="en-US" sz="2400" b="0" i="0" u="none" strike="noStrike" cap="none" spc="0">
                <a:solidFill>
                  <a:schemeClr val="tx1"/>
                </a:solidFill>
                <a:latin typeface="Arial"/>
                <a:ea typeface="Arial"/>
                <a:cs typeface="Arial"/>
              </a:rPr>
              <a:t>E.g. Merge,quick,insertion sort</a:t>
            </a:r>
            <a:endParaRPr/>
          </a:p>
          <a:p>
            <a:pPr>
              <a:defRPr/>
            </a:pPr>
            <a:endParaRPr/>
          </a:p>
          <a:p>
            <a:pPr>
              <a:defRPr/>
            </a:pPr>
            <a:r>
              <a:rPr lang="en-US" sz="2800" b="0" i="0" u="none" strike="noStrike" cap="none" spc="0">
                <a:solidFill>
                  <a:schemeClr val="tx1"/>
                </a:solidFill>
                <a:latin typeface="Arial"/>
                <a:ea typeface="Arial"/>
                <a:cs typeface="Arial"/>
              </a:rPr>
              <a:t>In an unstable sorting algorithm, data is sorted so that the order of elements with equal keys is not preserved after sorting.</a:t>
            </a:r>
            <a:endParaRPr/>
          </a:p>
          <a:p>
            <a:pPr lvl="1">
              <a:defRPr/>
            </a:pPr>
            <a:r>
              <a:t>E.g. Quick sort,heap sort, shell sort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9778428"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Insertion Sort</a:t>
            </a:r>
            <a:endParaRPr lang="en-US" sz="4400" b="0" strike="noStrike" spc="0">
              <a:solidFill>
                <a:srgbClr val="000000"/>
              </a:solidFill>
              <a:latin typeface="Arial"/>
            </a:endParaRPr>
          </a:p>
        </p:txBody>
      </p:sp>
      <p:sp>
        <p:nvSpPr>
          <p:cNvPr id="492172267"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 first element in the array is assumed to be sorted. Take the second element and store it separately in key.</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Compare key with the first element. If the first element is greater than key, then key is placed in front of the first element.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Now, the first two elements are sorted.</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Take the third element and compare it with the elements on the left of it. Placed it just behind the element smaller than it. If there is no element smaller than it, then place it at the beginning of the array.</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Similarly, place every unsorted element at its correct position.</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8921749" name="PlaceHolder 1"/>
          <p:cNvSpPr>
            <a:spLocks noGrp="1"/>
          </p:cNvSpPr>
          <p:nvPr>
            <p:ph type="title"/>
          </p:nvPr>
        </p:nvSpPr>
        <p:spPr bwMode="auto">
          <a:xfrm>
            <a:off x="838080" y="464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Insertion Sort</a:t>
            </a:r>
            <a:endParaRPr lang="en-US" sz="4400" b="0" strike="noStrike" spc="0">
              <a:solidFill>
                <a:srgbClr val="000000"/>
              </a:solidFill>
              <a:latin typeface="Arial"/>
            </a:endParaRPr>
          </a:p>
        </p:txBody>
      </p:sp>
      <p:sp>
        <p:nvSpPr>
          <p:cNvPr id="1888702839" name="PlaceHolder 2"/>
          <p:cNvSpPr>
            <a:spLocks noGrp="1"/>
          </p:cNvSpPr>
          <p:nvPr>
            <p:ph/>
          </p:nvPr>
        </p:nvSpPr>
        <p:spPr bwMode="auto">
          <a:xfrm>
            <a:off x="838080" y="1143000"/>
            <a:ext cx="10514880" cy="5033160"/>
          </a:xfrm>
          <a:prstGeom prst="rect">
            <a:avLst/>
          </a:prstGeom>
          <a:noFill/>
          <a:ln w="0">
            <a:noFill/>
          </a:ln>
        </p:spPr>
        <p:txBody>
          <a:bodyPr lIns="90000" tIns="45000" rIns="90000" bIns="45000" anchor="t">
            <a:normAutofit fontScale="68000" lnSpcReduction="10000"/>
          </a:bodyPr>
          <a:lstStyle/>
          <a:p>
            <a:pPr marL="182159" indent="-182159">
              <a:lnSpc>
                <a:spcPct val="90000"/>
              </a:lnSpc>
              <a:spcBef>
                <a:spcPts val="1000"/>
              </a:spcBef>
              <a:buClr>
                <a:srgbClr val="000000"/>
              </a:buClr>
              <a:buFont typeface="Arial"/>
              <a:buChar char="•"/>
              <a:defRPr/>
            </a:pPr>
            <a:r>
              <a:rPr lang="en-US" sz="2800" b="0" strike="noStrike" spc="0">
                <a:solidFill>
                  <a:srgbClr val="000000"/>
                </a:solidFill>
                <a:latin typeface="Calibri"/>
              </a:rPr>
              <a:t>9,5,1,4,3</a:t>
            </a:r>
            <a:endParaRPr lang="en-US" sz="28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0</a:t>
            </a:r>
            <a:r>
              <a:rPr lang="en-US" sz="2400" b="1" strike="noStrike" spc="0" baseline="30000">
                <a:solidFill>
                  <a:srgbClr val="000000"/>
                </a:solidFill>
                <a:latin typeface="Calibri"/>
              </a:rPr>
              <a:t>st</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9 default element : - 9,5,1,4,3  =&gt; sorted || unsorted</a:t>
            </a:r>
            <a:endParaRPr lang="en-US" sz="24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1</a:t>
            </a:r>
            <a:r>
              <a:rPr lang="en-US" sz="2400" b="1" strike="noStrike" spc="0" baseline="30000">
                <a:solidFill>
                  <a:srgbClr val="000000"/>
                </a:solidFill>
                <a:latin typeface="Calibri"/>
              </a:rPr>
              <a:t>nd</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5 :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5 &lt; 9 : swap -&gt; 5,9,1,4,3</a:t>
            </a:r>
            <a:endParaRPr lang="en-US" sz="20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2</a:t>
            </a:r>
            <a:r>
              <a:rPr lang="en-US" sz="2400" b="1" strike="noStrike" spc="0" baseline="30000">
                <a:solidFill>
                  <a:srgbClr val="000000"/>
                </a:solidFill>
                <a:latin typeface="Calibri"/>
              </a:rPr>
              <a:t>rd</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1 :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1 &lt; 9 :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1 &lt; 5: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-&gt; 1,5,9,4,3</a:t>
            </a:r>
            <a:endParaRPr lang="en-US" sz="20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3</a:t>
            </a:r>
            <a:r>
              <a:rPr lang="en-US" sz="2400" b="1" strike="noStrike" spc="0" baseline="30000">
                <a:solidFill>
                  <a:srgbClr val="000000"/>
                </a:solidFill>
                <a:latin typeface="Calibri"/>
              </a:rPr>
              <a:t>th</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4 :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4 &lt; 9 :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4 &lt; 5 :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4 &gt; 1 : no change :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-&gt; 1,4,5,9,3</a:t>
            </a:r>
            <a:endParaRPr lang="en-US" sz="20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4</a:t>
            </a:r>
            <a:r>
              <a:rPr lang="en-US" sz="2400" b="1" strike="noStrike" spc="0" baseline="30000">
                <a:solidFill>
                  <a:srgbClr val="000000"/>
                </a:solidFill>
                <a:latin typeface="Calibri"/>
              </a:rPr>
              <a:t>th</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3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3 and 9 : swap,3 and 5: swap, 3 and 4 :swap , 3 and 1 : no swap :- 1,3,4,5,9</a:t>
            </a:r>
            <a:endParaRPr lang="en-US" sz="2000" b="0" strike="noStrike" spc="0">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5734498" name="PlaceHolder 1"/>
          <p:cNvSpPr>
            <a:spLocks noGrp="1"/>
          </p:cNvSpPr>
          <p:nvPr>
            <p:ph type="title"/>
          </p:nvPr>
        </p:nvSpPr>
        <p:spPr bwMode="auto">
          <a:xfrm>
            <a:off x="838080" y="464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Insertion Sort</a:t>
            </a:r>
            <a:endParaRPr lang="en-US" sz="4400" b="0" strike="noStrike" spc="0">
              <a:solidFill>
                <a:srgbClr val="000000"/>
              </a:solidFill>
              <a:latin typeface="Arial"/>
            </a:endParaRPr>
          </a:p>
        </p:txBody>
      </p:sp>
      <p:sp>
        <p:nvSpPr>
          <p:cNvPr id="1378839642" name="PlaceHolder 2"/>
          <p:cNvSpPr>
            <a:spLocks noGrp="1"/>
          </p:cNvSpPr>
          <p:nvPr>
            <p:ph/>
          </p:nvPr>
        </p:nvSpPr>
        <p:spPr bwMode="auto">
          <a:xfrm>
            <a:off x="838080" y="1143000"/>
            <a:ext cx="10514880" cy="5033160"/>
          </a:xfrm>
          <a:prstGeom prst="rect">
            <a:avLst/>
          </a:prstGeom>
          <a:noFill/>
          <a:ln w="0">
            <a:noFill/>
          </a:ln>
        </p:spPr>
        <p:txBody>
          <a:bodyPr lIns="90000" tIns="45000" rIns="90000" bIns="45000" anchor="t">
            <a:normAutofit fontScale="68000" lnSpcReduction="10000"/>
          </a:bodyPr>
          <a:lstStyle/>
          <a:p>
            <a:pPr marL="182159" indent="-182159">
              <a:lnSpc>
                <a:spcPct val="90000"/>
              </a:lnSpc>
              <a:spcBef>
                <a:spcPts val="1000"/>
              </a:spcBef>
              <a:buClr>
                <a:srgbClr val="000000"/>
              </a:buClr>
              <a:buFont typeface="Arial"/>
              <a:buChar char="•"/>
              <a:defRPr/>
            </a:pPr>
            <a:r>
              <a:rPr lang="en-US" sz="2800" b="0" strike="noStrike" spc="0">
                <a:solidFill>
                  <a:srgbClr val="000000"/>
                </a:solidFill>
                <a:latin typeface="Calibri"/>
              </a:rPr>
              <a:t>9,5,1,4,3</a:t>
            </a:r>
            <a:endParaRPr lang="en-US" sz="28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1</a:t>
            </a:r>
            <a:r>
              <a:rPr lang="en-US" sz="2400" b="1" strike="noStrike" spc="0" baseline="30000">
                <a:solidFill>
                  <a:srgbClr val="000000"/>
                </a:solidFill>
                <a:latin typeface="Calibri"/>
              </a:rPr>
              <a:t>st</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9 default element : - 9,5,1,4,3  =&gt; sorted || unsorted</a:t>
            </a:r>
            <a:endParaRPr lang="en-US" sz="24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2</a:t>
            </a:r>
            <a:r>
              <a:rPr lang="en-US" sz="2400" b="1" strike="noStrike" spc="0" baseline="30000">
                <a:solidFill>
                  <a:srgbClr val="000000"/>
                </a:solidFill>
                <a:latin typeface="Calibri"/>
              </a:rPr>
              <a:t>nd</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5 :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5 and 9 : swap -&gt; 5,9,1,4,3</a:t>
            </a:r>
            <a:endParaRPr lang="en-US" sz="20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3</a:t>
            </a:r>
            <a:r>
              <a:rPr lang="en-US" sz="2400" b="1" strike="noStrike" spc="0" baseline="30000">
                <a:solidFill>
                  <a:srgbClr val="000000"/>
                </a:solidFill>
                <a:latin typeface="Calibri"/>
              </a:rPr>
              <a:t>rd</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1 :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1 and 9 :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1 and 5: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-&gt; 1,5,9,4,3</a:t>
            </a:r>
            <a:endParaRPr lang="en-US" sz="20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4</a:t>
            </a:r>
            <a:r>
              <a:rPr lang="en-US" sz="2400" b="1" strike="noStrike" spc="0" baseline="30000">
                <a:solidFill>
                  <a:srgbClr val="000000"/>
                </a:solidFill>
                <a:latin typeface="Calibri"/>
              </a:rPr>
              <a:t>th</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4 :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4 and 9 :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4 and 5 : swap,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4 and 1 : no change : </a:t>
            </a:r>
            <a:endParaRPr lang="en-US" sz="20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-&gt; 1,4,5,9,3</a:t>
            </a:r>
            <a:endParaRPr lang="en-US" sz="2000" b="0" strike="noStrike" spc="0">
              <a:solidFill>
                <a:srgbClr val="000000"/>
              </a:solidFill>
              <a:latin typeface="Arial"/>
            </a:endParaRPr>
          </a:p>
          <a:p>
            <a:pPr marL="365040" indent="0">
              <a:lnSpc>
                <a:spcPct val="90000"/>
              </a:lnSpc>
              <a:spcBef>
                <a:spcPts val="498"/>
              </a:spcBef>
              <a:buNone/>
              <a:tabLst>
                <a:tab pos="0" algn="l"/>
              </a:tabLst>
              <a:defRPr/>
            </a:pPr>
            <a:r>
              <a:rPr lang="en-US" sz="2400" b="1" strike="noStrike" spc="0">
                <a:solidFill>
                  <a:srgbClr val="000000"/>
                </a:solidFill>
                <a:latin typeface="Calibri"/>
              </a:rPr>
              <a:t>5</a:t>
            </a:r>
            <a:r>
              <a:rPr lang="en-US" sz="2400" b="1" strike="noStrike" spc="0" baseline="30000">
                <a:solidFill>
                  <a:srgbClr val="000000"/>
                </a:solidFill>
                <a:latin typeface="Calibri"/>
              </a:rPr>
              <a:t>th</a:t>
            </a:r>
            <a:r>
              <a:rPr lang="en-US" sz="2400" b="1" strike="noStrike" spc="0">
                <a:solidFill>
                  <a:srgbClr val="000000"/>
                </a:solidFill>
                <a:latin typeface="Calibri"/>
              </a:rPr>
              <a:t> pass</a:t>
            </a:r>
            <a:endParaRPr lang="en-US" sz="2400" b="0" strike="noStrike" spc="0">
              <a:solidFill>
                <a:srgbClr val="000000"/>
              </a:solidFill>
              <a:latin typeface="Arial"/>
            </a:endParaRPr>
          </a:p>
          <a:p>
            <a:pPr marL="547920" lvl="1" indent="-182159">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Insert 3 :</a:t>
            </a:r>
            <a:endParaRPr lang="en-US" sz="2400" b="0" strike="noStrike" spc="0">
              <a:solidFill>
                <a:srgbClr val="000000"/>
              </a:solidFill>
              <a:latin typeface="Arial"/>
            </a:endParaRPr>
          </a:p>
          <a:p>
            <a:pPr marL="913680" lvl="2" indent="-182159">
              <a:lnSpc>
                <a:spcPct val="90000"/>
              </a:lnSpc>
              <a:spcBef>
                <a:spcPts val="498"/>
              </a:spcBef>
              <a:buClr>
                <a:srgbClr val="000000"/>
              </a:buClr>
              <a:buFont typeface="Arial"/>
              <a:buChar char="•"/>
              <a:tabLst>
                <a:tab pos="0" algn="l"/>
              </a:tabLst>
              <a:defRPr/>
            </a:pPr>
            <a:r>
              <a:rPr lang="en-US" sz="2000" b="0" strike="noStrike" spc="0">
                <a:solidFill>
                  <a:srgbClr val="000000"/>
                </a:solidFill>
                <a:latin typeface="Calibri"/>
              </a:rPr>
              <a:t>3 and 9 : swap,3 and 5: swap, 3 and 4 :swap , 3 and 1 : no swap :- 1,3,4,5,9</a:t>
            </a:r>
            <a:endParaRPr lang="en-US" sz="2000" b="0" strike="noStrike" spc="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2091459"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Selection Sort</a:t>
            </a:r>
            <a:endParaRPr lang="en-US" sz="4400" b="0" strike="noStrike" spc="0">
              <a:solidFill>
                <a:srgbClr val="000000"/>
              </a:solidFill>
              <a:latin typeface="Arial"/>
            </a:endParaRPr>
          </a:p>
        </p:txBody>
      </p:sp>
      <p:sp>
        <p:nvSpPr>
          <p:cNvPr id="243533358"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Selection sort is a simple sorting algorithm that repeatedly selects the minimum (or maximum) element from an unsorted portion of the list and places it at the beginning of the sorted portion.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It divides the list into two parts: the sorted part at the left end and the unsorted part at the right end.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 sorted part gradually expands as elements are sorted and moved to their correct positions.</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Time complexity O(n2).</a:t>
            </a:r>
            <a:endParaRPr lang="en-US" sz="2800" b="0" strike="noStrike" spc="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6348246"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Selection Sort</a:t>
            </a:r>
            <a:endParaRPr lang="en-US" sz="4400" b="0" strike="noStrike" spc="0">
              <a:solidFill>
                <a:srgbClr val="000000"/>
              </a:solidFill>
              <a:latin typeface="Arial"/>
            </a:endParaRPr>
          </a:p>
        </p:txBody>
      </p:sp>
      <p:sp>
        <p:nvSpPr>
          <p:cNvPr id="1081517905"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rm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Start with the first element of the list and consider it as the minimum element.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Iterate through the remaining unsorted elements and compare each element with the current minimum.</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If a smaller element is found, update the minimum element.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After traversing the entire unsorted part, swap the minimum element with the first element of the unsorted part.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Move the boundary of the sorted part one position to the right.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Repeat steps 1-5 until the entire list is sorted.</a:t>
            </a:r>
            <a:endParaRPr lang="en-US" sz="2800" b="0" strike="noStrike" spc="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2081492"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Selection Sort</a:t>
            </a:r>
            <a:endParaRPr lang="en-US" sz="4400" b="0" strike="noStrike" spc="0">
              <a:solidFill>
                <a:srgbClr val="000000"/>
              </a:solidFill>
              <a:latin typeface="Arial"/>
            </a:endParaRPr>
          </a:p>
        </p:txBody>
      </p:sp>
      <p:sp>
        <p:nvSpPr>
          <p:cNvPr id="344738995"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2,8,5,3,9,4,1</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Find smallest and swap with first index</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1</a:t>
            </a:r>
            <a:r>
              <a:rPr lang="en-US" sz="2800" b="0" strike="noStrike" spc="0" baseline="30000">
                <a:solidFill>
                  <a:srgbClr val="000000"/>
                </a:solidFill>
                <a:latin typeface="Calibri"/>
              </a:rPr>
              <a:t>st</a:t>
            </a:r>
            <a:r>
              <a:rPr lang="en-US" sz="2800" b="0" strike="noStrike" spc="0">
                <a:solidFill>
                  <a:srgbClr val="000000"/>
                </a:solidFill>
                <a:latin typeface="Calibri"/>
              </a:rPr>
              <a:t> pass</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1,8,5,3,9,4,2</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Sorted||unsorted </a:t>
            </a:r>
            <a:endParaRPr lang="en-US" sz="24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2</a:t>
            </a:r>
            <a:r>
              <a:rPr lang="en-US" sz="2800" b="0" strike="noStrike" spc="0" baseline="30000">
                <a:solidFill>
                  <a:srgbClr val="000000"/>
                </a:solidFill>
                <a:latin typeface="Calibri"/>
              </a:rPr>
              <a:t>nd</a:t>
            </a:r>
            <a:r>
              <a:rPr lang="en-US" sz="2800" b="0" strike="noStrike" spc="0">
                <a:solidFill>
                  <a:srgbClr val="000000"/>
                </a:solidFill>
                <a:latin typeface="Calibri"/>
              </a:rPr>
              <a:t> pass</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1,2,5,3,9,4,8……. 3</a:t>
            </a:r>
            <a:r>
              <a:rPr lang="en-US" sz="2400" b="0" strike="noStrike" spc="0" baseline="30000">
                <a:solidFill>
                  <a:srgbClr val="000000"/>
                </a:solidFill>
                <a:latin typeface="Calibri"/>
              </a:rPr>
              <a:t>rd</a:t>
            </a:r>
            <a:r>
              <a:rPr lang="en-US" sz="2400" b="0" strike="noStrike" spc="0">
                <a:solidFill>
                  <a:srgbClr val="000000"/>
                </a:solidFill>
                <a:latin typeface="Calibri"/>
              </a:rPr>
              <a:t> ,4</a:t>
            </a:r>
            <a:r>
              <a:rPr lang="en-US" sz="2400" b="0" strike="noStrike" spc="0" baseline="30000">
                <a:solidFill>
                  <a:srgbClr val="000000"/>
                </a:solidFill>
                <a:latin typeface="Calibri"/>
              </a:rPr>
              <a:t>th</a:t>
            </a:r>
            <a:r>
              <a:rPr lang="en-US" sz="2400" b="0" strike="noStrike" spc="0">
                <a:solidFill>
                  <a:srgbClr val="000000"/>
                </a:solidFill>
                <a:latin typeface="Calibri"/>
              </a:rPr>
              <a:t>……</a:t>
            </a:r>
            <a:endParaRPr lang="en-US" sz="2400" b="0" strike="noStrike" spc="0">
              <a:solidFill>
                <a:srgbClr val="000000"/>
              </a:solidFill>
              <a:latin typeface="Arial"/>
            </a:endParaRPr>
          </a:p>
          <a:p>
            <a:pPr indent="0">
              <a:lnSpc>
                <a:spcPct val="90000"/>
              </a:lnSpc>
              <a:spcBef>
                <a:spcPts val="498"/>
              </a:spcBef>
              <a:buNone/>
              <a:tabLst>
                <a:tab pos="0" algn="l"/>
              </a:tabLst>
              <a:defRPr/>
            </a:pPr>
            <a:endParaRPr lang="en-US" sz="2400" b="0" strike="noStrike" spc="0">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01736244"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Bubble Sort</a:t>
            </a:r>
            <a:endParaRPr lang="en-US" sz="4400" b="0" strike="noStrike" spc="0">
              <a:solidFill>
                <a:srgbClr val="000000"/>
              </a:solidFill>
              <a:latin typeface="Arial"/>
            </a:endParaRPr>
          </a:p>
        </p:txBody>
      </p:sp>
      <p:sp>
        <p:nvSpPr>
          <p:cNvPr id="498370891"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Bubble sort is a simple sorting algorithm that repeatedly compares adjacent elements in an array and swaps them if they are in the wrong order.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 algorithm gets its name from the way larger elements "bubble" to the top of the array, while smaller elements sink to the bottom.</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time complexity will be O(n).</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 The worst-case time complexity of bubble sort is O(n^2)</a:t>
            </a:r>
            <a:endParaRPr lang="en-US" sz="2800" b="0" strike="noStrike" spc="0">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34411516"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Bubble Sort</a:t>
            </a:r>
            <a:endParaRPr lang="en-US" sz="4400" b="0" strike="noStrike" spc="0">
              <a:solidFill>
                <a:srgbClr val="000000"/>
              </a:solidFill>
              <a:latin typeface="Arial"/>
            </a:endParaRPr>
          </a:p>
        </p:txBody>
      </p:sp>
      <p:sp>
        <p:nvSpPr>
          <p:cNvPr id="230474953"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Start with the first element of the list.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Compare the current element with the next element.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If the current element is greater than the next element, swap them.</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Move to the next pair of elements and repeat steps 2-3 until the end of the list.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If any swaps were made in the previous pass, repeat steps 2-4 for the entire list again.</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Continue this process until no more swaps are needed, indicating that the list is sorted.</a:t>
            </a:r>
            <a:endParaRPr lang="en-US" sz="2800" b="0" strike="noStrike" spc="0">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9722134"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Bubble Sort</a:t>
            </a:r>
            <a:endParaRPr lang="en-US" sz="4400" b="0" strike="noStrike" spc="0">
              <a:solidFill>
                <a:srgbClr val="000000"/>
              </a:solidFill>
              <a:latin typeface="Arial"/>
            </a:endParaRPr>
          </a:p>
        </p:txBody>
      </p:sp>
      <p:sp>
        <p:nvSpPr>
          <p:cNvPr id="1882248173"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14,33,27,35,11</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tabLst>
                <a:tab pos="0" algn="l"/>
              </a:tabLst>
              <a:defRPr/>
            </a:pPr>
            <a:r>
              <a:rPr lang="en-US" sz="2800" b="0" strike="noStrike" spc="0">
                <a:solidFill>
                  <a:srgbClr val="000000"/>
                </a:solidFill>
                <a:latin typeface="Calibri"/>
              </a:rPr>
              <a:t>1</a:t>
            </a:r>
            <a:r>
              <a:rPr lang="en-US" sz="2800" b="0" strike="noStrike" spc="0" baseline="30000">
                <a:solidFill>
                  <a:srgbClr val="000000"/>
                </a:solidFill>
                <a:latin typeface="Calibri"/>
              </a:rPr>
              <a:t>st</a:t>
            </a:r>
            <a:r>
              <a:rPr lang="en-US" sz="2800" b="0" strike="noStrike" spc="0">
                <a:solidFill>
                  <a:srgbClr val="000000"/>
                </a:solidFill>
                <a:latin typeface="Calibri"/>
              </a:rPr>
              <a:t> pass:</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14 and 33:No Change -&gt; 14,33,27,35,11</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33 and 27 :swap-&gt;14,27,33,35,11</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33 and 35 : No Change-&gt; 14,27,33,35,11</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35 and 11 : swap -&gt; 14,27,33,11,35</a:t>
            </a:r>
            <a:endParaRPr lang="en-US" sz="2400" b="0" strike="noStrike" spc="0">
              <a:solidFill>
                <a:srgbClr val="000000"/>
              </a:solidFill>
              <a:latin typeface="Arial"/>
            </a:endParaRPr>
          </a:p>
          <a:p>
            <a:pPr indent="0">
              <a:lnSpc>
                <a:spcPct val="90000"/>
              </a:lnSpc>
              <a:spcBef>
                <a:spcPts val="498"/>
              </a:spcBef>
              <a:buNone/>
              <a:tabLst>
                <a:tab pos="0" algn="l"/>
              </a:tabLst>
              <a:defRPr/>
            </a:pP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tabLst>
                <a:tab pos="0" algn="l"/>
              </a:tabLst>
              <a:defRPr/>
            </a:pPr>
            <a:r>
              <a:rPr lang="en-US" sz="2400" b="0" strike="noStrike" spc="0">
                <a:solidFill>
                  <a:srgbClr val="000000"/>
                </a:solidFill>
                <a:latin typeface="Calibri"/>
              </a:rPr>
              <a:t>Similar 2</a:t>
            </a:r>
            <a:r>
              <a:rPr lang="en-US" sz="2400" b="0" strike="noStrike" spc="0" baseline="30000">
                <a:solidFill>
                  <a:srgbClr val="000000"/>
                </a:solidFill>
                <a:latin typeface="Calibri"/>
              </a:rPr>
              <a:t>nd</a:t>
            </a:r>
            <a:r>
              <a:rPr lang="en-US" sz="2400" b="0" strike="noStrike" spc="0">
                <a:solidFill>
                  <a:srgbClr val="000000"/>
                </a:solidFill>
                <a:latin typeface="Calibri"/>
              </a:rPr>
              <a:t> ,3</a:t>
            </a:r>
            <a:r>
              <a:rPr lang="en-US" sz="2400" b="0" strike="noStrike" spc="0" baseline="30000">
                <a:solidFill>
                  <a:srgbClr val="000000"/>
                </a:solidFill>
                <a:latin typeface="Calibri"/>
              </a:rPr>
              <a:t>rd</a:t>
            </a:r>
            <a:r>
              <a:rPr lang="en-US" sz="2400" b="0" strike="noStrike" spc="0">
                <a:solidFill>
                  <a:srgbClr val="000000"/>
                </a:solidFill>
                <a:latin typeface="Calibri"/>
              </a:rPr>
              <a:t> …..</a:t>
            </a:r>
            <a:endParaRPr lang="en-US" sz="2400" b="0" strike="noStrike" spc="0">
              <a:solidFill>
                <a:srgbClr val="000000"/>
              </a:solidFill>
              <a:latin typeface="Arial"/>
            </a:endParaRPr>
          </a:p>
          <a:p>
            <a:pPr indent="0">
              <a:lnSpc>
                <a:spcPct val="90000"/>
              </a:lnSpc>
              <a:spcBef>
                <a:spcPts val="498"/>
              </a:spcBef>
              <a:buNone/>
              <a:tabLst>
                <a:tab pos="0" algn="l"/>
              </a:tabLst>
              <a:defRPr/>
            </a:pPr>
            <a:endParaRPr lang="en-US" sz="2400" b="0" strike="noStrike" spc="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8731406"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Quick Sort</a:t>
            </a:r>
            <a:endParaRPr lang="en-US" sz="4400" b="0" strike="noStrike" spc="0">
              <a:solidFill>
                <a:srgbClr val="000000"/>
              </a:solidFill>
              <a:latin typeface="Arial"/>
            </a:endParaRPr>
          </a:p>
        </p:txBody>
      </p:sp>
      <p:sp>
        <p:nvSpPr>
          <p:cNvPr id="1567806001"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QuickSort is a sorting algorithm based on the Divide and Conquer algorithm that picks an element as a pivot and partitions the given array around the picked pivot by placing the pivot in its correct position in the sorted array.</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 key process in quickSort is a partition().</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worst-case time complexity of O(N2).</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Average Case is O(NlogN)</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85245475"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Quick Sort</a:t>
            </a:r>
            <a:endParaRPr lang="en-US" sz="4400" b="0" strike="noStrike" spc="0">
              <a:solidFill>
                <a:srgbClr val="000000"/>
              </a:solidFill>
              <a:latin typeface="Arial"/>
            </a:endParaRPr>
          </a:p>
        </p:txBody>
      </p:sp>
      <p:sp>
        <p:nvSpPr>
          <p:cNvPr id="2130886127"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32,53,61,42,30,45,1,22</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19,17,15,12,16,18,4,11,13</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44,33,11,55,77,90,40,60,99,22,88</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30521051"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Merge Sort</a:t>
            </a:r>
            <a:endParaRPr lang="en-US" sz="4400" b="0" strike="noStrike" spc="0">
              <a:solidFill>
                <a:srgbClr val="000000"/>
              </a:solidFill>
              <a:latin typeface="Arial"/>
            </a:endParaRPr>
          </a:p>
        </p:txBody>
      </p:sp>
      <p:sp>
        <p:nvSpPr>
          <p:cNvPr id="315907162"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Merge Sort is one of the most popular sorting algorithms that is based on the principle of Divide and Conquer Algorithm.</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1 − if it is only one element in the list it is already sorted, return.</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2 − divide the list recursively into two halves until it can no more be divided.</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3 − merge the smaller lists into new list in sorted order.</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O(N(LogN))</a:t>
            </a:r>
            <a:endParaRPr lang="en-US" sz="2800" b="0" strike="noStrike" spc="0">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3962530"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Merge Sort</a:t>
            </a:r>
            <a:endParaRPr lang="en-US" sz="4400" b="0" strike="noStrike" spc="0">
              <a:solidFill>
                <a:srgbClr val="000000"/>
              </a:solidFill>
              <a:latin typeface="Arial"/>
            </a:endParaRPr>
          </a:p>
        </p:txBody>
      </p:sp>
      <p:sp>
        <p:nvSpPr>
          <p:cNvPr id="405131149"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12,31,25,8,32,17,40,42</a:t>
            </a:r>
            <a:endParaRPr lang="en-US" sz="2800" b="0" strike="noStrike" spc="0">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85942307"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Shell Sort</a:t>
            </a:r>
            <a:endParaRPr lang="en-US" sz="4400" b="0" strike="noStrike" spc="0">
              <a:solidFill>
                <a:srgbClr val="000000"/>
              </a:solidFill>
              <a:latin typeface="Arial"/>
            </a:endParaRPr>
          </a:p>
        </p:txBody>
      </p:sp>
      <p:sp>
        <p:nvSpPr>
          <p:cNvPr id="1596174510"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Shell sort is mainly a variation of Insertion Sort.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Also called Diminishing insertion sort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In insertion sort, we move elements only one position ahead. When an element has to be moved far ahead, many movements are involved.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 idea of ShellSort is to allow the exchange of far items.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In Shell sort, we make the array Gap-sorted for a large value of Gap. We keep reducing the value of Gap until it becomes 1.</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Gap 1= floor(N/2),</a:t>
            </a:r>
            <a:r>
              <a:rPr lang="en-US" sz="2800" b="0" i="0" u="none" strike="noStrike" cap="none" spc="0">
                <a:solidFill>
                  <a:srgbClr val="000000"/>
                </a:solidFill>
                <a:latin typeface="Calibri"/>
                <a:ea typeface="Calibri"/>
                <a:cs typeface="Calibri"/>
              </a:rPr>
              <a:t>Gap 2= floor(N/4),</a:t>
            </a:r>
            <a:endParaRPr lang="en-US" sz="2800" b="0" strike="noStrike" spc="0">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01116286"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Shell Sort</a:t>
            </a:r>
            <a:endParaRPr lang="en-US" sz="4400" b="0" strike="noStrike" spc="0">
              <a:solidFill>
                <a:srgbClr val="000000"/>
              </a:solidFill>
              <a:latin typeface="Arial"/>
            </a:endParaRPr>
          </a:p>
        </p:txBody>
      </p:sp>
      <p:sp>
        <p:nvSpPr>
          <p:cNvPr id="1071241869"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1 − Start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2 − Initialize the value of gap size. Example: h</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3 − Divide the list into smaller sub-part. Each must have equal intervals to h</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4 − Sort these sub-lists using insertion sort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5 – Repeat this step 2 until the list is sorted.</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6 – Print a sorted list.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7 – Stop.</a:t>
            </a:r>
            <a:endParaRPr lang="en-US" sz="2800" b="0" strike="noStrike" spc="0">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67152353"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Shell Short</a:t>
            </a:r>
            <a:endParaRPr lang="en-US" sz="4400" b="0" strike="noStrike" spc="0">
              <a:solidFill>
                <a:srgbClr val="000000"/>
              </a:solidFill>
              <a:latin typeface="Arial"/>
            </a:endParaRPr>
          </a:p>
        </p:txBody>
      </p:sp>
      <p:sp>
        <p:nvSpPr>
          <p:cNvPr id="449784612"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9,8,3,7,5,6,4,1,2</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23,29,15,19,31,7,9,5,2</a:t>
            </a:r>
            <a:endParaRPr lang="en-US" sz="2800" b="0" strike="noStrike" spc="0">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98322" name="Title 1"/>
          <p:cNvSpPr>
            <a:spLocks noGrp="1"/>
          </p:cNvSpPr>
          <p:nvPr>
            <p:ph type="title"/>
          </p:nvPr>
        </p:nvSpPr>
        <p:spPr bwMode="auto"/>
        <p:txBody>
          <a:bodyPr/>
          <a:lstStyle/>
          <a:p>
            <a:pPr>
              <a:defRPr/>
            </a:pPr>
            <a:r>
              <a:t>Radix sort</a:t>
            </a:r>
          </a:p>
        </p:txBody>
      </p:sp>
      <p:sp>
        <p:nvSpPr>
          <p:cNvPr id="131549167"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Radix sort is a non-comparative sorting algorithm that sorts numbers by processing individual digits.</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It can be implemented using either LSD (Least Significant Digit) or MSD (Most Significant Digit) approach.</a:t>
            </a:r>
            <a:endParaRPr/>
          </a:p>
          <a:p>
            <a:pPr>
              <a:defRPr/>
            </a:pPr>
            <a:r>
              <a:rPr lang="en-US" sz="2800" b="0" i="0" u="none" strike="noStrike" cap="none" spc="0">
                <a:solidFill>
                  <a:schemeClr val="tx1"/>
                </a:solidFill>
                <a:latin typeface="Arial"/>
                <a:ea typeface="Arial"/>
                <a:cs typeface="Arial"/>
              </a:rPr>
              <a:t>The Radix Sort Algorithm has a time complexity of O(n*d), where n is the number of elements in the input array and d is the number of digits in the largest number.</a:t>
            </a:r>
            <a:endParaRPr/>
          </a:p>
          <a:p>
            <a:pPr>
              <a:defRPr/>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29524629" name="Title 1"/>
          <p:cNvSpPr>
            <a:spLocks noGrp="1"/>
          </p:cNvSpPr>
          <p:nvPr>
            <p:ph type="title"/>
          </p:nvPr>
        </p:nvSpPr>
        <p:spPr bwMode="auto"/>
        <p:txBody>
          <a:bodyPr/>
          <a:lstStyle/>
          <a:p>
            <a:pPr>
              <a:defRPr/>
            </a:pPr>
            <a:r>
              <a:t>Radix sort</a:t>
            </a:r>
          </a:p>
        </p:txBody>
      </p:sp>
      <p:sp>
        <p:nvSpPr>
          <p:cNvPr id="570863888"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25 57 48 37 12 92 86 33</a:t>
            </a:r>
          </a:p>
          <a:p>
            <a:pPr>
              <a:defRPr/>
            </a:pPr>
            <a:endParaRPr/>
          </a:p>
        </p:txBody>
      </p:sp>
      <p:pic>
        <p:nvPicPr>
          <p:cNvPr id="5272111" name="Picture 5272110"/>
          <p:cNvPicPr>
            <a:picLocks noChangeAspect="1"/>
          </p:cNvPicPr>
          <p:nvPr/>
        </p:nvPicPr>
        <p:blipFill>
          <a:blip r:embed="rId3"/>
          <a:stretch/>
        </p:blipFill>
        <p:spPr bwMode="auto">
          <a:xfrm>
            <a:off x="1049364" y="2696059"/>
            <a:ext cx="5191124" cy="6286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77497533"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Heap Sort</a:t>
            </a:r>
            <a:endParaRPr lang="en-US" sz="4400" b="0" strike="noStrike" spc="0">
              <a:solidFill>
                <a:srgbClr val="000000"/>
              </a:solidFill>
              <a:latin typeface="Arial"/>
            </a:endParaRPr>
          </a:p>
        </p:txBody>
      </p:sp>
      <p:sp>
        <p:nvSpPr>
          <p:cNvPr id="677918886"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Heap sort is one of the sorting algorithms used to arrange a list of elements in order.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Heapsort algorithm uses one of the tree concepts called Heap Tree.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In this sorting algorithm, we use Max Heap to arrange list of elements in Descending order and Min Heap to arrange list elements in Ascending order.</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pt-BR" sz="2800" b="0" strike="noStrike" spc="0">
                <a:solidFill>
                  <a:srgbClr val="000000"/>
                </a:solidFill>
                <a:latin typeface="Calibri"/>
              </a:rPr>
              <a:t>Worst Case : O(n log n)</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pt-BR" sz="2800" b="0" strike="noStrike" spc="0">
                <a:solidFill>
                  <a:srgbClr val="000000"/>
                </a:solidFill>
                <a:latin typeface="Calibri"/>
              </a:rPr>
              <a:t>Best Case : O(n log n)</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pt-BR" sz="2800" b="0" strike="noStrike" spc="0">
                <a:solidFill>
                  <a:srgbClr val="000000"/>
                </a:solidFill>
                <a:latin typeface="Calibri"/>
              </a:rPr>
              <a:t>Average Case : O(n log n)</a:t>
            </a:r>
            <a:endParaRPr lang="en-US" sz="2800" b="0" strike="noStrike" spc="0">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02373755"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Heap Sort</a:t>
            </a:r>
            <a:endParaRPr lang="en-US" sz="4400" b="0" strike="noStrike" spc="0">
              <a:solidFill>
                <a:srgbClr val="000000"/>
              </a:solidFill>
              <a:latin typeface="Arial"/>
            </a:endParaRPr>
          </a:p>
        </p:txBody>
      </p:sp>
      <p:sp>
        <p:nvSpPr>
          <p:cNvPr id="1060842227"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1 - Construct a Binary Tree with given list of Elements.</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2 - Transform the Binary Tree into Max Heap.</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3 - Delete the root element from Max Heap using Heapify method.</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4 - Put the deleted element into the Sorted list.</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5 - Repeat the same until Max Heap becomes empty.</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Step 6 - Display the sorted list.</a:t>
            </a:r>
            <a:endParaRPr lang="en-US" sz="2800" b="0" strike="noStrike" spc="0">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17249403" name="PlaceHolder 1"/>
          <p:cNvSpPr>
            <a:spLocks noGrp="1"/>
          </p:cNvSpPr>
          <p:nvPr>
            <p:ph type="title"/>
          </p:nvPr>
        </p:nvSpPr>
        <p:spPr bwMode="auto">
          <a:xfrm>
            <a:off x="838080" y="365040"/>
            <a:ext cx="10514880" cy="1324799"/>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0">
                <a:solidFill>
                  <a:srgbClr val="000000"/>
                </a:solidFill>
                <a:latin typeface="Calibri Light"/>
              </a:rPr>
              <a:t>Heap Sort</a:t>
            </a:r>
            <a:endParaRPr lang="en-US" sz="4400" b="0" strike="noStrike" spc="0">
              <a:solidFill>
                <a:srgbClr val="000000"/>
              </a:solidFill>
              <a:latin typeface="Arial"/>
            </a:endParaRPr>
          </a:p>
        </p:txBody>
      </p:sp>
      <p:sp>
        <p:nvSpPr>
          <p:cNvPr id="726986110"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82,90,10,12,15,77,55,23</a:t>
            </a:r>
            <a:endParaRPr lang="en-US" sz="2800" b="0" strike="noStrike" spc="0">
              <a:solidFill>
                <a:srgbClr val="00000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EB42-2A17-12D1-5FF3-D38C789C24A9}"/>
              </a:ext>
            </a:extLst>
          </p:cNvPr>
          <p:cNvSpPr>
            <a:spLocks noGrp="1"/>
          </p:cNvSpPr>
          <p:nvPr>
            <p:ph type="title"/>
          </p:nvPr>
        </p:nvSpPr>
        <p:spPr/>
        <p:txBody>
          <a:bodyPr/>
          <a:lstStyle/>
          <a:p>
            <a:r>
              <a:rPr lang="en-US" dirty="0"/>
              <a:t>Binary Sort</a:t>
            </a:r>
          </a:p>
        </p:txBody>
      </p:sp>
      <p:sp>
        <p:nvSpPr>
          <p:cNvPr id="3" name="Content Placeholder 2">
            <a:extLst>
              <a:ext uri="{FF2B5EF4-FFF2-40B4-BE49-F238E27FC236}">
                <a16:creationId xmlns:a16="http://schemas.microsoft.com/office/drawing/2014/main" id="{4EF0CCC0-650F-4FAD-F792-2B3E324A2AA0}"/>
              </a:ext>
            </a:extLst>
          </p:cNvPr>
          <p:cNvSpPr>
            <a:spLocks noGrp="1"/>
          </p:cNvSpPr>
          <p:nvPr>
            <p:ph idx="1"/>
          </p:nvPr>
        </p:nvSpPr>
        <p:spPr/>
        <p:txBody>
          <a:bodyPr/>
          <a:lstStyle/>
          <a:p>
            <a:r>
              <a:rPr lang="en-US" dirty="0"/>
              <a:t>Binary insertion sort is simply an insertion sort. </a:t>
            </a:r>
          </a:p>
          <a:p>
            <a:r>
              <a:rPr lang="en-US" dirty="0"/>
              <a:t>It is just implemented using binary search instead of linear search.</a:t>
            </a:r>
          </a:p>
          <a:p>
            <a:r>
              <a:rPr lang="en-US" dirty="0"/>
              <a:t>It is because the comparison we do is reduced for one element from </a:t>
            </a:r>
            <a:r>
              <a:rPr lang="en-US" b="1" dirty="0"/>
              <a:t>O(n)</a:t>
            </a:r>
            <a:r>
              <a:rPr lang="en-US" dirty="0"/>
              <a:t> to </a:t>
            </a:r>
            <a:r>
              <a:rPr lang="en-US" b="1" dirty="0"/>
              <a:t>O(</a:t>
            </a:r>
            <a:r>
              <a:rPr lang="en-US" b="1" dirty="0" err="1"/>
              <a:t>logn</a:t>
            </a:r>
            <a:r>
              <a:rPr lang="en-US" b="1" dirty="0"/>
              <a:t>).</a:t>
            </a:r>
            <a:endParaRPr lang="en-US" dirty="0"/>
          </a:p>
        </p:txBody>
      </p:sp>
    </p:spTree>
    <p:extLst>
      <p:ext uri="{BB962C8B-B14F-4D97-AF65-F5344CB8AC3E}">
        <p14:creationId xmlns:p14="http://schemas.microsoft.com/office/powerpoint/2010/main" val="1290033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06E4C-E3F0-C452-2770-1E5A9C2BA981}"/>
              </a:ext>
            </a:extLst>
          </p:cNvPr>
          <p:cNvSpPr>
            <a:spLocks noGrp="1"/>
          </p:cNvSpPr>
          <p:nvPr>
            <p:ph type="title"/>
          </p:nvPr>
        </p:nvSpPr>
        <p:spPr/>
        <p:txBody>
          <a:bodyPr/>
          <a:lstStyle/>
          <a:p>
            <a:r>
              <a:rPr lang="en-US" dirty="0"/>
              <a:t>Binary Sort</a:t>
            </a:r>
          </a:p>
        </p:txBody>
      </p:sp>
      <p:sp>
        <p:nvSpPr>
          <p:cNvPr id="3" name="Content Placeholder 2">
            <a:extLst>
              <a:ext uri="{FF2B5EF4-FFF2-40B4-BE49-F238E27FC236}">
                <a16:creationId xmlns:a16="http://schemas.microsoft.com/office/drawing/2014/main" id="{65C941F0-027D-38FD-8122-9B4E7C00E4C8}"/>
              </a:ext>
            </a:extLst>
          </p:cNvPr>
          <p:cNvSpPr>
            <a:spLocks noGrp="1"/>
          </p:cNvSpPr>
          <p:nvPr>
            <p:ph idx="1"/>
          </p:nvPr>
        </p:nvSpPr>
        <p:spPr/>
        <p:txBody>
          <a:bodyPr/>
          <a:lstStyle/>
          <a:p>
            <a:r>
              <a:rPr lang="en-US" dirty="0"/>
              <a:t>[9, 7, 2, 4, 6]</a:t>
            </a:r>
          </a:p>
          <a:p>
            <a:r>
              <a:rPr lang="en-US" dirty="0"/>
              <a:t>Step 1: Insert 7 into the sorted part [9]</a:t>
            </a:r>
          </a:p>
          <a:p>
            <a:r>
              <a:rPr lang="en-US" dirty="0"/>
              <a:t>Step2 : Insert 7 :-&gt;</a:t>
            </a:r>
          </a:p>
          <a:p>
            <a:r>
              <a:rPr lang="en-US" dirty="0"/>
              <a:t>Binary Search in [9] for 7: </a:t>
            </a:r>
          </a:p>
          <a:p>
            <a:r>
              <a:rPr lang="en-US" dirty="0"/>
              <a:t>Left = 0, Right = 0 </a:t>
            </a:r>
          </a:p>
          <a:p>
            <a:r>
              <a:rPr lang="en-US" dirty="0"/>
              <a:t>Mid = 0 </a:t>
            </a:r>
          </a:p>
          <a:p>
            <a:r>
              <a:rPr lang="en-US" dirty="0"/>
              <a:t>Compare 7 with 9 → 7 &lt; 9 → Insert at index 0.</a:t>
            </a:r>
          </a:p>
          <a:p>
            <a:r>
              <a:rPr lang="en-US"/>
              <a:t> </a:t>
            </a:r>
            <a:r>
              <a:rPr lang="en-US" dirty="0"/>
              <a:t>Shift 9 to the right and insert 7: Array becomes [7, </a:t>
            </a:r>
            <a:r>
              <a:rPr lang="en-US"/>
              <a:t>9,|| </a:t>
            </a:r>
            <a:r>
              <a:rPr lang="en-US" dirty="0"/>
              <a:t>2, 4, 6]</a:t>
            </a:r>
          </a:p>
        </p:txBody>
      </p:sp>
    </p:spTree>
    <p:extLst>
      <p:ext uri="{BB962C8B-B14F-4D97-AF65-F5344CB8AC3E}">
        <p14:creationId xmlns:p14="http://schemas.microsoft.com/office/powerpoint/2010/main" val="1338864861"/>
      </p:ext>
    </p:extLst>
  </p:cSld>
  <p:clrMapOvr>
    <a:masterClrMapping/>
  </p:clrMapOvr>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42</TotalTime>
  <Words>1805</Words>
  <Application>Microsoft Office PowerPoint</Application>
  <DocSecurity>0</DocSecurity>
  <PresentationFormat>Widescreen</PresentationFormat>
  <Paragraphs>213</Paragraphs>
  <Slides>26</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Unit-7</vt:lpstr>
      <vt:lpstr>Internal/External Sort</vt:lpstr>
      <vt:lpstr>Stable and Unstable sort</vt:lpstr>
      <vt:lpstr>Insertion Sort</vt:lpstr>
      <vt:lpstr>Insertion Sort</vt:lpstr>
      <vt:lpstr>Insertion Sort</vt:lpstr>
      <vt:lpstr>Selection Sort</vt:lpstr>
      <vt:lpstr>Selection Sort</vt:lpstr>
      <vt:lpstr>Selection Sort</vt:lpstr>
      <vt:lpstr>Bubble Sort</vt:lpstr>
      <vt:lpstr>Bubble Sort</vt:lpstr>
      <vt:lpstr>Bubble Sort</vt:lpstr>
      <vt:lpstr>Quick Sort</vt:lpstr>
      <vt:lpstr>Quick Sort</vt:lpstr>
      <vt:lpstr>Merge Sort</vt:lpstr>
      <vt:lpstr>Merge Sort</vt:lpstr>
      <vt:lpstr>Shell Sort</vt:lpstr>
      <vt:lpstr>Shell Sort</vt:lpstr>
      <vt:lpstr>Shell Short</vt:lpstr>
      <vt:lpstr>Radix sort</vt:lpstr>
      <vt:lpstr>Radix sort</vt:lpstr>
      <vt:lpstr>Heap Sort</vt:lpstr>
      <vt:lpstr>Heap Sort</vt:lpstr>
      <vt:lpstr>Heap Sort</vt:lpstr>
      <vt:lpstr>Binary Sort</vt:lpstr>
      <vt:lpstr>Binary Sort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shiva pathak</cp:lastModifiedBy>
  <cp:revision>16</cp:revision>
  <dcterms:modified xsi:type="dcterms:W3CDTF">2025-06-10T12:51:42Z</dcterms:modified>
  <cp:category/>
  <dc:identifier/>
  <cp:contentStatus/>
  <dc:language/>
  <cp:version/>
</cp:coreProperties>
</file>