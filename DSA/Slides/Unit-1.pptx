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56" r:id="rId3"/>
    <p:sldId id="258" r:id="rId4"/>
    <p:sldId id="259" r:id="rId5"/>
    <p:sldId id="260" r:id="rId6"/>
    <p:sldId id="261" r:id="rId7"/>
    <p:sldId id="265" r:id="rId8"/>
    <p:sldId id="266" r:id="rId9"/>
    <p:sldId id="267" r:id="rId10"/>
    <p:sldId id="268" r:id="rId11"/>
    <p:sldId id="269" r:id="rId12"/>
    <p:sldId id="270" r:id="rId13"/>
    <p:sldId id="271" r:id="rId14"/>
    <p:sldId id="272" r:id="rId15"/>
    <p:sldId id="273" r:id="rId16"/>
    <p:sldId id="274" r:id="rId17"/>
    <p:sldId id="275" r:id="rId18"/>
    <p:sldId id="262" r:id="rId19"/>
    <p:sldId id="276" r:id="rId20"/>
    <p:sldId id="277" r:id="rId21"/>
    <p:sldId id="278" r:id="rId22"/>
    <p:sldId id="279" r:id="rId23"/>
    <p:sldId id="280" r:id="rId24"/>
    <p:sldId id="281" r:id="rId25"/>
    <p:sldId id="282" r:id="rId26"/>
    <p:sldId id="285" r:id="rId27"/>
    <p:sldId id="286" r:id="rId28"/>
    <p:sldId id="287" r:id="rId29"/>
    <p:sldId id="28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90424" autoAdjust="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858EEC-0987-4629-81BA-74B1759C2E29}" type="datetimeFigureOut">
              <a:rPr lang="en-US" smtClean="0"/>
              <a:t>4/21/2025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4668EC-2A58-46A7-BD96-0750C0F597C7}" type="slidenum">
              <a:rPr lang="en-US" smtClean="0"/>
              <a:t>‹#›</a:t>
            </a:fld>
            <a:endParaRPr lang="en-US"/>
          </a:p>
        </p:txBody>
      </p:sp>
    </p:spTree>
    <p:extLst>
      <p:ext uri="{BB962C8B-B14F-4D97-AF65-F5344CB8AC3E}">
        <p14:creationId xmlns:p14="http://schemas.microsoft.com/office/powerpoint/2010/main" val="1275341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3JQAABBoAABAAAAAmAAAACAAAAAEPAACAHwAA"/>
              </a:ext>
            </a:extLst>
          </p:cNvSpPr>
          <p:nvPr>
            <p:ph type="sldImg"/>
          </p:nvPr>
        </p:nvSpPr>
        <p:spPr>
          <a:xfrm>
            <a:off x="685800" y="1143000"/>
            <a:ext cx="5486400" cy="3086100"/>
          </a:xfrm>
          <a:prstGeom prst="rect">
            <a:avLst/>
          </a:prstGeom>
          <a:ln>
            <a:noFill/>
          </a:ln>
        </p:spPr>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3JQAANzEAABAAAAAmAAAACAAAAL0vAAD/HwAA"/>
              </a:ext>
            </a:extLst>
          </p:cNvSpPr>
          <p:nvPr>
            <p:ph type="body"/>
          </p:nvPr>
        </p:nvSpPr>
        <p:spPr>
          <a:xfrm>
            <a:off x="685800" y="4400550"/>
            <a:ext cx="5485765" cy="3599815"/>
          </a:xfrm>
          <a:prstGeom prst="rect">
            <a:avLst/>
          </a:prstGeom>
          <a:noFill/>
          <a:ln>
            <a:noFill/>
          </a:ln>
        </p:spPr>
        <p:txBody>
          <a:bodyPr vert="horz" wrap="square" lIns="91440" tIns="45720" rIns="91440" bIns="45720" numCol="1" spcCol="215900" anchor="t">
            <a:prstTxWarp prst="textNoShape">
              <a:avLst/>
            </a:prstTxWarp>
          </a:bodyPr>
          <a:lstStyle/>
          <a:p>
            <a:pPr marL="215900" indent="0">
              <a:lnSpc>
                <a:spcPct val="100000"/>
              </a:lnSpc>
              <a:buNone/>
            </a:pPr>
            <a:r>
              <a:rPr lang="en-us" sz="2000" cap="none">
                <a:solidFill>
                  <a:srgbClr val="000000"/>
                </a:solidFill>
                <a:latin typeface="Arial" pitchFamily="2" charset="0"/>
                <a:ea typeface="Calibri" pitchFamily="2" charset="0"/>
                <a:cs typeface="Calibri" pitchFamily="2" charset="0"/>
              </a:rPr>
              <a:t>Example :-Array with binary search algorithm, Hashing also like key/word---key-value  pair search, big companies,programming</a:t>
            </a:r>
          </a:p>
        </p:txBody>
      </p:sp>
      <p:sp>
        <p:nvSpPr>
          <p:cNvPr id="4" name="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tKgAAPzgAABAAAAAmAAAACAAAAL2vAAD/HwAA"/>
              </a:ext>
            </a:extLst>
          </p:cNvSpPr>
          <p:nvPr>
            <p:ph type="sldNum" idx="12"/>
          </p:nvPr>
        </p:nvSpPr>
        <p:spPr>
          <a:xfrm>
            <a:off x="3884930" y="8685530"/>
            <a:ext cx="2971165" cy="457835"/>
          </a:xfrm>
          <a:prstGeom prst="rect">
            <a:avLst/>
          </a:prstGeom>
          <a:noFill/>
          <a:ln>
            <a:noFill/>
          </a:ln>
        </p:spPr>
        <p:txBody>
          <a:bodyPr vert="horz" wrap="square" lIns="91440" tIns="45720" rIns="91440" bIns="45720" numCol="1" spcCol="215900" anchor="b">
            <a:prstTxWarp prst="textNoShape">
              <a:avLst/>
            </a:prstTxWarp>
          </a:bodyPr>
          <a:lstStyle>
            <a:lvl1pPr indent="0" algn="r">
              <a:lnSpc>
                <a:spcPct val="100000"/>
              </a:lnSpc>
              <a:buNone/>
              <a:defRPr lang="en-us" sz="1200" b="0" strike="noStrike" cap="none" spc="0">
                <a:solidFill>
                  <a:srgbClr val="000000"/>
                </a:solidFill>
                <a:latin typeface="Times New Roman" pitchFamily="1" charset="0"/>
                <a:ea typeface="Calibri" pitchFamily="2" charset="0"/>
                <a:cs typeface="Calibri" pitchFamily="2" charset="0"/>
              </a:defRPr>
            </a:lvl1pPr>
          </a:lstStyle>
          <a:p>
            <a:pPr indent="0" algn="r">
              <a:lnSpc>
                <a:spcPct val="100000"/>
              </a:lnSpc>
              <a:buNone/>
              <a:defRPr lang="en-us"/>
            </a:pPr>
            <a:fld id="{4FD601F0-BEA2-83F7-EC6E-48A24F201A1D}" type="slidenum">
              <a:t>3</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J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3JQAABBoAABAAAAAmAAAACAAAAAEPAACAHwAA"/>
              </a:ext>
            </a:extLst>
          </p:cNvSpPr>
          <p:nvPr>
            <p:ph type="sldImg"/>
          </p:nvPr>
        </p:nvSpPr>
        <p:spPr>
          <a:xfrm>
            <a:off x="685800" y="1143000"/>
            <a:ext cx="5485765" cy="3086100"/>
          </a:xfrm>
          <a:prstGeom prst="rect">
            <a:avLst/>
          </a:prstGeom>
          <a:ln>
            <a:noFill/>
          </a:ln>
        </p:spPr>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3JQAANzEAABAAAAAmAAAACAAAAL0vAAD/HwAA"/>
              </a:ext>
            </a:extLst>
          </p:cNvSpPr>
          <p:nvPr>
            <p:ph type="body"/>
          </p:nvPr>
        </p:nvSpPr>
        <p:spPr>
          <a:xfrm>
            <a:off x="685800" y="4400550"/>
            <a:ext cx="5485765" cy="3599815"/>
          </a:xfrm>
          <a:prstGeom prst="rect">
            <a:avLst/>
          </a:prstGeom>
          <a:noFill/>
          <a:ln>
            <a:noFill/>
          </a:ln>
        </p:spPr>
        <p:txBody>
          <a:bodyPr vert="horz" wrap="square" lIns="91440" tIns="45720" rIns="91440" bIns="45720" numCol="1" spcCol="215900" anchor="t">
            <a:prstTxWarp prst="textNoShape">
              <a:avLst/>
            </a:prstTxWarp>
          </a:bodyPr>
          <a:lstStyle/>
          <a:p>
            <a:pPr marL="215900" indent="0">
              <a:lnSpc>
                <a:spcPct val="100000"/>
              </a:lnSpc>
              <a:buNone/>
            </a:pPr>
            <a:r>
              <a:rPr lang="en-us" sz="2000" cap="none">
                <a:solidFill>
                  <a:srgbClr val="000000"/>
                </a:solidFill>
                <a:latin typeface="Arial" pitchFamily="2" charset="0"/>
                <a:ea typeface="Calibri" pitchFamily="2" charset="0"/>
                <a:cs typeface="Calibri" pitchFamily="2" charset="0"/>
              </a:rPr>
              <a:t>For example : -  Car Specification – Engine, brake, tires, flue tank , Car Mechanism – driving(), etc</a:t>
            </a:r>
          </a:p>
        </p:txBody>
      </p:sp>
      <p:sp>
        <p:nvSpPr>
          <p:cNvPr id="4" name="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tKgAAPzgAABAAAAAmAAAACAAAAL2vAAD/HwAA"/>
              </a:ext>
            </a:extLst>
          </p:cNvSpPr>
          <p:nvPr>
            <p:ph type="sldNum" idx="12"/>
          </p:nvPr>
        </p:nvSpPr>
        <p:spPr>
          <a:xfrm>
            <a:off x="3884930" y="8685530"/>
            <a:ext cx="2971165" cy="457835"/>
          </a:xfrm>
          <a:prstGeom prst="rect">
            <a:avLst/>
          </a:prstGeom>
          <a:noFill/>
          <a:ln>
            <a:noFill/>
          </a:ln>
        </p:spPr>
        <p:txBody>
          <a:bodyPr vert="horz" wrap="square" lIns="91440" tIns="45720" rIns="91440" bIns="45720" numCol="1" spcCol="215900" anchor="b">
            <a:prstTxWarp prst="textNoShape">
              <a:avLst/>
            </a:prstTxWarp>
          </a:bodyPr>
          <a:lstStyle>
            <a:lvl1pPr indent="0" algn="r">
              <a:lnSpc>
                <a:spcPct val="100000"/>
              </a:lnSpc>
              <a:buNone/>
              <a:defRPr lang="en-us" sz="1200" b="0" strike="noStrike" cap="none" spc="0">
                <a:solidFill>
                  <a:srgbClr val="000000"/>
                </a:solidFill>
                <a:latin typeface="Times New Roman" pitchFamily="1" charset="0"/>
                <a:ea typeface="Calibri" pitchFamily="2" charset="0"/>
                <a:cs typeface="Calibri" pitchFamily="2" charset="0"/>
              </a:defRPr>
            </a:lvl1pPr>
          </a:lstStyle>
          <a:p>
            <a:pPr indent="0" algn="r">
              <a:lnSpc>
                <a:spcPct val="100000"/>
              </a:lnSpc>
              <a:buNone/>
              <a:defRPr lang="en-us"/>
            </a:pPr>
            <a:fld id="{79DE195C-1294-8BEF-DA66-E4BA57282CB1}" type="slidenum">
              <a:t>7</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c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3JQAABBoAABAAAAAmAAAACAAAAAEPAACAHwAA"/>
              </a:ext>
            </a:extLst>
          </p:cNvSpPr>
          <p:nvPr>
            <p:ph type="sldImg"/>
          </p:nvPr>
        </p:nvSpPr>
        <p:spPr>
          <a:xfrm>
            <a:off x="685800" y="1143000"/>
            <a:ext cx="5486400" cy="3086100"/>
          </a:xfrm>
          <a:prstGeom prst="rect">
            <a:avLst/>
          </a:prstGeom>
          <a:ln>
            <a:noFill/>
          </a:ln>
        </p:spPr>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Elb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3JQAANzEAABAAAAAmAAAACAAAAL0vAAD/HwAA"/>
              </a:ext>
            </a:extLst>
          </p:cNvSpPr>
          <p:nvPr>
            <p:ph type="body"/>
          </p:nvPr>
        </p:nvSpPr>
        <p:spPr>
          <a:xfrm>
            <a:off x="685800" y="4400550"/>
            <a:ext cx="5485765" cy="3599815"/>
          </a:xfrm>
          <a:prstGeom prst="rect">
            <a:avLst/>
          </a:prstGeom>
          <a:noFill/>
          <a:ln>
            <a:noFill/>
          </a:ln>
        </p:spPr>
        <p:txBody>
          <a:bodyPr vert="horz" wrap="square" lIns="91440" tIns="45720" rIns="91440" bIns="45720" numCol="1" spcCol="215900" anchor="t">
            <a:prstTxWarp prst="textNoShape">
              <a:avLst/>
            </a:prstTxWarp>
          </a:bodyPr>
          <a:lstStyle/>
          <a:p>
            <a:pPr marL="215900" indent="0">
              <a:lnSpc>
                <a:spcPct val="100000"/>
              </a:lnSpc>
              <a:buNone/>
            </a:pPr>
            <a:r>
              <a:rPr lang="en-us" sz="2000" cap="none">
                <a:solidFill>
                  <a:srgbClr val="000000"/>
                </a:solidFill>
                <a:latin typeface="Arial" pitchFamily="2" charset="0"/>
                <a:ea typeface="Calibri" pitchFamily="2" charset="0"/>
                <a:cs typeface="Calibri" pitchFamily="2" charset="0"/>
              </a:rPr>
              <a:t>1. Clear</a:t>
            </a:r>
          </a:p>
        </p:txBody>
      </p:sp>
      <p:sp>
        <p:nvSpPr>
          <p:cNvPr id="4" name="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FI/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tKgAAPzgAABAAAAAmAAAACAAAAL2vAAD/HwAA"/>
              </a:ext>
            </a:extLst>
          </p:cNvSpPr>
          <p:nvPr>
            <p:ph type="sldNum" idx="12"/>
          </p:nvPr>
        </p:nvSpPr>
        <p:spPr>
          <a:xfrm>
            <a:off x="3884930" y="8685530"/>
            <a:ext cx="2971165" cy="457835"/>
          </a:xfrm>
          <a:prstGeom prst="rect">
            <a:avLst/>
          </a:prstGeom>
          <a:noFill/>
          <a:ln>
            <a:noFill/>
          </a:ln>
        </p:spPr>
        <p:txBody>
          <a:bodyPr vert="horz" wrap="square" lIns="91440" tIns="45720" rIns="91440" bIns="45720" numCol="1" spcCol="215900" anchor="b">
            <a:prstTxWarp prst="textNoShape">
              <a:avLst/>
            </a:prstTxWarp>
          </a:bodyPr>
          <a:lstStyle>
            <a:lvl1pPr indent="0" algn="r">
              <a:lnSpc>
                <a:spcPct val="100000"/>
              </a:lnSpc>
              <a:buNone/>
              <a:defRPr lang="en-us" sz="1200" b="0" strike="noStrike" cap="none" spc="0">
                <a:solidFill>
                  <a:srgbClr val="000000"/>
                </a:solidFill>
                <a:latin typeface="Times New Roman" pitchFamily="1" charset="0"/>
                <a:ea typeface="Calibri" pitchFamily="2" charset="0"/>
                <a:cs typeface="Calibri" pitchFamily="2" charset="0"/>
              </a:defRPr>
            </a:lvl1pPr>
          </a:lstStyle>
          <a:p>
            <a:pPr indent="0" algn="r">
              <a:lnSpc>
                <a:spcPct val="100000"/>
              </a:lnSpc>
              <a:buNone/>
              <a:defRPr lang="en-us"/>
            </a:pPr>
            <a:fld id="{75FBDC7F-3198-AE2A-D643-C77F920D2092}" type="slidenum">
              <a:t>18</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9778" name="Rectangle 6">
            <a:extLst>
              <a:ext uri="{FF2B5EF4-FFF2-40B4-BE49-F238E27FC236}">
                <a16:creationId xmlns:a16="http://schemas.microsoft.com/office/drawing/2014/main" id="{AFFB81CF-1716-6226-C10D-6CE0F6511F8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1pPr>
            <a:lvl2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9pPr>
          </a:lstStyle>
          <a:p>
            <a:fld id="{A8D858D4-83BA-4AF9-8B56-EB898F3ADA38}" type="slidenum">
              <a:rPr lang="en-US" altLang="en-US">
                <a:solidFill>
                  <a:srgbClr val="000000"/>
                </a:solidFill>
                <a:latin typeface="Times New Roman" panose="02020603050405020304" pitchFamily="18" charset="0"/>
                <a:cs typeface="DejaVu Sans" charset="0"/>
              </a:rPr>
              <a:pPr/>
              <a:t>19</a:t>
            </a:fld>
            <a:endParaRPr lang="en-US" altLang="en-US">
              <a:solidFill>
                <a:srgbClr val="000000"/>
              </a:solidFill>
              <a:latin typeface="Times New Roman" panose="02020603050405020304" pitchFamily="18" charset="0"/>
              <a:cs typeface="DejaVu Sans" charset="0"/>
            </a:endParaRPr>
          </a:p>
        </p:txBody>
      </p:sp>
      <p:sp>
        <p:nvSpPr>
          <p:cNvPr id="459779" name="Rectangle 1">
            <a:extLst>
              <a:ext uri="{FF2B5EF4-FFF2-40B4-BE49-F238E27FC236}">
                <a16:creationId xmlns:a16="http://schemas.microsoft.com/office/drawing/2014/main" id="{2332DED1-D81E-D168-BFE6-0C2E01B3EE2D}"/>
              </a:ext>
            </a:extLst>
          </p:cNvPr>
          <p:cNvSpPr txBox="1">
            <a:spLocks noGrp="1" noRot="1" noChangeAspect="1" noChangeArrowheads="1" noTextEdit="1"/>
          </p:cNvSpPr>
          <p:nvPr>
            <p:ph type="sldImg"/>
          </p:nvPr>
        </p:nvSpPr>
        <p:spPr>
          <a:xfrm>
            <a:off x="381000" y="695325"/>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9780" name="Rectangle 2">
            <a:extLst>
              <a:ext uri="{FF2B5EF4-FFF2-40B4-BE49-F238E27FC236}">
                <a16:creationId xmlns:a16="http://schemas.microsoft.com/office/drawing/2014/main" id="{1FA699E2-5F07-56FD-CDC9-8C89FAA14EAE}"/>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1826" name="Rectangle 6">
            <a:extLst>
              <a:ext uri="{FF2B5EF4-FFF2-40B4-BE49-F238E27FC236}">
                <a16:creationId xmlns:a16="http://schemas.microsoft.com/office/drawing/2014/main" id="{76EEAEFD-433F-B6AF-DEED-BC037A2F904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1pPr>
            <a:lvl2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9pPr>
          </a:lstStyle>
          <a:p>
            <a:fld id="{2D6F7EDE-B54B-4E26-82A7-8D27D1A7DDF4}" type="slidenum">
              <a:rPr lang="en-US" altLang="en-US">
                <a:solidFill>
                  <a:srgbClr val="000000"/>
                </a:solidFill>
                <a:latin typeface="Times New Roman" panose="02020603050405020304" pitchFamily="18" charset="0"/>
                <a:cs typeface="DejaVu Sans" charset="0"/>
              </a:rPr>
              <a:pPr/>
              <a:t>20</a:t>
            </a:fld>
            <a:endParaRPr lang="en-US" altLang="en-US">
              <a:solidFill>
                <a:srgbClr val="000000"/>
              </a:solidFill>
              <a:latin typeface="Times New Roman" panose="02020603050405020304" pitchFamily="18" charset="0"/>
              <a:cs typeface="DejaVu Sans" charset="0"/>
            </a:endParaRPr>
          </a:p>
        </p:txBody>
      </p:sp>
      <p:sp>
        <p:nvSpPr>
          <p:cNvPr id="461827" name="Rectangle 1">
            <a:extLst>
              <a:ext uri="{FF2B5EF4-FFF2-40B4-BE49-F238E27FC236}">
                <a16:creationId xmlns:a16="http://schemas.microsoft.com/office/drawing/2014/main" id="{5258E753-DA4B-359C-CE74-E60ABB7FA20B}"/>
              </a:ext>
            </a:extLst>
          </p:cNvPr>
          <p:cNvSpPr txBox="1">
            <a:spLocks noGrp="1" noRot="1" noChangeAspect="1" noChangeArrowheads="1" noTextEdit="1"/>
          </p:cNvSpPr>
          <p:nvPr>
            <p:ph type="sldImg"/>
          </p:nvPr>
        </p:nvSpPr>
        <p:spPr>
          <a:xfrm>
            <a:off x="381000" y="695325"/>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1828" name="Rectangle 2">
            <a:extLst>
              <a:ext uri="{FF2B5EF4-FFF2-40B4-BE49-F238E27FC236}">
                <a16:creationId xmlns:a16="http://schemas.microsoft.com/office/drawing/2014/main" id="{5BCC1628-9EBB-DAA7-E1C4-C1A8809CBEAB}"/>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3874" name="Rectangle 6">
            <a:extLst>
              <a:ext uri="{FF2B5EF4-FFF2-40B4-BE49-F238E27FC236}">
                <a16:creationId xmlns:a16="http://schemas.microsoft.com/office/drawing/2014/main" id="{34F61822-85B7-BE59-E093-3598A661CD4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1pPr>
            <a:lvl2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9pPr>
          </a:lstStyle>
          <a:p>
            <a:fld id="{5F322A38-F6D4-4BA2-A3D0-78FC7796D611}" type="slidenum">
              <a:rPr lang="en-US" altLang="en-US">
                <a:solidFill>
                  <a:srgbClr val="000000"/>
                </a:solidFill>
                <a:latin typeface="Times New Roman" panose="02020603050405020304" pitchFamily="18" charset="0"/>
                <a:cs typeface="DejaVu Sans" charset="0"/>
              </a:rPr>
              <a:pPr/>
              <a:t>21</a:t>
            </a:fld>
            <a:endParaRPr lang="en-US" altLang="en-US">
              <a:solidFill>
                <a:srgbClr val="000000"/>
              </a:solidFill>
              <a:latin typeface="Times New Roman" panose="02020603050405020304" pitchFamily="18" charset="0"/>
              <a:cs typeface="DejaVu Sans" charset="0"/>
            </a:endParaRPr>
          </a:p>
        </p:txBody>
      </p:sp>
      <p:sp>
        <p:nvSpPr>
          <p:cNvPr id="463875" name="Rectangle 1">
            <a:extLst>
              <a:ext uri="{FF2B5EF4-FFF2-40B4-BE49-F238E27FC236}">
                <a16:creationId xmlns:a16="http://schemas.microsoft.com/office/drawing/2014/main" id="{6AA0E0AC-8DB3-9A22-A5C9-89ECC66DDDB9}"/>
              </a:ext>
            </a:extLst>
          </p:cNvPr>
          <p:cNvSpPr txBox="1">
            <a:spLocks noGrp="1" noRot="1" noChangeAspect="1" noChangeArrowheads="1" noTextEdit="1"/>
          </p:cNvSpPr>
          <p:nvPr>
            <p:ph type="sldImg"/>
          </p:nvPr>
        </p:nvSpPr>
        <p:spPr>
          <a:xfrm>
            <a:off x="1588" y="0"/>
            <a:ext cx="1587" cy="158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3876" name="Rectangle 2">
            <a:extLst>
              <a:ext uri="{FF2B5EF4-FFF2-40B4-BE49-F238E27FC236}">
                <a16:creationId xmlns:a16="http://schemas.microsoft.com/office/drawing/2014/main" id="{A301CEE7-A184-7EF0-A262-57DE83A1A600}"/>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5922" name="Rectangle 6">
            <a:extLst>
              <a:ext uri="{FF2B5EF4-FFF2-40B4-BE49-F238E27FC236}">
                <a16:creationId xmlns:a16="http://schemas.microsoft.com/office/drawing/2014/main" id="{D3B3C34E-E56B-4B86-9620-C7AFF176DE51}"/>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1pPr>
            <a:lvl2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9pPr>
          </a:lstStyle>
          <a:p>
            <a:fld id="{F14085EE-DD81-4544-B54D-B8F978F7A1E9}" type="slidenum">
              <a:rPr lang="en-US" altLang="en-US">
                <a:solidFill>
                  <a:srgbClr val="000000"/>
                </a:solidFill>
                <a:latin typeface="Times New Roman" panose="02020603050405020304" pitchFamily="18" charset="0"/>
                <a:cs typeface="DejaVu Sans" charset="0"/>
              </a:rPr>
              <a:pPr/>
              <a:t>22</a:t>
            </a:fld>
            <a:endParaRPr lang="en-US" altLang="en-US">
              <a:solidFill>
                <a:srgbClr val="000000"/>
              </a:solidFill>
              <a:latin typeface="Times New Roman" panose="02020603050405020304" pitchFamily="18" charset="0"/>
              <a:cs typeface="DejaVu Sans" charset="0"/>
            </a:endParaRPr>
          </a:p>
        </p:txBody>
      </p:sp>
      <p:sp>
        <p:nvSpPr>
          <p:cNvPr id="465923" name="Rectangle 1">
            <a:extLst>
              <a:ext uri="{FF2B5EF4-FFF2-40B4-BE49-F238E27FC236}">
                <a16:creationId xmlns:a16="http://schemas.microsoft.com/office/drawing/2014/main" id="{B3B6975B-620E-7D47-48E3-A0039E32C309}"/>
              </a:ext>
            </a:extLst>
          </p:cNvPr>
          <p:cNvSpPr txBox="1">
            <a:spLocks noGrp="1" noRot="1" noChangeAspect="1" noChangeArrowheads="1" noTextEdit="1"/>
          </p:cNvSpPr>
          <p:nvPr>
            <p:ph type="sldImg"/>
          </p:nvPr>
        </p:nvSpPr>
        <p:spPr>
          <a:xfrm>
            <a:off x="381000" y="695325"/>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5924" name="Rectangle 2">
            <a:extLst>
              <a:ext uri="{FF2B5EF4-FFF2-40B4-BE49-F238E27FC236}">
                <a16:creationId xmlns:a16="http://schemas.microsoft.com/office/drawing/2014/main" id="{FCFAD667-EFD4-4071-19A4-8C08049DCFDD}"/>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7970" name="Rectangle 6">
            <a:extLst>
              <a:ext uri="{FF2B5EF4-FFF2-40B4-BE49-F238E27FC236}">
                <a16:creationId xmlns:a16="http://schemas.microsoft.com/office/drawing/2014/main" id="{C009C903-6FDF-F43D-692B-B713F830D69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1pPr>
            <a:lvl2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9pPr>
          </a:lstStyle>
          <a:p>
            <a:fld id="{5A58DC92-0F69-4484-9A4A-CA17C5F47309}" type="slidenum">
              <a:rPr lang="en-US" altLang="en-US">
                <a:solidFill>
                  <a:srgbClr val="000000"/>
                </a:solidFill>
                <a:latin typeface="Times New Roman" panose="02020603050405020304" pitchFamily="18" charset="0"/>
                <a:cs typeface="DejaVu Sans" charset="0"/>
              </a:rPr>
              <a:pPr/>
              <a:t>23</a:t>
            </a:fld>
            <a:endParaRPr lang="en-US" altLang="en-US">
              <a:solidFill>
                <a:srgbClr val="000000"/>
              </a:solidFill>
              <a:latin typeface="Times New Roman" panose="02020603050405020304" pitchFamily="18" charset="0"/>
              <a:cs typeface="DejaVu Sans" charset="0"/>
            </a:endParaRPr>
          </a:p>
        </p:txBody>
      </p:sp>
      <p:sp>
        <p:nvSpPr>
          <p:cNvPr id="467971" name="Rectangle 1">
            <a:extLst>
              <a:ext uri="{FF2B5EF4-FFF2-40B4-BE49-F238E27FC236}">
                <a16:creationId xmlns:a16="http://schemas.microsoft.com/office/drawing/2014/main" id="{F4F7C517-E7B2-F185-4750-7C862EA9CAC9}"/>
              </a:ext>
            </a:extLst>
          </p:cNvPr>
          <p:cNvSpPr txBox="1">
            <a:spLocks noGrp="1" noRot="1" noChangeAspect="1" noChangeArrowheads="1" noTextEdit="1"/>
          </p:cNvSpPr>
          <p:nvPr>
            <p:ph type="sldImg"/>
          </p:nvPr>
        </p:nvSpPr>
        <p:spPr>
          <a:xfrm>
            <a:off x="381000" y="695325"/>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7972" name="Rectangle 2">
            <a:extLst>
              <a:ext uri="{FF2B5EF4-FFF2-40B4-BE49-F238E27FC236}">
                <a16:creationId xmlns:a16="http://schemas.microsoft.com/office/drawing/2014/main" id="{C481B39C-758F-8856-DB54-EC0596DE8525}"/>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0018" name="Rectangle 6">
            <a:extLst>
              <a:ext uri="{FF2B5EF4-FFF2-40B4-BE49-F238E27FC236}">
                <a16:creationId xmlns:a16="http://schemas.microsoft.com/office/drawing/2014/main" id="{34505E25-E66E-0289-CDA0-D7DC4EF9CF6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1pPr>
            <a:lvl2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Noto Sans CJK SC" charset="0"/>
              </a:defRPr>
            </a:lvl9pPr>
          </a:lstStyle>
          <a:p>
            <a:fld id="{E436076A-A7B9-4BEA-A886-37E138704566}" type="slidenum">
              <a:rPr lang="en-US" altLang="en-US">
                <a:solidFill>
                  <a:srgbClr val="000000"/>
                </a:solidFill>
                <a:latin typeface="Times New Roman" panose="02020603050405020304" pitchFamily="18" charset="0"/>
                <a:cs typeface="DejaVu Sans" charset="0"/>
              </a:rPr>
              <a:pPr/>
              <a:t>24</a:t>
            </a:fld>
            <a:endParaRPr lang="en-US" altLang="en-US">
              <a:solidFill>
                <a:srgbClr val="000000"/>
              </a:solidFill>
              <a:latin typeface="Times New Roman" panose="02020603050405020304" pitchFamily="18" charset="0"/>
              <a:cs typeface="DejaVu Sans" charset="0"/>
            </a:endParaRPr>
          </a:p>
        </p:txBody>
      </p:sp>
      <p:sp>
        <p:nvSpPr>
          <p:cNvPr id="470019" name="Rectangle 1">
            <a:extLst>
              <a:ext uri="{FF2B5EF4-FFF2-40B4-BE49-F238E27FC236}">
                <a16:creationId xmlns:a16="http://schemas.microsoft.com/office/drawing/2014/main" id="{671A81D7-C0AF-3E5A-AC4D-095E4E753EB3}"/>
              </a:ext>
            </a:extLst>
          </p:cNvPr>
          <p:cNvSpPr txBox="1">
            <a:spLocks noGrp="1" noRot="1" noChangeAspect="1" noChangeArrowheads="1" noTextEdit="1"/>
          </p:cNvSpPr>
          <p:nvPr>
            <p:ph type="sldImg"/>
          </p:nvPr>
        </p:nvSpPr>
        <p:spPr>
          <a:xfrm>
            <a:off x="381000" y="695325"/>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0020" name="Rectangle 2">
            <a:extLst>
              <a:ext uri="{FF2B5EF4-FFF2-40B4-BE49-F238E27FC236}">
                <a16:creationId xmlns:a16="http://schemas.microsoft.com/office/drawing/2014/main" id="{FCE61613-E4F4-6114-7273-D4B58EFB40E4}"/>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3x³ +x² + x + 2 solve it simple concept, space complexity only consider data store thing like I in loop only takes integer constant space. ,</a:t>
            </a:r>
            <a:br>
              <a:rPr lang="en-US" b="0" i="0" dirty="0">
                <a:solidFill>
                  <a:srgbClr val="242424"/>
                </a:solidFill>
                <a:effectLst/>
                <a:latin typeface="source-serif-pro"/>
              </a:rPr>
            </a:br>
            <a:r>
              <a:rPr lang="en-US" b="0" i="0" dirty="0">
                <a:solidFill>
                  <a:srgbClr val="242424"/>
                </a:solidFill>
                <a:effectLst/>
                <a:latin typeface="source-serif-pro"/>
              </a:rPr>
              <a:t>time complexity O(n) and Space Complexity (1)</a:t>
            </a:r>
            <a:endParaRPr lang="en-US" dirty="0"/>
          </a:p>
        </p:txBody>
      </p:sp>
      <p:sp>
        <p:nvSpPr>
          <p:cNvPr id="4" name="Slide Number Placeholder 3"/>
          <p:cNvSpPr>
            <a:spLocks noGrp="1"/>
          </p:cNvSpPr>
          <p:nvPr>
            <p:ph type="sldNum" sz="quarter" idx="5"/>
          </p:nvPr>
        </p:nvSpPr>
        <p:spPr/>
        <p:txBody>
          <a:bodyPr/>
          <a:lstStyle/>
          <a:p>
            <a:fld id="{224668EC-2A58-46A7-BD96-0750C0F597C7}" type="slidenum">
              <a:rPr lang="en-US" smtClean="0"/>
              <a:t>25</a:t>
            </a:fld>
            <a:endParaRPr lang="en-US"/>
          </a:p>
        </p:txBody>
      </p:sp>
    </p:spTree>
    <p:extLst>
      <p:ext uri="{BB962C8B-B14F-4D97-AF65-F5344CB8AC3E}">
        <p14:creationId xmlns:p14="http://schemas.microsoft.com/office/powerpoint/2010/main" val="3706279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5D20813-FAA3-F3DD-A441-C9B6ED91E8FB}"/>
              </a:ext>
            </a:extLst>
          </p:cNvPr>
          <p:cNvSpPr txBox="1">
            <a:spLocks noGrp="1"/>
          </p:cNvSpPr>
          <p:nvPr>
            <p:ph type="sldNum" sz="quarter" idx="5"/>
          </p:nvPr>
        </p:nvSpPr>
        <p:spPr>
          <a:ln/>
        </p:spPr>
        <p:txBody>
          <a:bodyPr vert="horz" lIns="0" tIns="0" rIns="0" bIns="0" anchor="b" anchorCtr="0">
            <a:noAutofit/>
          </a:bodyPr>
          <a:lstStyle/>
          <a:p>
            <a:pPr lvl="0"/>
            <a:fld id="{2C49B5AC-E580-4207-82A5-61E951B08FDF}" type="slidenum">
              <a:t>26</a:t>
            </a:fld>
            <a:endParaRPr lang="en-US"/>
          </a:p>
        </p:txBody>
      </p:sp>
      <p:sp>
        <p:nvSpPr>
          <p:cNvPr id="2" name="Slide Image Placeholder 1">
            <a:extLst>
              <a:ext uri="{FF2B5EF4-FFF2-40B4-BE49-F238E27FC236}">
                <a16:creationId xmlns:a16="http://schemas.microsoft.com/office/drawing/2014/main" id="{46A53581-22D6-66A9-FBB9-2A151CDA7E90}"/>
              </a:ext>
            </a:extLst>
          </p:cNvPr>
          <p:cNvSpPr>
            <a:spLocks noGrp="1" noRot="1" noChangeAspect="1" noResize="1"/>
          </p:cNvSpPr>
          <p:nvPr>
            <p:ph type="sldImg"/>
          </p:nvPr>
        </p:nvSpPr>
        <p:spPr>
          <a:xfrm>
            <a:off x="0" y="812800"/>
            <a:ext cx="0" cy="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AF4AA9F-0125-ED67-33DA-9AEE147E8BA4}"/>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0220CEF-4FA5-EDF9-742A-D24AC9A995CB}"/>
              </a:ext>
            </a:extLst>
          </p:cNvPr>
          <p:cNvSpPr txBox="1">
            <a:spLocks noGrp="1"/>
          </p:cNvSpPr>
          <p:nvPr>
            <p:ph type="sldNum" sz="quarter" idx="5"/>
          </p:nvPr>
        </p:nvSpPr>
        <p:spPr>
          <a:ln/>
        </p:spPr>
        <p:txBody>
          <a:bodyPr vert="horz" lIns="0" tIns="0" rIns="0" bIns="0" anchor="b" anchorCtr="0">
            <a:noAutofit/>
          </a:bodyPr>
          <a:lstStyle/>
          <a:p>
            <a:pPr lvl="0"/>
            <a:fld id="{E0AF7A58-E2B8-4939-AB31-5142A67F85DE}" type="slidenum">
              <a:t>29</a:t>
            </a:fld>
            <a:endParaRPr lang="en-US"/>
          </a:p>
        </p:txBody>
      </p:sp>
      <p:sp>
        <p:nvSpPr>
          <p:cNvPr id="2" name="Slide Image Placeholder 1">
            <a:extLst>
              <a:ext uri="{FF2B5EF4-FFF2-40B4-BE49-F238E27FC236}">
                <a16:creationId xmlns:a16="http://schemas.microsoft.com/office/drawing/2014/main" id="{046AA197-2BF0-7DEB-78C9-0324D5C360E7}"/>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747123D-D9B9-0DB3-C58E-980F9C7A75D6}"/>
              </a:ext>
            </a:extLst>
          </p:cNvPr>
          <p:cNvSpPr txBox="1">
            <a:spLocks noGrp="1"/>
          </p:cNvSpPr>
          <p:nvPr>
            <p:ph type="body" sz="quarter" idx="1"/>
          </p:nvPr>
        </p:nvSpPr>
        <p:spPr/>
        <p:txBody>
          <a:bodyPr vert="horz"/>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2BD33-26D1-BA53-3A18-52A8BCC679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22D805-94C2-CACB-D3CF-42285CE925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AA97AE-F101-3307-3A61-45648801FC5E}"/>
              </a:ext>
            </a:extLst>
          </p:cNvPr>
          <p:cNvSpPr>
            <a:spLocks noGrp="1"/>
          </p:cNvSpPr>
          <p:nvPr>
            <p:ph type="dt" sz="half" idx="10"/>
          </p:nvPr>
        </p:nvSpPr>
        <p:spPr/>
        <p:txBody>
          <a:bodyPr/>
          <a:lstStyle/>
          <a:p>
            <a:fld id="{14DE24D6-BBD0-43F0-8CAA-6A8704A458B1}" type="datetimeFigureOut">
              <a:rPr lang="en-US" smtClean="0"/>
              <a:t>4/21/2025</a:t>
            </a:fld>
            <a:endParaRPr lang="en-US"/>
          </a:p>
        </p:txBody>
      </p:sp>
      <p:sp>
        <p:nvSpPr>
          <p:cNvPr id="5" name="Footer Placeholder 4">
            <a:extLst>
              <a:ext uri="{FF2B5EF4-FFF2-40B4-BE49-F238E27FC236}">
                <a16:creationId xmlns:a16="http://schemas.microsoft.com/office/drawing/2014/main" id="{FA3D6BA9-EC57-4820-4FB6-03A0EC46AF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809131-A017-E0E6-D9A3-0604637AAEE0}"/>
              </a:ext>
            </a:extLst>
          </p:cNvPr>
          <p:cNvSpPr>
            <a:spLocks noGrp="1"/>
          </p:cNvSpPr>
          <p:nvPr>
            <p:ph type="sldNum" sz="quarter" idx="12"/>
          </p:nvPr>
        </p:nvSpPr>
        <p:spPr/>
        <p:txBody>
          <a:bodyPr/>
          <a:lstStyle/>
          <a:p>
            <a:fld id="{485A666C-F04B-4D3A-8838-98E343DE5FAC}" type="slidenum">
              <a:rPr lang="en-US" smtClean="0"/>
              <a:t>‹#›</a:t>
            </a:fld>
            <a:endParaRPr lang="en-US"/>
          </a:p>
        </p:txBody>
      </p:sp>
    </p:spTree>
    <p:extLst>
      <p:ext uri="{BB962C8B-B14F-4D97-AF65-F5344CB8AC3E}">
        <p14:creationId xmlns:p14="http://schemas.microsoft.com/office/powerpoint/2010/main" val="2083856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E9417-A71C-0C73-1299-F940920CE4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94059E-9CCD-9989-9673-B5982A82C9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D7CE50-1517-6E9D-AB91-BFC957BBFE03}"/>
              </a:ext>
            </a:extLst>
          </p:cNvPr>
          <p:cNvSpPr>
            <a:spLocks noGrp="1"/>
          </p:cNvSpPr>
          <p:nvPr>
            <p:ph type="dt" sz="half" idx="10"/>
          </p:nvPr>
        </p:nvSpPr>
        <p:spPr/>
        <p:txBody>
          <a:bodyPr/>
          <a:lstStyle/>
          <a:p>
            <a:fld id="{14DE24D6-BBD0-43F0-8CAA-6A8704A458B1}" type="datetimeFigureOut">
              <a:rPr lang="en-US" smtClean="0"/>
              <a:t>4/21/2025</a:t>
            </a:fld>
            <a:endParaRPr lang="en-US"/>
          </a:p>
        </p:txBody>
      </p:sp>
      <p:sp>
        <p:nvSpPr>
          <p:cNvPr id="5" name="Footer Placeholder 4">
            <a:extLst>
              <a:ext uri="{FF2B5EF4-FFF2-40B4-BE49-F238E27FC236}">
                <a16:creationId xmlns:a16="http://schemas.microsoft.com/office/drawing/2014/main" id="{F834AB27-03CD-6DE5-4DF1-48CF25CD47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DA09E1-DD12-9122-3B8F-E0F4B1E0518F}"/>
              </a:ext>
            </a:extLst>
          </p:cNvPr>
          <p:cNvSpPr>
            <a:spLocks noGrp="1"/>
          </p:cNvSpPr>
          <p:nvPr>
            <p:ph type="sldNum" sz="quarter" idx="12"/>
          </p:nvPr>
        </p:nvSpPr>
        <p:spPr/>
        <p:txBody>
          <a:bodyPr/>
          <a:lstStyle/>
          <a:p>
            <a:fld id="{485A666C-F04B-4D3A-8838-98E343DE5FAC}" type="slidenum">
              <a:rPr lang="en-US" smtClean="0"/>
              <a:t>‹#›</a:t>
            </a:fld>
            <a:endParaRPr lang="en-US"/>
          </a:p>
        </p:txBody>
      </p:sp>
    </p:spTree>
    <p:extLst>
      <p:ext uri="{BB962C8B-B14F-4D97-AF65-F5344CB8AC3E}">
        <p14:creationId xmlns:p14="http://schemas.microsoft.com/office/powerpoint/2010/main" val="757832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104F7-BD16-442A-25E7-B5E7CA07C7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6A554D-6DC4-C527-799D-33925190E2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7D3AE4-228B-E9AD-0F6E-EE077B9117EB}"/>
              </a:ext>
            </a:extLst>
          </p:cNvPr>
          <p:cNvSpPr>
            <a:spLocks noGrp="1"/>
          </p:cNvSpPr>
          <p:nvPr>
            <p:ph type="dt" sz="half" idx="10"/>
          </p:nvPr>
        </p:nvSpPr>
        <p:spPr/>
        <p:txBody>
          <a:bodyPr/>
          <a:lstStyle/>
          <a:p>
            <a:fld id="{14DE24D6-BBD0-43F0-8CAA-6A8704A458B1}" type="datetimeFigureOut">
              <a:rPr lang="en-US" smtClean="0"/>
              <a:t>4/21/2025</a:t>
            </a:fld>
            <a:endParaRPr lang="en-US"/>
          </a:p>
        </p:txBody>
      </p:sp>
      <p:sp>
        <p:nvSpPr>
          <p:cNvPr id="5" name="Footer Placeholder 4">
            <a:extLst>
              <a:ext uri="{FF2B5EF4-FFF2-40B4-BE49-F238E27FC236}">
                <a16:creationId xmlns:a16="http://schemas.microsoft.com/office/drawing/2014/main" id="{A21D7D69-976E-23DF-2D39-388B36457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FE5512-2B4D-D349-A020-D4B6094AE71C}"/>
              </a:ext>
            </a:extLst>
          </p:cNvPr>
          <p:cNvSpPr>
            <a:spLocks noGrp="1"/>
          </p:cNvSpPr>
          <p:nvPr>
            <p:ph type="sldNum" sz="quarter" idx="12"/>
          </p:nvPr>
        </p:nvSpPr>
        <p:spPr/>
        <p:txBody>
          <a:bodyPr/>
          <a:lstStyle/>
          <a:p>
            <a:fld id="{485A666C-F04B-4D3A-8838-98E343DE5FAC}" type="slidenum">
              <a:rPr lang="en-US" smtClean="0"/>
              <a:t>‹#›</a:t>
            </a:fld>
            <a:endParaRPr lang="en-US"/>
          </a:p>
        </p:txBody>
      </p:sp>
    </p:spTree>
    <p:extLst>
      <p:ext uri="{BB962C8B-B14F-4D97-AF65-F5344CB8AC3E}">
        <p14:creationId xmlns:p14="http://schemas.microsoft.com/office/powerpoint/2010/main" val="1481773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73836-B9A8-213C-A29E-52A4D30CF6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2AB567-5B8D-EC76-04E3-75DE333FB3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19A0B1-064E-979E-A7F7-F3D2E61C47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E31123-0D3F-BB07-F19C-7EE81C8229E2}"/>
              </a:ext>
            </a:extLst>
          </p:cNvPr>
          <p:cNvSpPr>
            <a:spLocks noGrp="1"/>
          </p:cNvSpPr>
          <p:nvPr>
            <p:ph type="dt" sz="half" idx="10"/>
          </p:nvPr>
        </p:nvSpPr>
        <p:spPr/>
        <p:txBody>
          <a:bodyPr/>
          <a:lstStyle/>
          <a:p>
            <a:fld id="{14DE24D6-BBD0-43F0-8CAA-6A8704A458B1}" type="datetimeFigureOut">
              <a:rPr lang="en-US" smtClean="0"/>
              <a:t>4/21/2025</a:t>
            </a:fld>
            <a:endParaRPr lang="en-US"/>
          </a:p>
        </p:txBody>
      </p:sp>
      <p:sp>
        <p:nvSpPr>
          <p:cNvPr id="6" name="Footer Placeholder 5">
            <a:extLst>
              <a:ext uri="{FF2B5EF4-FFF2-40B4-BE49-F238E27FC236}">
                <a16:creationId xmlns:a16="http://schemas.microsoft.com/office/drawing/2014/main" id="{E5B0296D-4D95-2568-7856-F19AA700EE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4DBD63-A099-68F5-F6E1-64A144014937}"/>
              </a:ext>
            </a:extLst>
          </p:cNvPr>
          <p:cNvSpPr>
            <a:spLocks noGrp="1"/>
          </p:cNvSpPr>
          <p:nvPr>
            <p:ph type="sldNum" sz="quarter" idx="12"/>
          </p:nvPr>
        </p:nvSpPr>
        <p:spPr/>
        <p:txBody>
          <a:bodyPr/>
          <a:lstStyle/>
          <a:p>
            <a:fld id="{485A666C-F04B-4D3A-8838-98E343DE5FAC}" type="slidenum">
              <a:rPr lang="en-US" smtClean="0"/>
              <a:t>‹#›</a:t>
            </a:fld>
            <a:endParaRPr lang="en-US"/>
          </a:p>
        </p:txBody>
      </p:sp>
    </p:spTree>
    <p:extLst>
      <p:ext uri="{BB962C8B-B14F-4D97-AF65-F5344CB8AC3E}">
        <p14:creationId xmlns:p14="http://schemas.microsoft.com/office/powerpoint/2010/main" val="3203880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E7630-712A-4C2D-6BBF-D3BC64DA85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A4BAF5-99DC-C6B2-B842-CC54C405D1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6B855A-D8C8-4596-9EE2-2BD34E9DF7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0BC262-034A-1771-3FDB-7146EF2BF4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A634E5-5D2C-0143-EC65-982FBFD57E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892B84-B45F-9062-334A-3DA844675CC6}"/>
              </a:ext>
            </a:extLst>
          </p:cNvPr>
          <p:cNvSpPr>
            <a:spLocks noGrp="1"/>
          </p:cNvSpPr>
          <p:nvPr>
            <p:ph type="dt" sz="half" idx="10"/>
          </p:nvPr>
        </p:nvSpPr>
        <p:spPr/>
        <p:txBody>
          <a:bodyPr/>
          <a:lstStyle/>
          <a:p>
            <a:fld id="{14DE24D6-BBD0-43F0-8CAA-6A8704A458B1}" type="datetimeFigureOut">
              <a:rPr lang="en-US" smtClean="0"/>
              <a:t>4/21/2025</a:t>
            </a:fld>
            <a:endParaRPr lang="en-US"/>
          </a:p>
        </p:txBody>
      </p:sp>
      <p:sp>
        <p:nvSpPr>
          <p:cNvPr id="8" name="Footer Placeholder 7">
            <a:extLst>
              <a:ext uri="{FF2B5EF4-FFF2-40B4-BE49-F238E27FC236}">
                <a16:creationId xmlns:a16="http://schemas.microsoft.com/office/drawing/2014/main" id="{B88374DD-A4F3-5C82-91EC-7A1471B3B7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50FDC3-D74C-2920-3472-31C511727862}"/>
              </a:ext>
            </a:extLst>
          </p:cNvPr>
          <p:cNvSpPr>
            <a:spLocks noGrp="1"/>
          </p:cNvSpPr>
          <p:nvPr>
            <p:ph type="sldNum" sz="quarter" idx="12"/>
          </p:nvPr>
        </p:nvSpPr>
        <p:spPr/>
        <p:txBody>
          <a:bodyPr/>
          <a:lstStyle/>
          <a:p>
            <a:fld id="{485A666C-F04B-4D3A-8838-98E343DE5FAC}" type="slidenum">
              <a:rPr lang="en-US" smtClean="0"/>
              <a:t>‹#›</a:t>
            </a:fld>
            <a:endParaRPr lang="en-US"/>
          </a:p>
        </p:txBody>
      </p:sp>
    </p:spTree>
    <p:extLst>
      <p:ext uri="{BB962C8B-B14F-4D97-AF65-F5344CB8AC3E}">
        <p14:creationId xmlns:p14="http://schemas.microsoft.com/office/powerpoint/2010/main" val="2830417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7CD71-2A0D-532B-EDDF-44CCFB2AEE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91D71A-6557-E56B-966F-EB18B83886A0}"/>
              </a:ext>
            </a:extLst>
          </p:cNvPr>
          <p:cNvSpPr>
            <a:spLocks noGrp="1"/>
          </p:cNvSpPr>
          <p:nvPr>
            <p:ph type="dt" sz="half" idx="10"/>
          </p:nvPr>
        </p:nvSpPr>
        <p:spPr/>
        <p:txBody>
          <a:bodyPr/>
          <a:lstStyle/>
          <a:p>
            <a:fld id="{14DE24D6-BBD0-43F0-8CAA-6A8704A458B1}" type="datetimeFigureOut">
              <a:rPr lang="en-US" smtClean="0"/>
              <a:t>4/21/2025</a:t>
            </a:fld>
            <a:endParaRPr lang="en-US"/>
          </a:p>
        </p:txBody>
      </p:sp>
      <p:sp>
        <p:nvSpPr>
          <p:cNvPr id="4" name="Footer Placeholder 3">
            <a:extLst>
              <a:ext uri="{FF2B5EF4-FFF2-40B4-BE49-F238E27FC236}">
                <a16:creationId xmlns:a16="http://schemas.microsoft.com/office/drawing/2014/main" id="{2A85F0ED-EFDC-3D30-7E96-FA94628418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F8995B-5651-6376-E7B5-B17F15C0832E}"/>
              </a:ext>
            </a:extLst>
          </p:cNvPr>
          <p:cNvSpPr>
            <a:spLocks noGrp="1"/>
          </p:cNvSpPr>
          <p:nvPr>
            <p:ph type="sldNum" sz="quarter" idx="12"/>
          </p:nvPr>
        </p:nvSpPr>
        <p:spPr/>
        <p:txBody>
          <a:bodyPr/>
          <a:lstStyle/>
          <a:p>
            <a:fld id="{485A666C-F04B-4D3A-8838-98E343DE5FAC}" type="slidenum">
              <a:rPr lang="en-US" smtClean="0"/>
              <a:t>‹#›</a:t>
            </a:fld>
            <a:endParaRPr lang="en-US"/>
          </a:p>
        </p:txBody>
      </p:sp>
    </p:spTree>
    <p:extLst>
      <p:ext uri="{BB962C8B-B14F-4D97-AF65-F5344CB8AC3E}">
        <p14:creationId xmlns:p14="http://schemas.microsoft.com/office/powerpoint/2010/main" val="3200585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11F460-6074-501E-7280-511A0D92923A}"/>
              </a:ext>
            </a:extLst>
          </p:cNvPr>
          <p:cNvSpPr>
            <a:spLocks noGrp="1"/>
          </p:cNvSpPr>
          <p:nvPr>
            <p:ph type="dt" sz="half" idx="10"/>
          </p:nvPr>
        </p:nvSpPr>
        <p:spPr/>
        <p:txBody>
          <a:bodyPr/>
          <a:lstStyle/>
          <a:p>
            <a:fld id="{14DE24D6-BBD0-43F0-8CAA-6A8704A458B1}" type="datetimeFigureOut">
              <a:rPr lang="en-US" smtClean="0"/>
              <a:t>4/21/2025</a:t>
            </a:fld>
            <a:endParaRPr lang="en-US"/>
          </a:p>
        </p:txBody>
      </p:sp>
      <p:sp>
        <p:nvSpPr>
          <p:cNvPr id="3" name="Footer Placeholder 2">
            <a:extLst>
              <a:ext uri="{FF2B5EF4-FFF2-40B4-BE49-F238E27FC236}">
                <a16:creationId xmlns:a16="http://schemas.microsoft.com/office/drawing/2014/main" id="{C1E9DB13-BD4B-9E36-4E23-4C14214DB2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992CCA-6AEE-71B9-B1E5-3398566471D8}"/>
              </a:ext>
            </a:extLst>
          </p:cNvPr>
          <p:cNvSpPr>
            <a:spLocks noGrp="1"/>
          </p:cNvSpPr>
          <p:nvPr>
            <p:ph type="sldNum" sz="quarter" idx="12"/>
          </p:nvPr>
        </p:nvSpPr>
        <p:spPr/>
        <p:txBody>
          <a:bodyPr/>
          <a:lstStyle/>
          <a:p>
            <a:fld id="{485A666C-F04B-4D3A-8838-98E343DE5FAC}" type="slidenum">
              <a:rPr lang="en-US" smtClean="0"/>
              <a:t>‹#›</a:t>
            </a:fld>
            <a:endParaRPr lang="en-US"/>
          </a:p>
        </p:txBody>
      </p:sp>
    </p:spTree>
    <p:extLst>
      <p:ext uri="{BB962C8B-B14F-4D97-AF65-F5344CB8AC3E}">
        <p14:creationId xmlns:p14="http://schemas.microsoft.com/office/powerpoint/2010/main" val="772186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93B2B-0AE2-F062-2A3A-55E0DBC32D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1084FC-1FC8-DBA3-B8F9-6DAE08D469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8ABFDA8-240F-1CEE-686C-0FF74562C0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D7E9D1-D77E-885B-3DA3-0F8E177D8A7D}"/>
              </a:ext>
            </a:extLst>
          </p:cNvPr>
          <p:cNvSpPr>
            <a:spLocks noGrp="1"/>
          </p:cNvSpPr>
          <p:nvPr>
            <p:ph type="dt" sz="half" idx="10"/>
          </p:nvPr>
        </p:nvSpPr>
        <p:spPr/>
        <p:txBody>
          <a:bodyPr/>
          <a:lstStyle/>
          <a:p>
            <a:fld id="{14DE24D6-BBD0-43F0-8CAA-6A8704A458B1}" type="datetimeFigureOut">
              <a:rPr lang="en-US" smtClean="0"/>
              <a:t>4/21/2025</a:t>
            </a:fld>
            <a:endParaRPr lang="en-US"/>
          </a:p>
        </p:txBody>
      </p:sp>
      <p:sp>
        <p:nvSpPr>
          <p:cNvPr id="6" name="Footer Placeholder 5">
            <a:extLst>
              <a:ext uri="{FF2B5EF4-FFF2-40B4-BE49-F238E27FC236}">
                <a16:creationId xmlns:a16="http://schemas.microsoft.com/office/drawing/2014/main" id="{F41DB227-964C-FA9B-5C24-E7D6DD3257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3D19F9-7892-44C0-0E5C-B242700DFCFA}"/>
              </a:ext>
            </a:extLst>
          </p:cNvPr>
          <p:cNvSpPr>
            <a:spLocks noGrp="1"/>
          </p:cNvSpPr>
          <p:nvPr>
            <p:ph type="sldNum" sz="quarter" idx="12"/>
          </p:nvPr>
        </p:nvSpPr>
        <p:spPr/>
        <p:txBody>
          <a:bodyPr/>
          <a:lstStyle/>
          <a:p>
            <a:fld id="{485A666C-F04B-4D3A-8838-98E343DE5FAC}" type="slidenum">
              <a:rPr lang="en-US" smtClean="0"/>
              <a:t>‹#›</a:t>
            </a:fld>
            <a:endParaRPr lang="en-US"/>
          </a:p>
        </p:txBody>
      </p:sp>
    </p:spTree>
    <p:extLst>
      <p:ext uri="{BB962C8B-B14F-4D97-AF65-F5344CB8AC3E}">
        <p14:creationId xmlns:p14="http://schemas.microsoft.com/office/powerpoint/2010/main" val="1531438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A699D-D4D6-EF40-2DBD-0D7B14BBD5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0BA0A6-3927-0E98-1027-9BEF6BB50F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7A80DA-31E9-A434-4DDD-2186372AC5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364B6C-7F68-81E1-100B-2D8AF2F0B9F4}"/>
              </a:ext>
            </a:extLst>
          </p:cNvPr>
          <p:cNvSpPr>
            <a:spLocks noGrp="1"/>
          </p:cNvSpPr>
          <p:nvPr>
            <p:ph type="dt" sz="half" idx="10"/>
          </p:nvPr>
        </p:nvSpPr>
        <p:spPr/>
        <p:txBody>
          <a:bodyPr/>
          <a:lstStyle/>
          <a:p>
            <a:fld id="{14DE24D6-BBD0-43F0-8CAA-6A8704A458B1}" type="datetimeFigureOut">
              <a:rPr lang="en-US" smtClean="0"/>
              <a:t>4/21/2025</a:t>
            </a:fld>
            <a:endParaRPr lang="en-US"/>
          </a:p>
        </p:txBody>
      </p:sp>
      <p:sp>
        <p:nvSpPr>
          <p:cNvPr id="6" name="Footer Placeholder 5">
            <a:extLst>
              <a:ext uri="{FF2B5EF4-FFF2-40B4-BE49-F238E27FC236}">
                <a16:creationId xmlns:a16="http://schemas.microsoft.com/office/drawing/2014/main" id="{4675C39B-5291-9C4F-5FD4-1E48712FE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3C9007-B906-AF0F-8314-407080754D0A}"/>
              </a:ext>
            </a:extLst>
          </p:cNvPr>
          <p:cNvSpPr>
            <a:spLocks noGrp="1"/>
          </p:cNvSpPr>
          <p:nvPr>
            <p:ph type="sldNum" sz="quarter" idx="12"/>
          </p:nvPr>
        </p:nvSpPr>
        <p:spPr/>
        <p:txBody>
          <a:bodyPr/>
          <a:lstStyle/>
          <a:p>
            <a:fld id="{485A666C-F04B-4D3A-8838-98E343DE5FAC}" type="slidenum">
              <a:rPr lang="en-US" smtClean="0"/>
              <a:t>‹#›</a:t>
            </a:fld>
            <a:endParaRPr lang="en-US"/>
          </a:p>
        </p:txBody>
      </p:sp>
    </p:spTree>
    <p:extLst>
      <p:ext uri="{BB962C8B-B14F-4D97-AF65-F5344CB8AC3E}">
        <p14:creationId xmlns:p14="http://schemas.microsoft.com/office/powerpoint/2010/main" val="2987102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034A8-CA41-7F2A-3116-358A28AE14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598F24-742F-FE22-F754-3C15D23B16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854184-DBD9-EE31-4B9B-B0FD97B96E63}"/>
              </a:ext>
            </a:extLst>
          </p:cNvPr>
          <p:cNvSpPr>
            <a:spLocks noGrp="1"/>
          </p:cNvSpPr>
          <p:nvPr>
            <p:ph type="dt" sz="half" idx="10"/>
          </p:nvPr>
        </p:nvSpPr>
        <p:spPr/>
        <p:txBody>
          <a:bodyPr/>
          <a:lstStyle/>
          <a:p>
            <a:fld id="{14DE24D6-BBD0-43F0-8CAA-6A8704A458B1}" type="datetimeFigureOut">
              <a:rPr lang="en-US" smtClean="0"/>
              <a:t>4/21/2025</a:t>
            </a:fld>
            <a:endParaRPr lang="en-US"/>
          </a:p>
        </p:txBody>
      </p:sp>
      <p:sp>
        <p:nvSpPr>
          <p:cNvPr id="5" name="Footer Placeholder 4">
            <a:extLst>
              <a:ext uri="{FF2B5EF4-FFF2-40B4-BE49-F238E27FC236}">
                <a16:creationId xmlns:a16="http://schemas.microsoft.com/office/drawing/2014/main" id="{DF37BC15-C8DF-3B4D-5DC5-626C800684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DBE12-5B9C-6CD0-E12B-438128726CF9}"/>
              </a:ext>
            </a:extLst>
          </p:cNvPr>
          <p:cNvSpPr>
            <a:spLocks noGrp="1"/>
          </p:cNvSpPr>
          <p:nvPr>
            <p:ph type="sldNum" sz="quarter" idx="12"/>
          </p:nvPr>
        </p:nvSpPr>
        <p:spPr/>
        <p:txBody>
          <a:bodyPr/>
          <a:lstStyle/>
          <a:p>
            <a:fld id="{485A666C-F04B-4D3A-8838-98E343DE5FAC}" type="slidenum">
              <a:rPr lang="en-US" smtClean="0"/>
              <a:t>‹#›</a:t>
            </a:fld>
            <a:endParaRPr lang="en-US"/>
          </a:p>
        </p:txBody>
      </p:sp>
    </p:spTree>
    <p:extLst>
      <p:ext uri="{BB962C8B-B14F-4D97-AF65-F5344CB8AC3E}">
        <p14:creationId xmlns:p14="http://schemas.microsoft.com/office/powerpoint/2010/main" val="3306156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CAABEE-DD87-73BD-449F-57E6E719E0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5C00CD-A64D-4447-C6AC-E49F3B66C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31C360-4CA9-2526-C370-75BEC4A6FB96}"/>
              </a:ext>
            </a:extLst>
          </p:cNvPr>
          <p:cNvSpPr>
            <a:spLocks noGrp="1"/>
          </p:cNvSpPr>
          <p:nvPr>
            <p:ph type="dt" sz="half" idx="10"/>
          </p:nvPr>
        </p:nvSpPr>
        <p:spPr/>
        <p:txBody>
          <a:bodyPr/>
          <a:lstStyle/>
          <a:p>
            <a:fld id="{14DE24D6-BBD0-43F0-8CAA-6A8704A458B1}" type="datetimeFigureOut">
              <a:rPr lang="en-US" smtClean="0"/>
              <a:t>4/21/2025</a:t>
            </a:fld>
            <a:endParaRPr lang="en-US"/>
          </a:p>
        </p:txBody>
      </p:sp>
      <p:sp>
        <p:nvSpPr>
          <p:cNvPr id="5" name="Footer Placeholder 4">
            <a:extLst>
              <a:ext uri="{FF2B5EF4-FFF2-40B4-BE49-F238E27FC236}">
                <a16:creationId xmlns:a16="http://schemas.microsoft.com/office/drawing/2014/main" id="{62DDB651-C457-173E-615C-F45E5EAFDC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E3ED5F-A8EF-A2D4-1973-E06D89A1BC11}"/>
              </a:ext>
            </a:extLst>
          </p:cNvPr>
          <p:cNvSpPr>
            <a:spLocks noGrp="1"/>
          </p:cNvSpPr>
          <p:nvPr>
            <p:ph type="sldNum" sz="quarter" idx="12"/>
          </p:nvPr>
        </p:nvSpPr>
        <p:spPr/>
        <p:txBody>
          <a:bodyPr/>
          <a:lstStyle/>
          <a:p>
            <a:fld id="{485A666C-F04B-4D3A-8838-98E343DE5FAC}" type="slidenum">
              <a:rPr lang="en-US" smtClean="0"/>
              <a:t>‹#›</a:t>
            </a:fld>
            <a:endParaRPr lang="en-US"/>
          </a:p>
        </p:txBody>
      </p:sp>
    </p:spTree>
    <p:extLst>
      <p:ext uri="{BB962C8B-B14F-4D97-AF65-F5344CB8AC3E}">
        <p14:creationId xmlns:p14="http://schemas.microsoft.com/office/powerpoint/2010/main" val="3984288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2F3F97-3E81-6AFC-AF00-27395F5A80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460BB5-4DF0-4B27-A226-B01489A12A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EBA2DF-4C02-0936-357A-E9D589D5E0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DE24D6-BBD0-43F0-8CAA-6A8704A458B1}" type="datetimeFigureOut">
              <a:rPr lang="en-US" smtClean="0"/>
              <a:t>4/21/2025</a:t>
            </a:fld>
            <a:endParaRPr lang="en-US"/>
          </a:p>
        </p:txBody>
      </p:sp>
      <p:sp>
        <p:nvSpPr>
          <p:cNvPr id="5" name="Footer Placeholder 4">
            <a:extLst>
              <a:ext uri="{FF2B5EF4-FFF2-40B4-BE49-F238E27FC236}">
                <a16:creationId xmlns:a16="http://schemas.microsoft.com/office/drawing/2014/main" id="{89FCC992-81B1-9E90-6383-30D235252F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69E5933-FCDE-1698-2BE3-9C7A8D9A7E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5A666C-F04B-4D3A-8838-98E343DE5FAC}" type="slidenum">
              <a:rPr lang="en-US" smtClean="0"/>
              <a:t>‹#›</a:t>
            </a:fld>
            <a:endParaRPr lang="en-US"/>
          </a:p>
        </p:txBody>
      </p:sp>
    </p:spTree>
    <p:extLst>
      <p:ext uri="{BB962C8B-B14F-4D97-AF65-F5344CB8AC3E}">
        <p14:creationId xmlns:p14="http://schemas.microsoft.com/office/powerpoint/2010/main" val="719195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www.geeksforgeeks.org/program-for-nth-fibonacci-number/"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lgEAAPoCAABILAAAqREAABAAAAAmAAAACAAAAD0gAAD/HwAA"/>
              </a:ext>
            </a:extLst>
          </p:cNvSpPr>
          <p:nvPr>
            <p:ph type="title"/>
          </p:nvPr>
        </p:nvSpPr>
        <p:spPr>
          <a:xfrm>
            <a:off x="257810" y="483870"/>
            <a:ext cx="6940550" cy="2386965"/>
          </a:xfrm>
          <a:noFill/>
          <a:ln>
            <a:noFill/>
          </a:ln>
        </p:spPr>
        <p:txBody>
          <a:bodyPr vert="horz" wrap="square" lIns="91440" tIns="45720" rIns="91440" bIns="45720" numCol="1" spcCol="215900" anchor="ctr">
            <a:prstTxWarp prst="textNoShape">
              <a:avLst/>
            </a:prstTxWarp>
          </a:bodyPr>
          <a:lstStyle/>
          <a:p>
            <a:pPr indent="0" algn="ctr" defTabSz="914400">
              <a:lnSpc>
                <a:spcPct val="70000"/>
              </a:lnSpc>
              <a:buNone/>
              <a:tabLst/>
              <a:defRPr sz="1460" cap="none"/>
            </a:pPr>
            <a:r>
              <a:rPr lang="en-us" sz="6480" b="1" cap="none">
                <a:solidFill>
                  <a:srgbClr val="000000"/>
                </a:solidFill>
                <a:latin typeface="Calibri Light" charset="0"/>
                <a:ea typeface="Basic Roman" pitchFamily="1" charset="0"/>
                <a:cs typeface="Basic Roman" pitchFamily="1" charset="0"/>
              </a:rPr>
              <a:t>Data Structure and Algorithm</a:t>
            </a:r>
            <a:endParaRPr lang="en-us" sz="6480" cap="none">
              <a:solidFill>
                <a:srgbClr val="000000"/>
              </a:solidFill>
            </a:endParaRPr>
          </a:p>
        </p:txBody>
      </p:sp>
      <p:pic>
        <p:nvPicPr>
          <p:cNvPr id="3" name="Picture 2" descr="What is Data Structures and Algorithms? Know Data Structures and Algorithms  Skills, Career Path, Eligibility &amp; Courses | Shiksha Online"/>
          <p:cNvPicPr>
            <a:extLst>
              <a:ext uri="smNativeData">
                <pr:smNativeData xmlns:mc="http://schemas.openxmlformats.org/markup-compatibility/2006" xmlns:p14="http://schemas.microsoft.com/office/powerpoint/2010/main" xmlns:p15="http://schemas.microsoft.com/office/powerpoint/2012/main" xmlns:pr="smNativeData" xmlns="smNativeData" val="SMDATA_17_f/bDZh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HciAAD8DwAAakkAAAQpAAAQAAAAJgAAAAgAAAD//////////w=="/>
              </a:ext>
            </a:extLst>
          </p:cNvPicPr>
          <p:nvPr/>
        </p:nvPicPr>
        <p:blipFill>
          <a:blip r:embed="rId2"/>
          <a:stretch>
            <a:fillRect/>
          </a:stretch>
        </p:blipFill>
        <p:spPr>
          <a:xfrm>
            <a:off x="5602605" y="2598420"/>
            <a:ext cx="6331585" cy="4069080"/>
          </a:xfrm>
          <a:prstGeom prst="rect">
            <a:avLst/>
          </a:prstGeom>
          <a:noFill/>
          <a:ln>
            <a:noFill/>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22198-04F6-9764-DDF5-B9893E1A1149}"/>
              </a:ext>
            </a:extLst>
          </p:cNvPr>
          <p:cNvSpPr>
            <a:spLocks noGrp="1"/>
          </p:cNvSpPr>
          <p:nvPr>
            <p:ph type="ctrTitle"/>
          </p:nvPr>
        </p:nvSpPr>
        <p:spPr/>
        <p:txBody>
          <a:bodyPr/>
          <a:lstStyle/>
          <a:p>
            <a:r>
              <a:rPr lang="en-US" dirty="0"/>
              <a:t>Introduction to DSA</a:t>
            </a:r>
          </a:p>
        </p:txBody>
      </p:sp>
      <p:sp>
        <p:nvSpPr>
          <p:cNvPr id="3" name="Subtitle 2">
            <a:extLst>
              <a:ext uri="{FF2B5EF4-FFF2-40B4-BE49-F238E27FC236}">
                <a16:creationId xmlns:a16="http://schemas.microsoft.com/office/drawing/2014/main" id="{ABE866D8-BE7C-6D80-B8DD-E1B66DC9AA38}"/>
              </a:ext>
            </a:extLst>
          </p:cNvPr>
          <p:cNvSpPr>
            <a:spLocks noGrp="1"/>
          </p:cNvSpPr>
          <p:nvPr>
            <p:ph type="subTitle" idx="1"/>
          </p:nvPr>
        </p:nvSpPr>
        <p:spPr/>
        <p:txBody>
          <a:bodyPr/>
          <a:lstStyle/>
          <a:p>
            <a:r>
              <a:rPr lang="en-US" dirty="0"/>
              <a:t>Unit-1</a:t>
            </a:r>
          </a:p>
        </p:txBody>
      </p:sp>
    </p:spTree>
    <p:extLst>
      <p:ext uri="{BB962C8B-B14F-4D97-AF65-F5344CB8AC3E}">
        <p14:creationId xmlns:p14="http://schemas.microsoft.com/office/powerpoint/2010/main" val="3912622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b="1" cap="none">
                <a:solidFill>
                  <a:srgbClr val="000000"/>
                </a:solidFill>
                <a:latin typeface="Calibri Light" charset="0"/>
                <a:ea typeface="Basic Roman" pitchFamily="1" charset="0"/>
                <a:cs typeface="Basic Roman" pitchFamily="1" charset="0"/>
              </a:rPr>
              <a:t>Introduction of DS</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yUAABAAAAAmAAAACAAAAD2gAAD/HwAA"/>
              </a:ext>
            </a:extLst>
          </p:cNvSpPr>
          <p:nvPr>
            <p:ph type="body"/>
          </p:nvPr>
        </p:nvSpPr>
        <p:spPr>
          <a:xfrm>
            <a:off x="838200" y="1825625"/>
            <a:ext cx="10514965" cy="4351020"/>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770"/>
              </a:spcBef>
              <a:buClrTx/>
              <a:buFont typeface="Arial" pitchFamily="2" charset="0"/>
              <a:buChar char="•"/>
              <a:tabLst/>
              <a:defRPr sz="1385" cap="none"/>
            </a:pPr>
            <a:r>
              <a:rPr lang="en-us" sz="2155" cap="none">
                <a:solidFill>
                  <a:srgbClr val="000000"/>
                </a:solidFill>
              </a:rPr>
              <a:t>DSA stands for Data Structures and Algorithms. It is a fundamental topic in computer science that deals with the </a:t>
            </a:r>
            <a:r>
              <a:rPr lang="en-us" sz="2155" cap="none">
                <a:solidFill>
                  <a:schemeClr val="accent1"/>
                </a:solidFill>
              </a:rPr>
              <a:t>organization and manipulation of data in an efficient manner</a:t>
            </a:r>
            <a:r>
              <a:rPr lang="en-us" sz="2155" cap="none">
                <a:solidFill>
                  <a:srgbClr val="000000"/>
                </a:solidFill>
              </a:rPr>
              <a:t>.</a:t>
            </a:r>
          </a:p>
          <a:p>
            <a:pPr indent="0" defTabSz="914400">
              <a:lnSpc>
                <a:spcPct val="90000"/>
              </a:lnSpc>
              <a:spcBef>
                <a:spcPts val="770"/>
              </a:spcBef>
              <a:buNone/>
              <a:tabLst/>
              <a:defRPr sz="1385" cap="none"/>
            </a:pPr>
            <a:endParaRPr lang="en-us" sz="2155" cap="none">
              <a:solidFill>
                <a:srgbClr val="000000"/>
              </a:solidFill>
            </a:endParaRPr>
          </a:p>
          <a:p>
            <a:pPr marL="228600" indent="-228600" defTabSz="914400">
              <a:lnSpc>
                <a:spcPct val="90000"/>
              </a:lnSpc>
              <a:spcBef>
                <a:spcPts val="770"/>
              </a:spcBef>
              <a:buClrTx/>
              <a:buFont typeface="Arial" pitchFamily="2" charset="0"/>
              <a:buChar char="•"/>
              <a:tabLst/>
              <a:defRPr sz="1385" cap="none"/>
            </a:pPr>
            <a:r>
              <a:rPr lang="en-us" sz="2155" cap="none">
                <a:solidFill>
                  <a:srgbClr val="000000"/>
                </a:solidFill>
              </a:rPr>
              <a:t>Data structures refer to </a:t>
            </a:r>
            <a:r>
              <a:rPr lang="en-us" sz="2155" cap="none">
                <a:solidFill>
                  <a:srgbClr val="FF0000"/>
                </a:solidFill>
              </a:rPr>
              <a:t>the way data is organized and stored in memory</a:t>
            </a:r>
            <a:r>
              <a:rPr lang="en-us" sz="2155" cap="none">
                <a:solidFill>
                  <a:srgbClr val="000000"/>
                </a:solidFill>
              </a:rPr>
              <a:t>, while algorithms are </a:t>
            </a:r>
            <a:r>
              <a:rPr lang="en-us" sz="2155" cap="none">
                <a:solidFill>
                  <a:schemeClr val="accent4"/>
                </a:solidFill>
              </a:rPr>
              <a:t>a set of steps that are performed to solve a problem or achieve a specific task</a:t>
            </a:r>
            <a:r>
              <a:rPr lang="en-us" sz="2155" cap="none">
                <a:solidFill>
                  <a:srgbClr val="000000"/>
                </a:solidFill>
              </a:rPr>
              <a:t>.</a:t>
            </a:r>
          </a:p>
          <a:p>
            <a:pPr marL="228600" indent="-228600" defTabSz="914400">
              <a:lnSpc>
                <a:spcPct val="90000"/>
              </a:lnSpc>
              <a:spcBef>
                <a:spcPts val="770"/>
              </a:spcBef>
              <a:buClrTx/>
              <a:buFont typeface="Arial" pitchFamily="2" charset="0"/>
              <a:buChar char="•"/>
              <a:tabLst/>
              <a:defRPr sz="1385" cap="none"/>
            </a:pPr>
            <a:r>
              <a:rPr lang="en-us" sz="2155" cap="none">
                <a:solidFill>
                  <a:srgbClr val="000000"/>
                </a:solidFill>
              </a:rPr>
              <a:t>Data (e.g. studentName, studentRoll)  Structure (e.g Graphs,array,list)</a:t>
            </a:r>
          </a:p>
          <a:p>
            <a:pPr indent="0" defTabSz="914400">
              <a:lnSpc>
                <a:spcPct val="90000"/>
              </a:lnSpc>
              <a:spcBef>
                <a:spcPts val="770"/>
              </a:spcBef>
              <a:buNone/>
              <a:tabLst>
                <a:tab pos="0" algn="l"/>
              </a:tabLst>
              <a:defRPr sz="1385" cap="none"/>
            </a:pPr>
            <a:endParaRPr lang="en-us" sz="2155" cap="none">
              <a:solidFill>
                <a:srgbClr val="000000"/>
              </a:solidFill>
            </a:endParaRPr>
          </a:p>
          <a:p>
            <a:pPr marL="228600" indent="-228600" defTabSz="914400">
              <a:lnSpc>
                <a:spcPct val="90000"/>
              </a:lnSpc>
              <a:spcBef>
                <a:spcPts val="770"/>
              </a:spcBef>
              <a:buClrTx/>
              <a:buFont typeface="Arial" pitchFamily="2" charset="0"/>
              <a:buChar char="•"/>
              <a:tabLst>
                <a:tab pos="0" algn="l"/>
              </a:tabLst>
              <a:defRPr sz="1385" cap="none"/>
            </a:pPr>
            <a:r>
              <a:rPr lang="en-us" sz="2155" cap="none">
                <a:solidFill>
                  <a:srgbClr val="000000"/>
                </a:solidFill>
              </a:rPr>
              <a:t>Understanding data structures and algorithms is essential for software developers as it allows them to write efficient and scalable code. It enables programmers </a:t>
            </a:r>
            <a:r>
              <a:rPr lang="en-us" sz="2155" cap="none">
                <a:solidFill>
                  <a:schemeClr val="accent2"/>
                </a:solidFill>
              </a:rPr>
              <a:t>to optimize the performance of their applications, reduce the memory usage and improve the overall efficiency of the code.</a:t>
            </a:r>
            <a:endParaRPr lang="en-us" sz="2155" cap="none">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g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b="1" cap="none">
                <a:solidFill>
                  <a:srgbClr val="000000"/>
                </a:solidFill>
                <a:latin typeface="Calibri Light" charset="0"/>
                <a:ea typeface="Basic Roman" pitchFamily="1" charset="0"/>
                <a:cs typeface="Basic Roman" pitchFamily="1" charset="0"/>
              </a:rPr>
              <a:t>Need of DSA</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g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zSMAABAAAAAmAAAACAAAAD2gAAD/HwAA"/>
              </a:ext>
            </a:extLst>
          </p:cNvSpPr>
          <p:nvPr>
            <p:ph type="body"/>
          </p:nvPr>
        </p:nvSpPr>
        <p:spPr>
          <a:xfrm>
            <a:off x="838200" y="1825625"/>
            <a:ext cx="10514965" cy="3994150"/>
          </a:xfrm>
          <a:noFill/>
          <a:ln>
            <a:noFill/>
          </a:ln>
        </p:spPr>
        <p:txBody>
          <a:bodyPr vert="horz" wrap="square" lIns="91440" tIns="45720" rIns="91440" bIns="45720" numCol="1" spcCol="215900" anchor="t">
            <a:prstTxWarp prst="textNoShape">
              <a:avLst/>
            </a:prstTxWarp>
          </a:bodyPr>
          <a:lstStyle/>
          <a:p>
            <a:pPr marL="514350" indent="-514350" defTabSz="914400">
              <a:lnSpc>
                <a:spcPct val="90000"/>
              </a:lnSpc>
              <a:spcBef>
                <a:spcPts val="1000"/>
              </a:spcBef>
              <a:buClrTx/>
              <a:buFont typeface="Calibri Light" charset="0"/>
              <a:buAutoNum type="arabicPlain"/>
              <a:tabLst/>
            </a:pPr>
            <a:r>
              <a:rPr lang="en-us" sz="2800" cap="none">
                <a:solidFill>
                  <a:srgbClr val="000000"/>
                </a:solidFill>
              </a:rPr>
              <a:t>Efficient data storage and retrieval</a:t>
            </a:r>
          </a:p>
          <a:p>
            <a:pPr marL="514350" indent="-514350" defTabSz="914400">
              <a:lnSpc>
                <a:spcPct val="90000"/>
              </a:lnSpc>
              <a:spcBef>
                <a:spcPts val="1000"/>
              </a:spcBef>
              <a:buClrTx/>
              <a:buFont typeface="Calibri Light" charset="0"/>
              <a:buAutoNum type="arabicPlain"/>
              <a:tabLst/>
            </a:pPr>
            <a:r>
              <a:rPr lang="en-us" sz="2800" cap="none">
                <a:solidFill>
                  <a:srgbClr val="000000"/>
                </a:solidFill>
              </a:rPr>
              <a:t>Faster computation</a:t>
            </a:r>
          </a:p>
          <a:p>
            <a:pPr marL="514350" indent="-514350" defTabSz="914400">
              <a:lnSpc>
                <a:spcPct val="90000"/>
              </a:lnSpc>
              <a:spcBef>
                <a:spcPts val="1000"/>
              </a:spcBef>
              <a:buClrTx/>
              <a:buFont typeface="Calibri Light" charset="0"/>
              <a:buAutoNum type="arabicPlain"/>
              <a:tabLst/>
            </a:pPr>
            <a:r>
              <a:rPr lang="en-us" sz="2800" cap="none">
                <a:solidFill>
                  <a:srgbClr val="000000"/>
                </a:solidFill>
              </a:rPr>
              <a:t>Better memory utilization</a:t>
            </a:r>
          </a:p>
          <a:p>
            <a:pPr marL="514350" indent="-514350" defTabSz="914400">
              <a:lnSpc>
                <a:spcPct val="90000"/>
              </a:lnSpc>
              <a:spcBef>
                <a:spcPts val="1000"/>
              </a:spcBef>
              <a:buClrTx/>
              <a:buFont typeface="Calibri Light" charset="0"/>
              <a:buAutoNum type="arabicPlain"/>
              <a:tabLst/>
            </a:pPr>
            <a:r>
              <a:rPr lang="en-us" sz="2800" cap="none">
                <a:solidFill>
                  <a:srgbClr val="000000"/>
                </a:solidFill>
              </a:rPr>
              <a:t>Improved software design</a:t>
            </a:r>
          </a:p>
          <a:p>
            <a:pPr marL="514350" indent="-514350" defTabSz="914400">
              <a:lnSpc>
                <a:spcPct val="90000"/>
              </a:lnSpc>
              <a:spcBef>
                <a:spcPts val="1000"/>
              </a:spcBef>
              <a:buClrTx/>
              <a:buFont typeface="Calibri Light" charset="0"/>
              <a:buAutoNum type="arabicPlain"/>
              <a:tabLst/>
            </a:pPr>
            <a:r>
              <a:rPr lang="en-us" sz="2800" cap="none">
                <a:solidFill>
                  <a:srgbClr val="000000"/>
                </a:solidFill>
              </a:rPr>
              <a:t>Better problem-solving skills</a:t>
            </a:r>
          </a:p>
          <a:p>
            <a:pPr marL="514350" indent="-514350" defTabSz="914400">
              <a:lnSpc>
                <a:spcPct val="90000"/>
              </a:lnSpc>
              <a:spcBef>
                <a:spcPts val="1000"/>
              </a:spcBef>
              <a:buClrTx/>
              <a:buFont typeface="Calibri Light" charset="0"/>
              <a:buAutoNum type="arabicPlain"/>
              <a:tabLst/>
            </a:pPr>
            <a:r>
              <a:rPr lang="en-us" sz="2800" cap="none">
                <a:solidFill>
                  <a:srgbClr val="000000"/>
                </a:solidFill>
              </a:rPr>
              <a:t>Better performance of applications</a:t>
            </a:r>
          </a:p>
          <a:p>
            <a:pPr marL="514350" indent="-514350" defTabSz="914400">
              <a:lnSpc>
                <a:spcPct val="90000"/>
              </a:lnSpc>
              <a:spcBef>
                <a:spcPts val="1000"/>
              </a:spcBef>
              <a:buClrTx/>
              <a:buFont typeface="Calibri Light" charset="0"/>
              <a:buAutoNum type="arabicPlain"/>
              <a:tabLst/>
            </a:pPr>
            <a:r>
              <a:rPr lang="en-us" sz="2800" cap="none">
                <a:solidFill>
                  <a:srgbClr val="000000"/>
                </a:solidFill>
              </a:rPr>
              <a:t>More on Scalability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b="1" cap="none">
                <a:solidFill>
                  <a:srgbClr val="000000"/>
                </a:solidFill>
                <a:latin typeface="Calibri Light" charset="0"/>
                <a:ea typeface="Basic Roman" pitchFamily="1" charset="0"/>
                <a:cs typeface="Basic Roman" pitchFamily="1" charset="0"/>
              </a:rPr>
              <a:t>Data Structure types (Classification)</a:t>
            </a:r>
            <a:endParaRPr lang="en-us" cap="none">
              <a:solidFill>
                <a:srgbClr val="000000"/>
              </a:solidFill>
            </a:endParaRPr>
          </a:p>
        </p:txBody>
      </p:sp>
      <p:pic>
        <p:nvPicPr>
          <p:cNvPr id="3" name="Content Placeholder 4"/>
          <p:cNvPicPr>
            <a:extLst>
              <a:ext uri="smNativeData">
                <pr:smNativeData xmlns:mc="http://schemas.openxmlformats.org/markup-compatibility/2006" xmlns:p14="http://schemas.microsoft.com/office/powerpoint/2010/main" xmlns:p15="http://schemas.microsoft.com/office/powerpoint/2012/main" xmlns:pr="smNativeData" xmlns="smNativeData" val="SMDATA_17_f/bDZh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PAFAAAQCQAAKkoAAPEnAAAQAAAAJgAAAAgAAAD//////////w=="/>
              </a:ext>
            </a:extLst>
          </p:cNvPicPr>
          <p:nvPr/>
        </p:nvPicPr>
        <p:blipFill>
          <a:blip r:embed="rId2"/>
          <a:stretch>
            <a:fillRect/>
          </a:stretch>
        </p:blipFill>
        <p:spPr>
          <a:xfrm>
            <a:off x="965200" y="1473200"/>
            <a:ext cx="11090910" cy="5019675"/>
          </a:xfrm>
          <a:prstGeom prst="rect">
            <a:avLst/>
          </a:prstGeom>
          <a:noFill/>
          <a:ln>
            <a:noFill/>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hpaz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b="1" cap="none" dirty="0">
                <a:solidFill>
                  <a:srgbClr val="000000"/>
                </a:solidFill>
                <a:latin typeface="Calibri Light" charset="0"/>
                <a:ea typeface="Basic Roman" pitchFamily="1" charset="0"/>
                <a:cs typeface="Basic Roman" pitchFamily="1" charset="0"/>
              </a:rPr>
              <a:t>Data Structure types</a:t>
            </a:r>
            <a:endParaRPr lang="en-us" cap="none" dirty="0">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gy2j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EUJAADXRQAA8CcAABAAAAAmAAAACAAAAD2gAAD/HwAA"/>
              </a:ext>
            </a:extLst>
          </p:cNvSpPr>
          <p:nvPr>
            <p:ph type="body"/>
          </p:nvPr>
        </p:nvSpPr>
        <p:spPr>
          <a:xfrm>
            <a:off x="838200" y="1506855"/>
            <a:ext cx="10514965" cy="4985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200" cap="none" dirty="0"/>
              <a:t>Primitive data structures are basic data types that are built into programming languages and are used to store simple values. These data types are generally predefined by the programming language and are directly supported by the computer hardware.</a:t>
            </a:r>
          </a:p>
          <a:p>
            <a:pPr marL="228600" indent="-228600" defTabSz="914400">
              <a:lnSpc>
                <a:spcPct val="90000"/>
              </a:lnSpc>
              <a:spcBef>
                <a:spcPts val="1000"/>
              </a:spcBef>
              <a:buClrTx/>
              <a:buFont typeface="Arial" pitchFamily="2" charset="0"/>
              <a:buChar char="•"/>
              <a:tabLst/>
            </a:pPr>
            <a:r>
              <a:rPr lang="en-us" sz="2200" cap="none" dirty="0"/>
              <a:t>Non-primitive data structures are the data structures that are created using primitive data structures. Non-primitive data types are used to represent complex structures and relationships that cannot be represented using primitive data types. </a:t>
            </a:r>
          </a:p>
          <a:p>
            <a:pPr marL="228600" indent="-228600" defTabSz="914400">
              <a:lnSpc>
                <a:spcPct val="90000"/>
              </a:lnSpc>
              <a:spcBef>
                <a:spcPts val="1000"/>
              </a:spcBef>
              <a:buClrTx/>
              <a:buFont typeface="Arial" pitchFamily="2" charset="0"/>
              <a:buChar char="•"/>
              <a:tabLst/>
            </a:pPr>
            <a:r>
              <a:rPr lang="en-us" sz="2200" cap="none" dirty="0"/>
              <a:t>In linear data structures, the elements are arranged in sequence one after the other. </a:t>
            </a:r>
          </a:p>
          <a:p>
            <a:pPr marL="685800" lvl="1" indent="-228600" defTabSz="914400">
              <a:lnSpc>
                <a:spcPct val="90000"/>
              </a:lnSpc>
              <a:spcBef>
                <a:spcPts val="495"/>
              </a:spcBef>
              <a:buClrTx/>
              <a:buFont typeface="Arial" pitchFamily="2" charset="0"/>
              <a:buChar char="•"/>
              <a:tabLst/>
            </a:pPr>
            <a:r>
              <a:rPr lang="en-us" sz="2200" cap="none" dirty="0"/>
              <a:t>Linear Data types two :- 1. Static Data structure 2. Dynamic Data structure</a:t>
            </a:r>
          </a:p>
          <a:p>
            <a:pPr marL="685800" lvl="1" indent="-228600" defTabSz="914400">
              <a:lnSpc>
                <a:spcPct val="90000"/>
              </a:lnSpc>
              <a:spcBef>
                <a:spcPts val="495"/>
              </a:spcBef>
              <a:buClrTx/>
              <a:buFont typeface="Arial" pitchFamily="2" charset="0"/>
              <a:buChar char="•"/>
              <a:tabLst/>
            </a:pPr>
            <a:r>
              <a:rPr lang="en-us" sz="2200" cap="none" dirty="0"/>
              <a:t>Static data structure has a fixed memory size. It is easier to access the elements in a static data structure. </a:t>
            </a:r>
          </a:p>
          <a:p>
            <a:pPr marL="685800" lvl="1" indent="-228600" defTabSz="914400">
              <a:lnSpc>
                <a:spcPct val="90000"/>
              </a:lnSpc>
              <a:spcBef>
                <a:spcPts val="495"/>
              </a:spcBef>
              <a:buClrTx/>
              <a:buFont typeface="Arial" pitchFamily="2" charset="0"/>
              <a:buChar char="•"/>
              <a:tabLst/>
            </a:pPr>
            <a:r>
              <a:rPr lang="en-us" sz="2200" cap="none" dirty="0"/>
              <a:t>dynamic data structure, the size is not fixed. It can be randomly updated during the runtime which may be considered efficient concerning the memory (space) complexity of the code. </a:t>
            </a:r>
          </a:p>
          <a:p>
            <a:pPr marL="228600" indent="-228600" defTabSz="914400">
              <a:lnSpc>
                <a:spcPct val="90000"/>
              </a:lnSpc>
              <a:spcBef>
                <a:spcPts val="1000"/>
              </a:spcBef>
              <a:buClrTx/>
              <a:buFont typeface="Arial" pitchFamily="2" charset="0"/>
              <a:buChar char="•"/>
              <a:tabLst/>
            </a:pPr>
            <a:r>
              <a:rPr lang="en-us" sz="2200" cap="none" dirty="0"/>
              <a:t>Non-linear data structures are data structures that do not have a sequential order.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b="1" cap="none">
                <a:solidFill>
                  <a:srgbClr val="000000"/>
                </a:solidFill>
                <a:latin typeface="Calibri Light" charset="0"/>
                <a:ea typeface="Basic Roman" pitchFamily="1" charset="0"/>
                <a:cs typeface="Basic Roman" pitchFamily="1" charset="0"/>
              </a:rPr>
              <a:t>Abstract data types (ADT)</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BHiT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yUAABAAAAAmAAAACAAAAD2gAAD/HwAA"/>
              </a:ext>
            </a:extLst>
          </p:cNvSpPr>
          <p:nvPr>
            <p:ph type="body"/>
          </p:nvPr>
        </p:nvSpPr>
        <p:spPr>
          <a:xfrm>
            <a:off x="838200" y="1825625"/>
            <a:ext cx="10514965" cy="4351020"/>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770"/>
              </a:spcBef>
              <a:buClrTx/>
              <a:buFont typeface="Arial" pitchFamily="2" charset="0"/>
              <a:buChar char="•"/>
              <a:tabLst/>
              <a:defRPr sz="1385" cap="none"/>
            </a:pPr>
            <a:r>
              <a:rPr lang="en-us" sz="2155" cap="none">
                <a:solidFill>
                  <a:srgbClr val="000000"/>
                </a:solidFill>
              </a:rPr>
              <a:t>ADTs are like user defined data types which defines operation on values using function without specifying what is there inside the function and how the operations are performed</a:t>
            </a:r>
          </a:p>
          <a:p>
            <a:pPr marL="228600" indent="-228600" defTabSz="914400">
              <a:lnSpc>
                <a:spcPct val="90000"/>
              </a:lnSpc>
              <a:spcBef>
                <a:spcPts val="770"/>
              </a:spcBef>
              <a:buClrTx/>
              <a:buFont typeface="Arial" pitchFamily="2" charset="0"/>
              <a:buChar char="•"/>
              <a:tabLst/>
              <a:defRPr sz="1385" cap="none"/>
            </a:pPr>
            <a:r>
              <a:rPr lang="en-us" sz="2155" cap="none">
                <a:solidFill>
                  <a:srgbClr val="000000"/>
                </a:solidFill>
              </a:rPr>
              <a:t>An ADT is a theoretical concept that describes a set of data values and the operations that can be performed on those values.</a:t>
            </a:r>
          </a:p>
          <a:p>
            <a:pPr marL="228600" indent="-228600" defTabSz="914400">
              <a:lnSpc>
                <a:spcPct val="90000"/>
              </a:lnSpc>
              <a:spcBef>
                <a:spcPts val="770"/>
              </a:spcBef>
              <a:buClrTx/>
              <a:buFont typeface="Arial" pitchFamily="2" charset="0"/>
              <a:buChar char="•"/>
              <a:tabLst/>
              <a:defRPr sz="1385" cap="none"/>
            </a:pPr>
            <a:r>
              <a:rPr lang="en-us" sz="2155" cap="none">
                <a:solidFill>
                  <a:srgbClr val="000000"/>
                </a:solidFill>
              </a:rPr>
              <a:t>It involves </a:t>
            </a:r>
            <a:r>
              <a:rPr lang="en-us" sz="2155" b="1" cap="none">
                <a:solidFill>
                  <a:srgbClr val="000000"/>
                </a:solidFill>
              </a:rPr>
              <a:t>what</a:t>
            </a:r>
            <a:r>
              <a:rPr lang="en-us" sz="2155" cap="none">
                <a:solidFill>
                  <a:srgbClr val="000000"/>
                </a:solidFill>
              </a:rPr>
              <a:t> can be done with the data, </a:t>
            </a:r>
            <a:r>
              <a:rPr lang="en-us" sz="2155" b="1" cap="none">
                <a:solidFill>
                  <a:srgbClr val="000000"/>
                </a:solidFill>
              </a:rPr>
              <a:t>not how </a:t>
            </a:r>
            <a:r>
              <a:rPr lang="en-us" sz="2155" cap="none">
                <a:solidFill>
                  <a:srgbClr val="000000"/>
                </a:solidFill>
              </a:rPr>
              <a:t>has to be done.</a:t>
            </a:r>
          </a:p>
          <a:p>
            <a:pPr marL="228600" indent="-228600" defTabSz="914400">
              <a:lnSpc>
                <a:spcPct val="90000"/>
              </a:lnSpc>
              <a:spcBef>
                <a:spcPts val="770"/>
              </a:spcBef>
              <a:buClrTx/>
              <a:buFont typeface="Arial" pitchFamily="2" charset="0"/>
              <a:buChar char="•"/>
              <a:tabLst/>
              <a:defRPr sz="1385" cap="none"/>
            </a:pPr>
            <a:r>
              <a:rPr lang="en-us" sz="2155" cap="none">
                <a:solidFill>
                  <a:srgbClr val="000000"/>
                </a:solidFill>
              </a:rPr>
              <a:t>It is called </a:t>
            </a:r>
            <a:r>
              <a:rPr lang="en-us" sz="2155" b="1" cap="none">
                <a:solidFill>
                  <a:srgbClr val="000000"/>
                </a:solidFill>
              </a:rPr>
              <a:t>“abstract” </a:t>
            </a:r>
            <a:r>
              <a:rPr lang="en-us" sz="2155" cap="none">
                <a:solidFill>
                  <a:srgbClr val="000000"/>
                </a:solidFill>
              </a:rPr>
              <a:t>because  it </a:t>
            </a:r>
            <a:r>
              <a:rPr lang="en-us" sz="2155" b="1" cap="none">
                <a:solidFill>
                  <a:srgbClr val="000000"/>
                </a:solidFill>
              </a:rPr>
              <a:t>abstracts away (hide) </a:t>
            </a:r>
            <a:r>
              <a:rPr lang="en-us" sz="2155" cap="none">
                <a:solidFill>
                  <a:srgbClr val="000000"/>
                </a:solidFill>
              </a:rPr>
              <a:t>the implementation details and focuses </a:t>
            </a:r>
            <a:r>
              <a:rPr lang="en-us" sz="2155" b="1" cap="none">
                <a:solidFill>
                  <a:srgbClr val="000000"/>
                </a:solidFill>
              </a:rPr>
              <a:t>on what operations </a:t>
            </a:r>
            <a:r>
              <a:rPr lang="en-us" sz="2155" cap="none">
                <a:solidFill>
                  <a:srgbClr val="000000"/>
                </a:solidFill>
              </a:rPr>
              <a:t>can be performed on the data type and what properties those operations should satisfy.</a:t>
            </a:r>
          </a:p>
          <a:p>
            <a:pPr marL="228600" indent="-228600" defTabSz="914400">
              <a:lnSpc>
                <a:spcPct val="90000"/>
              </a:lnSpc>
              <a:spcBef>
                <a:spcPts val="770"/>
              </a:spcBef>
              <a:buClrTx/>
              <a:buFont typeface="Arial" pitchFamily="2" charset="0"/>
              <a:buChar char="•"/>
              <a:tabLst/>
              <a:defRPr sz="1385" cap="none"/>
            </a:pPr>
            <a:r>
              <a:rPr lang="en-us" sz="2155" cap="none">
                <a:solidFill>
                  <a:srgbClr val="000000"/>
                </a:solidFill>
              </a:rPr>
              <a:t>Think it is like “black-box”  where Developers can design and implement ADTs without worrying about how they will be used or by whom, and users can use ADTs without worrying about how they are implemented or how they work internally.</a:t>
            </a:r>
          </a:p>
          <a:p>
            <a:pPr marL="228600" indent="0" defTabSz="914400">
              <a:lnSpc>
                <a:spcPct val="90000"/>
              </a:lnSpc>
              <a:spcBef>
                <a:spcPts val="770"/>
              </a:spcBef>
              <a:buNone/>
              <a:tabLst/>
              <a:defRPr sz="1385" cap="none"/>
            </a:pPr>
            <a:r>
              <a:rPr lang="en-us" sz="2155" cap="none">
                <a:solidFill>
                  <a:srgbClr val="000000"/>
                </a:solidFill>
              </a:rPr>
              <a:t> </a:t>
            </a:r>
          </a:p>
          <a:p>
            <a:pPr indent="0" defTabSz="914400">
              <a:lnSpc>
                <a:spcPct val="90000"/>
              </a:lnSpc>
              <a:spcBef>
                <a:spcPts val="770"/>
              </a:spcBef>
              <a:buNone/>
              <a:tabLst/>
              <a:defRPr sz="1385" cap="none"/>
            </a:pPr>
            <a:endParaRPr lang="en-us" sz="2155" cap="none">
              <a:solidFill>
                <a:srgbClr val="000000"/>
              </a:solidFill>
            </a:endParaRPr>
          </a:p>
          <a:p>
            <a:pPr indent="0" defTabSz="914400">
              <a:lnSpc>
                <a:spcPct val="90000"/>
              </a:lnSpc>
              <a:spcBef>
                <a:spcPts val="770"/>
              </a:spcBef>
              <a:buNone/>
              <a:tabLst/>
              <a:defRPr sz="1385" cap="none"/>
            </a:pPr>
            <a:endParaRPr lang="en-us" sz="2155" cap="none">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AY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wUAAD8CAADaRQAAZgoAABAAAAAmAAAACAAAAL2gAAD/HwAA"/>
              </a:ext>
            </a:extLst>
          </p:cNvSpPr>
          <p:nvPr>
            <p:ph type="title"/>
          </p:nvPr>
        </p:nvSpPr>
        <p:spPr>
          <a:xfrm>
            <a:off x="840105"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b="1" cap="none">
                <a:solidFill>
                  <a:srgbClr val="000000"/>
                </a:solidFill>
                <a:latin typeface="Calibri Light" charset="0"/>
                <a:ea typeface="Basic Roman" pitchFamily="1" charset="0"/>
                <a:cs typeface="Basic Roman" pitchFamily="1" charset="0"/>
              </a:rPr>
              <a:t>Example of ADTs</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wUAAFgKAADkJAAAaQ8AABAAAAAmAAAACAAAAL2gAAD/HwAA"/>
              </a:ext>
            </a:extLst>
          </p:cNvSpPr>
          <p:nvPr>
            <p:ph type="body"/>
          </p:nvPr>
        </p:nvSpPr>
        <p:spPr>
          <a:xfrm>
            <a:off x="840105" y="1681480"/>
            <a:ext cx="5156835" cy="823595"/>
          </a:xfrm>
          <a:noFill/>
          <a:ln>
            <a:noFill/>
          </a:ln>
        </p:spPr>
        <p:txBody>
          <a:bodyPr vert="horz" wrap="square" lIns="91440" tIns="45720" rIns="91440" bIns="45720" numCol="1" spcCol="215900" anchor="b">
            <a:prstTxWarp prst="textNoShape">
              <a:avLst/>
            </a:prstTxWarp>
          </a:bodyPr>
          <a:lstStyle/>
          <a:p>
            <a:pPr indent="0" defTabSz="914400">
              <a:lnSpc>
                <a:spcPct val="90000"/>
              </a:lnSpc>
              <a:spcBef>
                <a:spcPts val="1000"/>
              </a:spcBef>
              <a:buNone/>
              <a:tabLst>
                <a:tab pos="0" algn="l"/>
              </a:tabLst>
            </a:pPr>
            <a:r>
              <a:rPr lang="en-us" sz="2400" b="1" cap="none">
                <a:solidFill>
                  <a:srgbClr val="000000"/>
                </a:solidFill>
              </a:rPr>
              <a:t>Abstract</a:t>
            </a:r>
            <a:endParaRPr lang="en-us" sz="2400" cap="none">
              <a:solidFill>
                <a:srgbClr val="000000"/>
              </a:solidFill>
            </a:endParaRPr>
          </a:p>
        </p:txBody>
      </p:sp>
      <p:sp>
        <p:nvSpPr>
          <p:cNvPr id="4" name="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CrZz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wUAAGkPAADkJAAAEyYAABAAAAAmAAAACAAAAD2gAAD/HwAA"/>
              </a:ext>
            </a:extLst>
          </p:cNvSpPr>
          <p:nvPr>
            <p:ph type="body"/>
          </p:nvPr>
        </p:nvSpPr>
        <p:spPr>
          <a:xfrm>
            <a:off x="840105" y="2505075"/>
            <a:ext cx="5156835" cy="3684270"/>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4 gb ram</a:t>
            </a:r>
          </a:p>
          <a:p>
            <a:pPr marL="228600" indent="-228600" defTabSz="914400">
              <a:lnSpc>
                <a:spcPct val="90000"/>
              </a:lnSpc>
              <a:spcBef>
                <a:spcPts val="1000"/>
              </a:spcBef>
              <a:buClrTx/>
              <a:buFont typeface="Arial" pitchFamily="2" charset="0"/>
              <a:buChar char="•"/>
              <a:tabLst/>
            </a:pPr>
            <a:r>
              <a:rPr lang="en-us" sz="2800" cap="none">
                <a:solidFill>
                  <a:srgbClr val="000000"/>
                </a:solidFill>
              </a:rPr>
              <a:t>2.5 ghz processor</a:t>
            </a:r>
          </a:p>
          <a:p>
            <a:pPr marL="228600" indent="-228600" defTabSz="914400">
              <a:lnSpc>
                <a:spcPct val="90000"/>
              </a:lnSpc>
              <a:spcBef>
                <a:spcPts val="1000"/>
              </a:spcBef>
              <a:buClrTx/>
              <a:buFont typeface="Arial" pitchFamily="2" charset="0"/>
              <a:buChar char="•"/>
              <a:tabLst/>
            </a:pPr>
            <a:r>
              <a:rPr lang="en-us" sz="2800" cap="none">
                <a:solidFill>
                  <a:srgbClr val="000000"/>
                </a:solidFill>
              </a:rPr>
              <a:t>Dual camera</a:t>
            </a:r>
          </a:p>
          <a:p>
            <a:pPr marL="228600" indent="-228600" defTabSz="914400">
              <a:lnSpc>
                <a:spcPct val="90000"/>
              </a:lnSpc>
              <a:spcBef>
                <a:spcPts val="1000"/>
              </a:spcBef>
              <a:buClrTx/>
              <a:buFont typeface="Arial" pitchFamily="2" charset="0"/>
              <a:buChar char="•"/>
              <a:tabLst/>
            </a:pPr>
            <a:r>
              <a:rPr lang="en-us" sz="2800" cap="none">
                <a:solidFill>
                  <a:srgbClr val="000000"/>
                </a:solidFill>
              </a:rPr>
              <a:t>50 mege pixel</a:t>
            </a:r>
          </a:p>
          <a:p>
            <a:pPr marL="228600" indent="-228600" defTabSz="914400">
              <a:lnSpc>
                <a:spcPct val="90000"/>
              </a:lnSpc>
              <a:spcBef>
                <a:spcPts val="1000"/>
              </a:spcBef>
              <a:buClrTx/>
              <a:buFont typeface="Arial" pitchFamily="2" charset="0"/>
              <a:buChar char="•"/>
              <a:tabLst/>
            </a:pPr>
            <a:r>
              <a:rPr lang="en-us" sz="2800" cap="none">
                <a:solidFill>
                  <a:srgbClr val="000000"/>
                </a:solidFill>
              </a:rPr>
              <a:t>5.5 inch display screen</a:t>
            </a:r>
          </a:p>
          <a:p>
            <a:pPr indent="0" defTabSz="914400">
              <a:lnSpc>
                <a:spcPct val="90000"/>
              </a:lnSpc>
              <a:spcBef>
                <a:spcPts val="1000"/>
              </a:spcBef>
              <a:buNone/>
              <a:tabLst/>
            </a:pPr>
            <a:endParaRPr lang="en-us" sz="2800" cap="none">
              <a:solidFill>
                <a:srgbClr val="000000"/>
              </a:solidFill>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a:t>
            </a:r>
            <a:r>
              <a:rPr lang="en-us" sz="2800" cap="none">
                <a:solidFill>
                  <a:srgbClr val="FF0000"/>
                </a:solidFill>
              </a:rPr>
              <a:t>What we know, show to us)</a:t>
            </a:r>
            <a:endParaRPr lang="en-us" sz="2800" cap="none">
              <a:solidFill>
                <a:srgbClr val="000000"/>
              </a:solidFill>
            </a:endParaRPr>
          </a:p>
          <a:p>
            <a:pPr indent="0" defTabSz="914400">
              <a:lnSpc>
                <a:spcPct val="90000"/>
              </a:lnSpc>
              <a:spcBef>
                <a:spcPts val="1000"/>
              </a:spcBef>
              <a:buNone/>
              <a:tabLst>
                <a:tab pos="0" algn="l"/>
              </a:tabLst>
            </a:pPr>
            <a:endParaRPr lang="en-us" sz="2800" cap="none">
              <a:solidFill>
                <a:srgbClr val="000000"/>
              </a:solidFill>
            </a:endParaRPr>
          </a:p>
        </p:txBody>
      </p:sp>
      <p:sp>
        <p:nvSpPr>
          <p:cNvPr id="5" name="PlaceHolder 4"/>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CUAAFgKAADaRQAAaQ8AABAAAAAmAAAACAAAAL2gAAD/HwAA"/>
              </a:ext>
            </a:extLst>
          </p:cNvSpPr>
          <p:nvPr>
            <p:ph type="body"/>
          </p:nvPr>
        </p:nvSpPr>
        <p:spPr>
          <a:xfrm>
            <a:off x="6172200" y="1681480"/>
            <a:ext cx="5182870" cy="823595"/>
          </a:xfrm>
          <a:noFill/>
          <a:ln>
            <a:noFill/>
          </a:ln>
        </p:spPr>
        <p:txBody>
          <a:bodyPr vert="horz" wrap="square" lIns="91440" tIns="45720" rIns="91440" bIns="45720" numCol="1" spcCol="215900" anchor="b">
            <a:prstTxWarp prst="textNoShape">
              <a:avLst/>
            </a:prstTxWarp>
          </a:bodyPr>
          <a:lstStyle/>
          <a:p>
            <a:pPr indent="0" defTabSz="914400">
              <a:lnSpc>
                <a:spcPct val="90000"/>
              </a:lnSpc>
              <a:spcBef>
                <a:spcPts val="1000"/>
              </a:spcBef>
              <a:buNone/>
              <a:tabLst>
                <a:tab pos="0" algn="l"/>
              </a:tabLst>
            </a:pPr>
            <a:r>
              <a:rPr lang="en-us" sz="2400" b="1" cap="none">
                <a:solidFill>
                  <a:srgbClr val="000000"/>
                </a:solidFill>
              </a:rPr>
              <a:t>Implementation</a:t>
            </a:r>
            <a:endParaRPr lang="en-us" sz="2400" cap="none">
              <a:solidFill>
                <a:srgbClr val="000000"/>
              </a:solidFill>
            </a:endParaRPr>
          </a:p>
        </p:txBody>
      </p:sp>
      <p:sp>
        <p:nvSpPr>
          <p:cNvPr id="6" name="PlaceHolder 5"/>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CUAAGkPAADaRQAAEyYAABAAAAAmAAAACAAAAD2gAAD/HwAA"/>
              </a:ext>
            </a:extLst>
          </p:cNvSpPr>
          <p:nvPr>
            <p:ph type="body"/>
          </p:nvPr>
        </p:nvSpPr>
        <p:spPr>
          <a:xfrm>
            <a:off x="6172200" y="2505075"/>
            <a:ext cx="5182870" cy="3684270"/>
          </a:xfrm>
          <a:noFill/>
          <a:ln>
            <a:noFill/>
          </a:ln>
        </p:spPr>
        <p:txBody>
          <a:bodyPr vert="horz" wrap="square" lIns="91440" tIns="45720" rIns="91440" bIns="45720" numCol="1" spcCol="215900" anchor="t">
            <a:prstTxWarp prst="textNoShape">
              <a:avLst/>
            </a:prstTxWarp>
          </a:bodyPr>
          <a:lstStyle/>
          <a:p>
            <a:pPr indent="0" defTabSz="914400">
              <a:lnSpc>
                <a:spcPct val="80000"/>
              </a:lnSpc>
              <a:spcBef>
                <a:spcPts val="740"/>
              </a:spcBef>
              <a:buNone/>
              <a:tabLst>
                <a:tab pos="0" algn="l"/>
              </a:tabLst>
              <a:defRPr sz="1330" cap="none"/>
            </a:pPr>
            <a:r>
              <a:rPr lang="en-us" sz="2070" cap="none">
                <a:solidFill>
                  <a:srgbClr val="000000"/>
                </a:solidFill>
              </a:rPr>
              <a:t>Class smartphones{</a:t>
            </a:r>
          </a:p>
          <a:p>
            <a:pPr indent="0" defTabSz="914400">
              <a:lnSpc>
                <a:spcPct val="80000"/>
              </a:lnSpc>
              <a:spcBef>
                <a:spcPts val="740"/>
              </a:spcBef>
              <a:buNone/>
              <a:tabLst>
                <a:tab pos="0" algn="l"/>
              </a:tabLst>
              <a:defRPr sz="1330" cap="none"/>
            </a:pPr>
            <a:r>
              <a:rPr lang="en-us" sz="2070" cap="none">
                <a:solidFill>
                  <a:srgbClr val="000000"/>
                </a:solidFill>
              </a:rPr>
              <a:t>	private:</a:t>
            </a:r>
          </a:p>
          <a:p>
            <a:pPr marL="914400" indent="0" defTabSz="914400">
              <a:lnSpc>
                <a:spcPct val="80000"/>
              </a:lnSpc>
              <a:spcBef>
                <a:spcPts val="365"/>
              </a:spcBef>
              <a:buNone/>
              <a:tabLst>
                <a:tab pos="0" algn="l"/>
              </a:tabLst>
              <a:defRPr sz="1330" cap="none"/>
            </a:pPr>
            <a:r>
              <a:rPr lang="en-us" sz="1480" cap="none">
                <a:solidFill>
                  <a:srgbClr val="000000"/>
                </a:solidFill>
              </a:rPr>
              <a:t>	int ram_size;</a:t>
            </a:r>
          </a:p>
          <a:p>
            <a:pPr marL="914400" indent="0" defTabSz="914400">
              <a:lnSpc>
                <a:spcPct val="80000"/>
              </a:lnSpc>
              <a:spcBef>
                <a:spcPts val="365"/>
              </a:spcBef>
              <a:buNone/>
              <a:tabLst>
                <a:tab pos="0" algn="l"/>
              </a:tabLst>
              <a:defRPr sz="1330" cap="none"/>
            </a:pPr>
            <a:r>
              <a:rPr lang="en-us" sz="1480" cap="none">
                <a:solidFill>
                  <a:srgbClr val="000000"/>
                </a:solidFill>
              </a:rPr>
              <a:t>	char camera_count;</a:t>
            </a:r>
          </a:p>
          <a:p>
            <a:pPr marL="914400" indent="0" defTabSz="914400">
              <a:lnSpc>
                <a:spcPct val="80000"/>
              </a:lnSpc>
              <a:spcBef>
                <a:spcPts val="365"/>
              </a:spcBef>
              <a:buNone/>
              <a:tabLst>
                <a:tab pos="0" algn="l"/>
              </a:tabLst>
              <a:defRPr sz="1330" cap="none"/>
            </a:pPr>
            <a:r>
              <a:rPr lang="en-us" sz="1480" cap="none">
                <a:solidFill>
                  <a:srgbClr val="000000"/>
                </a:solidFill>
              </a:rPr>
              <a:t>	int screen_size;</a:t>
            </a:r>
          </a:p>
          <a:p>
            <a:pPr indent="0" defTabSz="914400">
              <a:lnSpc>
                <a:spcPct val="80000"/>
              </a:lnSpc>
              <a:spcBef>
                <a:spcPts val="740"/>
              </a:spcBef>
              <a:buNone/>
              <a:tabLst>
                <a:tab pos="0" algn="l"/>
              </a:tabLst>
              <a:defRPr sz="1330" cap="none"/>
            </a:pPr>
            <a:r>
              <a:rPr lang="en-us" sz="2070" cap="none">
                <a:solidFill>
                  <a:srgbClr val="000000"/>
                </a:solidFill>
              </a:rPr>
              <a:t>	public:</a:t>
            </a:r>
          </a:p>
          <a:p>
            <a:pPr indent="0" defTabSz="914400">
              <a:lnSpc>
                <a:spcPct val="80000"/>
              </a:lnSpc>
              <a:spcBef>
                <a:spcPts val="740"/>
              </a:spcBef>
              <a:buNone/>
              <a:tabLst>
                <a:tab pos="0" algn="l"/>
              </a:tabLst>
              <a:defRPr sz="1330" cap="none"/>
            </a:pPr>
            <a:r>
              <a:rPr lang="en-us" sz="2070" cap="none">
                <a:solidFill>
                  <a:srgbClr val="000000"/>
                </a:solidFill>
              </a:rPr>
              <a:t>		call();</a:t>
            </a:r>
          </a:p>
          <a:p>
            <a:pPr indent="0" defTabSz="914400">
              <a:lnSpc>
                <a:spcPct val="80000"/>
              </a:lnSpc>
              <a:spcBef>
                <a:spcPts val="740"/>
              </a:spcBef>
              <a:buNone/>
              <a:tabLst>
                <a:tab pos="0" algn="l"/>
              </a:tabLst>
              <a:defRPr sz="1330" cap="none"/>
            </a:pPr>
            <a:r>
              <a:rPr lang="en-us" sz="2070" cap="none">
                <a:solidFill>
                  <a:srgbClr val="000000"/>
                </a:solidFill>
              </a:rPr>
              <a:t>		text();                operations</a:t>
            </a:r>
          </a:p>
          <a:p>
            <a:pPr indent="0" defTabSz="914400">
              <a:lnSpc>
                <a:spcPct val="80000"/>
              </a:lnSpc>
              <a:spcBef>
                <a:spcPts val="740"/>
              </a:spcBef>
              <a:buNone/>
              <a:tabLst>
                <a:tab pos="0" algn="l"/>
              </a:tabLst>
              <a:defRPr sz="1330" cap="none"/>
            </a:pPr>
            <a:r>
              <a:rPr lang="en-us" sz="2070" cap="none">
                <a:solidFill>
                  <a:srgbClr val="000000"/>
                </a:solidFill>
              </a:rPr>
              <a:t>		upload();</a:t>
            </a:r>
          </a:p>
          <a:p>
            <a:pPr indent="0" defTabSz="914400">
              <a:lnSpc>
                <a:spcPct val="80000"/>
              </a:lnSpc>
              <a:spcBef>
                <a:spcPts val="740"/>
              </a:spcBef>
              <a:buNone/>
              <a:tabLst>
                <a:tab pos="0" algn="l"/>
              </a:tabLst>
              <a:defRPr sz="1330" cap="none"/>
            </a:pPr>
            <a:r>
              <a:rPr lang="en-us" sz="2070" cap="none">
                <a:solidFill>
                  <a:srgbClr val="000000"/>
                </a:solidFill>
              </a:rPr>
              <a:t>}</a:t>
            </a:r>
          </a:p>
          <a:p>
            <a:pPr indent="0" defTabSz="914400">
              <a:lnSpc>
                <a:spcPct val="80000"/>
              </a:lnSpc>
              <a:spcBef>
                <a:spcPts val="740"/>
              </a:spcBef>
              <a:buNone/>
              <a:tabLst>
                <a:tab pos="0" algn="l"/>
              </a:tabLst>
              <a:defRPr sz="1330" cap="none"/>
            </a:pPr>
            <a:r>
              <a:rPr lang="en-us" sz="2070" cap="none">
                <a:solidFill>
                  <a:srgbClr val="FF0000"/>
                </a:solidFill>
              </a:rPr>
              <a:t>(Don’t know how they work, hide from us)</a:t>
            </a:r>
            <a:endParaRPr lang="en-us" sz="2070" cap="none">
              <a:solidFill>
                <a:srgbClr val="000000"/>
              </a:solidFill>
            </a:endParaRPr>
          </a:p>
        </p:txBody>
      </p:sp>
      <p:pic>
        <p:nvPicPr>
          <p:cNvPr id="7" name="Picture 2" descr="How to Draw a Phone - Really Easy Drawing Tutorial"/>
          <p:cNvPicPr>
            <a:extLst>
              <a:ext uri="smNativeData">
                <pr:smNativeData xmlns:mc="http://schemas.openxmlformats.org/markup-compatibility/2006" xmlns:p14="http://schemas.microsoft.com/office/powerpoint/2010/main" xmlns:p15="http://schemas.microsoft.com/office/powerpoint/2012/main" xmlns:pr="smNativeData" xmlns="smNativeData" val="SMDATA_17_f/bDZh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CMZAADYEAAADycAALoeAAAQAAAAJgAAAAgAAAD//////////w=="/>
              </a:ext>
            </a:extLst>
          </p:cNvPicPr>
          <p:nvPr/>
        </p:nvPicPr>
        <p:blipFill>
          <a:blip r:embed="rId2"/>
          <a:stretch>
            <a:fillRect/>
          </a:stretch>
        </p:blipFill>
        <p:spPr>
          <a:xfrm>
            <a:off x="4086225" y="2738120"/>
            <a:ext cx="2263140" cy="2256790"/>
          </a:xfrm>
          <a:prstGeom prst="rect">
            <a:avLst/>
          </a:prstGeom>
          <a:noFill/>
          <a:ln>
            <a:noFill/>
          </a:ln>
          <a:effectLst/>
        </p:spPr>
      </p:pic>
      <p:sp>
        <p:nvSpPr>
          <p:cNvPr id="8" name="Right Brace 7"/>
          <p:cNvSpPr>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gwAAAA0AAAAAjgAAAEcAAACOAAAARwAAAAAAAAABAAAAAAAAAAEAAABQAAAAZNTHVB687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8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haiT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qzgAAL4aAADKOwAA2B8AABAAAAAmAAAACAAAAP//////////"/>
              </a:ext>
            </a:extLst>
          </p:cNvSpPr>
          <p:nvPr/>
        </p:nvSpPr>
        <p:spPr>
          <a:xfrm>
            <a:off x="9211945" y="4347210"/>
            <a:ext cx="507365" cy="829310"/>
          </a:xfrm>
          <a:prstGeom prst="rightBrace">
            <a:avLst>
              <a:gd name="adj1" fmla="val 2551"/>
              <a:gd name="adj2" fmla="val 50000"/>
            </a:avLst>
          </a:prstGeom>
          <a:noFill/>
          <a:ln w="38100" cap="flat" cmpd="sng" algn="ctr">
            <a:solidFill>
              <a:srgbClr val="000000"/>
            </a:solidFill>
            <a:prstDash val="solid"/>
            <a:headEnd type="none"/>
            <a:tailEnd type="none"/>
          </a:ln>
          <a:effectLst/>
        </p:spPr>
        <p:txBody>
          <a:bodyPr vert="horz" wrap="square" lIns="90170" tIns="45085" rIns="90170" bIns="45085" numCol="1" spcCol="215900" anchor="ctr"/>
          <a:lstStyle/>
          <a:p>
            <a:pPr algn="ctr" defTabSz="914400">
              <a:lnSpc>
                <a:spcPct val="100000"/>
              </a:lnSpc>
              <a:tabLst/>
              <a:defRPr cap="none">
                <a:latin typeface="Calibri" pitchFamily="2" charset="0"/>
                <a:ea typeface="Calibri" pitchFamily="2" charset="0"/>
                <a:cs typeface="Calibri" pitchFamily="2" charset="0"/>
              </a:defRPr>
            </a:pPr>
            <a:endParaRPr lang="en-us" cap="none">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b="1" cap="none">
                <a:solidFill>
                  <a:srgbClr val="000000"/>
                </a:solidFill>
                <a:latin typeface="Calibri Light" charset="0"/>
                <a:ea typeface="Basic Roman" pitchFamily="1" charset="0"/>
                <a:cs typeface="Basic Roman" pitchFamily="1" charset="0"/>
              </a:rPr>
              <a:t>Abstract data types (ADT)</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yUAABAAAAAmAAAACAAAAD2gAAD/HwAA"/>
              </a:ext>
            </a:extLst>
          </p:cNvSpPr>
          <p:nvPr>
            <p:ph type="body"/>
          </p:nvPr>
        </p:nvSpPr>
        <p:spPr>
          <a:xfrm>
            <a:off x="838200" y="1825625"/>
            <a:ext cx="10514965" cy="4351020"/>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All data that is being processed is maintained in a data structure and its implementation must not to be known to the user. (ADTs Structure)</a:t>
            </a:r>
          </a:p>
          <a:p>
            <a:pPr marL="228600" indent="-228600" defTabSz="914400">
              <a:lnSpc>
                <a:spcPct val="90000"/>
              </a:lnSpc>
              <a:spcBef>
                <a:spcPts val="1000"/>
              </a:spcBef>
              <a:buClrTx/>
              <a:buFont typeface="Arial" pitchFamily="2" charset="0"/>
              <a:buChar char="•"/>
              <a:tabLst/>
            </a:pPr>
            <a:r>
              <a:rPr lang="en-us" sz="2800" cap="none">
                <a:solidFill>
                  <a:srgbClr val="000000"/>
                </a:solidFill>
              </a:rPr>
              <a:t>Data is inserted, deleted and updated through the application program via the interface. (ADTs Operation)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LwcAABAAAAAmAAAACAAAAL2gAAD/HwAA"/>
              </a:ext>
            </a:extLst>
          </p:cNvSpPr>
          <p:nvPr>
            <p:ph type="title"/>
          </p:nvPr>
        </p:nvSpPr>
        <p:spPr>
          <a:xfrm>
            <a:off x="838200" y="365125"/>
            <a:ext cx="10514965" cy="80264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b="1" cap="none">
                <a:solidFill>
                  <a:srgbClr val="000000"/>
                </a:solidFill>
                <a:latin typeface="Calibri Light" charset="0"/>
                <a:ea typeface="Basic Roman" pitchFamily="1" charset="0"/>
                <a:cs typeface="Basic Roman" pitchFamily="1" charset="0"/>
              </a:rPr>
              <a:t>Abstract Data types Model</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AHAADXRQAA/yUAABAAAAAmAAAACAAAAD2gAAD/HwAA"/>
              </a:ext>
            </a:extLst>
          </p:cNvSpPr>
          <p:nvPr>
            <p:ph type="body"/>
          </p:nvPr>
        </p:nvSpPr>
        <p:spPr>
          <a:xfrm>
            <a:off x="838200" y="1168400"/>
            <a:ext cx="10514965" cy="500824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abstract data type model  at level first encapsulation is performed then at second level abstraction is performed on the data structure.</a:t>
            </a:r>
          </a:p>
          <a:p>
            <a:pPr marL="228600" indent="-228600" defTabSz="914400">
              <a:lnSpc>
                <a:spcPct val="90000"/>
              </a:lnSpc>
              <a:spcBef>
                <a:spcPts val="1000"/>
              </a:spcBef>
              <a:buClrTx/>
              <a:buFont typeface="Arial" pitchFamily="2" charset="0"/>
              <a:buChar char="•"/>
              <a:tabLst/>
            </a:pPr>
            <a:r>
              <a:rPr lang="en-us" sz="2800" cap="none">
                <a:solidFill>
                  <a:srgbClr val="000000"/>
                </a:solidFill>
              </a:rPr>
              <a:t>Abstraction means hiding internal details and showing only functionality.</a:t>
            </a:r>
          </a:p>
          <a:p>
            <a:pPr marL="228600" indent="-228600" defTabSz="914400">
              <a:lnSpc>
                <a:spcPct val="90000"/>
              </a:lnSpc>
              <a:spcBef>
                <a:spcPts val="1000"/>
              </a:spcBef>
              <a:buClrTx/>
              <a:buFont typeface="Arial" pitchFamily="2" charset="0"/>
              <a:buChar char="•"/>
              <a:tabLst/>
            </a:pPr>
            <a:r>
              <a:rPr lang="en-us" sz="2800" cap="none">
                <a:solidFill>
                  <a:srgbClr val="000000"/>
                </a:solidFill>
              </a:rPr>
              <a:t>Encapsulation Combining the data and the member function in a single unit is considered encapsulation.</a:t>
            </a:r>
          </a:p>
        </p:txBody>
      </p:sp>
      <p:pic>
        <p:nvPicPr>
          <p:cNvPr id="4" name="Picture 4" descr="Abstract data type in data structure - javatpoint"/>
          <p:cNvPicPr>
            <a:extLst>
              <a:ext uri="smNativeData">
                <pr:smNativeData xmlns:mc="http://schemas.openxmlformats.org/markup-compatibility/2006" xmlns:p14="http://schemas.microsoft.com/office/powerpoint/2010/main" xmlns:p15="http://schemas.microsoft.com/office/powerpoint/2012/main" xmlns:pr="smNativeData" xmlns="smNativeData" val="SMDATA_17_f/bDZh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IAlAAClFwAAv0kAABspAAAQAAAAJgAAAAgAAAD//////////w=="/>
              </a:ext>
            </a:extLst>
          </p:cNvPicPr>
          <p:nvPr/>
        </p:nvPicPr>
        <p:blipFill>
          <a:blip r:embed="rId2"/>
          <a:stretch>
            <a:fillRect/>
          </a:stretch>
        </p:blipFill>
        <p:spPr>
          <a:xfrm>
            <a:off x="6096000" y="3843655"/>
            <a:ext cx="5892165" cy="2838450"/>
          </a:xfrm>
          <a:prstGeom prst="rect">
            <a:avLst/>
          </a:prstGeom>
          <a:noFill/>
          <a:ln>
            <a:noFill/>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b="1" cap="none">
                <a:solidFill>
                  <a:srgbClr val="000000"/>
                </a:solidFill>
                <a:latin typeface="Calibri Light" charset="0"/>
                <a:ea typeface="Basic Roman" pitchFamily="1" charset="0"/>
                <a:cs typeface="Basic Roman" pitchFamily="1" charset="0"/>
              </a:rPr>
              <a:t>Types of ADT</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4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yUAABAAAAAmAAAACAAAAD2gAAD/HwAA"/>
              </a:ext>
            </a:extLst>
          </p:cNvSpPr>
          <p:nvPr>
            <p:ph type="body"/>
          </p:nvPr>
        </p:nvSpPr>
        <p:spPr>
          <a:xfrm>
            <a:off x="838200" y="1825625"/>
            <a:ext cx="10514965" cy="4351020"/>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ADTs allow users to effectively implement complex mathematical and logical programs as they are flexible and independent of language.</a:t>
            </a:r>
          </a:p>
          <a:p>
            <a:pPr marL="514350" indent="-514350" defTabSz="914400">
              <a:lnSpc>
                <a:spcPct val="90000"/>
              </a:lnSpc>
              <a:spcBef>
                <a:spcPts val="1000"/>
              </a:spcBef>
              <a:buClrTx/>
              <a:buFont typeface="Calibri Light" charset="0"/>
              <a:buAutoNum type="arabicPlain"/>
              <a:tabLst/>
            </a:pPr>
            <a:r>
              <a:rPr lang="en-us" sz="2800" cap="none">
                <a:solidFill>
                  <a:srgbClr val="000000"/>
                </a:solidFill>
              </a:rPr>
              <a:t>List</a:t>
            </a:r>
          </a:p>
          <a:p>
            <a:pPr marL="514350" indent="-514350" defTabSz="914400">
              <a:lnSpc>
                <a:spcPct val="90000"/>
              </a:lnSpc>
              <a:spcBef>
                <a:spcPts val="1000"/>
              </a:spcBef>
              <a:buClrTx/>
              <a:buFont typeface="Calibri Light" charset="0"/>
              <a:buAutoNum type="arabicPlain"/>
              <a:tabLst/>
            </a:pPr>
            <a:r>
              <a:rPr lang="en-us" sz="2800" cap="none">
                <a:solidFill>
                  <a:srgbClr val="000000"/>
                </a:solidFill>
              </a:rPr>
              <a:t>Queue</a:t>
            </a:r>
          </a:p>
          <a:p>
            <a:pPr marL="514350" indent="-514350" defTabSz="914400">
              <a:lnSpc>
                <a:spcPct val="90000"/>
              </a:lnSpc>
              <a:spcBef>
                <a:spcPts val="1000"/>
              </a:spcBef>
              <a:buClrTx/>
              <a:buFont typeface="Calibri Light" charset="0"/>
              <a:buAutoNum type="arabicPlain"/>
              <a:tabLst/>
            </a:pPr>
            <a:r>
              <a:rPr lang="en-us" sz="2800" cap="none">
                <a:solidFill>
                  <a:srgbClr val="000000"/>
                </a:solidFill>
              </a:rPr>
              <a:t>Stack</a:t>
            </a:r>
          </a:p>
          <a:p>
            <a:pPr marL="514350" indent="-514350" defTabSz="914400">
              <a:lnSpc>
                <a:spcPct val="90000"/>
              </a:lnSpc>
              <a:spcBef>
                <a:spcPts val="1000"/>
              </a:spcBef>
              <a:buClrTx/>
              <a:buFont typeface="Calibri Light" charset="0"/>
              <a:buAutoNum type="arabicPlain"/>
              <a:tabLst/>
            </a:pPr>
            <a:r>
              <a:rPr lang="en-us" sz="2800" cap="none">
                <a:solidFill>
                  <a:srgbClr val="000000"/>
                </a:solidFill>
              </a:rPr>
              <a:t>Tree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4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cap="none">
                <a:solidFill>
                  <a:srgbClr val="000000"/>
                </a:solidFill>
                <a:latin typeface="Calibri Light" charset="0"/>
                <a:ea typeface="Basic Roman" pitchFamily="1" charset="0"/>
                <a:cs typeface="Basic Roman" pitchFamily="1" charset="0"/>
              </a:rPr>
              <a:t>Queue ADTs</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yUAABAAAAAmAAAACAAAAD2gAAD/HwAA"/>
              </a:ext>
            </a:extLst>
          </p:cNvSpPr>
          <p:nvPr>
            <p:ph type="body"/>
          </p:nvPr>
        </p:nvSpPr>
        <p:spPr>
          <a:xfrm>
            <a:off x="838200" y="1825625"/>
            <a:ext cx="10514965" cy="4351020"/>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The queue is a linear ADT which allows insertion from one end and deletion from another. As per the name, It works on the FIFO (first in, first out) principle.</a:t>
            </a:r>
          </a:p>
          <a:p>
            <a:pPr marL="228600" indent="-228600" defTabSz="914400">
              <a:lnSpc>
                <a:spcPct val="90000"/>
              </a:lnSpc>
              <a:spcBef>
                <a:spcPts val="1000"/>
              </a:spcBef>
              <a:buClrTx/>
              <a:buFont typeface="Arial" pitchFamily="2" charset="0"/>
              <a:buChar char="•"/>
              <a:tabLst/>
            </a:pPr>
            <a:r>
              <a:rPr lang="en-us" sz="2800" cap="none">
                <a:solidFill>
                  <a:srgbClr val="000000"/>
                </a:solidFill>
              </a:rPr>
              <a:t>some common operations associated with Queue ADTs</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enqueue(element): Adds an element to the back of the queue.</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dequeue(): Removes and returns the element at the front of the queue.</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peek(): Returns the element at the front of the queue without removing it.</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isEmpty(): Returns true if the queue is empty, false otherwise.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JavaScript Data Structures — Stacks, Queue | by Ravi Jaisawal | Medium"/>
          <p:cNvPicPr>
            <a:extLst>
              <a:ext uri="smNativeData">
                <pr:smNativeData xmlns:mc="http://schemas.openxmlformats.org/markup-compatibility/2006" xmlns:p14="http://schemas.microsoft.com/office/powerpoint/2010/main" xmlns:p15="http://schemas.microsoft.com/office/powerpoint/2012/main" xmlns:pr="smNativeData" xmlns="smNativeData" val="SMDATA_17_f/bDZh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BwLAABKAwAAdD0AAOYmAAAQAAAAJgAAAAgAAAD//////////w=="/>
              </a:ext>
            </a:extLst>
          </p:cNvPicPr>
          <p:nvPr/>
        </p:nvPicPr>
        <p:blipFill>
          <a:blip r:embed="rId2"/>
          <a:stretch>
            <a:fillRect/>
          </a:stretch>
        </p:blipFill>
        <p:spPr>
          <a:xfrm>
            <a:off x="1805940" y="534670"/>
            <a:ext cx="8183880" cy="5788660"/>
          </a:xfrm>
          <a:prstGeom prst="rect">
            <a:avLst/>
          </a:prstGeom>
          <a:noFill/>
          <a:ln>
            <a:noFill/>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cap="none">
                <a:solidFill>
                  <a:srgbClr val="000000"/>
                </a:solidFill>
                <a:latin typeface="Calibri Light" charset="0"/>
                <a:ea typeface="Basic Roman" pitchFamily="1" charset="0"/>
                <a:cs typeface="Basic Roman" pitchFamily="1" charset="0"/>
              </a:rPr>
              <a:t>Stack ADTs</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iB+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yUAABAAAAAmAAAACAAAAD2gAAD/HwAA"/>
              </a:ext>
            </a:extLst>
          </p:cNvSpPr>
          <p:nvPr>
            <p:ph type="body"/>
          </p:nvPr>
        </p:nvSpPr>
        <p:spPr>
          <a:xfrm>
            <a:off x="838200" y="1825625"/>
            <a:ext cx="10514965" cy="4351020"/>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A stack is a linear ADT that restricts users from inserting and deleting elements from only one end, known as the top of the stack. It uses LIFO (last in, first out) as its basic working principle. </a:t>
            </a:r>
          </a:p>
          <a:p>
            <a:pPr marL="228600" indent="-228600" defTabSz="914400">
              <a:lnSpc>
                <a:spcPct val="90000"/>
              </a:lnSpc>
              <a:spcBef>
                <a:spcPts val="1000"/>
              </a:spcBef>
              <a:buClrTx/>
              <a:buFont typeface="Arial" pitchFamily="2" charset="0"/>
              <a:buChar char="•"/>
              <a:tabLst/>
            </a:pPr>
            <a:r>
              <a:rPr lang="en-us" sz="2800" cap="none">
                <a:solidFill>
                  <a:srgbClr val="000000"/>
                </a:solidFill>
              </a:rPr>
              <a:t>some common operations associated with Stack ADTs</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push(element): Adds an element to the top of the stack.</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pop(): Removes and returns the element at the top of the stack.</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peek(): Returns the element at the top of the stack without removing it.</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isEmpty(): Returns true if the stack is empty, false otherwise.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4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cap="none">
                <a:solidFill>
                  <a:srgbClr val="000000"/>
                </a:solidFill>
                <a:latin typeface="Calibri Light" charset="0"/>
                <a:ea typeface="Basic Roman" pitchFamily="1" charset="0"/>
                <a:cs typeface="Basic Roman" pitchFamily="1" charset="0"/>
              </a:rPr>
              <a:t>List ADTs</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yUAABAAAAAmAAAACAAAAD2gAAD/HwAA"/>
              </a:ext>
            </a:extLst>
          </p:cNvSpPr>
          <p:nvPr>
            <p:ph type="body"/>
          </p:nvPr>
        </p:nvSpPr>
        <p:spPr>
          <a:xfrm>
            <a:off x="838200" y="1825625"/>
            <a:ext cx="10514965" cy="4351020"/>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The list ADT is a sequential combination of one or more than one element. Each element has its positional value and a referential pointer to the next element.</a:t>
            </a:r>
          </a:p>
          <a:p>
            <a:pPr marL="228600" indent="-228600" defTabSz="914400">
              <a:lnSpc>
                <a:spcPct val="90000"/>
              </a:lnSpc>
              <a:spcBef>
                <a:spcPts val="1000"/>
              </a:spcBef>
              <a:buClrTx/>
              <a:buFont typeface="Arial" pitchFamily="2" charset="0"/>
              <a:buChar char="•"/>
              <a:tabLst/>
            </a:pPr>
            <a:r>
              <a:rPr lang="en-us" sz="2800" cap="none">
                <a:solidFill>
                  <a:srgbClr val="000000"/>
                </a:solidFill>
              </a:rPr>
              <a:t>some common operations associated with List ADTs</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insert(element): Inserts an element into the list at a specified position.</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delete(element): Deletes the specified element from the list.</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get(index): Returns the element at the specified index in the list.</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isEmpty(): Returns true if the list is empty, false otherwise.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cap="none">
                <a:solidFill>
                  <a:srgbClr val="000000"/>
                </a:solidFill>
                <a:latin typeface="Calibri Light" charset="0"/>
                <a:ea typeface="Basic Roman" pitchFamily="1" charset="0"/>
                <a:cs typeface="Basic Roman" pitchFamily="1" charset="0"/>
              </a:rPr>
              <a:t>Tree ADTs</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yUAABAAAAAmAAAACAAAAD2gAAD/HwAA"/>
              </a:ext>
            </a:extLst>
          </p:cNvSpPr>
          <p:nvPr>
            <p:ph type="body"/>
          </p:nvPr>
        </p:nvSpPr>
        <p:spPr>
          <a:xfrm>
            <a:off x="838200" y="1825625"/>
            <a:ext cx="10514965" cy="4351020"/>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A tree is a non-linear data structure that consists of nodes connected by edges. Each node in the tree has a parent node and zero or more child nodes.</a:t>
            </a:r>
          </a:p>
          <a:p>
            <a:pPr marL="228600" indent="-228600" defTabSz="914400">
              <a:lnSpc>
                <a:spcPct val="90000"/>
              </a:lnSpc>
              <a:spcBef>
                <a:spcPts val="1000"/>
              </a:spcBef>
              <a:buClrTx/>
              <a:buFont typeface="Arial" pitchFamily="2" charset="0"/>
              <a:buChar char="•"/>
              <a:tabLst/>
            </a:pPr>
            <a:r>
              <a:rPr lang="en-us" sz="2800" cap="none">
                <a:solidFill>
                  <a:srgbClr val="000000"/>
                </a:solidFill>
              </a:rPr>
              <a:t>some common operations associated with Tree ADTs:</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insert(element): Inserts an element into the tree at the appropriate position.</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delete(element): Deletes the specified element from the tree.</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find(element): Returns true if the specified element is present in the tree, false otherwise.</a:t>
            </a:r>
          </a:p>
          <a:p>
            <a:pPr marL="685800" lvl="1" indent="-228600" defTabSz="914400">
              <a:lnSpc>
                <a:spcPct val="90000"/>
              </a:lnSpc>
              <a:spcBef>
                <a:spcPts val="495"/>
              </a:spcBef>
              <a:buClrTx/>
              <a:buFont typeface="Arial" pitchFamily="2" charset="0"/>
              <a:buChar char="•"/>
              <a:tabLst/>
            </a:pPr>
            <a:r>
              <a:rPr lang="en-us" sz="2400" cap="none">
                <a:solidFill>
                  <a:srgbClr val="000000"/>
                </a:solidFill>
              </a:rPr>
              <a:t>traverse(): Visits each node in the tree in a specific order.</a:t>
            </a:r>
          </a:p>
          <a:p>
            <a:pPr indent="0" defTabSz="914400">
              <a:lnSpc>
                <a:spcPct val="90000"/>
              </a:lnSpc>
              <a:spcBef>
                <a:spcPts val="1000"/>
              </a:spcBef>
              <a:buNone/>
              <a:tabLst/>
            </a:pPr>
            <a:endParaRPr lang="en-us" sz="2800" cap="none">
              <a:solidFill>
                <a:srgbClr val="000000"/>
              </a:solidFill>
            </a:endParaRPr>
          </a:p>
          <a:p>
            <a:pPr indent="0" defTabSz="914400">
              <a:lnSpc>
                <a:spcPct val="90000"/>
              </a:lnSpc>
              <a:spcBef>
                <a:spcPts val="1000"/>
              </a:spcBef>
              <a:buNone/>
              <a:tabLst/>
            </a:pPr>
            <a:endParaRPr lang="en-us" sz="2800" cap="none">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b="1" cap="none">
                <a:solidFill>
                  <a:srgbClr val="000000"/>
                </a:solidFill>
                <a:latin typeface="Calibri Light" charset="0"/>
                <a:ea typeface="Basic Roman" pitchFamily="1" charset="0"/>
                <a:cs typeface="Basic Roman" pitchFamily="1" charset="0"/>
              </a:rPr>
              <a:t>Scope of ADTs</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Au+x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yUAABAAAAAmAAAACAAAAD2gAAD/HwAA"/>
              </a:ext>
            </a:extLst>
          </p:cNvSpPr>
          <p:nvPr>
            <p:ph type="body"/>
          </p:nvPr>
        </p:nvSpPr>
        <p:spPr>
          <a:xfrm>
            <a:off x="838200" y="1825625"/>
            <a:ext cx="10514965" cy="4351020"/>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ADT is robust and reusable.</a:t>
            </a:r>
          </a:p>
          <a:p>
            <a:pPr marL="228600" indent="-228600" defTabSz="914400">
              <a:lnSpc>
                <a:spcPct val="90000"/>
              </a:lnSpc>
              <a:spcBef>
                <a:spcPts val="1000"/>
              </a:spcBef>
              <a:buClrTx/>
              <a:buFont typeface="Arial" pitchFamily="2" charset="0"/>
              <a:buChar char="•"/>
              <a:tabLst/>
            </a:pPr>
            <a:r>
              <a:rPr lang="en-us" sz="2800" cap="none">
                <a:solidFill>
                  <a:srgbClr val="000000"/>
                </a:solidFill>
              </a:rPr>
              <a:t>It is based on the principles of Object-Oriented Programming (OOP)</a:t>
            </a:r>
          </a:p>
          <a:p>
            <a:pPr marL="228600" indent="-228600" defTabSz="914400">
              <a:lnSpc>
                <a:spcPct val="90000"/>
              </a:lnSpc>
              <a:spcBef>
                <a:spcPts val="1000"/>
              </a:spcBef>
              <a:buClrTx/>
              <a:buFont typeface="Arial" pitchFamily="2" charset="0"/>
              <a:buChar char="•"/>
              <a:tabLst/>
            </a:pPr>
            <a:r>
              <a:rPr lang="en-us" sz="2800" cap="none">
                <a:solidFill>
                  <a:srgbClr val="000000"/>
                </a:solidFill>
              </a:rPr>
              <a:t>An ADT can be re-used at several places, and it reduces the coding efforts</a:t>
            </a:r>
          </a:p>
          <a:p>
            <a:pPr marL="228600" indent="-228600" defTabSz="914400">
              <a:lnSpc>
                <a:spcPct val="90000"/>
              </a:lnSpc>
              <a:spcBef>
                <a:spcPts val="1000"/>
              </a:spcBef>
              <a:buClrTx/>
              <a:buFont typeface="Arial" pitchFamily="2" charset="0"/>
              <a:buChar char="•"/>
              <a:tabLst/>
            </a:pPr>
            <a:r>
              <a:rPr lang="en-us" sz="2800" cap="none">
                <a:solidFill>
                  <a:srgbClr val="000000"/>
                </a:solidFill>
              </a:rPr>
              <a:t>ADT ensures a robust (Strong) data structure</a:t>
            </a:r>
          </a:p>
          <a:p>
            <a:pPr marL="228600" indent="-228600" defTabSz="914400">
              <a:lnSpc>
                <a:spcPct val="90000"/>
              </a:lnSpc>
              <a:spcBef>
                <a:spcPts val="1000"/>
              </a:spcBef>
              <a:buClrTx/>
              <a:buFont typeface="Arial" pitchFamily="2" charset="0"/>
              <a:buChar char="•"/>
              <a:tabLst/>
            </a:pPr>
            <a:r>
              <a:rPr lang="en-us" sz="2800" cap="none">
                <a:solidFill>
                  <a:srgbClr val="000000"/>
                </a:solidFill>
              </a:rPr>
              <a:t>Allows better conceptualization (clear and concise) and modelling of the real world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goAABAAAAAmAAAACAAAAL2gAAD/HwAA"/>
              </a:ext>
            </a:extLst>
          </p:cNvSpPr>
          <p:nvPr>
            <p:ph type="title"/>
          </p:nvPr>
        </p:nvSpPr>
        <p:spPr>
          <a:xfrm>
            <a:off x="838200" y="365125"/>
            <a:ext cx="10514965" cy="132524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pPr>
            <a:r>
              <a:rPr lang="en-us" b="1" cap="none">
                <a:solidFill>
                  <a:srgbClr val="000000"/>
                </a:solidFill>
                <a:latin typeface="Calibri Light" charset="0"/>
                <a:ea typeface="Basic Roman" pitchFamily="1" charset="0"/>
                <a:cs typeface="Basic Roman" pitchFamily="1" charset="0"/>
              </a:rPr>
              <a:t>Algorithm</a:t>
            </a:r>
            <a:endParaRPr lang="en-us" cap="none">
              <a:solidFill>
                <a:srgbClr val="000000"/>
              </a:solidFill>
            </a:endParaRPr>
          </a:p>
        </p:txBody>
      </p:sp>
      <p:sp>
        <p:nvSpPr>
          <p:cNvPr id="3" name="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f/bDZ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4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yUAABAAAAAmAAAACAAAAD2gAAD/HwAA"/>
              </a:ext>
            </a:extLst>
          </p:cNvSpPr>
          <p:nvPr>
            <p:ph type="body"/>
          </p:nvPr>
        </p:nvSpPr>
        <p:spPr>
          <a:xfrm>
            <a:off x="838200" y="1825625"/>
            <a:ext cx="10514965" cy="4351020"/>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730"/>
              </a:spcBef>
              <a:buClrTx/>
              <a:buFont typeface="Arial" pitchFamily="2" charset="0"/>
              <a:buChar char="•"/>
              <a:tabLst/>
              <a:defRPr sz="1315" cap="none"/>
            </a:pPr>
            <a:r>
              <a:rPr lang="en-us" sz="2045" cap="none">
                <a:solidFill>
                  <a:srgbClr val="000000"/>
                </a:solidFill>
              </a:rPr>
              <a:t>Algorithm refers to a set of instructions or rules that are followed to solve a particular problem.</a:t>
            </a:r>
          </a:p>
          <a:p>
            <a:pPr marL="228600" indent="-228600" defTabSz="914400">
              <a:lnSpc>
                <a:spcPct val="90000"/>
              </a:lnSpc>
              <a:spcBef>
                <a:spcPts val="730"/>
              </a:spcBef>
              <a:buClrTx/>
              <a:buFont typeface="Arial" pitchFamily="2" charset="0"/>
              <a:buChar char="•"/>
              <a:tabLst/>
              <a:defRPr sz="1315" cap="none"/>
            </a:pPr>
            <a:r>
              <a:rPr lang="en-us" sz="2045" cap="none">
                <a:solidFill>
                  <a:srgbClr val="000000"/>
                </a:solidFill>
              </a:rPr>
              <a:t>Algorithms are used in computer programming to solve problems by breaking them down into smaller, more manageable steps that can be executed by a computer.</a:t>
            </a:r>
          </a:p>
          <a:p>
            <a:pPr marL="228600" indent="-228600" defTabSz="914400">
              <a:lnSpc>
                <a:spcPct val="90000"/>
              </a:lnSpc>
              <a:spcBef>
                <a:spcPts val="730"/>
              </a:spcBef>
              <a:buClrTx/>
              <a:buFont typeface="Arial" pitchFamily="2" charset="0"/>
              <a:buChar char="•"/>
              <a:tabLst/>
              <a:defRPr sz="1315" cap="none"/>
            </a:pPr>
            <a:r>
              <a:rPr lang="en-us" sz="2045" cap="none">
                <a:solidFill>
                  <a:srgbClr val="000000"/>
                </a:solidFill>
              </a:rPr>
              <a:t>It may involve various operations such as mathematical computations, logical decisions, comparisons, iterations, and data manipulation to achieve the desired output. </a:t>
            </a:r>
          </a:p>
          <a:p>
            <a:pPr marL="228600" indent="-228600" algn="ctr" defTabSz="914400">
              <a:lnSpc>
                <a:spcPct val="90000"/>
              </a:lnSpc>
              <a:spcBef>
                <a:spcPts val="730"/>
              </a:spcBef>
              <a:buClrTx/>
              <a:buFont typeface="Arial" pitchFamily="2" charset="0"/>
              <a:buChar char="•"/>
              <a:tabLst/>
              <a:defRPr sz="1315" cap="none"/>
            </a:pPr>
            <a:r>
              <a:rPr lang="en-us" sz="2045" b="1" cap="none">
                <a:solidFill>
                  <a:srgbClr val="000000"/>
                </a:solidFill>
              </a:rPr>
              <a:t>Characteristics of algorithm</a:t>
            </a:r>
            <a:endParaRPr lang="en-us" sz="2045" cap="none">
              <a:solidFill>
                <a:srgbClr val="000000"/>
              </a:solidFill>
            </a:endParaRPr>
          </a:p>
          <a:p>
            <a:pPr marL="514350" indent="-514350" defTabSz="914400">
              <a:lnSpc>
                <a:spcPct val="90000"/>
              </a:lnSpc>
              <a:spcBef>
                <a:spcPts val="730"/>
              </a:spcBef>
              <a:buClrTx/>
              <a:buFont typeface="Calibri Light" charset="0"/>
              <a:buAutoNum type="arabicPlain"/>
              <a:tabLst/>
              <a:defRPr sz="1315" cap="none"/>
            </a:pPr>
            <a:r>
              <a:rPr lang="en-us" sz="2045" cap="none">
                <a:solidFill>
                  <a:srgbClr val="000000"/>
                </a:solidFill>
              </a:rPr>
              <a:t>Unambiguous (Clear)</a:t>
            </a:r>
          </a:p>
          <a:p>
            <a:pPr marL="514350" indent="-514350" defTabSz="914400">
              <a:lnSpc>
                <a:spcPct val="90000"/>
              </a:lnSpc>
              <a:spcBef>
                <a:spcPts val="730"/>
              </a:spcBef>
              <a:buClrTx/>
              <a:buFont typeface="Calibri Light" charset="0"/>
              <a:buAutoNum type="arabicPlain"/>
              <a:tabLst/>
              <a:defRPr sz="1315" cap="none"/>
            </a:pPr>
            <a:r>
              <a:rPr lang="en-us" sz="2045" cap="none">
                <a:solidFill>
                  <a:srgbClr val="000000"/>
                </a:solidFill>
              </a:rPr>
              <a:t>Input </a:t>
            </a:r>
          </a:p>
          <a:p>
            <a:pPr marL="514350" indent="-514350" defTabSz="914400">
              <a:lnSpc>
                <a:spcPct val="90000"/>
              </a:lnSpc>
              <a:spcBef>
                <a:spcPts val="730"/>
              </a:spcBef>
              <a:buClrTx/>
              <a:buFont typeface="Calibri Light" charset="0"/>
              <a:buAutoNum type="arabicPlain"/>
              <a:tabLst/>
              <a:defRPr sz="1315" cap="none"/>
            </a:pPr>
            <a:r>
              <a:rPr lang="en-us" sz="2045" cap="none">
                <a:solidFill>
                  <a:srgbClr val="000000"/>
                </a:solidFill>
              </a:rPr>
              <a:t>Output</a:t>
            </a:r>
          </a:p>
          <a:p>
            <a:pPr marL="514350" indent="-514350" defTabSz="914400">
              <a:lnSpc>
                <a:spcPct val="90000"/>
              </a:lnSpc>
              <a:spcBef>
                <a:spcPts val="730"/>
              </a:spcBef>
              <a:buClrTx/>
              <a:buFont typeface="Calibri Light" charset="0"/>
              <a:buAutoNum type="arabicPlain"/>
              <a:tabLst/>
              <a:defRPr sz="1315" cap="none"/>
            </a:pPr>
            <a:r>
              <a:rPr lang="en-us" sz="2045" cap="none">
                <a:solidFill>
                  <a:srgbClr val="000000"/>
                </a:solidFill>
              </a:rPr>
              <a:t>Effectiveness</a:t>
            </a:r>
          </a:p>
          <a:p>
            <a:pPr marL="971550" lvl="1" indent="-514350" defTabSz="914400">
              <a:lnSpc>
                <a:spcPct val="90000"/>
              </a:lnSpc>
              <a:spcBef>
                <a:spcPts val="360"/>
              </a:spcBef>
              <a:buClrTx/>
              <a:buFont typeface="Calibri Light" charset="0"/>
              <a:buAutoNum type="arabicPlain"/>
              <a:tabLst/>
              <a:defRPr sz="1315" cap="none"/>
            </a:pPr>
            <a:r>
              <a:rPr lang="en-us" sz="1750" cap="none">
                <a:solidFill>
                  <a:srgbClr val="000000"/>
                </a:solidFill>
              </a:rPr>
              <a:t>Time Complexity</a:t>
            </a:r>
          </a:p>
          <a:p>
            <a:pPr marL="971550" lvl="1" indent="-514350" defTabSz="914400">
              <a:lnSpc>
                <a:spcPct val="90000"/>
              </a:lnSpc>
              <a:spcBef>
                <a:spcPts val="360"/>
              </a:spcBef>
              <a:buClrTx/>
              <a:buFont typeface="Calibri Light" charset="0"/>
              <a:buAutoNum type="arabicPlain"/>
              <a:tabLst/>
              <a:defRPr sz="1315" cap="none"/>
            </a:pPr>
            <a:r>
              <a:rPr lang="en-us" sz="1750" cap="none">
                <a:solidFill>
                  <a:srgbClr val="000000"/>
                </a:solidFill>
              </a:rPr>
              <a:t>Space Complexity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Text Box 1">
            <a:extLst>
              <a:ext uri="{FF2B5EF4-FFF2-40B4-BE49-F238E27FC236}">
                <a16:creationId xmlns:a16="http://schemas.microsoft.com/office/drawing/2014/main" id="{77236F8E-07B0-FD6B-B2FB-60108DB7EC98}"/>
              </a:ext>
            </a:extLst>
          </p:cNvPr>
          <p:cNvSpPr txBox="1">
            <a:spLocks noChangeArrowheads="1"/>
          </p:cNvSpPr>
          <p:nvPr/>
        </p:nvSpPr>
        <p:spPr bwMode="auto">
          <a:xfrm>
            <a:off x="838200" y="365125"/>
            <a:ext cx="10514013" cy="1323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1pPr>
            <a:lvl2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9pPr>
          </a:lstStyle>
          <a:p>
            <a:pPr algn="ctr" eaLnBrk="1">
              <a:lnSpc>
                <a:spcPct val="90000"/>
              </a:lnSpc>
            </a:pPr>
            <a:r>
              <a:rPr lang="en-US" altLang="en-US" sz="4400" b="1">
                <a:solidFill>
                  <a:srgbClr val="000000"/>
                </a:solidFill>
                <a:latin typeface="Calibri Light" panose="020F0302020204030204" pitchFamily="34" charset="0"/>
              </a:rPr>
              <a:t>Algorithm Analysis</a:t>
            </a:r>
          </a:p>
        </p:txBody>
      </p:sp>
      <p:sp>
        <p:nvSpPr>
          <p:cNvPr id="52226" name="Text Box 2">
            <a:extLst>
              <a:ext uri="{FF2B5EF4-FFF2-40B4-BE49-F238E27FC236}">
                <a16:creationId xmlns:a16="http://schemas.microsoft.com/office/drawing/2014/main" id="{0450C628-8C0D-A6FC-B6EC-F2D9A4644794}"/>
              </a:ext>
            </a:extLst>
          </p:cNvPr>
          <p:cNvSpPr txBox="1">
            <a:spLocks noChangeArrowheads="1"/>
          </p:cNvSpPr>
          <p:nvPr/>
        </p:nvSpPr>
        <p:spPr bwMode="auto">
          <a:xfrm>
            <a:off x="838200" y="1825625"/>
            <a:ext cx="10514013" cy="4349750"/>
          </a:xfrm>
          <a:prstGeom prst="rect">
            <a:avLst/>
          </a:prstGeom>
          <a:noFill/>
          <a:ln>
            <a:noFill/>
          </a:ln>
          <a:effectLst/>
        </p:spPr>
        <p:txBody>
          <a:bodyPr lIns="90000" tIns="45000" rIns="90000" bIns="45000"/>
          <a:lstStyle>
            <a:lvl1pPr marL="228600" indent="-22860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1pPr>
            <a:lvl2pPr marL="685800" indent="-22860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9pPr>
          </a:lstStyle>
          <a:p>
            <a:pPr eaLnBrk="1">
              <a:lnSpc>
                <a:spcPct val="90000"/>
              </a:lnSpc>
              <a:spcBef>
                <a:spcPts val="1000"/>
              </a:spcBef>
              <a:buClr>
                <a:srgbClr val="000000"/>
              </a:buClr>
              <a:buSzPct val="100000"/>
              <a:buFont typeface="Arial" panose="020B0604020202020204" pitchFamily="34" charset="0"/>
              <a:buChar char="•"/>
              <a:defRPr/>
            </a:pPr>
            <a:r>
              <a:rPr lang="en-US" altLang="en-US" sz="2800">
                <a:latin typeface="Calibri" panose="020F0502020204030204" pitchFamily="34" charset="0"/>
              </a:rPr>
              <a:t>Asymptotic analysis is a powerful tool for comparing the performance of different algorithms.</a:t>
            </a:r>
          </a:p>
          <a:p>
            <a:pPr eaLnBrk="1">
              <a:lnSpc>
                <a:spcPct val="90000"/>
              </a:lnSpc>
              <a:spcBef>
                <a:spcPts val="1000"/>
              </a:spcBef>
              <a:buClr>
                <a:srgbClr val="000000"/>
              </a:buClr>
              <a:buSzPct val="100000"/>
              <a:buFont typeface="Arial" panose="020B0604020202020204" pitchFamily="34" charset="0"/>
              <a:buChar char="•"/>
              <a:defRPr/>
            </a:pPr>
            <a:r>
              <a:rPr lang="en-US" altLang="en-US" sz="2800">
                <a:latin typeface="Calibri" panose="020F0502020204030204" pitchFamily="34" charset="0"/>
              </a:rPr>
              <a:t>To analyze the algorithm we have two level :-</a:t>
            </a:r>
          </a:p>
          <a:p>
            <a:pPr marL="514350" indent="-514350" eaLnBrk="1">
              <a:lnSpc>
                <a:spcPct val="90000"/>
              </a:lnSpc>
              <a:spcBef>
                <a:spcPts val="1000"/>
              </a:spcBef>
              <a:buClr>
                <a:srgbClr val="000000"/>
              </a:buClr>
              <a:buSzPct val="100000"/>
              <a:buFont typeface="StarSymbol" charset="0"/>
              <a:buAutoNum type="arabicPeriod"/>
              <a:defRPr/>
            </a:pPr>
            <a:r>
              <a:rPr lang="en-US" altLang="en-US" sz="2800">
                <a:latin typeface="Calibri" panose="020F0502020204030204" pitchFamily="34" charset="0"/>
              </a:rPr>
              <a:t>Prior Analysis</a:t>
            </a:r>
          </a:p>
          <a:p>
            <a:pPr lvl="1" eaLnBrk="1">
              <a:lnSpc>
                <a:spcPct val="90000"/>
              </a:lnSpc>
              <a:spcBef>
                <a:spcPts val="500"/>
              </a:spcBef>
              <a:buClr>
                <a:srgbClr val="000000"/>
              </a:buClr>
              <a:buSzPct val="100000"/>
              <a:buFont typeface="Arial" panose="020B0604020202020204" pitchFamily="34" charset="0"/>
              <a:buChar char="•"/>
              <a:defRPr/>
            </a:pPr>
            <a:r>
              <a:rPr lang="en-US" altLang="en-US" sz="2400">
                <a:latin typeface="Calibri" panose="020F0502020204030204" pitchFamily="34" charset="0"/>
              </a:rPr>
              <a:t>Prior algorithm analysis is useful for comparing the performance of different algorithms in a theoretical sense. </a:t>
            </a:r>
          </a:p>
          <a:p>
            <a:pPr eaLnBrk="1">
              <a:lnSpc>
                <a:spcPct val="90000"/>
              </a:lnSpc>
              <a:spcBef>
                <a:spcPts val="1000"/>
              </a:spcBef>
              <a:defRPr/>
            </a:pPr>
            <a:r>
              <a:rPr lang="en-US" altLang="en-US" sz="2800">
                <a:latin typeface="Calibri" panose="020F0502020204030204" pitchFamily="34" charset="0"/>
              </a:rPr>
              <a:t>2.   Posterior Analysis</a:t>
            </a:r>
          </a:p>
          <a:p>
            <a:pPr lvl="1" eaLnBrk="1">
              <a:lnSpc>
                <a:spcPct val="90000"/>
              </a:lnSpc>
              <a:spcBef>
                <a:spcPts val="500"/>
              </a:spcBef>
              <a:buClr>
                <a:srgbClr val="000000"/>
              </a:buClr>
              <a:buSzPct val="100000"/>
              <a:buFont typeface="Arial" panose="020B0604020202020204" pitchFamily="34" charset="0"/>
              <a:buChar char="•"/>
              <a:defRPr/>
            </a:pPr>
            <a:r>
              <a:rPr lang="en-US" altLang="en-US" sz="2400">
                <a:latin typeface="Calibri" panose="020F0502020204030204" pitchFamily="34" charset="0"/>
              </a:rPr>
              <a:t>Posterior algorithm analysis is the analysis of an algorithm based on its actual performance, as measured on a specific implementation.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Text Box 1">
            <a:extLst>
              <a:ext uri="{FF2B5EF4-FFF2-40B4-BE49-F238E27FC236}">
                <a16:creationId xmlns:a16="http://schemas.microsoft.com/office/drawing/2014/main" id="{6517A2F3-B6FB-608B-5109-C2EDEB5D4115}"/>
              </a:ext>
            </a:extLst>
          </p:cNvPr>
          <p:cNvSpPr txBox="1">
            <a:spLocks noChangeArrowheads="1"/>
          </p:cNvSpPr>
          <p:nvPr/>
        </p:nvSpPr>
        <p:spPr bwMode="auto">
          <a:xfrm>
            <a:off x="838200" y="365125"/>
            <a:ext cx="10514013" cy="1323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1pPr>
            <a:lvl2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9pPr>
          </a:lstStyle>
          <a:p>
            <a:pPr algn="ctr" eaLnBrk="1">
              <a:lnSpc>
                <a:spcPct val="90000"/>
              </a:lnSpc>
            </a:pPr>
            <a:r>
              <a:rPr lang="en-US" altLang="en-US" sz="4400" b="1">
                <a:solidFill>
                  <a:srgbClr val="000000"/>
                </a:solidFill>
                <a:latin typeface="Calibri Light" panose="020F0302020204030204" pitchFamily="34" charset="0"/>
              </a:rPr>
              <a:t>Algorithm Analysis</a:t>
            </a:r>
          </a:p>
        </p:txBody>
      </p:sp>
      <p:sp>
        <p:nvSpPr>
          <p:cNvPr id="460803" name="Text Box 2">
            <a:extLst>
              <a:ext uri="{FF2B5EF4-FFF2-40B4-BE49-F238E27FC236}">
                <a16:creationId xmlns:a16="http://schemas.microsoft.com/office/drawing/2014/main" id="{B661BB42-5EEA-8C94-E29A-BA0FF7E2F7E7}"/>
              </a:ext>
            </a:extLst>
          </p:cNvPr>
          <p:cNvSpPr txBox="1">
            <a:spLocks noChangeArrowheads="1"/>
          </p:cNvSpPr>
          <p:nvPr/>
        </p:nvSpPr>
        <p:spPr bwMode="auto">
          <a:xfrm>
            <a:off x="838200" y="1825625"/>
            <a:ext cx="10514013" cy="434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234950" indent="-234950">
              <a:lnSpc>
                <a:spcPct val="93000"/>
              </a:lnSpc>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1pPr>
            <a:lvl2pPr marL="708025" indent="-234950">
              <a:lnSpc>
                <a:spcPct val="93000"/>
              </a:lnSpc>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9pPr>
          </a:lstStyle>
          <a:p>
            <a:pPr eaLnBrk="1">
              <a:lnSpc>
                <a:spcPct val="90000"/>
              </a:lnSpc>
              <a:spcBef>
                <a:spcPts val="1000"/>
              </a:spcBef>
              <a:buFont typeface="Arial" panose="020B0604020202020204" pitchFamily="34" charset="0"/>
              <a:buChar char="•"/>
            </a:pPr>
            <a:r>
              <a:rPr lang="en-US" altLang="en-US" sz="2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Best Case</a:t>
            </a:r>
          </a:p>
          <a:p>
            <a:pPr lvl="1" eaLnBrk="1">
              <a:lnSpc>
                <a:spcPct val="90000"/>
              </a:lnSpc>
              <a:spcBef>
                <a:spcPts val="500"/>
              </a:spcBef>
              <a:buFont typeface="Arial" panose="020B0604020202020204" pitchFamily="34" charset="0"/>
              <a:buChar char="•"/>
            </a:pPr>
            <a:r>
              <a:rPr lang="en-US" altLang="en-US" sz="2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The best case of an algorithm refers to the scenario in which the algorithm performs optimally, achieving the lowest possible time  complexity for a given input size.</a:t>
            </a:r>
          </a:p>
          <a:p>
            <a:pPr eaLnBrk="1">
              <a:lnSpc>
                <a:spcPct val="90000"/>
              </a:lnSpc>
              <a:spcBef>
                <a:spcPts val="1000"/>
              </a:spcBef>
              <a:buFont typeface="Arial" panose="020B0604020202020204" pitchFamily="34" charset="0"/>
              <a:buChar char="•"/>
            </a:pPr>
            <a:r>
              <a:rPr lang="en-US" altLang="en-US" sz="2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Average Case</a:t>
            </a:r>
          </a:p>
          <a:p>
            <a:pPr lvl="1" eaLnBrk="1">
              <a:lnSpc>
                <a:spcPct val="90000"/>
              </a:lnSpc>
              <a:spcBef>
                <a:spcPts val="500"/>
              </a:spcBef>
              <a:buFont typeface="Arial" panose="020B0604020202020204" pitchFamily="34" charset="0"/>
              <a:buChar char="•"/>
            </a:pPr>
            <a:r>
              <a:rPr lang="en-US" altLang="en-US" sz="2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The average case of an algorithm refers to the scenario in which the algorithm's performance is analyzed based on the statistical average of all possible inputs of a given size. </a:t>
            </a:r>
          </a:p>
          <a:p>
            <a:pPr eaLnBrk="1">
              <a:lnSpc>
                <a:spcPct val="90000"/>
              </a:lnSpc>
              <a:spcBef>
                <a:spcPts val="1000"/>
              </a:spcBef>
              <a:buFont typeface="Arial" panose="020B0604020202020204" pitchFamily="34" charset="0"/>
              <a:buChar char="•"/>
            </a:pPr>
            <a:r>
              <a:rPr lang="en-US" altLang="en-US" sz="2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Worst Case</a:t>
            </a:r>
          </a:p>
          <a:p>
            <a:pPr lvl="1" eaLnBrk="1">
              <a:lnSpc>
                <a:spcPct val="90000"/>
              </a:lnSpc>
              <a:spcBef>
                <a:spcPts val="500"/>
              </a:spcBef>
              <a:buFont typeface="Arial" panose="020B0604020202020204" pitchFamily="34" charset="0"/>
              <a:buChar char="•"/>
            </a:pPr>
            <a:r>
              <a:rPr lang="en-US" altLang="en-US" sz="2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The worst case of an algorithm refers to the scenario in which the algorithm performs the least efficiently, achieving the highest possible time  complexity for a given input size.</a:t>
            </a:r>
          </a:p>
          <a:p>
            <a:pPr lvl="1" eaLnBrk="1">
              <a:lnSpc>
                <a:spcPct val="90000"/>
              </a:lnSpc>
              <a:spcBef>
                <a:spcPts val="500"/>
              </a:spcBef>
              <a:buFont typeface="Arial" panose="020B0604020202020204" pitchFamily="34" charset="0"/>
              <a:buChar char="•"/>
            </a:pPr>
            <a:r>
              <a:rPr lang="en-US" altLang="en-US" sz="2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e.g. Linear search (class)</a:t>
            </a:r>
          </a:p>
          <a:p>
            <a:pPr eaLnBrk="1">
              <a:lnSpc>
                <a:spcPct val="90000"/>
              </a:lnSpc>
              <a:spcBef>
                <a:spcPts val="500"/>
              </a:spcBef>
              <a:buClrTx/>
              <a:buSzTx/>
              <a:buFontTx/>
              <a:buNone/>
            </a:pPr>
            <a:endParaRPr lang="en-US" altLang="en-US" sz="2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2850" name="Picture 1">
            <a:extLst>
              <a:ext uri="{FF2B5EF4-FFF2-40B4-BE49-F238E27FC236}">
                <a16:creationId xmlns:a16="http://schemas.microsoft.com/office/drawing/2014/main" id="{41DC2B5E-BC78-F2DF-861B-A2A87B36ED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6225" y="9525"/>
            <a:ext cx="9144000" cy="6858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Text Box 1">
            <a:extLst>
              <a:ext uri="{FF2B5EF4-FFF2-40B4-BE49-F238E27FC236}">
                <a16:creationId xmlns:a16="http://schemas.microsoft.com/office/drawing/2014/main" id="{691A44D1-9293-D01B-74B2-8810C231B7E6}"/>
              </a:ext>
            </a:extLst>
          </p:cNvPr>
          <p:cNvSpPr txBox="1">
            <a:spLocks noChangeArrowheads="1"/>
          </p:cNvSpPr>
          <p:nvPr/>
        </p:nvSpPr>
        <p:spPr bwMode="auto">
          <a:xfrm>
            <a:off x="838200" y="365125"/>
            <a:ext cx="10514013" cy="1323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1pPr>
            <a:lvl2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9pPr>
          </a:lstStyle>
          <a:p>
            <a:pPr algn="ctr" eaLnBrk="1">
              <a:lnSpc>
                <a:spcPct val="90000"/>
              </a:lnSpc>
            </a:pPr>
            <a:r>
              <a:rPr lang="en-US" altLang="en-US" sz="4400" b="1">
                <a:solidFill>
                  <a:srgbClr val="000000"/>
                </a:solidFill>
                <a:latin typeface="Calibri Light" panose="020F0302020204030204" pitchFamily="34" charset="0"/>
              </a:rPr>
              <a:t>Rate of Growth</a:t>
            </a:r>
          </a:p>
        </p:txBody>
      </p:sp>
      <p:sp>
        <p:nvSpPr>
          <p:cNvPr id="55298" name="Text Box 2">
            <a:extLst>
              <a:ext uri="{FF2B5EF4-FFF2-40B4-BE49-F238E27FC236}">
                <a16:creationId xmlns:a16="http://schemas.microsoft.com/office/drawing/2014/main" id="{4D3C09EC-01A9-2984-82C0-40F2CAD90B6C}"/>
              </a:ext>
            </a:extLst>
          </p:cNvPr>
          <p:cNvSpPr txBox="1">
            <a:spLocks noChangeArrowheads="1"/>
          </p:cNvSpPr>
          <p:nvPr/>
        </p:nvSpPr>
        <p:spPr bwMode="auto">
          <a:xfrm>
            <a:off x="838200" y="1690688"/>
            <a:ext cx="10514013" cy="4484687"/>
          </a:xfrm>
          <a:prstGeom prst="rect">
            <a:avLst/>
          </a:prstGeom>
          <a:noFill/>
          <a:ln>
            <a:noFill/>
          </a:ln>
          <a:effectLst/>
        </p:spPr>
        <p:txBody>
          <a:bodyPr lIns="90000" tIns="45000" rIns="90000" bIns="45000"/>
          <a:lstStyle>
            <a:lvl1pPr marL="174625" indent="-174625">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1pPr>
            <a:lvl2pPr marL="665163" indent="-249238">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9pPr>
          </a:lstStyle>
          <a:p>
            <a:pPr eaLnBrk="1">
              <a:lnSpc>
                <a:spcPct val="90000"/>
              </a:lnSpc>
              <a:spcBef>
                <a:spcPts val="1000"/>
              </a:spcBef>
              <a:buClr>
                <a:srgbClr val="000000"/>
              </a:buClr>
              <a:buSzPct val="100000"/>
              <a:buFont typeface="Arial" panose="020B0604020202020204" pitchFamily="34" charset="0"/>
              <a:buChar char="•"/>
              <a:defRPr/>
            </a:pPr>
            <a:r>
              <a:rPr lang="en-US" altLang="en-US" sz="2000" dirty="0">
                <a:latin typeface="Times New Roman" panose="02020603050405020304" pitchFamily="18" charset="0"/>
                <a:ea typeface="Tahoma" panose="020B0604030504040204" pitchFamily="34" charset="0"/>
                <a:cs typeface="Times New Roman" panose="02020603050405020304" pitchFamily="18" charset="0"/>
              </a:rPr>
              <a:t>The most important resource to analyze is generally the running time. Several factors affect the running time of a program.</a:t>
            </a:r>
          </a:p>
          <a:p>
            <a:pPr eaLnBrk="1">
              <a:lnSpc>
                <a:spcPct val="90000"/>
              </a:lnSpc>
              <a:spcBef>
                <a:spcPts val="1000"/>
              </a:spcBef>
              <a:buClr>
                <a:srgbClr val="000000"/>
              </a:buClr>
              <a:buSzPct val="100000"/>
              <a:buFont typeface="Arial" panose="020B0604020202020204" pitchFamily="34" charset="0"/>
              <a:buChar char="•"/>
              <a:defRPr/>
            </a:pPr>
            <a:r>
              <a:rPr lang="en-US" altLang="en-US" sz="2000" b="1" dirty="0">
                <a:latin typeface="Times New Roman" panose="02020603050405020304" pitchFamily="18" charset="0"/>
                <a:ea typeface="Tahoma" panose="020B0604030504040204" pitchFamily="34" charset="0"/>
                <a:cs typeface="Times New Roman" panose="02020603050405020304" pitchFamily="18" charset="0"/>
              </a:rPr>
              <a:t>What is Running Time Analysis?</a:t>
            </a:r>
          </a:p>
          <a:p>
            <a:pPr eaLnBrk="1">
              <a:lnSpc>
                <a:spcPct val="90000"/>
              </a:lnSpc>
              <a:spcBef>
                <a:spcPts val="1000"/>
              </a:spcBef>
              <a:buClr>
                <a:srgbClr val="000000"/>
              </a:buClr>
              <a:buSzPct val="100000"/>
              <a:buFont typeface="Arial" panose="020B0604020202020204" pitchFamily="34" charset="0"/>
              <a:buChar char="•"/>
              <a:defRPr/>
            </a:pPr>
            <a:r>
              <a:rPr lang="en-US" altLang="en-US" sz="2000" dirty="0">
                <a:latin typeface="Times New Roman" panose="02020603050405020304" pitchFamily="18" charset="0"/>
                <a:ea typeface="Tahoma" panose="020B0604030504040204" pitchFamily="34" charset="0"/>
                <a:cs typeface="Times New Roman" panose="02020603050405020304" pitchFamily="18" charset="0"/>
              </a:rPr>
              <a:t>It is the </a:t>
            </a:r>
            <a:r>
              <a:rPr lang="en-US" altLang="en-US" sz="2000" b="1" dirty="0">
                <a:latin typeface="Times New Roman" panose="02020603050405020304" pitchFamily="18" charset="0"/>
                <a:ea typeface="Tahoma" panose="020B0604030504040204" pitchFamily="34" charset="0"/>
                <a:cs typeface="Times New Roman" panose="02020603050405020304" pitchFamily="18" charset="0"/>
              </a:rPr>
              <a:t>processing time vs the size of the input. </a:t>
            </a:r>
            <a:r>
              <a:rPr lang="en-US" altLang="en-US" sz="2000" dirty="0">
                <a:latin typeface="Times New Roman" panose="02020603050405020304" pitchFamily="18" charset="0"/>
                <a:ea typeface="Tahoma" panose="020B0604030504040204" pitchFamily="34" charset="0"/>
                <a:cs typeface="Times New Roman" panose="02020603050405020304" pitchFamily="18" charset="0"/>
              </a:rPr>
              <a:t>The input may be of different types based on problems. Commons inputs are</a:t>
            </a:r>
          </a:p>
          <a:p>
            <a:pPr lvl="1" eaLnBrk="1">
              <a:lnSpc>
                <a:spcPct val="90000"/>
              </a:lnSpc>
              <a:spcBef>
                <a:spcPts val="1138"/>
              </a:spcBef>
              <a:buClr>
                <a:srgbClr val="000000"/>
              </a:buClr>
              <a:buSzPct val="75000"/>
              <a:buFont typeface="Symbol" panose="05050102010706020507" pitchFamily="18" charset="2"/>
              <a:buChar char=""/>
              <a:defRPr/>
            </a:pPr>
            <a:r>
              <a:rPr lang="en-US" altLang="en-US" sz="2000" dirty="0">
                <a:latin typeface="Times New Roman" panose="02020603050405020304" pitchFamily="18" charset="0"/>
                <a:ea typeface="Tahoma" panose="020B0604030504040204" pitchFamily="34" charset="0"/>
                <a:cs typeface="Times New Roman" panose="02020603050405020304" pitchFamily="18" charset="0"/>
              </a:rPr>
              <a:t>Size of array</a:t>
            </a:r>
          </a:p>
          <a:p>
            <a:pPr lvl="1" eaLnBrk="1">
              <a:lnSpc>
                <a:spcPct val="90000"/>
              </a:lnSpc>
              <a:spcBef>
                <a:spcPts val="1138"/>
              </a:spcBef>
              <a:buClr>
                <a:srgbClr val="000000"/>
              </a:buClr>
              <a:buSzPct val="75000"/>
              <a:buFont typeface="Symbol" panose="05050102010706020507" pitchFamily="18" charset="2"/>
              <a:buChar char=""/>
              <a:defRPr/>
            </a:pPr>
            <a:r>
              <a:rPr lang="en-US" altLang="en-US" sz="2000" dirty="0">
                <a:latin typeface="Times New Roman" panose="02020603050405020304" pitchFamily="18" charset="0"/>
                <a:ea typeface="Tahoma" panose="020B0604030504040204" pitchFamily="34" charset="0"/>
                <a:cs typeface="Times New Roman" panose="02020603050405020304" pitchFamily="18" charset="0"/>
              </a:rPr>
              <a:t>Number of elements in a matrix</a:t>
            </a:r>
          </a:p>
          <a:p>
            <a:pPr eaLnBrk="1">
              <a:lnSpc>
                <a:spcPct val="90000"/>
              </a:lnSpc>
              <a:spcBef>
                <a:spcPts val="1000"/>
              </a:spcBef>
              <a:buClr>
                <a:srgbClr val="000000"/>
              </a:buClr>
              <a:buSzPct val="100000"/>
              <a:buFont typeface="Arial" panose="020B0604020202020204" pitchFamily="34" charset="0"/>
              <a:buChar char="•"/>
              <a:defRPr/>
            </a:pPr>
            <a:r>
              <a:rPr lang="en-US" altLang="en-US" sz="2000" b="1" dirty="0">
                <a:latin typeface="Times New Roman" panose="02020603050405020304" pitchFamily="18" charset="0"/>
                <a:ea typeface="Tahoma" panose="020B0604030504040204" pitchFamily="34" charset="0"/>
                <a:cs typeface="Times New Roman" panose="02020603050405020304" pitchFamily="18" charset="0"/>
              </a:rPr>
              <a:t>Asymptotic analysis </a:t>
            </a:r>
            <a:r>
              <a:rPr lang="en-US" altLang="en-US" sz="2000" dirty="0">
                <a:latin typeface="Times New Roman" panose="02020603050405020304" pitchFamily="18" charset="0"/>
                <a:ea typeface="Tahoma" panose="020B0604030504040204" pitchFamily="34" charset="0"/>
                <a:cs typeface="Times New Roman" panose="02020603050405020304" pitchFamily="18" charset="0"/>
              </a:rPr>
              <a:t>is important mathematical tool in algorithm analysis. It involves analyzing the behavior of a function as the input size approaches infinity. </a:t>
            </a:r>
          </a:p>
          <a:p>
            <a:pPr eaLnBrk="1">
              <a:lnSpc>
                <a:spcPct val="90000"/>
              </a:lnSpc>
              <a:spcBef>
                <a:spcPts val="1000"/>
              </a:spcBef>
              <a:buClr>
                <a:srgbClr val="000000"/>
              </a:buClr>
              <a:buSzPct val="100000"/>
              <a:buFont typeface="Arial" panose="020B0604020202020204" pitchFamily="34" charset="0"/>
              <a:buChar char="•"/>
              <a:defRPr/>
            </a:pPr>
            <a:r>
              <a:rPr lang="en-US" altLang="en-US" sz="2000" dirty="0">
                <a:latin typeface="Times New Roman" panose="02020603050405020304" pitchFamily="18" charset="0"/>
                <a:ea typeface="Tahoma" panose="020B0604030504040204" pitchFamily="34" charset="0"/>
                <a:cs typeface="Times New Roman" panose="02020603050405020304" pitchFamily="18" charset="0"/>
              </a:rPr>
              <a:t>In Asymptotic Analysis, we evaluate the performance of an algorithm in terms of input size.</a:t>
            </a:r>
          </a:p>
          <a:p>
            <a:pPr eaLnBrk="1">
              <a:lnSpc>
                <a:spcPct val="90000"/>
              </a:lnSpc>
              <a:spcBef>
                <a:spcPts val="1000"/>
              </a:spcBef>
              <a:buClr>
                <a:srgbClr val="000000"/>
              </a:buClr>
              <a:buSzPct val="100000"/>
              <a:buFont typeface="Arial" panose="020B0604020202020204" pitchFamily="34" charset="0"/>
              <a:buChar char="•"/>
              <a:defRPr/>
            </a:pPr>
            <a:r>
              <a:rPr lang="en-US" altLang="en-US" sz="2000" dirty="0">
                <a:latin typeface="Times New Roman" panose="02020603050405020304" pitchFamily="18" charset="0"/>
                <a:ea typeface="Tahoma" panose="020B0604030504040204" pitchFamily="34" charset="0"/>
                <a:cs typeface="Times New Roman" panose="02020603050405020304" pitchFamily="18" charset="0"/>
              </a:rPr>
              <a:t>We calculate, how the time  taken by an algorithm increases with the input size.</a:t>
            </a:r>
          </a:p>
          <a:p>
            <a:pPr marL="176213" indent="0" eaLnBrk="1">
              <a:lnSpc>
                <a:spcPct val="90000"/>
              </a:lnSpc>
              <a:spcBef>
                <a:spcPts val="1000"/>
              </a:spcBef>
              <a:defRPr/>
            </a:pPr>
            <a:r>
              <a:rPr lang="en-US" altLang="en-US" sz="2000" dirty="0">
                <a:latin typeface="Times New Roman" panose="02020603050405020304" pitchFamily="18" charset="0"/>
                <a:ea typeface="Tahoma" panose="020B0604030504040204" pitchFamily="34" charset="0"/>
                <a:cs typeface="Times New Roman" panose="02020603050405020304" pitchFamily="18" charset="0"/>
              </a:rPr>
              <a:t> </a:t>
            </a:r>
          </a:p>
          <a:p>
            <a:pPr marL="176213" indent="0" eaLnBrk="1">
              <a:lnSpc>
                <a:spcPct val="90000"/>
              </a:lnSpc>
              <a:spcBef>
                <a:spcPts val="1000"/>
              </a:spcBef>
              <a:defRPr/>
            </a:pPr>
            <a:endParaRPr lang="en-US" altLang="en-US" sz="2000" dirty="0">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Text Box 1">
            <a:extLst>
              <a:ext uri="{FF2B5EF4-FFF2-40B4-BE49-F238E27FC236}">
                <a16:creationId xmlns:a16="http://schemas.microsoft.com/office/drawing/2014/main" id="{089A419E-DD09-439F-E063-78BF98304C6F}"/>
              </a:ext>
            </a:extLst>
          </p:cNvPr>
          <p:cNvSpPr txBox="1">
            <a:spLocks noChangeArrowheads="1"/>
          </p:cNvSpPr>
          <p:nvPr/>
        </p:nvSpPr>
        <p:spPr bwMode="auto">
          <a:xfrm>
            <a:off x="838200" y="365125"/>
            <a:ext cx="10514013" cy="1323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1pPr>
            <a:lvl2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9pPr>
          </a:lstStyle>
          <a:p>
            <a:pPr algn="ctr" eaLnBrk="1">
              <a:lnSpc>
                <a:spcPct val="90000"/>
              </a:lnSpc>
            </a:pPr>
            <a:r>
              <a:rPr lang="en-US" altLang="en-US" sz="4400" b="1">
                <a:solidFill>
                  <a:srgbClr val="000000"/>
                </a:solidFill>
                <a:latin typeface="Calibri Light" panose="020F0302020204030204" pitchFamily="34" charset="0"/>
              </a:rPr>
              <a:t> What to analyze ?</a:t>
            </a:r>
          </a:p>
        </p:txBody>
      </p:sp>
      <p:pic>
        <p:nvPicPr>
          <p:cNvPr id="466947" name="Picture 2">
            <a:extLst>
              <a:ext uri="{FF2B5EF4-FFF2-40B4-BE49-F238E27FC236}">
                <a16:creationId xmlns:a16="http://schemas.microsoft.com/office/drawing/2014/main" id="{E5513547-E959-014D-F5B4-1B46113B64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9"/>
          <a:stretch>
            <a:fillRect/>
          </a:stretch>
        </p:blipFill>
        <p:spPr bwMode="auto">
          <a:xfrm>
            <a:off x="1828800" y="1549400"/>
            <a:ext cx="8218488" cy="5041900"/>
          </a:xfrm>
          <a:prstGeom prst="rect">
            <a:avLst/>
          </a:prstGeom>
          <a:noFill/>
          <a:ln>
            <a:noFill/>
          </a:ln>
          <a:effectLst/>
          <a:extLst>
            <a:ext uri="{909E8E84-426E-40DD-AFC4-6F175D3DCCD1}">
              <a14:hiddenFill xmlns:a14="http://schemas.microsoft.com/office/drawing/2010/main">
                <a:blipFill dpi="0" rotWithShape="0">
                  <a:blip/>
                  <a:srcRect l="7069"/>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Text Box 1">
            <a:extLst>
              <a:ext uri="{FF2B5EF4-FFF2-40B4-BE49-F238E27FC236}">
                <a16:creationId xmlns:a16="http://schemas.microsoft.com/office/drawing/2014/main" id="{F32245DA-7289-E3B7-CCFC-90E7053D3D85}"/>
              </a:ext>
            </a:extLst>
          </p:cNvPr>
          <p:cNvSpPr txBox="1">
            <a:spLocks noChangeArrowheads="1"/>
          </p:cNvSpPr>
          <p:nvPr/>
        </p:nvSpPr>
        <p:spPr bwMode="auto">
          <a:xfrm>
            <a:off x="838200" y="365125"/>
            <a:ext cx="10514013" cy="1323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1pPr>
            <a:lvl2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9pPr>
          </a:lstStyle>
          <a:p>
            <a:pPr algn="ctr">
              <a:lnSpc>
                <a:spcPct val="90000"/>
              </a:lnSpc>
            </a:pPr>
            <a:r>
              <a:rPr lang="en-US" sz="2800" b="1" i="0" u="none" strike="noStrike" baseline="0" dirty="0">
                <a:solidFill>
                  <a:srgbClr val="000000"/>
                </a:solidFill>
                <a:latin typeface="Segoe UI" panose="020B0502040204020203" pitchFamily="34" charset="0"/>
              </a:rPr>
              <a:t>Performance analysis and measurement</a:t>
            </a:r>
          </a:p>
          <a:p>
            <a:pPr algn="ctr" eaLnBrk="1">
              <a:lnSpc>
                <a:spcPct val="90000"/>
              </a:lnSpc>
            </a:pPr>
            <a:endParaRPr lang="en-US" altLang="en-US" sz="2800" b="1" dirty="0">
              <a:solidFill>
                <a:srgbClr val="000000"/>
              </a:solidFill>
              <a:latin typeface="Calibri Light" panose="020F0302020204030204" pitchFamily="34" charset="0"/>
            </a:endParaRPr>
          </a:p>
        </p:txBody>
      </p:sp>
      <p:sp>
        <p:nvSpPr>
          <p:cNvPr id="468995" name="Text Box 2">
            <a:extLst>
              <a:ext uri="{FF2B5EF4-FFF2-40B4-BE49-F238E27FC236}">
                <a16:creationId xmlns:a16="http://schemas.microsoft.com/office/drawing/2014/main" id="{99B2DB42-374B-E973-0064-817890C586E5}"/>
              </a:ext>
            </a:extLst>
          </p:cNvPr>
          <p:cNvSpPr txBox="1">
            <a:spLocks noChangeArrowheads="1"/>
          </p:cNvSpPr>
          <p:nvPr/>
        </p:nvSpPr>
        <p:spPr bwMode="auto">
          <a:xfrm>
            <a:off x="838200" y="1689101"/>
            <a:ext cx="10514013" cy="41771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228600" indent="-228600">
              <a:lnSpc>
                <a:spcPct val="93000"/>
              </a:lnSpc>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1pPr>
            <a:lvl2pPr marL="863600" indent="-323850">
              <a:lnSpc>
                <a:spcPct val="93000"/>
              </a:lnSpc>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2pPr>
            <a:lvl3pPr>
              <a:lnSpc>
                <a:spcPct val="93000"/>
              </a:lnSpc>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3pPr>
            <a:lvl4pPr>
              <a:lnSpc>
                <a:spcPct val="93000"/>
              </a:lnSpc>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4pPr>
            <a:lvl5pPr>
              <a:lnSpc>
                <a:spcPct val="93000"/>
              </a:lnSpc>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Noto Sans CJK SC" charset="0"/>
              </a:defRPr>
            </a:lvl9pPr>
          </a:lstStyle>
          <a:p>
            <a:pPr eaLnBrk="1">
              <a:lnSpc>
                <a:spcPct val="90000"/>
              </a:lnSpc>
              <a:spcBef>
                <a:spcPts val="1000"/>
              </a:spcBef>
              <a:buFont typeface="Arial" panose="020B0604020202020204" pitchFamily="34" charset="0"/>
              <a:buChar char="•"/>
            </a:pPr>
            <a:r>
              <a:rPr lang="en-US" altLang="en-US" sz="2800" b="1" dirty="0">
                <a:solidFill>
                  <a:srgbClr val="000000"/>
                </a:solidFill>
                <a:latin typeface="Calibri Light" panose="020F0302020204030204" pitchFamily="34" charset="0"/>
              </a:rPr>
              <a:t>Running Time Calculation </a:t>
            </a:r>
          </a:p>
          <a:p>
            <a:pPr eaLnBrk="1">
              <a:lnSpc>
                <a:spcPct val="90000"/>
              </a:lnSpc>
              <a:spcBef>
                <a:spcPts val="1000"/>
              </a:spcBef>
              <a:buFont typeface="Arial" panose="020B0604020202020204" pitchFamily="34" charset="0"/>
              <a:buChar char="•"/>
            </a:pPr>
            <a:r>
              <a:rPr lang="en-US" altLang="en-US" sz="2800" dirty="0">
                <a:solidFill>
                  <a:srgbClr val="000000"/>
                </a:solidFill>
                <a:latin typeface="Calibri" panose="020F0502020204030204" pitchFamily="34" charset="0"/>
              </a:rPr>
              <a:t>To analyze the given algorithm we need to know on what inputs the algorithm is taking less time (performing well) and on what inputs the algorithm is taking a huge time. </a:t>
            </a:r>
          </a:p>
          <a:p>
            <a:pPr eaLnBrk="1">
              <a:lnSpc>
                <a:spcPct val="90000"/>
              </a:lnSpc>
              <a:spcBef>
                <a:spcPts val="1000"/>
              </a:spcBef>
              <a:buFont typeface="Arial" panose="020B0604020202020204" pitchFamily="34" charset="0"/>
              <a:buChar char="•"/>
            </a:pPr>
            <a:r>
              <a:rPr lang="en-US" altLang="en-US" sz="2800" dirty="0">
                <a:solidFill>
                  <a:srgbClr val="000000"/>
                </a:solidFill>
                <a:latin typeface="Calibri" panose="020F0502020204030204" pitchFamily="34" charset="0"/>
              </a:rPr>
              <a:t>e.g.</a:t>
            </a:r>
          </a:p>
          <a:p>
            <a:pPr lvl="1" eaLnBrk="1">
              <a:lnSpc>
                <a:spcPct val="90000"/>
              </a:lnSpc>
              <a:spcBef>
                <a:spcPts val="1138"/>
              </a:spcBef>
              <a:buSzPct val="75000"/>
              <a:buFont typeface="Symbol" panose="05050102010706020507" pitchFamily="18" charset="2"/>
              <a:buChar char=""/>
            </a:pPr>
            <a:r>
              <a:rPr lang="en-US" altLang="en-US" sz="2800" dirty="0">
                <a:solidFill>
                  <a:srgbClr val="000000"/>
                </a:solidFill>
              </a:rPr>
              <a:t>Integer add/subtract ,Integer multiply/divide ,Float add/</a:t>
            </a:r>
            <a:r>
              <a:rPr lang="en-US" altLang="en-US" sz="2800" dirty="0" err="1">
                <a:solidFill>
                  <a:srgbClr val="000000"/>
                </a:solidFill>
              </a:rPr>
              <a:t>subtract,Float</a:t>
            </a:r>
            <a:r>
              <a:rPr lang="en-US" altLang="en-US" sz="2800" dirty="0">
                <a:solidFill>
                  <a:srgbClr val="000000"/>
                </a:solidFill>
              </a:rPr>
              <a:t> multiply/divide = Θ(1)</a:t>
            </a:r>
          </a:p>
          <a:p>
            <a:pPr lvl="1" eaLnBrk="1">
              <a:lnSpc>
                <a:spcPct val="90000"/>
              </a:lnSpc>
              <a:spcBef>
                <a:spcPts val="1138"/>
              </a:spcBef>
              <a:buSzPct val="75000"/>
              <a:buFont typeface="Symbol" panose="05050102010706020507" pitchFamily="18" charset="2"/>
              <a:buChar char=""/>
            </a:pPr>
            <a:r>
              <a:rPr lang="en-US" altLang="en-US" sz="2800" dirty="0">
                <a:solidFill>
                  <a:srgbClr val="000000"/>
                </a:solidFill>
              </a:rPr>
              <a:t>For loop =Θ(n) ,Nested loop= Θ(n2)</a:t>
            </a:r>
          </a:p>
          <a:p>
            <a:pPr lvl="1" eaLnBrk="1">
              <a:lnSpc>
                <a:spcPct val="90000"/>
              </a:lnSpc>
              <a:spcBef>
                <a:spcPts val="1138"/>
              </a:spcBef>
              <a:buSzPct val="75000"/>
              <a:buFont typeface="Symbol" panose="05050102010706020507" pitchFamily="18" charset="2"/>
              <a:buChar char=""/>
            </a:pPr>
            <a:r>
              <a:rPr lang="en-US" altLang="en-US" sz="2800" dirty="0">
                <a:solidFill>
                  <a:srgbClr val="000000"/>
                </a:solidFill>
              </a:rPr>
              <a:t>Recursive function =Θ(n)</a:t>
            </a:r>
          </a:p>
          <a:p>
            <a:pPr lvl="1" eaLnBrk="1">
              <a:lnSpc>
                <a:spcPct val="90000"/>
              </a:lnSpc>
              <a:spcBef>
                <a:spcPts val="1138"/>
              </a:spcBef>
              <a:buSzPct val="75000"/>
              <a:buFont typeface="Symbol" panose="05050102010706020507" pitchFamily="18" charset="2"/>
              <a:buChar char=""/>
            </a:pPr>
            <a:r>
              <a:rPr lang="en-US" altLang="en-US" sz="2800" dirty="0">
                <a:solidFill>
                  <a:srgbClr val="000000"/>
                </a:solidFill>
              </a:rPr>
              <a:t>//</a:t>
            </a:r>
            <a:r>
              <a:rPr lang="en-US" altLang="en-US" sz="2800" i="1" dirty="0">
                <a:solidFill>
                  <a:srgbClr val="000000"/>
                </a:solidFill>
              </a:rPr>
              <a:t>Calculating the running time of Algorithms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76431-A924-34D1-5686-84EB1DDC8019}"/>
              </a:ext>
            </a:extLst>
          </p:cNvPr>
          <p:cNvSpPr>
            <a:spLocks noGrp="1"/>
          </p:cNvSpPr>
          <p:nvPr>
            <p:ph type="title"/>
          </p:nvPr>
        </p:nvSpPr>
        <p:spPr/>
        <p:txBody>
          <a:bodyPr>
            <a:normAutofit fontScale="90000"/>
          </a:bodyPr>
          <a:lstStyle/>
          <a:p>
            <a:pPr>
              <a:lnSpc>
                <a:spcPct val="90000"/>
              </a:lnSpc>
            </a:pPr>
            <a:r>
              <a:rPr lang="en-US" sz="4400" b="1" i="0" u="none" strike="noStrike" baseline="0" dirty="0">
                <a:solidFill>
                  <a:srgbClr val="000000"/>
                </a:solidFill>
                <a:latin typeface="Segoe UI" panose="020B0502040204020203" pitchFamily="34" charset="0"/>
              </a:rPr>
              <a:t>Performance analysis and measurement</a:t>
            </a:r>
            <a:br>
              <a:rPr lang="en-US" sz="4400" b="1" i="0" u="none" strike="noStrike" baseline="0" dirty="0">
                <a:solidFill>
                  <a:srgbClr val="000000"/>
                </a:solidFill>
                <a:latin typeface="Segoe UI" panose="020B0502040204020203" pitchFamily="34" charset="0"/>
              </a:rPr>
            </a:br>
            <a:endParaRPr lang="en-US" dirty="0"/>
          </a:p>
        </p:txBody>
      </p:sp>
      <p:sp>
        <p:nvSpPr>
          <p:cNvPr id="3" name="Content Placeholder 2">
            <a:extLst>
              <a:ext uri="{FF2B5EF4-FFF2-40B4-BE49-F238E27FC236}">
                <a16:creationId xmlns:a16="http://schemas.microsoft.com/office/drawing/2014/main" id="{0C3A9DAC-47ED-4CBF-47A7-0129C75C775B}"/>
              </a:ext>
            </a:extLst>
          </p:cNvPr>
          <p:cNvSpPr>
            <a:spLocks noGrp="1"/>
          </p:cNvSpPr>
          <p:nvPr>
            <p:ph idx="1"/>
          </p:nvPr>
        </p:nvSpPr>
        <p:spPr/>
        <p:txBody>
          <a:bodyPr>
            <a:normAutofit lnSpcReduction="10000"/>
          </a:bodyPr>
          <a:lstStyle/>
          <a:p>
            <a:r>
              <a:rPr lang="en-US" dirty="0"/>
              <a:t>int numbers[] = {10, 20, 30, 40, 50};</a:t>
            </a:r>
          </a:p>
          <a:p>
            <a:r>
              <a:rPr lang="en-US" dirty="0"/>
              <a:t>int n = </a:t>
            </a:r>
            <a:r>
              <a:rPr lang="en-US" dirty="0" err="1"/>
              <a:t>sizeof</a:t>
            </a:r>
            <a:r>
              <a:rPr lang="en-US" dirty="0"/>
              <a:t>(numbers) / </a:t>
            </a:r>
            <a:r>
              <a:rPr lang="en-US" dirty="0" err="1"/>
              <a:t>sizeof</a:t>
            </a:r>
            <a:r>
              <a:rPr lang="en-US" dirty="0"/>
              <a:t>(numbers[0]); </a:t>
            </a:r>
          </a:p>
          <a:p>
            <a:r>
              <a:rPr lang="en-US" dirty="0"/>
              <a:t>for (int </a:t>
            </a:r>
            <a:r>
              <a:rPr lang="en-US" dirty="0" err="1"/>
              <a:t>i</a:t>
            </a:r>
            <a:r>
              <a:rPr lang="en-US" dirty="0"/>
              <a:t> = 0; </a:t>
            </a:r>
            <a:r>
              <a:rPr lang="en-US" dirty="0" err="1"/>
              <a:t>i</a:t>
            </a:r>
            <a:r>
              <a:rPr lang="en-US" dirty="0"/>
              <a:t> &lt; n; </a:t>
            </a:r>
            <a:r>
              <a:rPr lang="en-US" dirty="0" err="1"/>
              <a:t>i</a:t>
            </a:r>
            <a:r>
              <a:rPr lang="en-US" dirty="0"/>
              <a:t>++) </a:t>
            </a:r>
          </a:p>
          <a:p>
            <a:r>
              <a:rPr lang="en-US" dirty="0"/>
              <a:t>{ </a:t>
            </a:r>
          </a:p>
          <a:p>
            <a:r>
              <a:rPr lang="en-US" dirty="0" err="1"/>
              <a:t>printf</a:t>
            </a:r>
            <a:r>
              <a:rPr lang="en-US" dirty="0"/>
              <a:t>("numbers[%d] = %d\n", </a:t>
            </a:r>
            <a:r>
              <a:rPr lang="en-US" dirty="0" err="1"/>
              <a:t>i</a:t>
            </a:r>
            <a:r>
              <a:rPr lang="en-US" dirty="0"/>
              <a:t>, numbers[</a:t>
            </a:r>
            <a:r>
              <a:rPr lang="en-US" dirty="0" err="1"/>
              <a:t>i</a:t>
            </a:r>
            <a:r>
              <a:rPr lang="en-US" dirty="0"/>
              <a:t>]);</a:t>
            </a:r>
          </a:p>
          <a:p>
            <a:r>
              <a:rPr lang="en-US" dirty="0"/>
              <a:t> } </a:t>
            </a:r>
          </a:p>
          <a:p>
            <a:r>
              <a:rPr lang="en-US" dirty="0"/>
              <a:t>return 0;</a:t>
            </a:r>
          </a:p>
          <a:p>
            <a:endParaRPr lang="en-US" dirty="0"/>
          </a:p>
          <a:p>
            <a:r>
              <a:rPr lang="en-US" b="1" dirty="0"/>
              <a:t>Time Complexity and Space Complexity</a:t>
            </a:r>
          </a:p>
        </p:txBody>
      </p:sp>
    </p:spTree>
    <p:extLst>
      <p:ext uri="{BB962C8B-B14F-4D97-AF65-F5344CB8AC3E}">
        <p14:creationId xmlns:p14="http://schemas.microsoft.com/office/powerpoint/2010/main" val="4113211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30F3-89D4-091A-F55D-38D3A361DCD0}"/>
              </a:ext>
            </a:extLst>
          </p:cNvPr>
          <p:cNvSpPr txBox="1">
            <a:spLocks noGrp="1"/>
          </p:cNvSpPr>
          <p:nvPr>
            <p:ph type="title" idx="4294967295"/>
          </p:nvPr>
        </p:nvSpPr>
        <p:spPr/>
        <p:txBody>
          <a:bodyPr vert="horz"/>
          <a:lstStyle/>
          <a:p>
            <a:pPr lvl="0"/>
            <a:r>
              <a:rPr lang="en-US"/>
              <a:t>Practice</a:t>
            </a:r>
          </a:p>
        </p:txBody>
      </p:sp>
      <p:sp>
        <p:nvSpPr>
          <p:cNvPr id="3" name="Text Placeholder 2">
            <a:extLst>
              <a:ext uri="{FF2B5EF4-FFF2-40B4-BE49-F238E27FC236}">
                <a16:creationId xmlns:a16="http://schemas.microsoft.com/office/drawing/2014/main" id="{4885682C-8A52-5881-7CC9-FD3E9054C5E7}"/>
              </a:ext>
            </a:extLst>
          </p:cNvPr>
          <p:cNvSpPr txBox="1">
            <a:spLocks noGrp="1"/>
          </p:cNvSpPr>
          <p:nvPr>
            <p:ph type="body" idx="4294967295"/>
          </p:nvPr>
        </p:nvSpPr>
        <p:spPr/>
        <p:txBody>
          <a:bodyPr vert="horz"/>
          <a:lstStyle/>
          <a:p>
            <a:pPr lvl="0">
              <a:buSzPct val="45000"/>
              <a:buFont typeface="OpenSymbol"/>
              <a:buChar char="●"/>
            </a:pPr>
            <a:r>
              <a:rPr lang="en-US"/>
              <a:t>For loop; (i++,i=i*2)</a:t>
            </a:r>
          </a:p>
          <a:p>
            <a:pPr lvl="0">
              <a:buSzPct val="45000"/>
              <a:buFont typeface="OpenSymbol"/>
              <a:buChar char="●"/>
            </a:pPr>
            <a:r>
              <a:rPr lang="en-US"/>
              <a:t>Nested for loop</a:t>
            </a:r>
          </a:p>
          <a:p>
            <a:pPr lvl="0">
              <a:buSzPct val="45000"/>
              <a:buFont typeface="OpenSymbol"/>
              <a:buChar char="●"/>
            </a:pPr>
            <a:r>
              <a:rPr lang="en-US"/>
              <a:t>If and else</a:t>
            </a:r>
          </a:p>
        </p:txBody>
      </p:sp>
      <p:pic>
        <p:nvPicPr>
          <p:cNvPr id="5" name="Picture 4">
            <a:extLst>
              <a:ext uri="{FF2B5EF4-FFF2-40B4-BE49-F238E27FC236}">
                <a16:creationId xmlns:a16="http://schemas.microsoft.com/office/drawing/2014/main" id="{09CD9349-5CD7-B7D2-2FB1-772CCBAC6E24}"/>
              </a:ext>
            </a:extLst>
          </p:cNvPr>
          <p:cNvPicPr>
            <a:picLocks noChangeAspect="1"/>
          </p:cNvPicPr>
          <p:nvPr/>
        </p:nvPicPr>
        <p:blipFill>
          <a:blip r:embed="rId3"/>
          <a:stretch>
            <a:fillRect/>
          </a:stretch>
        </p:blipFill>
        <p:spPr>
          <a:xfrm>
            <a:off x="4117657" y="2204276"/>
            <a:ext cx="7820006" cy="386376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A779AB-8AB4-8640-0C9F-78E363CE360D}"/>
              </a:ext>
            </a:extLst>
          </p:cNvPr>
          <p:cNvPicPr>
            <a:picLocks noChangeAspect="1"/>
          </p:cNvPicPr>
          <p:nvPr/>
        </p:nvPicPr>
        <p:blipFill>
          <a:blip r:embed="rId2"/>
          <a:stretch>
            <a:fillRect/>
          </a:stretch>
        </p:blipFill>
        <p:spPr>
          <a:xfrm>
            <a:off x="830541" y="1524000"/>
            <a:ext cx="10530918" cy="2940367"/>
          </a:xfrm>
          <a:prstGeom prst="rect">
            <a:avLst/>
          </a:prstGeom>
        </p:spPr>
      </p:pic>
    </p:spTree>
    <p:extLst>
      <p:ext uri="{BB962C8B-B14F-4D97-AF65-F5344CB8AC3E}">
        <p14:creationId xmlns:p14="http://schemas.microsoft.com/office/powerpoint/2010/main" val="31833458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1E5A34-A3EC-2B69-D83F-5A66E1F31E3E}"/>
              </a:ext>
            </a:extLst>
          </p:cNvPr>
          <p:cNvPicPr>
            <a:picLocks noChangeAspect="1"/>
          </p:cNvPicPr>
          <p:nvPr/>
        </p:nvPicPr>
        <p:blipFill>
          <a:blip r:embed="rId2"/>
          <a:stretch>
            <a:fillRect/>
          </a:stretch>
        </p:blipFill>
        <p:spPr>
          <a:xfrm>
            <a:off x="2086494" y="1432560"/>
            <a:ext cx="8324850" cy="3185160"/>
          </a:xfrm>
          <a:prstGeom prst="rect">
            <a:avLst/>
          </a:prstGeom>
        </p:spPr>
      </p:pic>
    </p:spTree>
    <p:extLst>
      <p:ext uri="{BB962C8B-B14F-4D97-AF65-F5344CB8AC3E}">
        <p14:creationId xmlns:p14="http://schemas.microsoft.com/office/powerpoint/2010/main" val="2718787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a:extLst>
              <a:ext uri="{FF2B5EF4-FFF2-40B4-BE49-F238E27FC236}">
                <a16:creationId xmlns:a16="http://schemas.microsoft.com/office/drawing/2014/main" id="{5D0F70C4-BA5B-A488-C751-5A13D1464FC1}"/>
              </a:ext>
            </a:extLst>
          </p:cNvPr>
          <p:cNvSpPr txBox="1">
            <a:spLocks noGrp="1"/>
          </p:cNvSpPr>
          <p:nvPr>
            <p:ph type="title" idx="4294967295"/>
          </p:nvPr>
        </p:nvSpPr>
        <p:spPr>
          <a:xfrm>
            <a:off x="609480" y="273600"/>
            <a:ext cx="10971720" cy="1144080"/>
          </a:xfrm>
        </p:spPr>
        <p:txBody>
          <a:bodyPr vert="horz" wrap="square" anchorCtr="0">
            <a:noAutofit/>
          </a:bodyPr>
          <a:lstStyle/>
          <a:p>
            <a:pPr lvl="0">
              <a:tabLst>
                <a:tab pos="0" algn="l"/>
              </a:tabLst>
            </a:pPr>
            <a:r>
              <a:rPr lang="en-US">
                <a:solidFill>
                  <a:srgbClr val="000000"/>
                </a:solidFill>
                <a:latin typeface="Arial" pitchFamily="18"/>
              </a:rPr>
              <a:t>Algorithm Design Techniques</a:t>
            </a:r>
          </a:p>
        </p:txBody>
      </p:sp>
      <p:sp>
        <p:nvSpPr>
          <p:cNvPr id="3" name="PlaceHolder 2">
            <a:extLst>
              <a:ext uri="{FF2B5EF4-FFF2-40B4-BE49-F238E27FC236}">
                <a16:creationId xmlns:a16="http://schemas.microsoft.com/office/drawing/2014/main" id="{86189927-B340-F67C-B421-2B4852991D92}"/>
              </a:ext>
            </a:extLst>
          </p:cNvPr>
          <p:cNvSpPr txBox="1">
            <a:spLocks noGrp="1"/>
          </p:cNvSpPr>
          <p:nvPr>
            <p:ph type="body" idx="4294967295"/>
          </p:nvPr>
        </p:nvSpPr>
        <p:spPr>
          <a:xfrm>
            <a:off x="609480" y="1604520"/>
            <a:ext cx="10971720" cy="3976560"/>
          </a:xfrm>
        </p:spPr>
        <p:txBody>
          <a:bodyPr vert="horz" wrap="square" anchor="t" anchorCtr="0"/>
          <a:lstStyle/>
          <a:p>
            <a:pPr lvl="0" algn="l">
              <a:buClr>
                <a:srgbClr val="000000"/>
              </a:buClr>
              <a:buSzPct val="45000"/>
              <a:buFont typeface="Wingdings"/>
              <a:buChar char=""/>
            </a:pPr>
            <a:r>
              <a:rPr lang="en-US">
                <a:solidFill>
                  <a:srgbClr val="000000"/>
                </a:solidFill>
                <a:latin typeface="Arial" pitchFamily="18"/>
              </a:rPr>
              <a:t>Incremental approach</a:t>
            </a:r>
          </a:p>
          <a:p>
            <a:pPr lvl="0" algn="l">
              <a:buClr>
                <a:srgbClr val="000000"/>
              </a:buClr>
              <a:buSzPct val="45000"/>
              <a:buFont typeface="Wingdings"/>
              <a:buChar char=""/>
            </a:pPr>
            <a:r>
              <a:rPr lang="en-US" dirty="0">
                <a:solidFill>
                  <a:srgbClr val="000000"/>
                </a:solidFill>
                <a:latin typeface="Arial" pitchFamily="18"/>
              </a:rPr>
              <a:t>Greedy Algorithm</a:t>
            </a:r>
          </a:p>
          <a:p>
            <a:pPr lvl="0" algn="l">
              <a:buClr>
                <a:srgbClr val="000000"/>
              </a:buClr>
              <a:buSzPct val="45000"/>
              <a:buFont typeface="Wingdings"/>
              <a:buChar char=""/>
            </a:pPr>
            <a:r>
              <a:rPr lang="en-US" dirty="0">
                <a:solidFill>
                  <a:srgbClr val="000000"/>
                </a:solidFill>
                <a:latin typeface="Arial" pitchFamily="18"/>
              </a:rPr>
              <a:t>Divide and Conquer</a:t>
            </a:r>
          </a:p>
          <a:p>
            <a:pPr lvl="0" algn="l">
              <a:buClr>
                <a:srgbClr val="000000"/>
              </a:buClr>
              <a:buSzPct val="45000"/>
              <a:buFont typeface="Wingdings"/>
              <a:buChar char=""/>
            </a:pPr>
            <a:r>
              <a:rPr lang="en-US" dirty="0">
                <a:solidFill>
                  <a:srgbClr val="000000"/>
                </a:solidFill>
                <a:latin typeface="Arial" pitchFamily="18"/>
              </a:rPr>
              <a:t>Backtracking Algorithm</a:t>
            </a:r>
          </a:p>
          <a:p>
            <a:pPr lvl="0" algn="l">
              <a:spcBef>
                <a:spcPts val="1191"/>
              </a:spcBef>
              <a:spcAft>
                <a:spcPts val="992"/>
              </a:spcAft>
              <a:buClr>
                <a:srgbClr val="000000"/>
              </a:buClr>
              <a:buSzPct val="45000"/>
              <a:buFont typeface="Wingdings"/>
              <a:buChar char=""/>
            </a:pPr>
            <a:r>
              <a:rPr lang="en-US" dirty="0">
                <a:solidFill>
                  <a:srgbClr val="000000"/>
                </a:solidFill>
                <a:latin typeface="Arial" pitchFamily="18"/>
              </a:rPr>
              <a:t>Dynamic Programming: </a:t>
            </a:r>
          </a:p>
          <a:p>
            <a:pPr marL="457200" lvl="5" indent="0" hangingPunct="0">
              <a:lnSpc>
                <a:spcPct val="100000"/>
              </a:lnSpc>
              <a:spcBef>
                <a:spcPts val="1417"/>
              </a:spcBef>
              <a:buSzPct val="45000"/>
              <a:buFont typeface="OpenSymbol"/>
              <a:buChar char="●"/>
            </a:pPr>
            <a:r>
              <a:rPr lang="en-US" dirty="0">
                <a:solidFill>
                  <a:srgbClr val="000000"/>
                </a:solidFill>
                <a:highlight>
                  <a:scrgbClr r="0" g="0" b="0">
                    <a:alpha val="0"/>
                  </a:scrgbClr>
                </a:highlight>
                <a:latin typeface="Arial" pitchFamily="18"/>
                <a:cs typeface="Noto Sans Devanagari" pitchFamily="2"/>
              </a:rPr>
              <a:t>store data into table rather than recursive call and call function dynamically to get </a:t>
            </a:r>
            <a:r>
              <a:rPr lang="en-US" dirty="0" err="1">
                <a:solidFill>
                  <a:srgbClr val="000000"/>
                </a:solidFill>
                <a:highlight>
                  <a:scrgbClr r="0" g="0" b="0">
                    <a:alpha val="0"/>
                  </a:scrgbClr>
                </a:highlight>
                <a:latin typeface="Arial" pitchFamily="18"/>
                <a:cs typeface="Noto Sans Devanagari" pitchFamily="2"/>
              </a:rPr>
              <a:t>results,eg</a:t>
            </a:r>
            <a:r>
              <a:rPr lang="en-US" dirty="0">
                <a:solidFill>
                  <a:srgbClr val="000000"/>
                </a:solidFill>
                <a:highlight>
                  <a:scrgbClr r="0" g="0" b="0">
                    <a:alpha val="0"/>
                  </a:scrgbClr>
                </a:highlight>
                <a:latin typeface="Arial" pitchFamily="18"/>
                <a:cs typeface="Noto Sans Devanagari" pitchFamily="2"/>
              </a:rPr>
              <a:t>.</a:t>
            </a:r>
            <a:r>
              <a:rPr lang="en-US" b="0" i="0" dirty="0">
                <a:solidFill>
                  <a:srgbClr val="FFFFFF"/>
                </a:solidFill>
                <a:effectLst/>
                <a:latin typeface="Nunito" panose="020F0502020204030204" pitchFamily="2" charset="0"/>
              </a:rPr>
              <a:t>  </a:t>
            </a:r>
            <a:r>
              <a:rPr lang="en-US" b="0" i="0" u="sng" dirty="0">
                <a:solidFill>
                  <a:srgbClr val="22A779"/>
                </a:solidFill>
                <a:effectLst/>
                <a:latin typeface="Nunito" panose="020F0502020204030204" pitchFamily="2" charset="0"/>
                <a:hlinkClick r:id="rId3"/>
              </a:rPr>
              <a:t>Fibonacci Numbers</a:t>
            </a:r>
            <a:endParaRPr lang="en-US" dirty="0">
              <a:solidFill>
                <a:srgbClr val="000000"/>
              </a:solidFill>
              <a:highlight>
                <a:scrgbClr r="0" g="0" b="0">
                  <a:alpha val="0"/>
                </a:scrgbClr>
              </a:highlight>
              <a:latin typeface="Arial" pitchFamily="18"/>
              <a:cs typeface="Noto Sans Devanagari" pitchFamily="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esentation">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themeOverride>
</file>

<file path=ppt/theme/themeOverride2.xml><?xml version="1.0" encoding="utf-8"?>
<a:themeOverride xmlns:a="http://schemas.openxmlformats.org/drawingml/2006/main">
  <a:clrScheme name="Presentation">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themeOverride>
</file>

<file path=ppt/theme/themeOverride3.xml><?xml version="1.0" encoding="utf-8"?>
<a:themeOverride xmlns:a="http://schemas.openxmlformats.org/drawingml/2006/main">
  <a:clrScheme name="Presentation">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themeOverride>
</file>

<file path=docProps/app.xml><?xml version="1.0" encoding="utf-8"?>
<Properties xmlns="http://schemas.openxmlformats.org/officeDocument/2006/extended-properties" xmlns:vt="http://schemas.openxmlformats.org/officeDocument/2006/docPropsVTypes">
  <TotalTime>61</TotalTime>
  <Words>1908</Words>
  <Application>Microsoft Office PowerPoint</Application>
  <PresentationFormat>Widescreen</PresentationFormat>
  <Paragraphs>184</Paragraphs>
  <Slides>29</Slides>
  <Notes>12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29</vt:i4>
      </vt:variant>
    </vt:vector>
  </HeadingPairs>
  <TitlesOfParts>
    <vt:vector size="41" baseType="lpstr">
      <vt:lpstr>Arial</vt:lpstr>
      <vt:lpstr>Calibri</vt:lpstr>
      <vt:lpstr>Calibri Light</vt:lpstr>
      <vt:lpstr>Nunito</vt:lpstr>
      <vt:lpstr>OpenSymbol</vt:lpstr>
      <vt:lpstr>Segoe UI</vt:lpstr>
      <vt:lpstr>source-serif-pro</vt:lpstr>
      <vt:lpstr>StarSymbol</vt:lpstr>
      <vt:lpstr>Symbol</vt:lpstr>
      <vt:lpstr>Times New Roman</vt:lpstr>
      <vt:lpstr>Wingdings</vt:lpstr>
      <vt:lpstr>Office Theme</vt:lpstr>
      <vt:lpstr>Data Structure and Algorithm</vt:lpstr>
      <vt:lpstr>Introduction to DSA</vt:lpstr>
      <vt:lpstr>Introduction of DS</vt:lpstr>
      <vt:lpstr>Need of DSA</vt:lpstr>
      <vt:lpstr>Data Structure types (Classification)</vt:lpstr>
      <vt:lpstr>Data Structure types</vt:lpstr>
      <vt:lpstr>Abstract data types (ADT)</vt:lpstr>
      <vt:lpstr>Example of ADTs</vt:lpstr>
      <vt:lpstr>Abstract data types (ADT)</vt:lpstr>
      <vt:lpstr>Abstract Data types Model</vt:lpstr>
      <vt:lpstr>Types of ADT</vt:lpstr>
      <vt:lpstr>Queue ADTs</vt:lpstr>
      <vt:lpstr>PowerPoint Presentation</vt:lpstr>
      <vt:lpstr>Stack ADTs</vt:lpstr>
      <vt:lpstr>List ADTs</vt:lpstr>
      <vt:lpstr>Tree ADTs</vt:lpstr>
      <vt:lpstr>Scope of ADTs</vt:lpstr>
      <vt:lpstr>Algorithm</vt:lpstr>
      <vt:lpstr>PowerPoint Presentation</vt:lpstr>
      <vt:lpstr>PowerPoint Presentation</vt:lpstr>
      <vt:lpstr>PowerPoint Presentation</vt:lpstr>
      <vt:lpstr>PowerPoint Presentation</vt:lpstr>
      <vt:lpstr>PowerPoint Presentation</vt:lpstr>
      <vt:lpstr>PowerPoint Presentation</vt:lpstr>
      <vt:lpstr>Performance analysis and measurement </vt:lpstr>
      <vt:lpstr>Practice</vt:lpstr>
      <vt:lpstr>PowerPoint Presentation</vt:lpstr>
      <vt:lpstr>PowerPoint Presentation</vt:lpstr>
      <vt:lpstr>Algorithm Design Techniques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pathak</dc:creator>
  <cp:lastModifiedBy>shiva pathak</cp:lastModifiedBy>
  <cp:revision>19</cp:revision>
  <dcterms:created xsi:type="dcterms:W3CDTF">2025-04-16T15:45:34Z</dcterms:created>
  <dcterms:modified xsi:type="dcterms:W3CDTF">2025-04-21T13:25:40Z</dcterms:modified>
</cp:coreProperties>
</file>