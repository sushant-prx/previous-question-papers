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6/21/2025</a:t>
            </a:fld>
            <a:endParaRPr lang="en-US"/>
          </a:p>
        </p:txBody>
      </p:sp>
      <p:sp>
        <p:nvSpPr>
          <p:cNvPr id="4"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685800" y="1143000"/>
            <a:ext cx="5486400" cy="3086100"/>
          </a:xfrm>
        </p:spPr>
      </p:sp>
      <p:sp>
        <p:nvSpPr>
          <p:cNvPr id="3" name="Notes Placeholder 2"/>
          <p:cNvSpPr>
            <a:spLocks noGrp="1"/>
          </p:cNvSpPr>
          <p:nvPr>
            <p:ph type="body" idx="1"/>
          </p:nvPr>
        </p:nvSpPr>
        <p:spPr bwMode="auto"/>
        <p:txBody>
          <a:bodyPr/>
          <a:lstStyle/>
          <a:p>
            <a:pPr>
              <a:defRPr/>
            </a:pPr>
            <a:endParaRPr lang="en-US">
              <a:latin typeface="Arial"/>
              <a:cs typeface="Arial"/>
            </a:endParaRPr>
          </a:p>
        </p:txBody>
      </p:sp>
      <p:sp>
        <p:nvSpPr>
          <p:cNvPr id="4"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1A88641-D5EB-6132-B955-E886CC0A8654}"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B956E59-3B79-E9A5-1CD9-8384FB36A794}"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7E58991-62B5-A16F-6663-94F8F853672B}"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B5EADB7-CFD1-B6A3-22F4-A17DD179D163}"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t>Sort the data first</a:t>
            </a:r>
          </a:p>
        </p:txBody>
      </p:sp>
      <p:sp>
        <p:nvSpPr>
          <p:cNvPr id="4" name="Slide Number Placeholder 3"/>
          <p:cNvSpPr>
            <a:spLocks noGrp="1"/>
          </p:cNvSpPr>
          <p:nvPr>
            <p:ph type="sldNum" sz="quarter" idx="10"/>
          </p:nvPr>
        </p:nvSpPr>
        <p:spPr bwMode="auto"/>
        <p:txBody>
          <a:bodyPr/>
          <a:lstStyle/>
          <a:p>
            <a:pPr>
              <a:defRPr/>
            </a:pPr>
            <a:fld id="{BDC37925-4197-36F3-9B2D-C2DD65321A58}"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1D0EAB4-C86A-4D6E-8793-9EC83186F299}"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t>Case-I =&gt; data ==a[mid]</a:t>
            </a:r>
          </a:p>
          <a:p>
            <a:pPr>
              <a:defRPr/>
            </a:pPr>
            <a:r>
              <a:t>CASE-ii =&gt; data &gt; a[mid]</a:t>
            </a:r>
          </a:p>
          <a:p>
            <a:pPr>
              <a:defRPr/>
            </a:pPr>
            <a:r>
              <a:t>CASE-III =&gt; data &lt;a [mid]</a:t>
            </a:r>
          </a:p>
          <a:p>
            <a:pPr>
              <a:defRPr/>
            </a:pPr>
            <a:endParaRPr/>
          </a:p>
          <a:p>
            <a:pPr>
              <a:defRPr/>
            </a:pPr>
            <a:r>
              <a:t>Mid =floor( lb+ub/2)</a:t>
            </a:r>
          </a:p>
          <a:p>
            <a:pPr>
              <a:defRPr/>
            </a:pPr>
            <a:endParaRPr/>
          </a:p>
          <a:p>
            <a:pPr>
              <a:defRPr/>
            </a:pPr>
            <a:r>
              <a:t>Stop = if(lb&gt;ub) lower bound and upper bound</a:t>
            </a:r>
          </a:p>
          <a:p>
            <a:pPr>
              <a:defRPr/>
            </a:pPr>
            <a:r>
              <a:t>Make table</a:t>
            </a:r>
          </a:p>
        </p:txBody>
      </p:sp>
      <p:sp>
        <p:nvSpPr>
          <p:cNvPr id="4" name="Slide Number Placeholder 3"/>
          <p:cNvSpPr>
            <a:spLocks noGrp="1"/>
          </p:cNvSpPr>
          <p:nvPr>
            <p:ph type="sldNum" sz="quarter" idx="10"/>
          </p:nvPr>
        </p:nvSpPr>
        <p:spPr bwMode="auto"/>
        <p:txBody>
          <a:bodyPr/>
          <a:lstStyle/>
          <a:p>
            <a:pPr>
              <a:defRPr/>
            </a:pPr>
            <a:fld id="{F54EA527-78D7-00E2-58D0-42A4A9A57D3A}"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70884818" name="Slide Image Placeholder 1"/>
          <p:cNvSpPr>
            <a:spLocks noGrp="1" noRot="1" noChangeAspect="1"/>
          </p:cNvSpPr>
          <p:nvPr>
            <p:ph type="sldImg"/>
          </p:nvPr>
        </p:nvSpPr>
        <p:spPr bwMode="auto"/>
      </p:sp>
      <p:sp>
        <p:nvSpPr>
          <p:cNvPr id="875820784" name="Notes Placeholder 2"/>
          <p:cNvSpPr>
            <a:spLocks noGrp="1"/>
          </p:cNvSpPr>
          <p:nvPr>
            <p:ph type="body" idx="1"/>
          </p:nvPr>
        </p:nvSpPr>
        <p:spPr bwMode="auto"/>
        <p:txBody>
          <a:bodyPr/>
          <a:lstStyle/>
          <a:p>
            <a:pPr>
              <a:defRPr/>
            </a:pPr>
            <a:endParaRPr/>
          </a:p>
        </p:txBody>
      </p:sp>
      <p:sp>
        <p:nvSpPr>
          <p:cNvPr id="929316794" name="Slide Number Placeholder 3"/>
          <p:cNvSpPr>
            <a:spLocks noGrp="1"/>
          </p:cNvSpPr>
          <p:nvPr>
            <p:ph type="sldNum" sz="quarter" idx="10"/>
          </p:nvPr>
        </p:nvSpPr>
        <p:spPr bwMode="auto"/>
        <p:txBody>
          <a:bodyPr/>
          <a:lstStyle/>
          <a:p>
            <a:pPr>
              <a:defRPr/>
            </a:pPr>
            <a:fld id="{E4A4BF97-E388-2043-8ACC-54A15EE7BAF2}"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1206009" name="Slide Image Placeholder 1"/>
          <p:cNvSpPr>
            <a:spLocks noGrp="1" noRot="1" noChangeAspect="1"/>
          </p:cNvSpPr>
          <p:nvPr>
            <p:ph type="sldImg"/>
          </p:nvPr>
        </p:nvSpPr>
        <p:spPr bwMode="auto"/>
      </p:sp>
      <p:sp>
        <p:nvSpPr>
          <p:cNvPr id="507754" name="Notes Placeholder 2"/>
          <p:cNvSpPr>
            <a:spLocks noGrp="1"/>
          </p:cNvSpPr>
          <p:nvPr>
            <p:ph type="body" idx="1"/>
          </p:nvPr>
        </p:nvSpPr>
        <p:spPr bwMode="auto"/>
        <p:txBody>
          <a:bodyPr/>
          <a:lstStyle/>
          <a:p>
            <a:pPr>
              <a:defRPr/>
            </a:pPr>
            <a:endParaRPr/>
          </a:p>
        </p:txBody>
      </p:sp>
      <p:sp>
        <p:nvSpPr>
          <p:cNvPr id="2103636032" name="Slide Number Placeholder 3"/>
          <p:cNvSpPr>
            <a:spLocks noGrp="1"/>
          </p:cNvSpPr>
          <p:nvPr>
            <p:ph type="sldNum" sz="quarter" idx="10"/>
          </p:nvPr>
        </p:nvSpPr>
        <p:spPr bwMode="auto"/>
        <p:txBody>
          <a:bodyPr/>
          <a:lstStyle/>
          <a:p>
            <a:pPr>
              <a:defRPr/>
            </a:pPr>
            <a:fld id="{A003514E-4969-100C-E520-AF554DC7DAF9}"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20810405" name="Slide Image Placeholder 1"/>
          <p:cNvSpPr>
            <a:spLocks noGrp="1" noRot="1" noChangeAspect="1"/>
          </p:cNvSpPr>
          <p:nvPr>
            <p:ph type="sldImg"/>
          </p:nvPr>
        </p:nvSpPr>
        <p:spPr bwMode="auto"/>
      </p:sp>
      <p:sp>
        <p:nvSpPr>
          <p:cNvPr id="841251863" name="Notes Placeholder 2"/>
          <p:cNvSpPr>
            <a:spLocks noGrp="1"/>
          </p:cNvSpPr>
          <p:nvPr>
            <p:ph type="body" idx="1"/>
          </p:nvPr>
        </p:nvSpPr>
        <p:spPr bwMode="auto"/>
        <p:txBody>
          <a:bodyPr/>
          <a:lstStyle/>
          <a:p>
            <a:pPr>
              <a:defRPr/>
            </a:pPr>
            <a:endParaRPr/>
          </a:p>
        </p:txBody>
      </p:sp>
      <p:sp>
        <p:nvSpPr>
          <p:cNvPr id="300670792" name="Slide Number Placeholder 3"/>
          <p:cNvSpPr>
            <a:spLocks noGrp="1"/>
          </p:cNvSpPr>
          <p:nvPr>
            <p:ph type="sldNum" sz="quarter" idx="10"/>
          </p:nvPr>
        </p:nvSpPr>
        <p:spPr bwMode="auto"/>
        <p:txBody>
          <a:bodyPr/>
          <a:lstStyle/>
          <a:p>
            <a:pPr>
              <a:defRPr/>
            </a:pPr>
            <a:fld id="{9CD0B614-4B54-9D30-FB6F-76C82A467166}"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53274925" name="Slide Image Placeholder 1"/>
          <p:cNvSpPr>
            <a:spLocks noGrp="1" noRot="1" noChangeAspect="1"/>
          </p:cNvSpPr>
          <p:nvPr>
            <p:ph type="sldImg"/>
          </p:nvPr>
        </p:nvSpPr>
        <p:spPr bwMode="auto"/>
      </p:sp>
      <p:sp>
        <p:nvSpPr>
          <p:cNvPr id="555385996" name="Notes Placeholder 2"/>
          <p:cNvSpPr>
            <a:spLocks noGrp="1"/>
          </p:cNvSpPr>
          <p:nvPr>
            <p:ph type="body" idx="1"/>
          </p:nvPr>
        </p:nvSpPr>
        <p:spPr bwMode="auto"/>
        <p:txBody>
          <a:bodyPr/>
          <a:lstStyle/>
          <a:p>
            <a:pPr>
              <a:defRPr/>
            </a:pPr>
            <a:endParaRPr/>
          </a:p>
        </p:txBody>
      </p:sp>
      <p:sp>
        <p:nvSpPr>
          <p:cNvPr id="1289518359" name="Slide Number Placeholder 3"/>
          <p:cNvSpPr>
            <a:spLocks noGrp="1"/>
          </p:cNvSpPr>
          <p:nvPr>
            <p:ph type="sldNum" sz="quarter" idx="10"/>
          </p:nvPr>
        </p:nvSpPr>
        <p:spPr bwMode="auto"/>
        <p:txBody>
          <a:bodyPr/>
          <a:lstStyle/>
          <a:p>
            <a:pPr>
              <a:defRPr/>
            </a:pPr>
            <a:fld id="{CC38E1F8-DC17-26B7-399C-BA2D7A95A9DF}"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44752443" name="Slide Image Placeholder 1"/>
          <p:cNvSpPr>
            <a:spLocks noGrp="1" noRot="1" noChangeAspect="1"/>
          </p:cNvSpPr>
          <p:nvPr>
            <p:ph type="sldImg"/>
          </p:nvPr>
        </p:nvSpPr>
        <p:spPr bwMode="auto"/>
      </p:sp>
      <p:sp>
        <p:nvSpPr>
          <p:cNvPr id="1057097377" name="Notes Placeholder 2"/>
          <p:cNvSpPr>
            <a:spLocks noGrp="1"/>
          </p:cNvSpPr>
          <p:nvPr>
            <p:ph type="body" idx="1"/>
          </p:nvPr>
        </p:nvSpPr>
        <p:spPr bwMode="auto"/>
        <p:txBody>
          <a:bodyPr/>
          <a:lstStyle/>
          <a:p>
            <a:pPr>
              <a:defRPr/>
            </a:pPr>
            <a:endParaRPr/>
          </a:p>
        </p:txBody>
      </p:sp>
      <p:sp>
        <p:nvSpPr>
          <p:cNvPr id="628655532" name="Slide Number Placeholder 3"/>
          <p:cNvSpPr>
            <a:spLocks noGrp="1"/>
          </p:cNvSpPr>
          <p:nvPr>
            <p:ph type="sldNum" sz="quarter" idx="10"/>
          </p:nvPr>
        </p:nvSpPr>
        <p:spPr bwMode="auto"/>
        <p:txBody>
          <a:bodyPr/>
          <a:lstStyle/>
          <a:p>
            <a:pPr>
              <a:defRPr/>
            </a:pPr>
            <a:fld id="{F4CA54FF-6529-A22A-3D05-59944B878384}"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8850607" name="Slide Image Placeholder 1"/>
          <p:cNvSpPr>
            <a:spLocks noGrp="1" noRot="1" noChangeAspect="1"/>
          </p:cNvSpPr>
          <p:nvPr>
            <p:ph type="sldImg"/>
          </p:nvPr>
        </p:nvSpPr>
        <p:spPr bwMode="auto"/>
      </p:sp>
      <p:sp>
        <p:nvSpPr>
          <p:cNvPr id="1690953819" name="Notes Placeholder 2"/>
          <p:cNvSpPr>
            <a:spLocks noGrp="1"/>
          </p:cNvSpPr>
          <p:nvPr>
            <p:ph type="body" idx="1"/>
          </p:nvPr>
        </p:nvSpPr>
        <p:spPr bwMode="auto"/>
        <p:txBody>
          <a:bodyPr/>
          <a:lstStyle/>
          <a:p>
            <a:pPr>
              <a:defRPr/>
            </a:pPr>
            <a:endParaRPr/>
          </a:p>
        </p:txBody>
      </p:sp>
      <p:sp>
        <p:nvSpPr>
          <p:cNvPr id="2105661222" name="Slide Number Placeholder 3"/>
          <p:cNvSpPr>
            <a:spLocks noGrp="1"/>
          </p:cNvSpPr>
          <p:nvPr>
            <p:ph type="sldNum" sz="quarter" idx="10"/>
          </p:nvPr>
        </p:nvSpPr>
        <p:spPr bwMode="auto"/>
        <p:txBody>
          <a:bodyPr/>
          <a:lstStyle/>
          <a:p>
            <a:pPr>
              <a:defRPr/>
            </a:pPr>
            <a:fld id="{9CB0A1B7-EEA6-1528-E07D-99F93B76332C}"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90251323" name="Slide Image Placeholder 1"/>
          <p:cNvSpPr>
            <a:spLocks noGrp="1" noRot="1" noChangeAspect="1"/>
          </p:cNvSpPr>
          <p:nvPr>
            <p:ph type="sldImg"/>
          </p:nvPr>
        </p:nvSpPr>
        <p:spPr bwMode="auto"/>
      </p:sp>
      <p:sp>
        <p:nvSpPr>
          <p:cNvPr id="1961894404" name="Notes Placeholder 2"/>
          <p:cNvSpPr>
            <a:spLocks noGrp="1"/>
          </p:cNvSpPr>
          <p:nvPr>
            <p:ph type="body" idx="1"/>
          </p:nvPr>
        </p:nvSpPr>
        <p:spPr bwMode="auto"/>
        <p:txBody>
          <a:bodyPr/>
          <a:lstStyle/>
          <a:p>
            <a:pPr>
              <a:defRPr/>
            </a:pPr>
            <a:endParaRPr/>
          </a:p>
        </p:txBody>
      </p:sp>
      <p:sp>
        <p:nvSpPr>
          <p:cNvPr id="512144045" name="Slide Number Placeholder 3"/>
          <p:cNvSpPr>
            <a:spLocks noGrp="1"/>
          </p:cNvSpPr>
          <p:nvPr>
            <p:ph type="sldNum" sz="quarter" idx="10"/>
          </p:nvPr>
        </p:nvSpPr>
        <p:spPr bwMode="auto"/>
        <p:txBody>
          <a:bodyPr/>
          <a:lstStyle/>
          <a:p>
            <a:pPr>
              <a:defRPr/>
            </a:pPr>
            <a:fld id="{4C815273-398C-2D69-411C-38FD518E6674}"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99177486" name="Slide Image Placeholder 1"/>
          <p:cNvSpPr>
            <a:spLocks noGrp="1" noRot="1" noChangeAspect="1"/>
          </p:cNvSpPr>
          <p:nvPr>
            <p:ph type="sldImg"/>
          </p:nvPr>
        </p:nvSpPr>
        <p:spPr bwMode="auto"/>
      </p:sp>
      <p:sp>
        <p:nvSpPr>
          <p:cNvPr id="702418016" name="Notes Placeholder 2"/>
          <p:cNvSpPr>
            <a:spLocks noGrp="1"/>
          </p:cNvSpPr>
          <p:nvPr>
            <p:ph type="body" idx="1"/>
          </p:nvPr>
        </p:nvSpPr>
        <p:spPr bwMode="auto"/>
        <p:txBody>
          <a:bodyPr/>
          <a:lstStyle/>
          <a:p>
            <a:pPr>
              <a:defRPr/>
            </a:pPr>
            <a:endParaRPr/>
          </a:p>
        </p:txBody>
      </p:sp>
      <p:sp>
        <p:nvSpPr>
          <p:cNvPr id="1693033402" name="Slide Number Placeholder 3"/>
          <p:cNvSpPr>
            <a:spLocks noGrp="1"/>
          </p:cNvSpPr>
          <p:nvPr>
            <p:ph type="sldNum" sz="quarter" idx="10"/>
          </p:nvPr>
        </p:nvSpPr>
        <p:spPr bwMode="auto"/>
        <p:txBody>
          <a:bodyPr/>
          <a:lstStyle/>
          <a:p>
            <a:pPr>
              <a:defRPr/>
            </a:pPr>
            <a:fld id="{5AD7A0EB-E093-C52A-ACE3-A7B23541098A}"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44055584" name="Slide Image Placeholder 1"/>
          <p:cNvSpPr>
            <a:spLocks noGrp="1" noRot="1" noChangeAspect="1"/>
          </p:cNvSpPr>
          <p:nvPr>
            <p:ph type="sldImg"/>
          </p:nvPr>
        </p:nvSpPr>
        <p:spPr bwMode="auto"/>
      </p:sp>
      <p:sp>
        <p:nvSpPr>
          <p:cNvPr id="53108679" name="Notes Placeholder 2"/>
          <p:cNvSpPr>
            <a:spLocks noGrp="1"/>
          </p:cNvSpPr>
          <p:nvPr>
            <p:ph type="body" idx="1"/>
          </p:nvPr>
        </p:nvSpPr>
        <p:spPr bwMode="auto"/>
        <p:txBody>
          <a:bodyPr/>
          <a:lstStyle/>
          <a:p>
            <a:pPr>
              <a:defRPr/>
            </a:pPr>
            <a:endParaRPr/>
          </a:p>
        </p:txBody>
      </p:sp>
      <p:sp>
        <p:nvSpPr>
          <p:cNvPr id="391200533" name="Slide Number Placeholder 3"/>
          <p:cNvSpPr>
            <a:spLocks noGrp="1"/>
          </p:cNvSpPr>
          <p:nvPr>
            <p:ph type="sldNum" sz="quarter" idx="10"/>
          </p:nvPr>
        </p:nvSpPr>
        <p:spPr bwMode="auto"/>
        <p:txBody>
          <a:bodyPr/>
          <a:lstStyle/>
          <a:p>
            <a:pPr>
              <a:defRPr/>
            </a:pPr>
            <a:fld id="{AAF9E813-7FE8-C58E-C3D5-4D4DABC0DEEE}"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85334162" name="Slide Image Placeholder 1"/>
          <p:cNvSpPr>
            <a:spLocks noGrp="1" noRot="1" noChangeAspect="1"/>
          </p:cNvSpPr>
          <p:nvPr>
            <p:ph type="sldImg"/>
          </p:nvPr>
        </p:nvSpPr>
        <p:spPr bwMode="auto"/>
      </p:sp>
      <p:sp>
        <p:nvSpPr>
          <p:cNvPr id="1010978020" name="Notes Placeholder 2"/>
          <p:cNvSpPr>
            <a:spLocks noGrp="1"/>
          </p:cNvSpPr>
          <p:nvPr>
            <p:ph type="body" idx="1"/>
          </p:nvPr>
        </p:nvSpPr>
        <p:spPr bwMode="auto"/>
        <p:txBody>
          <a:bodyPr/>
          <a:lstStyle/>
          <a:p>
            <a:pPr>
              <a:defRPr/>
            </a:pPr>
            <a:endParaRPr/>
          </a:p>
        </p:txBody>
      </p:sp>
      <p:sp>
        <p:nvSpPr>
          <p:cNvPr id="184311813" name="Slide Number Placeholder 3"/>
          <p:cNvSpPr>
            <a:spLocks noGrp="1"/>
          </p:cNvSpPr>
          <p:nvPr>
            <p:ph type="sldNum" sz="quarter" idx="10"/>
          </p:nvPr>
        </p:nvSpPr>
        <p:spPr bwMode="auto"/>
        <p:txBody>
          <a:bodyPr/>
          <a:lstStyle/>
          <a:p>
            <a:pPr>
              <a:defRPr/>
            </a:pPr>
            <a:fld id="{0022BE23-82FA-2A89-4FFE-23726AF55956}"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70744852" name="Slide Image Placeholder 1"/>
          <p:cNvSpPr>
            <a:spLocks noGrp="1" noRot="1" noChangeAspect="1"/>
          </p:cNvSpPr>
          <p:nvPr>
            <p:ph type="sldImg"/>
          </p:nvPr>
        </p:nvSpPr>
        <p:spPr bwMode="auto"/>
      </p:sp>
      <p:sp>
        <p:nvSpPr>
          <p:cNvPr id="1099125862" name="Notes Placeholder 2"/>
          <p:cNvSpPr>
            <a:spLocks noGrp="1"/>
          </p:cNvSpPr>
          <p:nvPr>
            <p:ph type="body" idx="1"/>
          </p:nvPr>
        </p:nvSpPr>
        <p:spPr bwMode="auto"/>
        <p:txBody>
          <a:bodyPr/>
          <a:lstStyle/>
          <a:p>
            <a:pPr>
              <a:defRPr/>
            </a:pPr>
            <a:endParaRPr/>
          </a:p>
        </p:txBody>
      </p:sp>
      <p:sp>
        <p:nvSpPr>
          <p:cNvPr id="2097837639" name="Slide Number Placeholder 3"/>
          <p:cNvSpPr>
            <a:spLocks noGrp="1"/>
          </p:cNvSpPr>
          <p:nvPr>
            <p:ph type="sldNum" sz="quarter" idx="10"/>
          </p:nvPr>
        </p:nvSpPr>
        <p:spPr bwMode="auto"/>
        <p:txBody>
          <a:bodyPr/>
          <a:lstStyle/>
          <a:p>
            <a:pPr>
              <a:defRPr/>
            </a:pPr>
            <a:fld id="{96EE4F21-A57F-A017-7E0A-172C13E45AC3}"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10566891" name="Slide Image Placeholder 1"/>
          <p:cNvSpPr>
            <a:spLocks noGrp="1" noRot="1" noChangeAspect="1"/>
          </p:cNvSpPr>
          <p:nvPr>
            <p:ph type="sldImg"/>
          </p:nvPr>
        </p:nvSpPr>
        <p:spPr bwMode="auto"/>
      </p:sp>
      <p:sp>
        <p:nvSpPr>
          <p:cNvPr id="1182037737" name="Notes Placeholder 2"/>
          <p:cNvSpPr>
            <a:spLocks noGrp="1"/>
          </p:cNvSpPr>
          <p:nvPr>
            <p:ph type="body" idx="1"/>
          </p:nvPr>
        </p:nvSpPr>
        <p:spPr bwMode="auto"/>
        <p:txBody>
          <a:bodyPr/>
          <a:lstStyle/>
          <a:p>
            <a:pPr>
              <a:defRPr/>
            </a:pPr>
            <a:endParaRPr/>
          </a:p>
        </p:txBody>
      </p:sp>
      <p:sp>
        <p:nvSpPr>
          <p:cNvPr id="1705822424" name="Slide Number Placeholder 3"/>
          <p:cNvSpPr>
            <a:spLocks noGrp="1"/>
          </p:cNvSpPr>
          <p:nvPr>
            <p:ph type="sldNum" sz="quarter" idx="10"/>
          </p:nvPr>
        </p:nvSpPr>
        <p:spPr bwMode="auto"/>
        <p:txBody>
          <a:bodyPr/>
          <a:lstStyle/>
          <a:p>
            <a:pPr>
              <a:defRPr/>
            </a:pPr>
            <a:fld id="{1960E8B4-BE2F-E86A-1948-D8A5100D3D51}"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32029000" name="Slide Image Placeholder 1"/>
          <p:cNvSpPr>
            <a:spLocks noGrp="1" noRot="1" noChangeAspect="1"/>
          </p:cNvSpPr>
          <p:nvPr>
            <p:ph type="sldImg"/>
          </p:nvPr>
        </p:nvSpPr>
        <p:spPr bwMode="auto"/>
      </p:sp>
      <p:sp>
        <p:nvSpPr>
          <p:cNvPr id="1106385281"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Primary clustering happens when multiple keys hash to the same location. Secondary clustering happens when keys hash to different locations</a:t>
            </a:r>
            <a:endParaRPr/>
          </a:p>
        </p:txBody>
      </p:sp>
      <p:sp>
        <p:nvSpPr>
          <p:cNvPr id="861105862" name="Slide Number Placeholder 3"/>
          <p:cNvSpPr>
            <a:spLocks noGrp="1"/>
          </p:cNvSpPr>
          <p:nvPr>
            <p:ph type="sldNum" sz="quarter" idx="10"/>
          </p:nvPr>
        </p:nvSpPr>
        <p:spPr bwMode="auto"/>
        <p:txBody>
          <a:bodyPr/>
          <a:lstStyle/>
          <a:p>
            <a:pPr>
              <a:defRPr/>
            </a:pPr>
            <a:fld id="{4DAA6A6D-BC6E-F2AB-BD12-09BD6598BBF7}"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27173660" name="Slide Image Placeholder 1"/>
          <p:cNvSpPr>
            <a:spLocks noGrp="1" noRot="1" noChangeAspect="1"/>
          </p:cNvSpPr>
          <p:nvPr>
            <p:ph type="sldImg"/>
          </p:nvPr>
        </p:nvSpPr>
        <p:spPr bwMode="auto"/>
      </p:sp>
      <p:sp>
        <p:nvSpPr>
          <p:cNvPr id="356900255" name="Notes Placeholder 2"/>
          <p:cNvSpPr>
            <a:spLocks noGrp="1"/>
          </p:cNvSpPr>
          <p:nvPr>
            <p:ph type="body" idx="1"/>
          </p:nvPr>
        </p:nvSpPr>
        <p:spPr bwMode="auto"/>
        <p:txBody>
          <a:bodyPr/>
          <a:lstStyle/>
          <a:p>
            <a:pPr>
              <a:defRPr/>
            </a:pPr>
            <a:endParaRPr/>
          </a:p>
        </p:txBody>
      </p:sp>
      <p:sp>
        <p:nvSpPr>
          <p:cNvPr id="1038292538" name="Slide Number Placeholder 3"/>
          <p:cNvSpPr>
            <a:spLocks noGrp="1"/>
          </p:cNvSpPr>
          <p:nvPr>
            <p:ph type="sldNum" sz="quarter" idx="10"/>
          </p:nvPr>
        </p:nvSpPr>
        <p:spPr bwMode="auto"/>
        <p:txBody>
          <a:bodyPr/>
          <a:lstStyle/>
          <a:p>
            <a:pPr>
              <a:defRPr/>
            </a:pPr>
            <a:fld id="{0E0BBC42-37C3-3B3F-17A0-99B8D33AB64B}"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25391290" name="Slide Image Placeholder 1"/>
          <p:cNvSpPr>
            <a:spLocks noGrp="1" noRot="1" noChangeAspect="1"/>
          </p:cNvSpPr>
          <p:nvPr>
            <p:ph type="sldImg"/>
          </p:nvPr>
        </p:nvSpPr>
        <p:spPr bwMode="auto"/>
      </p:sp>
      <p:sp>
        <p:nvSpPr>
          <p:cNvPr id="1048315370" name="Notes Placeholder 2"/>
          <p:cNvSpPr>
            <a:spLocks noGrp="1"/>
          </p:cNvSpPr>
          <p:nvPr>
            <p:ph type="body" idx="1"/>
          </p:nvPr>
        </p:nvSpPr>
        <p:spPr bwMode="auto"/>
        <p:txBody>
          <a:bodyPr/>
          <a:lstStyle/>
          <a:p>
            <a:pPr>
              <a:defRPr/>
            </a:pPr>
            <a:endParaRPr/>
          </a:p>
        </p:txBody>
      </p:sp>
      <p:sp>
        <p:nvSpPr>
          <p:cNvPr id="771055762" name="Slide Number Placeholder 3"/>
          <p:cNvSpPr>
            <a:spLocks noGrp="1"/>
          </p:cNvSpPr>
          <p:nvPr>
            <p:ph type="sldNum" sz="quarter" idx="10"/>
          </p:nvPr>
        </p:nvSpPr>
        <p:spPr bwMode="auto"/>
        <p:txBody>
          <a:bodyPr/>
          <a:lstStyle/>
          <a:p>
            <a:pPr>
              <a:defRPr/>
            </a:pPr>
            <a:fld id="{13368DDA-D259-2A1F-C36F-94D205067592}"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5512742" name="Slide Image Placeholder 1"/>
          <p:cNvSpPr>
            <a:spLocks noGrp="1" noRot="1" noChangeAspect="1"/>
          </p:cNvSpPr>
          <p:nvPr>
            <p:ph type="sldImg"/>
          </p:nvPr>
        </p:nvSpPr>
        <p:spPr bwMode="auto"/>
      </p:sp>
      <p:sp>
        <p:nvSpPr>
          <p:cNvPr id="280307679" name="Notes Placeholder 2"/>
          <p:cNvSpPr>
            <a:spLocks noGrp="1"/>
          </p:cNvSpPr>
          <p:nvPr>
            <p:ph type="body" idx="1"/>
          </p:nvPr>
        </p:nvSpPr>
        <p:spPr bwMode="auto"/>
        <p:txBody>
          <a:bodyPr/>
          <a:lstStyle/>
          <a:p>
            <a:pPr>
              <a:defRPr/>
            </a:pPr>
            <a:endParaRPr/>
          </a:p>
        </p:txBody>
      </p:sp>
      <p:sp>
        <p:nvSpPr>
          <p:cNvPr id="2043284081" name="Slide Number Placeholder 3"/>
          <p:cNvSpPr>
            <a:spLocks noGrp="1"/>
          </p:cNvSpPr>
          <p:nvPr>
            <p:ph type="sldNum" sz="quarter" idx="10"/>
          </p:nvPr>
        </p:nvSpPr>
        <p:spPr bwMode="auto"/>
        <p:txBody>
          <a:bodyPr/>
          <a:lstStyle/>
          <a:p>
            <a:pPr>
              <a:defRPr/>
            </a:pPr>
            <a:fld id="{3F179CF4-4226-A8BB-2167-CDEFE9448F5A}"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89427292" name="Slide Image Placeholder 1"/>
          <p:cNvSpPr>
            <a:spLocks noGrp="1" noRot="1" noChangeAspect="1"/>
          </p:cNvSpPr>
          <p:nvPr>
            <p:ph type="sldImg"/>
          </p:nvPr>
        </p:nvSpPr>
        <p:spPr bwMode="auto"/>
      </p:sp>
      <p:sp>
        <p:nvSpPr>
          <p:cNvPr id="405128797" name="Notes Placeholder 2"/>
          <p:cNvSpPr>
            <a:spLocks noGrp="1"/>
          </p:cNvSpPr>
          <p:nvPr>
            <p:ph type="body" idx="1"/>
          </p:nvPr>
        </p:nvSpPr>
        <p:spPr bwMode="auto"/>
        <p:txBody>
          <a:bodyPr/>
          <a:lstStyle/>
          <a:p>
            <a:pPr>
              <a:defRPr/>
            </a:pPr>
            <a:endParaRPr/>
          </a:p>
        </p:txBody>
      </p:sp>
      <p:sp>
        <p:nvSpPr>
          <p:cNvPr id="1145819708" name="Slide Number Placeholder 3"/>
          <p:cNvSpPr>
            <a:spLocks noGrp="1"/>
          </p:cNvSpPr>
          <p:nvPr>
            <p:ph type="sldNum" sz="quarter" idx="10"/>
          </p:nvPr>
        </p:nvSpPr>
        <p:spPr bwMode="auto"/>
        <p:txBody>
          <a:bodyPr/>
          <a:lstStyle/>
          <a:p>
            <a:pPr>
              <a:defRPr/>
            </a:pPr>
            <a:fld id="{92D463BE-E0E7-5429-3E82-2F9B02938470}"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20719372" name="Slide Image Placeholder 1"/>
          <p:cNvSpPr>
            <a:spLocks noGrp="1" noRot="1" noChangeAspect="1"/>
          </p:cNvSpPr>
          <p:nvPr>
            <p:ph type="sldImg"/>
          </p:nvPr>
        </p:nvSpPr>
        <p:spPr bwMode="auto"/>
      </p:sp>
      <p:sp>
        <p:nvSpPr>
          <p:cNvPr id="1239205895" name="Notes Placeholder 2"/>
          <p:cNvSpPr>
            <a:spLocks noGrp="1"/>
          </p:cNvSpPr>
          <p:nvPr>
            <p:ph type="body" idx="1"/>
          </p:nvPr>
        </p:nvSpPr>
        <p:spPr bwMode="auto"/>
        <p:txBody>
          <a:bodyPr/>
          <a:lstStyle/>
          <a:p>
            <a:pPr>
              <a:defRPr/>
            </a:pPr>
            <a:endParaRPr/>
          </a:p>
        </p:txBody>
      </p:sp>
      <p:sp>
        <p:nvSpPr>
          <p:cNvPr id="787297633" name="Slide Number Placeholder 3"/>
          <p:cNvSpPr>
            <a:spLocks noGrp="1"/>
          </p:cNvSpPr>
          <p:nvPr>
            <p:ph type="sldNum" sz="quarter" idx="10"/>
          </p:nvPr>
        </p:nvSpPr>
        <p:spPr bwMode="auto"/>
        <p:txBody>
          <a:bodyPr/>
          <a:lstStyle/>
          <a:p>
            <a:pPr>
              <a:defRPr/>
            </a:pPr>
            <a:fld id="{2718D4B6-DAA6-DC75-6317-6EA77F1ADFF0}"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249129" name="Slide Image Placeholder 1"/>
          <p:cNvSpPr>
            <a:spLocks noGrp="1" noRot="1" noChangeAspect="1"/>
          </p:cNvSpPr>
          <p:nvPr>
            <p:ph type="sldImg"/>
          </p:nvPr>
        </p:nvSpPr>
        <p:spPr bwMode="auto"/>
      </p:sp>
      <p:sp>
        <p:nvSpPr>
          <p:cNvPr id="1085645281" name="Notes Placeholder 2"/>
          <p:cNvSpPr>
            <a:spLocks noGrp="1"/>
          </p:cNvSpPr>
          <p:nvPr>
            <p:ph type="body" idx="1"/>
          </p:nvPr>
        </p:nvSpPr>
        <p:spPr bwMode="auto"/>
        <p:txBody>
          <a:bodyPr/>
          <a:lstStyle/>
          <a:p>
            <a:pPr>
              <a:defRPr/>
            </a:pPr>
            <a:endParaRPr/>
          </a:p>
        </p:txBody>
      </p:sp>
      <p:sp>
        <p:nvSpPr>
          <p:cNvPr id="745956711" name="Slide Number Placeholder 3"/>
          <p:cNvSpPr>
            <a:spLocks noGrp="1"/>
          </p:cNvSpPr>
          <p:nvPr>
            <p:ph type="sldNum" sz="quarter" idx="10"/>
          </p:nvPr>
        </p:nvSpPr>
        <p:spPr bwMode="auto"/>
        <p:txBody>
          <a:bodyPr/>
          <a:lstStyle/>
          <a:p>
            <a:pPr>
              <a:defRPr/>
            </a:pPr>
            <a:fld id="{50683735-E013-4F01-B2D9-DDFF5F683071}" type="slidenum">
              <a:rPr/>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p>
        </p:txBody>
      </p:sp>
      <p:sp>
        <p:nvSpPr>
          <p:cNvPr id="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p>
        </p:txBody>
      </p:sp>
      <p:sp>
        <p:nvSpPr>
          <p:cNvPr id="3"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365125"/>
            <a:ext cx="10515600" cy="1325563"/>
          </a:xfrm>
        </p:spPr>
        <p:txBody>
          <a:bodyPr/>
          <a:lstStyle/>
          <a:p>
            <a:pPr>
              <a:defRPr/>
            </a:pPr>
            <a:r>
              <a:rPr lang="en-US"/>
              <a:t>Click to edit Master title style</a:t>
            </a:r>
          </a:p>
        </p:txBody>
      </p:sp>
      <p:sp>
        <p:nvSpPr>
          <p:cNvPr id="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 name="Date Placeholder 6"/>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Date Placeholder 2"/>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3"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3" name="Picture Placeholder 2"/>
          <p:cNvSpPr>
            <a:spLocks noGrp="1" noChangeAspect="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p>
        </p:txBody>
      </p:sp>
      <p:sp>
        <p:nvSpPr>
          <p:cNvPr id="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6/21/2025</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6/21/2025</a:t>
            </a:fld>
            <a:endParaRPr lang="en-US"/>
          </a:p>
        </p:txBody>
      </p:sp>
      <p:sp>
        <p:nvSpPr>
          <p:cNvPr id="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p:txBody>
          <a:bodyPr/>
          <a:lstStyle/>
          <a:p>
            <a:pPr>
              <a:defRPr/>
            </a:pPr>
            <a:r>
              <a:rPr lang="en-US" dirty="0"/>
              <a:t>Searching Algorithm and Hashing </a:t>
            </a:r>
          </a:p>
        </p:txBody>
      </p:sp>
      <p:sp>
        <p:nvSpPr>
          <p:cNvPr id="3" name="Subtitle 2"/>
          <p:cNvSpPr>
            <a:spLocks noGrp="1"/>
          </p:cNvSpPr>
          <p:nvPr>
            <p:ph type="subTitle" idx="1"/>
          </p:nvPr>
        </p:nvSpPr>
        <p:spPr bwMode="auto"/>
        <p:txBody>
          <a:bodyPr/>
          <a:lstStyle/>
          <a:p>
            <a:pPr>
              <a:defRPr/>
            </a:pPr>
            <a:r>
              <a:rPr lang="en-US"/>
              <a:t>Unit-8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47411095"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Searching algorithms</a:t>
            </a:r>
            <a:endParaRPr/>
          </a:p>
        </p:txBody>
      </p:sp>
      <p:sp>
        <p:nvSpPr>
          <p:cNvPr id="1376465239"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0000" lnSpcReduction="2000"/>
          </a:bodyPr>
          <a:lstStyle/>
          <a:p>
            <a:pPr>
              <a:defRPr/>
            </a:pPr>
            <a:r>
              <a:rPr lang="en-US" sz="2800" b="0" i="0" u="none" strike="noStrike" cap="none" spc="0">
                <a:solidFill>
                  <a:schemeClr val="tx1"/>
                </a:solidFill>
                <a:latin typeface="Arial"/>
                <a:ea typeface="Arial"/>
                <a:cs typeface="Arial"/>
              </a:rPr>
              <a:t>Searching algorithms are a fundamental concept in Data Structures and Algorithms (DSA). </a:t>
            </a:r>
          </a:p>
          <a:p>
            <a:pPr>
              <a:defRPr/>
            </a:pPr>
            <a:r>
              <a:rPr lang="en-US" sz="2800" b="0" i="0" u="none" strike="noStrike" cap="none" spc="0">
                <a:solidFill>
                  <a:schemeClr val="tx1"/>
                </a:solidFill>
                <a:latin typeface="Arial"/>
                <a:ea typeface="Arial"/>
                <a:cs typeface="Arial"/>
              </a:rPr>
              <a:t>They are techniques used to locate a specific element or value within a collection of data.</a:t>
            </a:r>
          </a:p>
          <a:p>
            <a:pPr>
              <a:defRPr/>
            </a:pPr>
            <a:r>
              <a:rPr lang="en-US" sz="2800" b="0" i="0" u="none" strike="noStrike" cap="none" spc="0">
                <a:solidFill>
                  <a:schemeClr val="tx1"/>
                </a:solidFill>
                <a:latin typeface="Arial"/>
                <a:ea typeface="Arial"/>
                <a:cs typeface="Arial"/>
              </a:rPr>
              <a:t> These algorithms are essential for various tasks in computer science, including:</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Finding a particular record in a database</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Locating a file on a computer system</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Identifying an element in an array or list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90562084" name="Title 1"/>
          <p:cNvSpPr>
            <a:spLocks noGrp="1"/>
          </p:cNvSpPr>
          <p:nvPr>
            <p:ph type="title"/>
          </p:nvPr>
        </p:nvSpPr>
        <p:spPr bwMode="auto"/>
        <p:txBody>
          <a:bodyPr/>
          <a:lstStyle/>
          <a:p>
            <a:pPr>
              <a:defRPr/>
            </a:pPr>
            <a:r>
              <a:t>Sequential Search/Linear Search</a:t>
            </a:r>
          </a:p>
        </p:txBody>
      </p:sp>
      <p:sp>
        <p:nvSpPr>
          <p:cNvPr id="882283481"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80000" lnSpcReduction="4000"/>
          </a:bodyPr>
          <a:lstStyle/>
          <a:p>
            <a:pPr>
              <a:defRPr/>
            </a:pPr>
            <a:r>
              <a:rPr lang="en-US" sz="2800" b="0" i="0" u="none" strike="noStrike" cap="none" spc="0">
                <a:solidFill>
                  <a:schemeClr val="tx1"/>
                </a:solidFill>
                <a:latin typeface="Arial"/>
                <a:ea typeface="Arial"/>
                <a:cs typeface="Arial"/>
              </a:rPr>
              <a:t>Description: It sequentially checks each element of the list until a match is found or the end of the list is reached.</a:t>
            </a:r>
            <a:endParaRPr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Complexity: O(n) in the worst case, where n is the number of elements in the list.</a:t>
            </a:r>
            <a:endParaRPr lang="en-US" sz="2800" b="0" i="0" u="none" strike="noStrike" cap="none" spc="0">
              <a:solidFill>
                <a:schemeClr val="tx1"/>
              </a:solidFill>
              <a:latin typeface="Times New Roman"/>
              <a:cs typeface="Times New Roman"/>
            </a:endParaRPr>
          </a:p>
          <a:p>
            <a:pPr>
              <a:defRPr/>
            </a:pPr>
            <a:r>
              <a:rPr lang="en-US" sz="2800" b="0" i="0" u="none" strike="noStrike" cap="none" spc="0">
                <a:solidFill>
                  <a:schemeClr val="tx1"/>
                </a:solidFill>
                <a:latin typeface="Arial"/>
                <a:ea typeface="Arial"/>
                <a:cs typeface="Arial"/>
              </a:rPr>
              <a:t>Algorithm:-	</a:t>
            </a:r>
            <a:endParaRPr lang="en-US" sz="2800" b="0" i="0" u="none" strike="noStrike" cap="none" spc="0">
              <a:solidFill>
                <a:schemeClr val="tx1"/>
              </a:solidFill>
              <a:latin typeface="Times New Roman"/>
              <a:cs typeface="Times New Roman"/>
            </a:endParaRPr>
          </a:p>
          <a:p>
            <a:pPr lvl="1">
              <a:defRPr/>
            </a:pPr>
            <a:r>
              <a:rPr lang="en-US" sz="2000" b="0" i="0" u="none" strike="noStrike" cap="none" spc="0">
                <a:solidFill>
                  <a:schemeClr val="tx1"/>
                </a:solidFill>
                <a:latin typeface="Arial"/>
                <a:ea typeface="Arial"/>
                <a:cs typeface="Arial"/>
              </a:rPr>
              <a:t>Start: Begin at the first element of the collection of elements.</a:t>
            </a:r>
            <a:endParaRPr lang="en-US" sz="2400" b="0" i="0" u="none" strike="noStrike" cap="none" spc="0">
              <a:solidFill>
                <a:schemeClr val="tx1"/>
              </a:solidFill>
              <a:latin typeface="Arial"/>
              <a:cs typeface="Arial"/>
            </a:endParaRPr>
          </a:p>
          <a:p>
            <a:pPr lvl="1">
              <a:defRPr/>
            </a:pPr>
            <a:r>
              <a:rPr lang="en-US" sz="2000" b="0" i="0" u="none" strike="noStrike" cap="none" spc="0">
                <a:solidFill>
                  <a:schemeClr val="tx1"/>
                </a:solidFill>
                <a:latin typeface="Arial"/>
                <a:ea typeface="Arial"/>
                <a:cs typeface="Arial"/>
              </a:rPr>
              <a:t>Compare: Compare the current element with the desired element.</a:t>
            </a:r>
            <a:endParaRPr lang="en-US" sz="2400" b="0" i="0" u="none" strike="noStrike" cap="none" spc="0">
              <a:solidFill>
                <a:schemeClr val="tx1"/>
              </a:solidFill>
              <a:latin typeface="Arial"/>
              <a:cs typeface="Arial"/>
            </a:endParaRPr>
          </a:p>
          <a:p>
            <a:pPr lvl="1">
              <a:defRPr/>
            </a:pPr>
            <a:r>
              <a:rPr lang="en-US" sz="2000" b="0" i="0" u="none" strike="noStrike" cap="none" spc="0">
                <a:solidFill>
                  <a:schemeClr val="tx1"/>
                </a:solidFill>
                <a:latin typeface="Arial"/>
                <a:ea typeface="Arial"/>
                <a:cs typeface="Arial"/>
              </a:rPr>
              <a:t>Found: If the current element is equal to the desired element, return true or index to the current element.</a:t>
            </a:r>
            <a:endParaRPr lang="en-US" sz="2400" b="0" i="0" u="none" strike="noStrike" cap="none" spc="0">
              <a:solidFill>
                <a:schemeClr val="tx1"/>
              </a:solidFill>
              <a:latin typeface="Arial"/>
              <a:cs typeface="Arial"/>
            </a:endParaRPr>
          </a:p>
          <a:p>
            <a:pPr lvl="1">
              <a:defRPr/>
            </a:pPr>
            <a:r>
              <a:rPr lang="en-US" sz="2000" b="0" i="0" u="none" strike="noStrike" cap="none" spc="0">
                <a:solidFill>
                  <a:schemeClr val="tx1"/>
                </a:solidFill>
                <a:latin typeface="Arial"/>
                <a:ea typeface="Arial"/>
                <a:cs typeface="Arial"/>
              </a:rPr>
              <a:t>Move: Otherwise, move to the next element in the collection.</a:t>
            </a:r>
            <a:endParaRPr lang="en-US" sz="2400" b="0" i="0" u="none" strike="noStrike" cap="none" spc="0">
              <a:solidFill>
                <a:schemeClr val="tx1"/>
              </a:solidFill>
              <a:latin typeface="Arial"/>
              <a:cs typeface="Arial"/>
            </a:endParaRPr>
          </a:p>
          <a:p>
            <a:pPr lvl="1">
              <a:defRPr/>
            </a:pPr>
            <a:r>
              <a:rPr lang="en-US" sz="2000" b="0" i="0" u="none" strike="noStrike" cap="none" spc="0">
                <a:solidFill>
                  <a:schemeClr val="tx1"/>
                </a:solidFill>
                <a:latin typeface="Arial"/>
                <a:ea typeface="Arial"/>
                <a:cs typeface="Arial"/>
              </a:rPr>
              <a:t>Repeat: Repeat steps 2-4 until we have reached the end of collection.</a:t>
            </a:r>
            <a:endParaRPr lang="en-US" sz="2400" b="0" i="0" u="none" strike="noStrike" cap="none" spc="0">
              <a:solidFill>
                <a:schemeClr val="tx1"/>
              </a:solidFill>
              <a:latin typeface="Arial"/>
              <a:cs typeface="Arial"/>
            </a:endParaRPr>
          </a:p>
          <a:p>
            <a:pPr lvl="1">
              <a:defRPr/>
            </a:pPr>
            <a:r>
              <a:rPr lang="en-US" sz="2400" b="0" i="0" u="none" strike="noStrike" cap="none" spc="0">
                <a:solidFill>
                  <a:schemeClr val="tx1"/>
                </a:solidFill>
                <a:latin typeface="Arial"/>
                <a:ea typeface="Arial"/>
                <a:cs typeface="Arial"/>
              </a:rPr>
              <a:t>Not found: If the end of the collection is reached without finding the desired element, return that the desired element is not in the array.</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3680639" name="Title 1"/>
          <p:cNvSpPr>
            <a:spLocks noGrp="1"/>
          </p:cNvSpPr>
          <p:nvPr>
            <p:ph type="title"/>
          </p:nvPr>
        </p:nvSpPr>
        <p:spPr bwMode="auto"/>
        <p:txBody>
          <a:bodyPr/>
          <a:lstStyle/>
          <a:p>
            <a:pPr>
              <a:defRPr/>
            </a:pPr>
            <a:r>
              <a:t>Program</a:t>
            </a:r>
          </a:p>
        </p:txBody>
      </p:sp>
      <p:pic>
        <p:nvPicPr>
          <p:cNvPr id="132067061" name="Picture 132067060"/>
          <p:cNvPicPr>
            <a:picLocks noChangeAspect="1"/>
          </p:cNvPicPr>
          <p:nvPr/>
        </p:nvPicPr>
        <p:blipFill>
          <a:blip r:embed="rId3"/>
          <a:stretch/>
        </p:blipFill>
        <p:spPr bwMode="auto">
          <a:xfrm>
            <a:off x="3713134" y="365124"/>
            <a:ext cx="8105811" cy="61086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8134244" name="Title 1"/>
          <p:cNvSpPr>
            <a:spLocks noGrp="1"/>
          </p:cNvSpPr>
          <p:nvPr>
            <p:ph type="title"/>
          </p:nvPr>
        </p:nvSpPr>
        <p:spPr bwMode="auto"/>
        <p:txBody>
          <a:bodyPr/>
          <a:lstStyle/>
          <a:p>
            <a:pPr>
              <a:defRPr/>
            </a:pPr>
            <a:r>
              <a:t>Binary Search</a:t>
            </a:r>
          </a:p>
        </p:txBody>
      </p:sp>
      <p:sp>
        <p:nvSpPr>
          <p:cNvPr id="994240023" name="Content Placeholder 2"/>
          <p:cNvSpPr>
            <a:spLocks noGrp="1"/>
          </p:cNvSpPr>
          <p:nvPr>
            <p:ph idx="1"/>
          </p:nvPr>
        </p:nvSpPr>
        <p:spPr bwMode="auto"/>
        <p:txBody>
          <a:bodyPr/>
          <a:lstStyle/>
          <a:p>
            <a:pPr>
              <a:defRPr/>
            </a:pPr>
            <a:r>
              <a:rPr lang="en-US" sz="2800" b="0" i="0" u="none" strike="noStrike" cap="none" spc="0">
                <a:solidFill>
                  <a:schemeClr val="tx1"/>
                </a:solidFill>
                <a:latin typeface="Arial"/>
                <a:ea typeface="Arial"/>
                <a:cs typeface="Arial"/>
              </a:rPr>
              <a:t>Binary Search, also known as half-interval search is one of the most popular search techniques to find elements in a sorted array. Here, you have to make sure that the array is sorted.</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The algorithm follows the divide and conquer approach, where the complete array is divided into two halves and the element to be searched is compared with the middle element of the list.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2457362" name="Title 1"/>
          <p:cNvSpPr>
            <a:spLocks noGrp="1"/>
          </p:cNvSpPr>
          <p:nvPr>
            <p:ph type="title"/>
          </p:nvPr>
        </p:nvSpPr>
        <p:spPr bwMode="auto"/>
        <p:txBody>
          <a:bodyPr/>
          <a:lstStyle/>
          <a:p>
            <a:pPr>
              <a:defRPr/>
            </a:pPr>
            <a:r>
              <a:t>Algorithm</a:t>
            </a:r>
          </a:p>
        </p:txBody>
      </p:sp>
      <p:sp>
        <p:nvSpPr>
          <p:cNvPr id="959295927"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5000" lnSpcReduction="1000"/>
          </a:bodyPr>
          <a:lstStyle/>
          <a:p>
            <a:pPr>
              <a:defRPr/>
            </a:pPr>
            <a:r>
              <a:rPr lang="en-US" sz="2800" b="0" i="0" u="none" strike="noStrike" cap="none" spc="0">
                <a:solidFill>
                  <a:schemeClr val="tx1"/>
                </a:solidFill>
                <a:latin typeface="Arial"/>
                <a:ea typeface="Arial"/>
                <a:cs typeface="Arial"/>
              </a:rPr>
              <a:t>Consider a key element you wish to search. </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Compare the key element with the middle element</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If the element you wish to search matches with the middle element, then return the index of the middle element.</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Else if the element you wish to search is greater than the middle element, then the key element can only lie on the right-hand side of the middle element. Then, you have to recur the right half of the sub-array.</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Else if the element you wish to search is less than the middle element, then you have to recur the left half.</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961191428" name="Picture 961191427"/>
          <p:cNvPicPr>
            <a:picLocks noChangeAspect="1"/>
          </p:cNvPicPr>
          <p:nvPr/>
        </p:nvPicPr>
        <p:blipFill>
          <a:blip r:embed="rId3"/>
          <a:stretch/>
        </p:blipFill>
        <p:spPr bwMode="auto">
          <a:xfrm>
            <a:off x="1824279" y="862093"/>
            <a:ext cx="9162882" cy="51338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840976077" name="Picture 840976076"/>
          <p:cNvPicPr>
            <a:picLocks noChangeAspect="1"/>
          </p:cNvPicPr>
          <p:nvPr/>
        </p:nvPicPr>
        <p:blipFill>
          <a:blip r:embed="rId3"/>
          <a:stretch/>
        </p:blipFill>
        <p:spPr bwMode="auto">
          <a:xfrm>
            <a:off x="366346" y="751009"/>
            <a:ext cx="10859523" cy="21797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23121810" name="Title 1"/>
          <p:cNvSpPr>
            <a:spLocks noGrp="1"/>
          </p:cNvSpPr>
          <p:nvPr>
            <p:ph type="title"/>
          </p:nvPr>
        </p:nvSpPr>
        <p:spPr bwMode="auto"/>
        <p:txBody>
          <a:bodyPr/>
          <a:lstStyle/>
          <a:p>
            <a:pPr algn="ctr">
              <a:defRPr/>
            </a:pPr>
            <a:r>
              <a:rPr lang="en-US"/>
              <a:t>Hashing</a:t>
            </a:r>
            <a:endParaRPr/>
          </a:p>
        </p:txBody>
      </p:sp>
      <p:sp>
        <p:nvSpPr>
          <p:cNvPr id="304434673" name="Content Placeholder 2"/>
          <p:cNvSpPr>
            <a:spLocks noGrp="1"/>
          </p:cNvSpPr>
          <p:nvPr>
            <p:ph idx="1"/>
          </p:nvPr>
        </p:nvSpPr>
        <p:spPr bwMode="auto"/>
        <p:txBody>
          <a:bodyPr/>
          <a:lstStyle/>
          <a:p>
            <a:pPr>
              <a:defRPr/>
            </a:pPr>
            <a:r>
              <a:rPr lang="en-US"/>
              <a:t>Hashing is a technique used in data structures and algorithms to </a:t>
            </a:r>
            <a:r>
              <a:rPr lang="en-US">
                <a:solidFill>
                  <a:srgbClr val="FF0000"/>
                </a:solidFill>
              </a:rPr>
              <a:t>map data to a fixed-size array called a hash table</a:t>
            </a:r>
            <a:r>
              <a:rPr lang="en-US"/>
              <a:t>. </a:t>
            </a:r>
            <a:endParaRPr/>
          </a:p>
          <a:p>
            <a:pPr>
              <a:defRPr/>
            </a:pPr>
            <a:r>
              <a:rPr lang="en-US"/>
              <a:t>It is an efficient way to </a:t>
            </a:r>
            <a:r>
              <a:rPr lang="en-US">
                <a:solidFill>
                  <a:srgbClr val="FF0000"/>
                </a:solidFill>
              </a:rPr>
              <a:t>store and retrieve </a:t>
            </a:r>
            <a:r>
              <a:rPr lang="en-US"/>
              <a:t>data based on its key.</a:t>
            </a:r>
            <a:endParaRPr/>
          </a:p>
          <a:p>
            <a:pPr>
              <a:defRPr/>
            </a:pPr>
            <a:r>
              <a:rPr lang="en-US"/>
              <a:t> The main idea behind hashing is to quickly locate a specific element by computing its hash code and using it as an index in the hash table.</a:t>
            </a:r>
            <a:endParaRPr/>
          </a:p>
          <a:p>
            <a:pPr>
              <a:defRPr/>
            </a:pPr>
            <a:r>
              <a:rPr lang="en-US"/>
              <a:t>The time complexity of hashing is O(1), which means that the time it takes to add or retrieve data from a hash table is constant, regardless of the size of the hash table.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03855462" name="Title 1"/>
          <p:cNvSpPr>
            <a:spLocks noGrp="1"/>
          </p:cNvSpPr>
          <p:nvPr>
            <p:ph type="title"/>
          </p:nvPr>
        </p:nvSpPr>
        <p:spPr bwMode="auto">
          <a:xfrm>
            <a:off x="838198" y="365124"/>
            <a:ext cx="10515600" cy="636360"/>
          </a:xfrm>
        </p:spPr>
        <p:txBody>
          <a:bodyPr>
            <a:normAutofit fontScale="90000"/>
          </a:bodyPr>
          <a:lstStyle/>
          <a:p>
            <a:pPr algn="ctr">
              <a:defRPr/>
            </a:pPr>
            <a:r>
              <a:rPr lang="en-US"/>
              <a:t>Hashing</a:t>
            </a:r>
            <a:endParaRPr/>
          </a:p>
        </p:txBody>
      </p:sp>
      <p:sp>
        <p:nvSpPr>
          <p:cNvPr id="879477654" name="Content Placeholder 2"/>
          <p:cNvSpPr>
            <a:spLocks noGrp="1"/>
          </p:cNvSpPr>
          <p:nvPr>
            <p:ph idx="1"/>
          </p:nvPr>
        </p:nvSpPr>
        <p:spPr bwMode="auto">
          <a:xfrm>
            <a:off x="838198" y="1001485"/>
            <a:ext cx="10515600" cy="5491388"/>
          </a:xfrm>
        </p:spPr>
        <p:txBody>
          <a:bodyPr>
            <a:normAutofit/>
          </a:bodyPr>
          <a:lstStyle/>
          <a:p>
            <a:pPr lvl="1">
              <a:defRPr/>
            </a:pPr>
            <a:r>
              <a:rPr lang="en-US"/>
              <a:t>Hash Function </a:t>
            </a:r>
            <a:endParaRPr/>
          </a:p>
          <a:p>
            <a:pPr lvl="2">
              <a:defRPr/>
            </a:pPr>
            <a:r>
              <a:rPr lang="en-US"/>
              <a:t>A hash function is a mathematical algorithm that takes an input (key) and generates a fixed-size numeric value called a hash code or hash value.</a:t>
            </a:r>
            <a:endParaRPr/>
          </a:p>
          <a:p>
            <a:pPr lvl="2">
              <a:defRPr/>
            </a:pPr>
            <a:r>
              <a:rPr lang="en-US"/>
              <a:t> The hash function should ideally distribute the keys uniformly across the hash table.</a:t>
            </a:r>
            <a:endParaRPr/>
          </a:p>
          <a:p>
            <a:pPr lvl="1">
              <a:defRPr/>
            </a:pPr>
            <a:r>
              <a:rPr lang="en-US"/>
              <a:t>Hash Table</a:t>
            </a:r>
            <a:endParaRPr/>
          </a:p>
          <a:p>
            <a:pPr lvl="2">
              <a:defRPr/>
            </a:pPr>
            <a:r>
              <a:rPr lang="en-US"/>
              <a:t>A hash table is an array of fixed size, where each element is called a bucket or slot. </a:t>
            </a:r>
            <a:endParaRPr/>
          </a:p>
          <a:p>
            <a:pPr lvl="2">
              <a:defRPr/>
            </a:pPr>
            <a:r>
              <a:rPr lang="en-US"/>
              <a:t>The size of the hash table is typically determined based on the expected number of elements to be stored.</a:t>
            </a:r>
            <a:endParaRPr/>
          </a:p>
          <a:p>
            <a:pPr lvl="1">
              <a:defRPr/>
            </a:pPr>
            <a:r>
              <a:rPr lang="en-US"/>
              <a:t>Mapping Keys to Hash Codes: </a:t>
            </a:r>
            <a:endParaRPr/>
          </a:p>
          <a:p>
            <a:pPr lvl="2">
              <a:defRPr/>
            </a:pPr>
            <a:r>
              <a:rPr lang="en-US"/>
              <a:t>When a key-value pair is inserted into the hash table, the hash function is applied to the key to compute its hash code. </a:t>
            </a:r>
            <a:endParaRPr/>
          </a:p>
          <a:p>
            <a:pPr lvl="2">
              <a:defRPr/>
            </a:pPr>
            <a:r>
              <a:rPr lang="en-US"/>
              <a:t>The hash code is then mapped to an index in the hash table using a technique called modulo division (hash code % table size). </a:t>
            </a:r>
            <a:endParaRPr/>
          </a:p>
          <a:p>
            <a:pPr lvl="2">
              <a:defRPr/>
            </a:pPr>
            <a:r>
              <a:rPr lang="en-US"/>
              <a:t>This index determines the bucket where the key-value pair will be stored.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925094530" name="Picture 4"/>
          <p:cNvPicPr>
            <a:picLocks noChangeAspect="1"/>
          </p:cNvPicPr>
          <p:nvPr/>
        </p:nvPicPr>
        <p:blipFill>
          <a:blip r:embed="rId3"/>
          <a:stretch/>
        </p:blipFill>
        <p:spPr bwMode="auto">
          <a:xfrm>
            <a:off x="1087400" y="1867847"/>
            <a:ext cx="10980452" cy="34734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00599576" name="Title 1"/>
          <p:cNvSpPr>
            <a:spLocks noGrp="1"/>
          </p:cNvSpPr>
          <p:nvPr>
            <p:ph type="title"/>
          </p:nvPr>
        </p:nvSpPr>
        <p:spPr bwMode="auto"/>
        <p:txBody>
          <a:bodyPr/>
          <a:lstStyle/>
          <a:p>
            <a:pPr algn="ctr">
              <a:defRPr/>
            </a:pPr>
            <a:r>
              <a:rPr lang="en-US"/>
              <a:t>Hashing </a:t>
            </a:r>
            <a:endParaRPr/>
          </a:p>
        </p:txBody>
      </p:sp>
      <p:sp>
        <p:nvSpPr>
          <p:cNvPr id="1572356395" name="Content Placeholder 2"/>
          <p:cNvSpPr>
            <a:spLocks noGrp="1"/>
          </p:cNvSpPr>
          <p:nvPr>
            <p:ph idx="1"/>
          </p:nvPr>
        </p:nvSpPr>
        <p:spPr bwMode="auto"/>
        <p:txBody>
          <a:bodyPr/>
          <a:lstStyle/>
          <a:p>
            <a:pPr algn="ctr">
              <a:defRPr/>
            </a:pPr>
            <a:r>
              <a:rPr lang="en-US" b="1">
                <a:solidFill>
                  <a:srgbClr val="FF0000"/>
                </a:solidFill>
              </a:rPr>
              <a:t>Collision Occur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55480418" name="Title 1"/>
          <p:cNvSpPr>
            <a:spLocks noGrp="1"/>
          </p:cNvSpPr>
          <p:nvPr>
            <p:ph type="title"/>
          </p:nvPr>
        </p:nvSpPr>
        <p:spPr bwMode="auto"/>
        <p:txBody>
          <a:bodyPr/>
          <a:lstStyle/>
          <a:p>
            <a:pPr>
              <a:defRPr/>
            </a:pPr>
            <a:r>
              <a:rPr lang="en-US"/>
              <a:t>Types of Collision</a:t>
            </a:r>
            <a:endParaRPr/>
          </a:p>
        </p:txBody>
      </p:sp>
      <p:sp>
        <p:nvSpPr>
          <p:cNvPr id="1823570806" name="Content Placeholder 2"/>
          <p:cNvSpPr>
            <a:spLocks noGrp="1"/>
          </p:cNvSpPr>
          <p:nvPr>
            <p:ph idx="1"/>
          </p:nvPr>
        </p:nvSpPr>
        <p:spPr bwMode="auto"/>
        <p:txBody>
          <a:bodyPr/>
          <a:lstStyle/>
          <a:p>
            <a:pPr>
              <a:defRPr/>
            </a:pPr>
            <a:r>
              <a:rPr lang="en-US"/>
              <a:t>Chaining</a:t>
            </a:r>
            <a:endParaRPr/>
          </a:p>
          <a:p>
            <a:pPr lvl="1">
              <a:defRPr/>
            </a:pPr>
            <a:r>
              <a:rPr lang="en-US"/>
              <a:t>Each bucket in the hash table contains a linked list or any other data structure to store multiple elements that hash to the same index.</a:t>
            </a:r>
            <a:endParaRPr/>
          </a:p>
          <a:p>
            <a:pPr>
              <a:defRPr/>
            </a:pPr>
            <a:r>
              <a:rPr lang="en-US"/>
              <a:t>Open Addressing</a:t>
            </a:r>
            <a:endParaRPr/>
          </a:p>
          <a:p>
            <a:pPr lvl="1">
              <a:defRPr/>
            </a:pPr>
            <a:r>
              <a:rPr lang="en-US"/>
              <a:t> If a collision occurs, the algorithm probes for the next available slot in the hash table until an empty slot is found.</a:t>
            </a:r>
            <a:endParaRPr/>
          </a:p>
          <a:p>
            <a:pPr lvl="1">
              <a:defRPr/>
            </a:pPr>
            <a:r>
              <a:rPr lang="en-US"/>
              <a:t>Types:-</a:t>
            </a:r>
            <a:endParaRPr/>
          </a:p>
          <a:p>
            <a:pPr lvl="2">
              <a:defRPr/>
            </a:pPr>
            <a:r>
              <a:rPr lang="en-US"/>
              <a:t>Linear Probing</a:t>
            </a:r>
            <a:endParaRPr/>
          </a:p>
          <a:p>
            <a:pPr lvl="2">
              <a:defRPr/>
            </a:pPr>
            <a:r>
              <a:rPr lang="en-US"/>
              <a:t>Quadratic Probing</a:t>
            </a:r>
            <a:endParaRPr/>
          </a:p>
          <a:p>
            <a:pPr lvl="2">
              <a:defRPr/>
            </a:pPr>
            <a:r>
              <a:rPr lang="en-US"/>
              <a:t>Double Hashing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956985326" name="Picture 2" descr="Introduction to Hashing - Data Structure and Algorithm Tutorials -  GeeksforGeeks"/>
          <p:cNvPicPr>
            <a:picLocks noChangeAspect="1" noChangeArrowheads="1"/>
          </p:cNvPicPr>
          <p:nvPr/>
        </p:nvPicPr>
        <p:blipFill>
          <a:blip r:embed="rId3"/>
          <a:stretch/>
        </p:blipFill>
        <p:spPr bwMode="auto">
          <a:xfrm>
            <a:off x="1406952" y="884462"/>
            <a:ext cx="9378093" cy="529862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35047681" name="Title 1"/>
          <p:cNvSpPr>
            <a:spLocks noGrp="1"/>
          </p:cNvSpPr>
          <p:nvPr>
            <p:ph type="title"/>
          </p:nvPr>
        </p:nvSpPr>
        <p:spPr bwMode="auto"/>
        <p:txBody>
          <a:bodyPr/>
          <a:lstStyle/>
          <a:p>
            <a:pPr algn="ctr">
              <a:defRPr/>
            </a:pPr>
            <a:r>
              <a:rPr lang="en-US"/>
              <a:t>Separate Chaining</a:t>
            </a:r>
            <a:endParaRPr/>
          </a:p>
        </p:txBody>
      </p:sp>
      <p:sp>
        <p:nvSpPr>
          <p:cNvPr id="954172386" name="Content Placeholder 2"/>
          <p:cNvSpPr>
            <a:spLocks noGrp="1"/>
          </p:cNvSpPr>
          <p:nvPr>
            <p:ph idx="1"/>
          </p:nvPr>
        </p:nvSpPr>
        <p:spPr bwMode="auto"/>
        <p:txBody>
          <a:bodyPr/>
          <a:lstStyle/>
          <a:p>
            <a:pPr>
              <a:defRPr/>
            </a:pPr>
            <a:r>
              <a:rPr lang="en-US"/>
              <a:t>Separate chaining is a specific implementation of the chaining collision resolution technique in hashing.</a:t>
            </a:r>
            <a:endParaRPr/>
          </a:p>
          <a:p>
            <a:pPr>
              <a:defRPr/>
            </a:pPr>
            <a:r>
              <a:rPr lang="en-US"/>
              <a:t> In separate chaining, each bucket in the hash table contains a separate data structure, typically a linked list, to store the key-value pairs that hash to the same index</a:t>
            </a:r>
            <a:endParaRPr/>
          </a:p>
          <a:p>
            <a:pPr>
              <a:defRPr/>
            </a:pPr>
            <a:r>
              <a:rPr lang="en-US"/>
              <a:t>Separate chaining is also known as open hashing because it involves keeping the hash table "open" by allowing multiple key-value pairs to be stored in the same bucket using a separate data structure, such as a linked list.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473675056" name="Picture 4" descr="Hashing - Separate Chaining"/>
          <p:cNvPicPr>
            <a:picLocks noChangeAspect="1" noChangeArrowheads="1"/>
          </p:cNvPicPr>
          <p:nvPr/>
        </p:nvPicPr>
        <p:blipFill>
          <a:blip r:embed="rId3"/>
          <a:stretch/>
        </p:blipFill>
        <p:spPr bwMode="auto">
          <a:xfrm>
            <a:off x="1666032" y="1094919"/>
            <a:ext cx="8859933" cy="5117193"/>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29357974" name="Title 1"/>
          <p:cNvSpPr>
            <a:spLocks noGrp="1"/>
          </p:cNvSpPr>
          <p:nvPr>
            <p:ph type="title"/>
          </p:nvPr>
        </p:nvSpPr>
        <p:spPr bwMode="auto"/>
        <p:txBody>
          <a:bodyPr/>
          <a:lstStyle/>
          <a:p>
            <a:pPr algn="ctr">
              <a:defRPr/>
            </a:pPr>
            <a:r>
              <a:rPr lang="en-US"/>
              <a:t>Separate Chaining</a:t>
            </a:r>
            <a:endParaRPr/>
          </a:p>
        </p:txBody>
      </p:sp>
      <p:sp>
        <p:nvSpPr>
          <p:cNvPr id="1439794713" name="Content Placeholder 2"/>
          <p:cNvSpPr>
            <a:spLocks noGrp="1"/>
          </p:cNvSpPr>
          <p:nvPr>
            <p:ph idx="1"/>
          </p:nvPr>
        </p:nvSpPr>
        <p:spPr bwMode="auto"/>
        <p:txBody>
          <a:bodyPr/>
          <a:lstStyle/>
          <a:p>
            <a:pPr>
              <a:defRPr/>
            </a:pPr>
            <a:r>
              <a:rPr lang="en-US">
                <a:solidFill>
                  <a:srgbClr val="333333"/>
                </a:solidFill>
                <a:latin typeface="inter-regular"/>
              </a:rPr>
              <a:t>66,42,91,87,192,16,227,49</a:t>
            </a:r>
            <a:endParaRPr lang="en-US" b="0" i="0">
              <a:solidFill>
                <a:srgbClr val="333333"/>
              </a:solidFill>
              <a:latin typeface="inter-regular"/>
            </a:endParaRPr>
          </a:p>
          <a:p>
            <a:pPr lvl="1">
              <a:defRPr/>
            </a:pPr>
            <a:r>
              <a:rPr lang="en-US">
                <a:solidFill>
                  <a:srgbClr val="333333"/>
                </a:solidFill>
                <a:latin typeface="inter-regular"/>
              </a:rPr>
              <a:t>Hash Function  :- h(k) =k mod 10</a:t>
            </a:r>
            <a:endParaRPr lang="en-US" b="0" i="0">
              <a:solidFill>
                <a:srgbClr val="333333"/>
              </a:solidFill>
              <a:latin typeface="inter-regular"/>
            </a:endParaRPr>
          </a:p>
          <a:p>
            <a:pPr>
              <a:defRPr/>
            </a:pPr>
            <a:r>
              <a:rPr lang="en-US" b="0" i="0">
                <a:solidFill>
                  <a:srgbClr val="333333"/>
                </a:solidFill>
                <a:latin typeface="inter-regular"/>
              </a:rPr>
              <a:t>50, 700, 76, 85, 92, 73, 101.</a:t>
            </a:r>
            <a:endParaRPr/>
          </a:p>
          <a:p>
            <a:pPr lvl="1">
              <a:defRPr/>
            </a:pPr>
            <a:r>
              <a:rPr lang="en-US">
                <a:solidFill>
                  <a:srgbClr val="333333"/>
                </a:solidFill>
                <a:latin typeface="inter-regular"/>
              </a:rPr>
              <a:t>Hash Function : - h(k) = k mod 7</a:t>
            </a:r>
            <a:endParaRPr/>
          </a:p>
          <a:p>
            <a:pPr lvl="1">
              <a:defRPr/>
            </a:pPr>
            <a:endParaRPr lang="en-US">
              <a:solidFill>
                <a:srgbClr val="333333"/>
              </a:solidFill>
              <a:latin typeface="inter-regular"/>
            </a:endParaRPr>
          </a:p>
          <a:p>
            <a:pPr lvl="1">
              <a:defRPr/>
            </a:pPr>
            <a:r>
              <a:rPr lang="en-US">
                <a:solidFill>
                  <a:srgbClr val="FF0000"/>
                </a:solidFill>
                <a:latin typeface="inter-regular"/>
              </a:rPr>
              <a:t>Perfect Hash Function</a:t>
            </a:r>
            <a:endParaRPr lang="en-US">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46891574" name="Title 1"/>
          <p:cNvSpPr>
            <a:spLocks noGrp="1"/>
          </p:cNvSpPr>
          <p:nvPr>
            <p:ph type="title"/>
          </p:nvPr>
        </p:nvSpPr>
        <p:spPr bwMode="auto">
          <a:xfrm>
            <a:off x="838199" y="365125"/>
            <a:ext cx="10515600" cy="621845"/>
          </a:xfrm>
        </p:spPr>
        <p:txBody>
          <a:bodyPr>
            <a:normAutofit fontScale="90000"/>
          </a:bodyPr>
          <a:lstStyle/>
          <a:p>
            <a:pPr algn="ctr">
              <a:defRPr/>
            </a:pPr>
            <a:r>
              <a:rPr lang="en-US" b="1"/>
              <a:t>Open Addressing(Closed Hashing)</a:t>
            </a:r>
            <a:endParaRPr/>
          </a:p>
        </p:txBody>
      </p:sp>
      <p:sp>
        <p:nvSpPr>
          <p:cNvPr id="1336993906" name="Content Placeholder 2"/>
          <p:cNvSpPr>
            <a:spLocks noGrp="1"/>
          </p:cNvSpPr>
          <p:nvPr>
            <p:ph idx="1"/>
          </p:nvPr>
        </p:nvSpPr>
        <p:spPr bwMode="auto">
          <a:xfrm>
            <a:off x="838199" y="1407885"/>
            <a:ext cx="10515600" cy="5084988"/>
          </a:xfrm>
        </p:spPr>
        <p:txBody>
          <a:bodyPr>
            <a:normAutofit lnSpcReduction="10000"/>
          </a:bodyPr>
          <a:lstStyle/>
          <a:p>
            <a:pPr>
              <a:defRPr/>
            </a:pPr>
            <a:r>
              <a:rPr lang="en-US"/>
              <a:t>Open addressing is a collision resolution technique used in hash tables to handle collisions that occur when two keys hash to the same index. </a:t>
            </a:r>
            <a:endParaRPr/>
          </a:p>
          <a:p>
            <a:pPr>
              <a:defRPr/>
            </a:pPr>
            <a:r>
              <a:rPr lang="en-US"/>
              <a:t>Open addressing </a:t>
            </a:r>
            <a:r>
              <a:rPr lang="en-US">
                <a:solidFill>
                  <a:srgbClr val="FF0000"/>
                </a:solidFill>
              </a:rPr>
              <a:t>aims to store all the keys within the hash table itself</a:t>
            </a:r>
            <a:r>
              <a:rPr lang="en-US"/>
              <a:t>, without using any additional data structures.</a:t>
            </a:r>
            <a:endParaRPr/>
          </a:p>
          <a:p>
            <a:pPr>
              <a:defRPr/>
            </a:pPr>
            <a:r>
              <a:rPr lang="en-US"/>
              <a:t>The algorithm probes the table to find an alternative empty slot to store the key. </a:t>
            </a:r>
            <a:endParaRPr/>
          </a:p>
          <a:p>
            <a:pPr lvl="1">
              <a:defRPr/>
            </a:pPr>
            <a:r>
              <a:rPr lang="en-US"/>
              <a:t> It refers to the process of searching for an available slot or key within the hash table when a collision occurs. </a:t>
            </a:r>
            <a:endParaRPr/>
          </a:p>
          <a:p>
            <a:pPr lvl="1">
              <a:defRPr/>
            </a:pPr>
            <a:r>
              <a:rPr lang="en-US"/>
              <a:t>It involves determining the sequence of steps or positions to examine in order to find an empty slot or the desired key.</a:t>
            </a:r>
            <a:endParaRPr/>
          </a:p>
          <a:p>
            <a:pPr>
              <a:defRPr/>
            </a:pPr>
            <a:r>
              <a:rPr lang="en-US"/>
              <a:t>The probing is done by following a predefined sequence of steps, usually based on a hash function, until an empty slot is found.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53107099" name="Title 1"/>
          <p:cNvSpPr>
            <a:spLocks noGrp="1"/>
          </p:cNvSpPr>
          <p:nvPr>
            <p:ph type="title"/>
          </p:nvPr>
        </p:nvSpPr>
        <p:spPr bwMode="auto"/>
        <p:txBody>
          <a:bodyPr/>
          <a:lstStyle/>
          <a:p>
            <a:pPr>
              <a:defRPr/>
            </a:pPr>
            <a:r>
              <a:rPr lang="en-US"/>
              <a:t>Open Addressing(Closed Hashing)</a:t>
            </a:r>
            <a:endParaRPr/>
          </a:p>
        </p:txBody>
      </p:sp>
      <p:sp>
        <p:nvSpPr>
          <p:cNvPr id="511699899" name="Content Placeholder 2"/>
          <p:cNvSpPr>
            <a:spLocks noGrp="1"/>
          </p:cNvSpPr>
          <p:nvPr>
            <p:ph idx="1"/>
          </p:nvPr>
        </p:nvSpPr>
        <p:spPr bwMode="auto"/>
        <p:txBody>
          <a:bodyPr/>
          <a:lstStyle/>
          <a:p>
            <a:pPr>
              <a:defRPr/>
            </a:pPr>
            <a:r>
              <a:rPr lang="en-US"/>
              <a:t>There are different methods for probing:- </a:t>
            </a:r>
            <a:endParaRPr/>
          </a:p>
          <a:p>
            <a:pPr lvl="1">
              <a:defRPr/>
            </a:pPr>
            <a:r>
              <a:rPr lang="en-US"/>
              <a:t>Linear probing: The next probe location is calculated by adding a constant value to the original hash value.</a:t>
            </a:r>
            <a:endParaRPr/>
          </a:p>
          <a:p>
            <a:pPr lvl="1">
              <a:defRPr/>
            </a:pPr>
            <a:r>
              <a:rPr lang="en-US"/>
              <a:t>Quadratic probing: The next probe location is calculated by adding a quadratic function of the number of probes already attempted to the original hash value.</a:t>
            </a:r>
            <a:endParaRPr/>
          </a:p>
          <a:p>
            <a:pPr lvl="1">
              <a:defRPr/>
            </a:pPr>
            <a:r>
              <a:rPr lang="en-US"/>
              <a:t>Double hashing: A second hash function is used to calculate the next probe location.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05962551" name="Title 1"/>
          <p:cNvSpPr>
            <a:spLocks noGrp="1"/>
          </p:cNvSpPr>
          <p:nvPr>
            <p:ph type="title"/>
          </p:nvPr>
        </p:nvSpPr>
        <p:spPr bwMode="auto"/>
        <p:txBody>
          <a:bodyPr/>
          <a:lstStyle/>
          <a:p>
            <a:pPr algn="ctr">
              <a:defRPr/>
            </a:pPr>
            <a:r>
              <a:rPr lang="en-US"/>
              <a:t>Linear probing</a:t>
            </a:r>
            <a:endParaRPr/>
          </a:p>
        </p:txBody>
      </p:sp>
      <p:sp>
        <p:nvSpPr>
          <p:cNvPr id="885559243" name="Content Placeholder 2"/>
          <p:cNvSpPr>
            <a:spLocks noGrp="1"/>
          </p:cNvSpPr>
          <p:nvPr>
            <p:ph idx="1"/>
          </p:nvPr>
        </p:nvSpPr>
        <p:spPr bwMode="auto"/>
        <p:txBody>
          <a:bodyPr/>
          <a:lstStyle/>
          <a:p>
            <a:pPr>
              <a:defRPr/>
            </a:pPr>
            <a:r>
              <a:rPr lang="en-US"/>
              <a:t>In linear probing, if a collision occurs, the algorithm checks the next slot in a </a:t>
            </a:r>
            <a:r>
              <a:rPr lang="en-US">
                <a:solidFill>
                  <a:srgbClr val="FF0000"/>
                </a:solidFill>
              </a:rPr>
              <a:t>linear sequence </a:t>
            </a:r>
            <a:r>
              <a:rPr lang="en-US"/>
              <a:t>(i.e., next index) until an empty slot is found.</a:t>
            </a:r>
            <a:endParaRPr/>
          </a:p>
          <a:p>
            <a:pPr>
              <a:defRPr/>
            </a:pPr>
            <a:r>
              <a:rPr lang="en-US"/>
              <a:t> The probing sequence can be represented as: hash(key), hash(key)+1, hash(key)+2, and so on.</a:t>
            </a:r>
            <a:endParaRPr/>
          </a:p>
          <a:p>
            <a:pPr>
              <a:defRPr/>
            </a:pPr>
            <a:r>
              <a:rPr lang="pt-BR" b="1" i="0">
                <a:solidFill>
                  <a:srgbClr val="444444"/>
                </a:solidFill>
                <a:latin typeface="Georgia"/>
              </a:rPr>
              <a:t>H(k, i) = [ h(k) + i] mod m</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10653990" name="Title 1"/>
          <p:cNvSpPr>
            <a:spLocks noGrp="1"/>
          </p:cNvSpPr>
          <p:nvPr>
            <p:ph type="title"/>
          </p:nvPr>
        </p:nvSpPr>
        <p:spPr bwMode="auto"/>
        <p:txBody>
          <a:bodyPr/>
          <a:lstStyle/>
          <a:p>
            <a:pPr>
              <a:defRPr/>
            </a:pPr>
            <a:r>
              <a:rPr lang="en-US"/>
              <a:t>Linear probing</a:t>
            </a:r>
            <a:endParaRPr/>
          </a:p>
        </p:txBody>
      </p:sp>
      <p:sp>
        <p:nvSpPr>
          <p:cNvPr id="2021726817" name="Content Placeholder 2"/>
          <p:cNvSpPr>
            <a:spLocks noGrp="1"/>
          </p:cNvSpPr>
          <p:nvPr>
            <p:ph idx="1"/>
          </p:nvPr>
        </p:nvSpPr>
        <p:spPr bwMode="auto"/>
        <p:txBody>
          <a:bodyPr/>
          <a:lstStyle/>
          <a:p>
            <a:pPr>
              <a:defRPr/>
            </a:pPr>
            <a:r>
              <a:rPr lang="en-US" b="0" i="0">
                <a:solidFill>
                  <a:srgbClr val="444444"/>
                </a:solidFill>
                <a:latin typeface="Georgia"/>
              </a:rPr>
              <a:t>31, 26, 43, 27, 34, 46, 14, 58, 13, 17.</a:t>
            </a:r>
            <a:endParaRPr/>
          </a:p>
          <a:p>
            <a:pPr>
              <a:defRPr/>
            </a:pPr>
            <a:r>
              <a:rPr lang="da-DK" b="0" i="0">
                <a:solidFill>
                  <a:srgbClr val="444444"/>
                </a:solidFill>
                <a:latin typeface="Georgia"/>
              </a:rPr>
              <a:t>h(k) = k mod 12</a:t>
            </a:r>
            <a:endParaRPr/>
          </a:p>
          <a:p>
            <a:pPr>
              <a:defRPr/>
            </a:pPr>
            <a:endParaRPr lang="da-DK">
              <a:solidFill>
                <a:srgbClr val="444444"/>
              </a:solidFill>
              <a:latin typeface="Georgia"/>
            </a:endParaRPr>
          </a:p>
          <a:p>
            <a:pPr>
              <a:defRPr/>
            </a:pPr>
            <a:r>
              <a:rPr lang="da-DK">
                <a:solidFill>
                  <a:srgbClr val="444444"/>
                </a:solidFill>
                <a:latin typeface="Georgia"/>
              </a:rPr>
              <a:t>Disadvantage</a:t>
            </a:r>
            <a:endParaRPr/>
          </a:p>
          <a:p>
            <a:pPr lvl="1">
              <a:defRPr/>
            </a:pPr>
            <a:r>
              <a:rPr lang="da-DK">
                <a:solidFill>
                  <a:srgbClr val="444444"/>
                </a:solidFill>
                <a:latin typeface="Georgia"/>
              </a:rPr>
              <a:t>Search time</a:t>
            </a:r>
            <a:endParaRPr/>
          </a:p>
          <a:p>
            <a:pPr lvl="1">
              <a:defRPr/>
            </a:pPr>
            <a:r>
              <a:rPr lang="da-DK">
                <a:solidFill>
                  <a:srgbClr val="444444"/>
                </a:solidFill>
                <a:latin typeface="Georgia"/>
              </a:rPr>
              <a:t>Deletion of data</a:t>
            </a:r>
            <a:endParaRPr/>
          </a:p>
          <a:p>
            <a:pPr lvl="1">
              <a:defRPr/>
            </a:pPr>
            <a:r>
              <a:rPr lang="da-DK">
                <a:solidFill>
                  <a:srgbClr val="444444"/>
                </a:solidFill>
                <a:latin typeface="Georgia"/>
              </a:rPr>
              <a:t>Primary clustering</a:t>
            </a:r>
            <a:endParaRPr/>
          </a:p>
          <a:p>
            <a:pPr lvl="2">
              <a:defRPr/>
            </a:pPr>
            <a:r>
              <a:rPr lang="en-US">
                <a:solidFill>
                  <a:srgbClr val="444444"/>
                </a:solidFill>
                <a:latin typeface="Georgia"/>
              </a:rPr>
              <a:t>we need to traverse the whole cluster every time we wish to insert a new value in case of collision.</a:t>
            </a:r>
            <a:endParaRPr lang="da-DK">
              <a:solidFill>
                <a:srgbClr val="444444"/>
              </a:solidFill>
              <a:latin typeface="Georgia"/>
            </a:endParaRPr>
          </a:p>
          <a:p>
            <a:pPr lvl="1">
              <a:defRPr/>
            </a:pPr>
            <a:r>
              <a:rPr lang="da-DK">
                <a:solidFill>
                  <a:srgbClr val="444444"/>
                </a:solidFill>
                <a:latin typeface="Georgia"/>
              </a:rPr>
              <a:t>Secondary Clustering</a:t>
            </a:r>
            <a:endParaRPr/>
          </a:p>
          <a:p>
            <a:pPr lvl="1">
              <a:defRPr/>
            </a:pP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3911096" name="Title 1"/>
          <p:cNvSpPr>
            <a:spLocks noGrp="1"/>
          </p:cNvSpPr>
          <p:nvPr>
            <p:ph type="title"/>
          </p:nvPr>
        </p:nvSpPr>
        <p:spPr bwMode="auto"/>
        <p:txBody>
          <a:bodyPr/>
          <a:lstStyle/>
          <a:p>
            <a:pPr algn="ctr">
              <a:defRPr/>
            </a:pPr>
            <a:r>
              <a:rPr lang="en-US"/>
              <a:t>Quadratic probing</a:t>
            </a:r>
            <a:endParaRPr/>
          </a:p>
        </p:txBody>
      </p:sp>
      <mc:AlternateContent xmlns:mc="http://schemas.openxmlformats.org/markup-compatibility/2006">
        <mc:Choice xmlns:a14="http://schemas.microsoft.com/office/drawing/2010/main" Requires="a14">
          <p:sp>
            <p:nvSpPr>
              <p:cNvPr id="1442944105" name="Content Placeholder 2"/>
              <p:cNvSpPr>
                <a:spLocks noGrp="1"/>
              </p:cNvSpPr>
              <p:nvPr>
                <p:ph idx="1"/>
              </p:nvPr>
            </p:nvSpPr>
            <p:spPr bwMode="auto"/>
            <p:txBody>
              <a:bodyPr/>
              <a:lstStyle/>
              <a:p>
                <a:pPr>
                  <a:defRPr/>
                </a:pPr>
                <a:r>
                  <a:rPr lang="en-US"/>
                  <a:t>In quadratic probing, if a collision occurs, the algorithm follows a </a:t>
                </a:r>
                <a:r>
                  <a:rPr lang="en-US">
                    <a:solidFill>
                      <a:srgbClr val="FF0000"/>
                    </a:solidFill>
                  </a:rPr>
                  <a:t>quadratic sequence </a:t>
                </a:r>
                <a:r>
                  <a:rPr lang="en-US"/>
                  <a:t>to probe for the next available slot.</a:t>
                </a:r>
                <a:endParaRPr/>
              </a:p>
              <a:p>
                <a:pPr>
                  <a:defRPr/>
                </a:pPr>
                <a:r>
                  <a:rPr lang="en-US"/>
                  <a:t>The probing sequence can be represented as: hash(key), hash(key)+1^2, hash(key)+2^2, hash(key)+3^2, and so on.</a:t>
                </a:r>
                <a:endParaRPr/>
              </a:p>
              <a:p>
                <a:pPr>
                  <a:defRPr/>
                </a:pPr>
                <a:r>
                  <a:rPr lang="pt-BR" b="1" i="0">
                    <a:solidFill>
                      <a:srgbClr val="444444"/>
                    </a:solidFill>
                    <a:latin typeface="Georgia"/>
                  </a:rPr>
                  <a:t>H(k, i) = [h(k) + </a:t>
                </a:r>
                <mc:AlternateContent>
                  <mc:Choice Requires="a14">
                    <a14:m>
                      <m:oMath xmlns:m="http://schemas.openxmlformats.org/officeDocument/2006/math">
                        <m:sSup>
                          <m:sSupPr>
                            <m:ctrlPr>
                              <a:rPr lang="pt-BR" b="1" i="1">
                                <a:solidFill>
                                  <a:srgbClr val="444444"/>
                                </a:solidFill>
                                <a:latin typeface="Cambria Math" panose="02040503050406030204" pitchFamily="18" charset="0"/>
                                <a:ea typeface="Cambria Math"/>
                                <a:cs typeface="Cambria Math"/>
                              </a:rPr>
                            </m:ctrlPr>
                          </m:sSupPr>
                          <m:e>
                            <m:r>
                              <a:rPr lang="en-US" b="1" i="1">
                                <a:solidFill>
                                  <a:srgbClr val="444444"/>
                                </a:solidFill>
                                <a:latin typeface="Cambria Math"/>
                              </a:rPr>
                              <m:t>𝒊</m:t>
                            </m:r>
                          </m:e>
                          <m:sup>
                            <m:r>
                              <a:rPr lang="en-US" b="1" i="1">
                                <a:solidFill>
                                  <a:srgbClr val="444444"/>
                                </a:solidFill>
                                <a:latin typeface="Cambria Math"/>
                              </a:rPr>
                              <m:t>𝟐</m:t>
                            </m:r>
                          </m:sup>
                        </m:sSup>
                      </m:oMath>
                    </a14:m>
                  </mc:Choice>
                  <mc:Fallback xmlns:m="http://schemas.openxmlformats.org/officeDocument/2006/math" xmlns:w="http://schemas.openxmlformats.org/wordprocessingml/2006/main" xmlns=""/>
                </mc:AlternateContent>
                <a:r>
                  <a:rPr lang="pt-BR" b="1" i="0">
                    <a:solidFill>
                      <a:srgbClr val="444444"/>
                    </a:solidFill>
                    <a:latin typeface="Georgia"/>
                  </a:rPr>
                  <a:t>] mod m</a:t>
                </a:r>
                <a:endParaRPr lang="en-US"/>
              </a:p>
            </p:txBody>
          </p:sp>
        </mc:Choice>
        <mc:Fallback>
          <p:sp>
            <p:nvSpPr>
              <p:cNvPr id="1442944105" name="Content Placeholder 2"/>
              <p:cNvSpPr>
                <a:spLocks noGrp="1" noRot="1" noChangeAspect="1" noMove="1" noResize="1" noEditPoints="1" noAdjustHandles="1" noChangeArrowheads="1" noChangeShapeType="1" noTextEdit="1"/>
              </p:cNvSpPr>
              <p:nvPr>
                <p:ph idx="1"/>
              </p:nvPr>
            </p:nvSpPr>
            <p:spPr bwMode="auto">
              <a:blipFill>
                <a:blip r:embed="rId3"/>
                <a:stretch>
                  <a:fillRect l="-1043" t="-2381" r="-1913"/>
                </a:stretch>
              </a:blipFill>
            </p:spPr>
            <p:txBody>
              <a:bodyPr/>
              <a:lstStyle/>
              <a:p>
                <a:r>
                  <a:rPr 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6440642" name="Title 1"/>
          <p:cNvSpPr>
            <a:spLocks noGrp="1"/>
          </p:cNvSpPr>
          <p:nvPr>
            <p:ph type="title"/>
          </p:nvPr>
        </p:nvSpPr>
        <p:spPr bwMode="auto"/>
        <p:txBody>
          <a:bodyPr/>
          <a:lstStyle/>
          <a:p>
            <a:pPr algn="ctr">
              <a:defRPr/>
            </a:pPr>
            <a:r>
              <a:rPr lang="en-US"/>
              <a:t>Quadratic probing</a:t>
            </a:r>
            <a:endParaRPr/>
          </a:p>
        </p:txBody>
      </p:sp>
      <p:sp>
        <p:nvSpPr>
          <p:cNvPr id="1689710585" name="Content Placeholder 2"/>
          <p:cNvSpPr>
            <a:spLocks noGrp="1"/>
          </p:cNvSpPr>
          <p:nvPr>
            <p:ph idx="1"/>
          </p:nvPr>
        </p:nvSpPr>
        <p:spPr bwMode="auto"/>
        <p:txBody>
          <a:bodyPr/>
          <a:lstStyle/>
          <a:p>
            <a:pPr>
              <a:defRPr/>
            </a:pPr>
            <a:r>
              <a:rPr lang="da-DK" b="0" i="0">
                <a:solidFill>
                  <a:srgbClr val="444444"/>
                </a:solidFill>
                <a:latin typeface="Georgia"/>
              </a:rPr>
              <a:t>24, 17, 32, 2, 13, 50, 30, 16 and let m = 11 for h(k) = k mod m.</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53278744" name="Title 1"/>
          <p:cNvSpPr>
            <a:spLocks noGrp="1"/>
          </p:cNvSpPr>
          <p:nvPr>
            <p:ph type="title"/>
          </p:nvPr>
        </p:nvSpPr>
        <p:spPr bwMode="auto"/>
        <p:txBody>
          <a:bodyPr/>
          <a:lstStyle/>
          <a:p>
            <a:pPr algn="ctr">
              <a:defRPr/>
            </a:pPr>
            <a:r>
              <a:rPr lang="en-US" b="1"/>
              <a:t>Double hashing</a:t>
            </a:r>
            <a:endParaRPr/>
          </a:p>
        </p:txBody>
      </p:sp>
      <p:sp>
        <p:nvSpPr>
          <p:cNvPr id="26501173" name="Content Placeholder 2"/>
          <p:cNvSpPr>
            <a:spLocks noGrp="1"/>
          </p:cNvSpPr>
          <p:nvPr>
            <p:ph idx="1"/>
          </p:nvPr>
        </p:nvSpPr>
        <p:spPr bwMode="auto"/>
        <p:txBody>
          <a:bodyPr>
            <a:normAutofit fontScale="85000" lnSpcReduction="20000"/>
          </a:bodyPr>
          <a:lstStyle/>
          <a:p>
            <a:pPr algn="l">
              <a:defRPr/>
            </a:pPr>
            <a:r>
              <a:rPr lang="en-US">
                <a:solidFill>
                  <a:srgbClr val="444444"/>
                </a:solidFill>
                <a:latin typeface="Georgia"/>
              </a:rPr>
              <a:t>I</a:t>
            </a:r>
            <a:r>
              <a:rPr lang="en-US" b="0" i="0">
                <a:solidFill>
                  <a:srgbClr val="444444"/>
                </a:solidFill>
                <a:latin typeface="Georgia"/>
              </a:rPr>
              <a:t>n double hashing, we use two hash functions instead of one. If a collision occurs due to one hash function we can make use of the other hash function to find the next free slot.</a:t>
            </a:r>
            <a:endParaRPr/>
          </a:p>
          <a:p>
            <a:pPr algn="l">
              <a:defRPr/>
            </a:pPr>
            <a:r>
              <a:rPr lang="en-US" b="0" i="0">
                <a:solidFill>
                  <a:srgbClr val="444444"/>
                </a:solidFill>
                <a:latin typeface="Georgia"/>
              </a:rPr>
              <a:t>Let H(k) represent the new hash function formed. Then, its value will be:</a:t>
            </a:r>
            <a:endParaRPr/>
          </a:p>
          <a:p>
            <a:pPr algn="ctr">
              <a:defRPr/>
            </a:pPr>
            <a:r>
              <a:rPr lang="en-US" b="1" i="0">
                <a:solidFill>
                  <a:srgbClr val="444444"/>
                </a:solidFill>
                <a:latin typeface="inherit"/>
              </a:rPr>
              <a:t>H(k, i) = [h(k) + i* h’(k)] mod m</a:t>
            </a:r>
            <a:endParaRPr lang="en-US" b="0" i="0">
              <a:solidFill>
                <a:srgbClr val="444444"/>
              </a:solidFill>
              <a:latin typeface="Georgia"/>
            </a:endParaRPr>
          </a:p>
          <a:p>
            <a:pPr algn="l">
              <a:defRPr/>
            </a:pPr>
            <a:r>
              <a:rPr lang="en-US" b="0" i="0">
                <a:solidFill>
                  <a:srgbClr val="444444"/>
                </a:solidFill>
                <a:latin typeface="Georgia"/>
              </a:rPr>
              <a:t>Here, h(k) = primary hash function</a:t>
            </a:r>
            <a:br>
              <a:rPr lang="en-US" b="0" i="0">
                <a:solidFill>
                  <a:srgbClr val="444444"/>
                </a:solidFill>
                <a:latin typeface="Georgia"/>
              </a:rPr>
            </a:br>
            <a:r>
              <a:rPr lang="en-US" b="0" i="0">
                <a:solidFill>
                  <a:srgbClr val="444444"/>
                </a:solidFill>
                <a:latin typeface="Georgia"/>
              </a:rPr>
              <a:t>And, h’(k) = secondary hash function</a:t>
            </a:r>
            <a:endParaRPr lang="en-US">
              <a:solidFill>
                <a:srgbClr val="444444"/>
              </a:solidFill>
              <a:latin typeface="Georgia"/>
            </a:endParaRPr>
          </a:p>
          <a:p>
            <a:pPr algn="l">
              <a:defRPr/>
            </a:pPr>
            <a:r>
              <a:rPr lang="en-US" b="0" i="0">
                <a:solidFill>
                  <a:srgbClr val="444444"/>
                </a:solidFill>
                <a:latin typeface="Georgia"/>
              </a:rPr>
              <a:t>In double hashing, choosing a prime number as the size of the hash table has certain advantages. </a:t>
            </a:r>
            <a:endParaRPr/>
          </a:p>
          <a:p>
            <a:pPr algn="l">
              <a:defRPr/>
            </a:pPr>
            <a:r>
              <a:rPr lang="en-US" b="0" i="0">
                <a:solidFill>
                  <a:srgbClr val="444444"/>
                </a:solidFill>
                <a:latin typeface="Georgia"/>
              </a:rPr>
              <a:t>The use of a prime number for the size of the hash table helps to minimize clustering and improve the distribution of keys within the table.</a:t>
            </a:r>
            <a:endParaRPr/>
          </a:p>
          <a:p>
            <a:pPr algn="l">
              <a:defRPr/>
            </a:pPr>
            <a:r>
              <a:rPr lang="en-US" b="0" i="0">
                <a:solidFill>
                  <a:srgbClr val="444444"/>
                </a:solidFill>
                <a:latin typeface="Georgia"/>
              </a:rPr>
              <a:t> This can lead to a more even spread of keys and reduce the likelihood of collisions.</a:t>
            </a:r>
            <a:endParaRPr/>
          </a:p>
          <a:p>
            <a:pPr>
              <a:defRPr/>
            </a:pP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2816988" name="Title 1"/>
          <p:cNvSpPr>
            <a:spLocks noGrp="1"/>
          </p:cNvSpPr>
          <p:nvPr>
            <p:ph type="title"/>
          </p:nvPr>
        </p:nvSpPr>
        <p:spPr bwMode="auto"/>
        <p:txBody>
          <a:bodyPr/>
          <a:lstStyle/>
          <a:p>
            <a:pPr>
              <a:defRPr/>
            </a:pPr>
            <a:endParaRPr lang="en-US"/>
          </a:p>
        </p:txBody>
      </p:sp>
      <p:sp>
        <p:nvSpPr>
          <p:cNvPr id="675284706" name="Content Placeholder 2"/>
          <p:cNvSpPr>
            <a:spLocks noGrp="1"/>
          </p:cNvSpPr>
          <p:nvPr>
            <p:ph idx="1"/>
          </p:nvPr>
        </p:nvSpPr>
        <p:spPr bwMode="auto"/>
        <p:txBody>
          <a:bodyPr/>
          <a:lstStyle/>
          <a:p>
            <a:pPr>
              <a:defRPr/>
            </a:pPr>
            <a:r>
              <a:rPr lang="en-US" b="1" i="0">
                <a:solidFill>
                  <a:srgbClr val="333333"/>
                </a:solidFill>
                <a:latin typeface="inter-bold"/>
              </a:rPr>
              <a:t>20, 34, 45, 70, 56</a:t>
            </a:r>
            <a:endParaRPr/>
          </a:p>
          <a:p>
            <a:pPr algn="just">
              <a:defRPr/>
            </a:pPr>
            <a:r>
              <a:rPr lang="en-US" b="0" i="0">
                <a:solidFill>
                  <a:srgbClr val="333333"/>
                </a:solidFill>
                <a:latin typeface="inter-regular"/>
              </a:rPr>
              <a:t>h</a:t>
            </a:r>
            <a:r>
              <a:rPr lang="en-US" b="0" i="0" baseline="-25000">
                <a:solidFill>
                  <a:srgbClr val="333333"/>
                </a:solidFill>
                <a:latin typeface="inter-regular"/>
              </a:rPr>
              <a:t>1</a:t>
            </a:r>
            <a:r>
              <a:rPr lang="en-US" b="0" i="0">
                <a:solidFill>
                  <a:srgbClr val="333333"/>
                </a:solidFill>
                <a:latin typeface="inter-regular"/>
              </a:rPr>
              <a:t>(k) = k mod 11         (first hash function)</a:t>
            </a:r>
            <a:endParaRPr/>
          </a:p>
          <a:p>
            <a:pPr algn="just">
              <a:defRPr/>
            </a:pPr>
            <a:r>
              <a:rPr lang="en-US" b="0" i="0">
                <a:solidFill>
                  <a:srgbClr val="333333"/>
                </a:solidFill>
                <a:latin typeface="inter-regular"/>
              </a:rPr>
              <a:t>h</a:t>
            </a:r>
            <a:r>
              <a:rPr lang="en-US" b="0" i="0" baseline="-25000">
                <a:solidFill>
                  <a:srgbClr val="333333"/>
                </a:solidFill>
                <a:latin typeface="inter-regular"/>
              </a:rPr>
              <a:t>2</a:t>
            </a:r>
            <a:r>
              <a:rPr lang="en-US" b="0" i="0">
                <a:solidFill>
                  <a:srgbClr val="333333"/>
                </a:solidFill>
                <a:latin typeface="inter-regular"/>
              </a:rPr>
              <a:t>(k) = 8 - (k mod 8)         (second hash function)</a:t>
            </a:r>
            <a:endParaRPr/>
          </a:p>
          <a:p>
            <a:pPr>
              <a:defRPr/>
            </a:pP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5988823" name="Title 1"/>
          <p:cNvSpPr>
            <a:spLocks noGrp="1"/>
          </p:cNvSpPr>
          <p:nvPr>
            <p:ph type="title"/>
          </p:nvPr>
        </p:nvSpPr>
        <p:spPr bwMode="auto"/>
        <p:txBody>
          <a:bodyPr/>
          <a:lstStyle/>
          <a:p>
            <a:pPr>
              <a:defRPr/>
            </a:pPr>
            <a:r>
              <a:rPr lang="en-US"/>
              <a:t>Rehashing and Load Factor</a:t>
            </a:r>
            <a:endParaRPr/>
          </a:p>
        </p:txBody>
      </p:sp>
      <p:sp>
        <p:nvSpPr>
          <p:cNvPr id="1771664247" name="Content Placeholder 2"/>
          <p:cNvSpPr>
            <a:spLocks noGrp="1"/>
          </p:cNvSpPr>
          <p:nvPr>
            <p:ph idx="1"/>
          </p:nvPr>
        </p:nvSpPr>
        <p:spPr bwMode="auto"/>
        <p:txBody>
          <a:bodyPr>
            <a:normAutofit fontScale="92500" lnSpcReduction="10000"/>
          </a:bodyPr>
          <a:lstStyle/>
          <a:p>
            <a:pPr>
              <a:defRPr/>
            </a:pPr>
            <a:r>
              <a:rPr lang="en-US"/>
              <a:t>The load factor in hashing refers to the ratio of the number of elements stored in a hash table to the total number of slots or buckets available in the hash table. </a:t>
            </a:r>
            <a:endParaRPr/>
          </a:p>
          <a:p>
            <a:pPr>
              <a:defRPr/>
            </a:pPr>
            <a:r>
              <a:rPr lang="en-US"/>
              <a:t>It is calculated as:</a:t>
            </a:r>
            <a:endParaRPr/>
          </a:p>
          <a:p>
            <a:pPr lvl="1">
              <a:defRPr/>
            </a:pPr>
            <a:r>
              <a:rPr lang="en-US"/>
              <a:t>Load Factor (</a:t>
            </a:r>
            <a:r>
              <a:rPr lang="en-US" sz="1400" b="0" i="0" u="none" strike="noStrike">
                <a:solidFill>
                  <a:srgbClr val="000000"/>
                </a:solidFill>
                <a:latin typeface="Symbol"/>
              </a:rPr>
              <a:t></a:t>
            </a:r>
            <a:r>
              <a:rPr lang="en-US"/>
              <a:t>)= Number of elements / Total number of slots</a:t>
            </a:r>
            <a:endParaRPr/>
          </a:p>
          <a:p>
            <a:pPr>
              <a:defRPr/>
            </a:pPr>
            <a:r>
              <a:rPr lang="en-US"/>
              <a:t>The load factor provides an indication of how full or empty the hash table is.</a:t>
            </a:r>
            <a:endParaRPr/>
          </a:p>
          <a:p>
            <a:pPr>
              <a:defRPr/>
            </a:pPr>
            <a:r>
              <a:rPr lang="en-US"/>
              <a:t>A low load factor (less than 0.75) indicates that the hash table is relatively empty and has plenty of available slots.</a:t>
            </a:r>
            <a:endParaRPr/>
          </a:p>
          <a:p>
            <a:pPr>
              <a:defRPr/>
            </a:pPr>
            <a:r>
              <a:rPr lang="en-US"/>
              <a:t>A high load factor (greater than 0.75 or close to 1) indicates that the hash table is nearing its capacity and has fewer available slots.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97286510" name="Title 1"/>
          <p:cNvSpPr>
            <a:spLocks noGrp="1"/>
          </p:cNvSpPr>
          <p:nvPr>
            <p:ph type="title"/>
          </p:nvPr>
        </p:nvSpPr>
        <p:spPr bwMode="auto"/>
        <p:txBody>
          <a:bodyPr/>
          <a:lstStyle/>
          <a:p>
            <a:pPr>
              <a:defRPr/>
            </a:pPr>
            <a:r>
              <a:rPr lang="en-US"/>
              <a:t>Rehashing and Load Factor</a:t>
            </a:r>
            <a:endParaRPr/>
          </a:p>
        </p:txBody>
      </p:sp>
      <p:sp>
        <p:nvSpPr>
          <p:cNvPr id="304088356" name="Content Placeholder 2"/>
          <p:cNvSpPr>
            <a:spLocks noGrp="1"/>
          </p:cNvSpPr>
          <p:nvPr>
            <p:ph idx="1"/>
          </p:nvPr>
        </p:nvSpPr>
        <p:spPr bwMode="auto"/>
        <p:txBody>
          <a:bodyPr/>
          <a:lstStyle/>
          <a:p>
            <a:pPr>
              <a:defRPr/>
            </a:pPr>
            <a:r>
              <a:rPr lang="en-US"/>
              <a:t>Rehashing is a process in hash table operations where the size of the hash table is dynamically increased or decreased to maintain a suitable load factor or accommodate a larger or smaller number of elements.</a:t>
            </a:r>
            <a:endParaRPr/>
          </a:p>
          <a:p>
            <a:pPr>
              <a:defRPr/>
            </a:pPr>
            <a:r>
              <a:rPr lang="en-US"/>
              <a:t>The need for rehashing arises when the number of elements stored in the hash table exceeds a certain threshold (load factor) or when the hash table becomes too sparse. </a:t>
            </a:r>
            <a:endParaRPr/>
          </a:p>
          <a:p>
            <a:pPr>
              <a:defRPr/>
            </a:pPr>
            <a:r>
              <a:rPr lang="en-US"/>
              <a:t>Determine the new size of the hash table based on a resizing strategy (e.g., doubling the size, adding a fixed number of slots).</a:t>
            </a:r>
            <a:endParaRPr/>
          </a:p>
          <a:p>
            <a:pPr>
              <a:defRPr/>
            </a:pPr>
            <a:r>
              <a:rPr lang="en-US"/>
              <a:t>Close to prime number.</a:t>
            </a:r>
            <a:endParaRPr/>
          </a:p>
        </p:txBody>
      </p:sp>
    </p:spTree>
  </p:cSld>
  <p:clrMapOvr>
    <a:masterClrMapping/>
  </p:clrMapOvr>
</p:sld>
</file>

<file path=ppt/theme/theme1.xml><?xml version="1.0" encoding="utf-8"?>
<a:theme xmlns:a="http://schemas.openxmlformats.org/drawing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1879</Words>
  <Application>Microsoft Office PowerPoint</Application>
  <DocSecurity>0</DocSecurity>
  <PresentationFormat>Widescreen</PresentationFormat>
  <Paragraphs>161</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Cambria Math</vt:lpstr>
      <vt:lpstr>Georgia</vt:lpstr>
      <vt:lpstr>inherit</vt:lpstr>
      <vt:lpstr>inter-bold</vt:lpstr>
      <vt:lpstr>inter-regular</vt:lpstr>
      <vt:lpstr>Symbol</vt:lpstr>
      <vt:lpstr>Times New Roman</vt:lpstr>
      <vt:lpstr>Office Theme</vt:lpstr>
      <vt:lpstr>Searching Algorithm and Hashing </vt:lpstr>
      <vt:lpstr>Searching algorithms</vt:lpstr>
      <vt:lpstr>Sequential Search/Linear Search</vt:lpstr>
      <vt:lpstr>Program</vt:lpstr>
      <vt:lpstr>Binary Search</vt:lpstr>
      <vt:lpstr>Algorithm</vt:lpstr>
      <vt:lpstr>PowerPoint Presentation</vt:lpstr>
      <vt:lpstr>PowerPoint Presentation</vt:lpstr>
      <vt:lpstr>Hashing</vt:lpstr>
      <vt:lpstr>Hashing</vt:lpstr>
      <vt:lpstr>PowerPoint Presentation</vt:lpstr>
      <vt:lpstr>Hashing </vt:lpstr>
      <vt:lpstr>Types of Collision</vt:lpstr>
      <vt:lpstr>PowerPoint Presentation</vt:lpstr>
      <vt:lpstr>Separate Chaining</vt:lpstr>
      <vt:lpstr>PowerPoint Presentation</vt:lpstr>
      <vt:lpstr>Separate Chaining</vt:lpstr>
      <vt:lpstr>Open Addressing(Closed Hashing)</vt:lpstr>
      <vt:lpstr>Open Addressing(Closed Hashing)</vt:lpstr>
      <vt:lpstr>Linear probing</vt:lpstr>
      <vt:lpstr>Linear probing</vt:lpstr>
      <vt:lpstr>Quadratic probing</vt:lpstr>
      <vt:lpstr>Quadratic probing</vt:lpstr>
      <vt:lpstr>Double hashing</vt:lpstr>
      <vt:lpstr>PowerPoint Presentation</vt:lpstr>
      <vt:lpstr>Rehashing and Load Factor</vt:lpstr>
      <vt:lpstr>Rehashing and Load Factor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shiva pathak</cp:lastModifiedBy>
  <cp:revision>9</cp:revision>
  <dcterms:modified xsi:type="dcterms:W3CDTF">2025-06-21T10:40:35Z</dcterms:modified>
  <cp:category/>
  <dc:identifier/>
  <cp:contentStatus/>
  <dc:language/>
  <cp:version/>
</cp:coreProperties>
</file>