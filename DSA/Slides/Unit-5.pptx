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theme/themeOverride3.xml" ContentType="application/vnd.openxmlformats-officedocument.themeOverride+xml"/>
  <Override PartName="/ppt/notesSlides/notesSlide4.xml" ContentType="application/vnd.openxmlformats-officedocument.presentationml.notesSlide+xml"/>
  <Override PartName="/ppt/theme/themeOverride4.xml" ContentType="application/vnd.openxmlformats-officedocument.themeOverride+xml"/>
  <Override PartName="/ppt/notesSlides/notesSlide5.xml" ContentType="application/vnd.openxmlformats-officedocument.presentationml.notesSlide+xml"/>
  <Override PartName="/ppt/theme/themeOverride5.xml" ContentType="application/vnd.openxmlformats-officedocument.themeOverride+xml"/>
  <Override PartName="/ppt/notesSlides/notesSlide6.xml" ContentType="application/vnd.openxmlformats-officedocument.presentationml.notesSlide+xml"/>
  <Override PartName="/ppt/theme/themeOverride6.xml" ContentType="application/vnd.openxmlformats-officedocument.themeOverride+xml"/>
  <Override PartName="/ppt/notesSlides/notesSlide7.xml" ContentType="application/vnd.openxmlformats-officedocument.presentationml.notesSlide+xml"/>
  <Override PartName="/ppt/theme/themeOverride7.xml" ContentType="application/vnd.openxmlformats-officedocument.themeOverride+xml"/>
  <Override PartName="/ppt/notesSlides/notesSlide8.xml" ContentType="application/vnd.openxmlformats-officedocument.presentationml.notesSlide+xml"/>
  <Override PartName="/ppt/theme/themeOverride8.xml" ContentType="application/vnd.openxmlformats-officedocument.themeOverride+xml"/>
  <Override PartName="/ppt/notesSlides/notesSlide9.xml" ContentType="application/vnd.openxmlformats-officedocument.presentationml.notesSlide+xml"/>
  <Override PartName="/ppt/theme/themeOverride9.xml" ContentType="application/vnd.openxmlformats-officedocument.themeOverride+xml"/>
  <Override PartName="/ppt/notesSlides/notesSlide10.xml" ContentType="application/vnd.openxmlformats-officedocument.presentationml.notesSlide+xml"/>
  <Override PartName="/ppt/theme/themeOverride10.xml" ContentType="application/vnd.openxmlformats-officedocument.themeOverride+xml"/>
  <Override PartName="/ppt/notesSlides/notesSlide11.xml" ContentType="application/vnd.openxmlformats-officedocument.presentationml.notesSlide+xml"/>
  <Override PartName="/ppt/theme/themeOverride11.xml" ContentType="application/vnd.openxmlformats-officedocument.themeOverride+xml"/>
  <Override PartName="/ppt/notesSlides/notesSlide12.xml" ContentType="application/vnd.openxmlformats-officedocument.presentationml.notesSlide+xml"/>
  <Override PartName="/ppt/theme/themeOverride12.xml" ContentType="application/vnd.openxmlformats-officedocument.themeOverride+xml"/>
  <Override PartName="/ppt/notesSlides/notesSlide13.xml" ContentType="application/vnd.openxmlformats-officedocument.presentationml.notesSlide+xml"/>
  <Override PartName="/ppt/theme/themeOverride13.xml" ContentType="application/vnd.openxmlformats-officedocument.themeOverride+xml"/>
  <Override PartName="/ppt/notesSlides/notesSlide14.xml" ContentType="application/vnd.openxmlformats-officedocument.presentationml.notesSlide+xml"/>
  <Override PartName="/ppt/theme/themeOverride14.xml" ContentType="application/vnd.openxmlformats-officedocument.themeOverride+xml"/>
  <Override PartName="/ppt/notesSlides/notesSlide15.xml" ContentType="application/vnd.openxmlformats-officedocument.presentationml.notesSlide+xml"/>
  <Override PartName="/ppt/theme/themeOverride15.xml" ContentType="application/vnd.openxmlformats-officedocument.themeOverride+xml"/>
  <Override PartName="/ppt/notesSlides/notesSlide16.xml" ContentType="application/vnd.openxmlformats-officedocument.presentationml.notesSlide+xml"/>
  <Override PartName="/ppt/theme/themeOverride16.xml" ContentType="application/vnd.openxmlformats-officedocument.themeOverride+xml"/>
  <Override PartName="/ppt/notesSlides/notesSlide17.xml" ContentType="application/vnd.openxmlformats-officedocument.presentationml.notesSlide+xml"/>
  <Override PartName="/ppt/theme/themeOverride17.xml" ContentType="application/vnd.openxmlformats-officedocument.themeOverride+xml"/>
  <Override PartName="/ppt/notesSlides/notesSlide18.xml" ContentType="application/vnd.openxmlformats-officedocument.presentationml.notesSlide+xml"/>
  <Override PartName="/ppt/theme/themeOverride18.xml" ContentType="application/vnd.openxmlformats-officedocument.themeOverride+xml"/>
  <Override PartName="/ppt/notesSlides/notesSlide19.xml" ContentType="application/vnd.openxmlformats-officedocument.presentationml.notesSlide+xml"/>
  <Override PartName="/ppt/theme/themeOverride19.xml" ContentType="application/vnd.openxmlformats-officedocument.themeOverride+xml"/>
  <Override PartName="/ppt/notesSlides/notesSlide20.xml" ContentType="application/vnd.openxmlformats-officedocument.presentationml.notesSlide+xml"/>
  <Override PartName="/ppt/theme/themeOverride20.xml" ContentType="application/vnd.openxmlformats-officedocument.themeOverride+xml"/>
  <Override PartName="/ppt/notesSlides/notesSlide21.xml" ContentType="application/vnd.openxmlformats-officedocument.presentationml.notesSlide+xml"/>
  <Override PartName="/ppt/theme/themeOverride21.xml" ContentType="application/vnd.openxmlformats-officedocument.themeOverride+xml"/>
  <Override PartName="/ppt/notesSlides/notesSlide22.xml" ContentType="application/vnd.openxmlformats-officedocument.presentationml.notesSlide+xml"/>
  <Override PartName="/ppt/theme/themeOverride22.xml" ContentType="application/vnd.openxmlformats-officedocument.themeOverride+xml"/>
  <Override PartName="/ppt/notesSlides/notesSlide23.xml" ContentType="application/vnd.openxmlformats-officedocument.presentationml.notesSlide+xml"/>
  <Override PartName="/ppt/theme/themeOverride23.xml" ContentType="application/vnd.openxmlformats-officedocument.themeOverr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69" r:id="rId3"/>
    <p:sldId id="270" r:id="rId4"/>
    <p:sldId id="271" r:id="rId5"/>
    <p:sldId id="272" r:id="rId6"/>
    <p:sldId id="275" r:id="rId7"/>
    <p:sldId id="276" r:id="rId8"/>
    <p:sldId id="277" r:id="rId9"/>
    <p:sldId id="273" r:id="rId10"/>
    <p:sldId id="274" r:id="rId11"/>
    <p:sldId id="278" r:id="rId12"/>
    <p:sldId id="283" r:id="rId13"/>
    <p:sldId id="279" r:id="rId14"/>
    <p:sldId id="280" r:id="rId15"/>
    <p:sldId id="281" r:id="rId16"/>
    <p:sldId id="282" r:id="rId17"/>
    <p:sldId id="284" r:id="rId18"/>
    <p:sldId id="285" r:id="rId19"/>
    <p:sldId id="286" r:id="rId20"/>
    <p:sldId id="287" r:id="rId21"/>
    <p:sldId id="288" r:id="rId22"/>
    <p:sldId id="289" r:id="rId23"/>
    <p:sldId id="290" r:id="rId24"/>
    <p:sldId id="293" r:id="rId25"/>
    <p:sldId id="292" r:id="rId26"/>
    <p:sldId id="291" r:id="rId27"/>
    <p:sldId id="29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6924" autoAdjust="0"/>
  </p:normalViewPr>
  <p:slideViewPr>
    <p:cSldViewPr snapToGrid="0">
      <p:cViewPr varScale="1">
        <p:scale>
          <a:sx n="63" d="100"/>
          <a:sy n="63" d="100"/>
        </p:scale>
        <p:origin x="102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9A0F60-9302-4FE3-B67D-A7E80F52B8BA}" type="datetimeFigureOut">
              <a:rPr lang="en-US" smtClean="0"/>
              <a:t>5/17/2025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914310-D356-4FB8-8594-352CCB0ED658}" type="slidenum">
              <a:rPr lang="en-US" smtClean="0"/>
              <a:t>‹#›</a:t>
            </a:fld>
            <a:endParaRPr lang="en-US"/>
          </a:p>
        </p:txBody>
      </p:sp>
    </p:spTree>
    <p:extLst>
      <p:ext uri="{BB962C8B-B14F-4D97-AF65-F5344CB8AC3E}">
        <p14:creationId xmlns:p14="http://schemas.microsoft.com/office/powerpoint/2010/main" val="441992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notesMaster" Target="../notesMasters/notesMaster1.xml"/><Relationship Id="rId1" Type="http://schemas.openxmlformats.org/officeDocument/2006/relationships/themeOverride" Target="../theme/themeOverride3.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5.xml"/><Relationship Id="rId2" Type="http://schemas.openxmlformats.org/officeDocument/2006/relationships/notesMaster" Target="../notesMasters/notesMaster1.xml"/><Relationship Id="rId1" Type="http://schemas.openxmlformats.org/officeDocument/2006/relationships/themeOverride" Target="../theme/themeOverride4.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hemeOverride" Target="../theme/themeOverride5.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themeOverride" Target="../theme/themeOverride6.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8.xml"/><Relationship Id="rId2" Type="http://schemas.openxmlformats.org/officeDocument/2006/relationships/notesMaster" Target="../notesMasters/notesMaster1.xml"/><Relationship Id="rId1" Type="http://schemas.openxmlformats.org/officeDocument/2006/relationships/themeOverride" Target="../theme/themeOverride7.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notesMaster" Target="../notesMasters/notesMaster1.xml"/><Relationship Id="rId1" Type="http://schemas.openxmlformats.org/officeDocument/2006/relationships/themeOverride" Target="../theme/themeOverride8.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notesMaster" Target="../notesMasters/notesMaster1.xml"/><Relationship Id="rId1" Type="http://schemas.openxmlformats.org/officeDocument/2006/relationships/themeOverride" Target="../theme/themeOverride9.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11.xml"/><Relationship Id="rId2" Type="http://schemas.openxmlformats.org/officeDocument/2006/relationships/notesMaster" Target="../notesMasters/notesMaster1.xml"/><Relationship Id="rId1" Type="http://schemas.openxmlformats.org/officeDocument/2006/relationships/themeOverride" Target="../theme/themeOverride10.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notesMaster" Target="../notesMasters/notesMaster1.xml"/><Relationship Id="rId1" Type="http://schemas.openxmlformats.org/officeDocument/2006/relationships/themeOverride" Target="../theme/themeOverride11.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13.xml"/><Relationship Id="rId2" Type="http://schemas.openxmlformats.org/officeDocument/2006/relationships/notesMaster" Target="../notesMasters/notesMaster1.xml"/><Relationship Id="rId1" Type="http://schemas.openxmlformats.org/officeDocument/2006/relationships/themeOverride" Target="../theme/themeOverride12.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notesMaster" Target="../notesMasters/notesMaster1.xml"/><Relationship Id="rId1" Type="http://schemas.openxmlformats.org/officeDocument/2006/relationships/themeOverride" Target="../theme/themeOverride13.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notesMaster" Target="../notesMasters/notesMaster1.xml"/><Relationship Id="rId1" Type="http://schemas.openxmlformats.org/officeDocument/2006/relationships/themeOverride" Target="../theme/themeOverride14.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notesMaster" Target="../notesMasters/notesMaster1.xml"/><Relationship Id="rId1" Type="http://schemas.openxmlformats.org/officeDocument/2006/relationships/themeOverride" Target="../theme/themeOverride15.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notesMaster" Target="../notesMasters/notesMaster1.xml"/><Relationship Id="rId1" Type="http://schemas.openxmlformats.org/officeDocument/2006/relationships/themeOverride" Target="../theme/themeOverride16.xml"/></Relationships>
</file>

<file path=ppt/notesSlides/_rels/notesSlide17.xml.rels><?xml version="1.0" encoding="UTF-8" standalone="yes"?>
<Relationships xmlns="http://schemas.openxmlformats.org/package/2006/relationships"><Relationship Id="rId3" Type="http://schemas.openxmlformats.org/officeDocument/2006/relationships/slide" Target="../slides/slide18.xml"/><Relationship Id="rId2" Type="http://schemas.openxmlformats.org/officeDocument/2006/relationships/notesMaster" Target="../notesMasters/notesMaster1.xml"/><Relationship Id="rId1" Type="http://schemas.openxmlformats.org/officeDocument/2006/relationships/themeOverride" Target="../theme/themeOverride17.xml"/></Relationships>
</file>

<file path=ppt/notesSlides/_rels/notesSlide18.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notesMaster" Target="../notesMasters/notesMaster1.xml"/><Relationship Id="rId1" Type="http://schemas.openxmlformats.org/officeDocument/2006/relationships/themeOverride" Target="../theme/themeOverride18.xml"/></Relationships>
</file>

<file path=ppt/notesSlides/_rels/notesSlide19.xml.rels><?xml version="1.0" encoding="UTF-8" standalone="yes"?>
<Relationships xmlns="http://schemas.openxmlformats.org/package/2006/relationships"><Relationship Id="rId3" Type="http://schemas.openxmlformats.org/officeDocument/2006/relationships/slide" Target="../slides/slide20.xml"/><Relationship Id="rId2" Type="http://schemas.openxmlformats.org/officeDocument/2006/relationships/notesMaster" Target="../notesMasters/notesMaster1.xml"/><Relationship Id="rId1" Type="http://schemas.openxmlformats.org/officeDocument/2006/relationships/themeOverride" Target="../theme/themeOverride19.xml"/></Relationships>
</file>

<file path=ppt/notesSlides/_rels/notesSlide20.xml.rels><?xml version="1.0" encoding="UTF-8" standalone="yes"?>
<Relationships xmlns="http://schemas.openxmlformats.org/package/2006/relationships"><Relationship Id="rId3" Type="http://schemas.openxmlformats.org/officeDocument/2006/relationships/slide" Target="../slides/slide21.xml"/><Relationship Id="rId2" Type="http://schemas.openxmlformats.org/officeDocument/2006/relationships/notesMaster" Target="../notesMasters/notesMaster1.xml"/><Relationship Id="rId1" Type="http://schemas.openxmlformats.org/officeDocument/2006/relationships/themeOverride" Target="../theme/themeOverride20.xml"/></Relationships>
</file>

<file path=ppt/notesSlides/_rels/notesSlide21.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notesMaster" Target="../notesMasters/notesMaster1.xml"/><Relationship Id="rId1" Type="http://schemas.openxmlformats.org/officeDocument/2006/relationships/themeOverride" Target="../theme/themeOverride21.xml"/></Relationships>
</file>

<file path=ppt/notesSlides/_rels/notesSlide22.xml.rels><?xml version="1.0" encoding="UTF-8" standalone="yes"?>
<Relationships xmlns="http://schemas.openxmlformats.org/package/2006/relationships"><Relationship Id="rId3" Type="http://schemas.openxmlformats.org/officeDocument/2006/relationships/slide" Target="../slides/slide23.xml"/><Relationship Id="rId2" Type="http://schemas.openxmlformats.org/officeDocument/2006/relationships/notesMaster" Target="../notesMasters/notesMaster1.xml"/><Relationship Id="rId1" Type="http://schemas.openxmlformats.org/officeDocument/2006/relationships/themeOverride" Target="../theme/themeOverride22.xml"/></Relationships>
</file>

<file path=ppt/notesSlides/_rels/notesSlide23.xml.rels><?xml version="1.0" encoding="UTF-8" standalone="yes"?>
<Relationships xmlns="http://schemas.openxmlformats.org/package/2006/relationships"><Relationship Id="rId3" Type="http://schemas.openxmlformats.org/officeDocument/2006/relationships/slide" Target="../slides/slide26.xml"/><Relationship Id="rId2" Type="http://schemas.openxmlformats.org/officeDocument/2006/relationships/notesMaster" Target="../notesMasters/notesMaster1.xml"/><Relationship Id="rId1" Type="http://schemas.openxmlformats.org/officeDocument/2006/relationships/themeOverride" Target="../theme/themeOverride23.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r>
              <a:t>A=[1,2,3], A=[‘name’,1,’111’] , contiguously means =”fixed memory 0,1 index” opposite is data can be anywhere random</a:t>
            </a: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7CBFC8B0-FE91-EA3E-DF07-086B8649295D}" type="slidenum">
              <a:t>2</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5B0655EB-A5B6-53A3-F8BE-53F61BF00E06}" type="slidenum">
              <a:t>3</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63A2ED90-DE8E-F71B-C01A-284EA354367D}" type="slidenum">
              <a:t>4</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770496ED-A39A-5160-D4BC-5535D8F22200}" type="slidenum">
              <a:t>5</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3164D023-6DDC-3126-92DC-9B739E9264CE}" type="slidenum">
              <a:t>6</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c1Bz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h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MB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7F8912E8-A692-DCE4-DC31-50B15C7F2A05}" type="slidenum">
              <a:t>7</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DncXk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AgHAAD3JQAAAxoAABAAAAAmAAAACAAAAAEPAACAHwAA"/>
              </a:ext>
            </a:extLst>
          </p:cNvSpPr>
          <p:nvPr>
            <p:ph type="sldImg"/>
          </p:nvPr>
        </p:nvSpPr>
        <p:spPr>
          <a:xfrm>
            <a:off x="685800" y="1143000"/>
            <a:ext cx="5486400" cy="3086100"/>
          </a:xfrm>
          <a:prstGeom prst="rect">
            <a:avLst/>
          </a:prstGeom>
          <a:ln>
            <a:noFill/>
          </a:ln>
        </p:spPr>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3JQAANzEAABAAAAAmAAAACAAAAIEvAAD/HwAA"/>
              </a:ext>
            </a:extLst>
          </p:cNvSpPr>
          <p:nvPr>
            <p:ph type="body"/>
          </p:nvPr>
        </p:nvSpPr>
        <p:spPr>
          <a:xfrm>
            <a:off x="685800" y="4400550"/>
            <a:ext cx="5485765" cy="3599815"/>
          </a:xfrm>
          <a:prstGeom prst="rect">
            <a:avLst/>
          </a:prstGeom>
          <a:noFill/>
          <a:ln>
            <a:noFill/>
          </a:ln>
        </p:spPr>
        <p:txBody>
          <a:bodyPr vert="horz" wrap="square" lIns="91440" tIns="45720" rIns="91440" bIns="45720" numCol="1" spcCol="215900" anchor="t">
            <a:prstTxWarp prst="textNoShape">
              <a:avLst/>
            </a:prstTxWarp>
          </a:bodyPr>
          <a:lstStyle/>
          <a:p>
            <a:pPr marL="215900" indent="0" defTabSz="914400">
              <a:lnSpc>
                <a:spcPct val="100000"/>
              </a:lnSpc>
              <a:buNone/>
              <a:tabLst>
                <a:tab pos="0" algn="l"/>
              </a:tabLst>
              <a:defRPr lang="en-us"/>
            </a:pPr>
            <a:r>
              <a:rPr lang="en-us" sz="2000" cap="none">
                <a:solidFill>
                  <a:srgbClr val="E8EAED"/>
                </a:solidFill>
                <a:latin typeface="Google Sans" charset="0"/>
                <a:ea typeface="Arial" pitchFamily="2" charset="0"/>
                <a:cs typeface="Arial" pitchFamily="2" charset="0"/>
              </a:rPr>
              <a:t>Traversing in Data Structure means </a:t>
            </a:r>
            <a:r>
              <a:rPr lang="en-us" sz="2000" cap="none">
                <a:solidFill>
                  <a:srgbClr val="E2EEFF"/>
                </a:solidFill>
                <a:latin typeface="Google Sans" charset="0"/>
                <a:ea typeface="Arial" pitchFamily="2" charset="0"/>
                <a:cs typeface="Arial" pitchFamily="2" charset="0"/>
              </a:rPr>
              <a:t>systematically visiting every element of it</a:t>
            </a:r>
            <a:endParaRPr lang="en-us" sz="2000"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tKgAAPzgAABAAAAAmAAAACAAAAIGvAAD/HwAA"/>
              </a:ext>
            </a:extLst>
          </p:cNvSpPr>
          <p:nvPr>
            <p:ph type="sldNum" idx="12"/>
          </p:nvPr>
        </p:nvSpPr>
        <p:spPr>
          <a:xfrm>
            <a:off x="3884930" y="8685530"/>
            <a:ext cx="2971165" cy="457835"/>
          </a:xfrm>
          <a:prstGeom prst="rect">
            <a:avLst/>
          </a:prstGeom>
          <a:noFill/>
          <a:ln>
            <a:noFill/>
          </a:ln>
        </p:spPr>
        <p:txBody>
          <a:bodyPr vert="horz" wrap="square" lIns="91440" tIns="45720" rIns="91440" bIns="45720" numCol="1" spcCol="215900" anchor="b">
            <a:prstTxWarp prst="textNoShape">
              <a:avLst/>
            </a:prstTxWarp>
          </a:bodyPr>
          <a:lstStyle>
            <a:lvl1pPr indent="0" algn="r" defTabSz="914400">
              <a:lnSpc>
                <a:spcPct val="100000"/>
              </a:lnSpc>
              <a:buNone/>
              <a:tabLst>
                <a:tab pos="0" algn="l"/>
              </a:tabLst>
              <a:defRPr lang="en-us" sz="1200" b="0" strike="noStrike" cap="none" spc="0">
                <a:solidFill>
                  <a:srgbClr val="000000"/>
                </a:solidFill>
                <a:latin typeface="Times New Roman" pitchFamily="1" charset="0"/>
                <a:ea typeface="Arial" pitchFamily="2" charset="0"/>
                <a:cs typeface="Arial" pitchFamily="2" charset="0"/>
              </a:defRPr>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indent="0" algn="r" defTabSz="914400">
              <a:lnSpc>
                <a:spcPct val="100000"/>
              </a:lnSpc>
              <a:buNone/>
              <a:tabLst>
                <a:tab pos="0" algn="l"/>
              </a:tabLst>
              <a:defRPr lang="en-us"/>
            </a:pPr>
            <a:fld id="{345AAA12-5CD9-0F5C-97E2-AA09E4AC61FF}" type="slidenum">
              <a:t>8</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785DEADE-9095-081C-DBE5-6649A4AB2D33}" type="slidenum">
              <a:t>9</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IX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Kggjg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Rhcm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7AF7E08C-C297-A216-D94F-3443AE012F61}" type="slidenum">
              <a:t>10</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At5g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02DD8731-7FEF-8871-A165-8924C92B57DC}" type="slidenum">
              <a:t>11</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4D042AE8-A6A0-51DC-EEBC-508964F21805}" type="slidenum">
              <a:t>12</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JQI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0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4CD99B16-58A1-8C6D-EF61-AE38D52F19FB}" type="slidenum">
              <a:t>13</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20204E61-2FCD-75B8-8398-D9ED00D6758C}" type="slidenum">
              <a:t>14</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Jpp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w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3F63AB30-7ED2-365D-9CDB-8808E5956ADD}" type="slidenum">
              <a:t>15</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AN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4FA13B7E-30A2-F4CD-EC19-C69875571A93}" type="slidenum">
              <a:t>16</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AgHAAD3JQAAAxoAABAAAAAmAAAACAAAAAEPAACAHwAA"/>
              </a:ext>
            </a:extLst>
          </p:cNvSpPr>
          <p:nvPr>
            <p:ph type="sldImg"/>
          </p:nvPr>
        </p:nvSpPr>
        <p:spPr>
          <a:xfrm>
            <a:off x="685800" y="1143000"/>
            <a:ext cx="5485765" cy="3085465"/>
          </a:xfrm>
          <a:prstGeom prst="rect">
            <a:avLst/>
          </a:prstGeom>
          <a:ln>
            <a:noFill/>
          </a:ln>
        </p:spPr>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3JQAANzEAABAAAAAmAAAACAAAAIEvAAD/HwAA"/>
              </a:ext>
            </a:extLst>
          </p:cNvSpPr>
          <p:nvPr>
            <p:ph type="body"/>
          </p:nvPr>
        </p:nvSpPr>
        <p:spPr>
          <a:xfrm>
            <a:off x="685800" y="4400550"/>
            <a:ext cx="5485765" cy="3599815"/>
          </a:xfrm>
          <a:prstGeom prst="rect">
            <a:avLst/>
          </a:prstGeom>
          <a:noFill/>
          <a:ln>
            <a:noFill/>
          </a:ln>
        </p:spPr>
        <p:txBody>
          <a:bodyPr vert="horz" wrap="square" lIns="91440" tIns="45720" rIns="91440" bIns="45720" numCol="1" spcCol="215900" anchor="t">
            <a:prstTxWarp prst="textNoShape">
              <a:avLst/>
            </a:prstTxWarp>
          </a:bodyPr>
          <a:lstStyle/>
          <a:p>
            <a:pPr marL="215900" indent="0" defTabSz="914400">
              <a:lnSpc>
                <a:spcPct val="100000"/>
              </a:lnSpc>
              <a:buNone/>
              <a:tabLst>
                <a:tab pos="0" algn="l"/>
              </a:tabLst>
              <a:defRPr lang="en-us"/>
            </a:pPr>
            <a:r>
              <a:rPr lang="en-us" sz="2000" cap="none">
                <a:solidFill>
                  <a:srgbClr val="000000"/>
                </a:solidFill>
              </a:rPr>
              <a:t>Always walk from beginning head pointer always pointing first node</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tKgAAPzgAABAAAAAmAAAACAAAAIGvAAD/HwAA"/>
              </a:ext>
            </a:extLst>
          </p:cNvSpPr>
          <p:nvPr>
            <p:ph type="sldNum" idx="12"/>
          </p:nvPr>
        </p:nvSpPr>
        <p:spPr>
          <a:xfrm>
            <a:off x="3884930" y="8685530"/>
            <a:ext cx="2971165" cy="457835"/>
          </a:xfrm>
          <a:prstGeom prst="rect">
            <a:avLst/>
          </a:prstGeom>
          <a:noFill/>
          <a:ln>
            <a:noFill/>
          </a:ln>
        </p:spPr>
        <p:txBody>
          <a:bodyPr vert="horz" wrap="square" lIns="91440" tIns="45720" rIns="91440" bIns="45720" numCol="1" spcCol="215900" anchor="b">
            <a:prstTxWarp prst="textNoShape">
              <a:avLst/>
            </a:prstTxWarp>
          </a:bodyPr>
          <a:lstStyle>
            <a:lvl1pPr indent="0" algn="r" defTabSz="914400">
              <a:lnSpc>
                <a:spcPct val="100000"/>
              </a:lnSpc>
              <a:buNone/>
              <a:tabLst>
                <a:tab pos="0" algn="l"/>
              </a:tabLst>
              <a:defRPr lang="en-us" sz="1200" b="0" strike="noStrike" cap="none" spc="0">
                <a:solidFill>
                  <a:srgbClr val="000000"/>
                </a:solidFill>
                <a:latin typeface="Times New Roman" pitchFamily="1" charset="0"/>
                <a:ea typeface="Arial" pitchFamily="2" charset="0"/>
                <a:cs typeface="Arial" pitchFamily="2" charset="0"/>
              </a:defRPr>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indent="0" algn="r" defTabSz="914400">
              <a:lnSpc>
                <a:spcPct val="100000"/>
              </a:lnSpc>
              <a:buNone/>
              <a:tabLst>
                <a:tab pos="0" algn="l"/>
              </a:tabLst>
              <a:defRPr lang="en-us"/>
            </a:pPr>
            <a:fld id="{09D5AA3A-74E4-805C-AA6D-8209E4235CD7}" type="slidenum">
              <a:t>17</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ZzKw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2A365555-1BC7-63A3-898E-EDF61BC07FB8}" type="slidenum">
              <a:t>18</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Owf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0B71E622-6CE6-2410-A8C9-9A45A8875ECF}" type="slidenum">
              <a:t>19</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III94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iUhJ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0E2ADF43-0DE3-7F29-AD92-FB7C91DC5BAE}" type="slidenum">
              <a:t>20</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Niz7A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Bog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0383991D-53EE-D66F-A03B-A53AD77556F0}" type="slidenum">
              <a:t>21</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49BE52AC-E2A4-EBA4-EA06-14F11C481C41}" type="slidenum">
              <a:t>22</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TrrA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Niz7A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28DB36FE-B0C5-8EC0-8B63-4695782D7D13}" type="slidenum">
              <a:t>23</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0A108419-57E7-4572-A9A8-A127CAE65FF4}" type="slidenum">
              <a:t>26</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EEF0FF"/>
                </a:solidFill>
                <a:effectLst/>
                <a:latin typeface="Google Sans"/>
              </a:rPr>
              <a:t>tacks and queues, representing polynomials, handling large number arithmetic, and managing memory in operating systems</a:t>
            </a:r>
            <a:endParaRPr lang="en-US" dirty="0"/>
          </a:p>
        </p:txBody>
      </p:sp>
      <p:sp>
        <p:nvSpPr>
          <p:cNvPr id="4" name="Slide Number Placeholder 3"/>
          <p:cNvSpPr>
            <a:spLocks noGrp="1"/>
          </p:cNvSpPr>
          <p:nvPr>
            <p:ph type="sldNum" sz="quarter" idx="5"/>
          </p:nvPr>
        </p:nvSpPr>
        <p:spPr/>
        <p:txBody>
          <a:bodyPr/>
          <a:lstStyle/>
          <a:p>
            <a:fld id="{CD914310-D356-4FB8-8594-352CCB0ED658}" type="slidenum">
              <a:rPr lang="en-US" smtClean="0"/>
              <a:t>27</a:t>
            </a:fld>
            <a:endParaRPr lang="en-US"/>
          </a:p>
        </p:txBody>
      </p:sp>
    </p:spTree>
    <p:extLst>
      <p:ext uri="{BB962C8B-B14F-4D97-AF65-F5344CB8AC3E}">
        <p14:creationId xmlns:p14="http://schemas.microsoft.com/office/powerpoint/2010/main" val="22017549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B8E9C-FE14-DBDD-3466-0CC125829A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9300DED-9EB2-150C-19A6-AEF8B45386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1F166DA-5BB2-719E-2A9C-94713113EA4C}"/>
              </a:ext>
            </a:extLst>
          </p:cNvPr>
          <p:cNvSpPr>
            <a:spLocks noGrp="1"/>
          </p:cNvSpPr>
          <p:nvPr>
            <p:ph type="dt" sz="half" idx="10"/>
          </p:nvPr>
        </p:nvSpPr>
        <p:spPr/>
        <p:txBody>
          <a:bodyPr/>
          <a:lstStyle/>
          <a:p>
            <a:fld id="{A0AAF6B3-3771-4C69-815C-E657661764BF}" type="datetimeFigureOut">
              <a:rPr lang="en-US" smtClean="0"/>
              <a:t>5/17/2025</a:t>
            </a:fld>
            <a:endParaRPr lang="en-US"/>
          </a:p>
        </p:txBody>
      </p:sp>
      <p:sp>
        <p:nvSpPr>
          <p:cNvPr id="5" name="Footer Placeholder 4">
            <a:extLst>
              <a:ext uri="{FF2B5EF4-FFF2-40B4-BE49-F238E27FC236}">
                <a16:creationId xmlns:a16="http://schemas.microsoft.com/office/drawing/2014/main" id="{39C2D6B4-681D-FD3C-99CD-E4BA4A2BA4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761428-3D40-BA1D-9DE9-97FAFFF45EA7}"/>
              </a:ext>
            </a:extLst>
          </p:cNvPr>
          <p:cNvSpPr>
            <a:spLocks noGrp="1"/>
          </p:cNvSpPr>
          <p:nvPr>
            <p:ph type="sldNum" sz="quarter" idx="12"/>
          </p:nvPr>
        </p:nvSpPr>
        <p:spPr/>
        <p:txBody>
          <a:bodyPr/>
          <a:lstStyle/>
          <a:p>
            <a:fld id="{A537509B-071A-4E72-AD16-874FEDA53354}" type="slidenum">
              <a:rPr lang="en-US" smtClean="0"/>
              <a:t>‹#›</a:t>
            </a:fld>
            <a:endParaRPr lang="en-US"/>
          </a:p>
        </p:txBody>
      </p:sp>
    </p:spTree>
    <p:extLst>
      <p:ext uri="{BB962C8B-B14F-4D97-AF65-F5344CB8AC3E}">
        <p14:creationId xmlns:p14="http://schemas.microsoft.com/office/powerpoint/2010/main" val="1969430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26FFE-CE18-92A4-AAFC-088C991153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C1B707-8094-9922-31DC-9D190C09A9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3FA49C-7B1C-2D84-43F0-11E8767C791A}"/>
              </a:ext>
            </a:extLst>
          </p:cNvPr>
          <p:cNvSpPr>
            <a:spLocks noGrp="1"/>
          </p:cNvSpPr>
          <p:nvPr>
            <p:ph type="dt" sz="half" idx="10"/>
          </p:nvPr>
        </p:nvSpPr>
        <p:spPr/>
        <p:txBody>
          <a:bodyPr/>
          <a:lstStyle/>
          <a:p>
            <a:fld id="{A0AAF6B3-3771-4C69-815C-E657661764BF}" type="datetimeFigureOut">
              <a:rPr lang="en-US" smtClean="0"/>
              <a:t>5/17/2025</a:t>
            </a:fld>
            <a:endParaRPr lang="en-US"/>
          </a:p>
        </p:txBody>
      </p:sp>
      <p:sp>
        <p:nvSpPr>
          <p:cNvPr id="5" name="Footer Placeholder 4">
            <a:extLst>
              <a:ext uri="{FF2B5EF4-FFF2-40B4-BE49-F238E27FC236}">
                <a16:creationId xmlns:a16="http://schemas.microsoft.com/office/drawing/2014/main" id="{F22693D2-F093-CDCF-2860-F4613FB880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DEC693-954A-784B-FD21-2E4B468903AA}"/>
              </a:ext>
            </a:extLst>
          </p:cNvPr>
          <p:cNvSpPr>
            <a:spLocks noGrp="1"/>
          </p:cNvSpPr>
          <p:nvPr>
            <p:ph type="sldNum" sz="quarter" idx="12"/>
          </p:nvPr>
        </p:nvSpPr>
        <p:spPr/>
        <p:txBody>
          <a:bodyPr/>
          <a:lstStyle/>
          <a:p>
            <a:fld id="{A537509B-071A-4E72-AD16-874FEDA53354}" type="slidenum">
              <a:rPr lang="en-US" smtClean="0"/>
              <a:t>‹#›</a:t>
            </a:fld>
            <a:endParaRPr lang="en-US"/>
          </a:p>
        </p:txBody>
      </p:sp>
    </p:spTree>
    <p:extLst>
      <p:ext uri="{BB962C8B-B14F-4D97-AF65-F5344CB8AC3E}">
        <p14:creationId xmlns:p14="http://schemas.microsoft.com/office/powerpoint/2010/main" val="2051145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F4F37-1A10-4C24-BFDF-D3B44A457F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9DE4FF-C475-44F5-662F-EBDA94B1D5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B4EAE0-529D-EBF7-22B9-6ADE8A996F9E}"/>
              </a:ext>
            </a:extLst>
          </p:cNvPr>
          <p:cNvSpPr>
            <a:spLocks noGrp="1"/>
          </p:cNvSpPr>
          <p:nvPr>
            <p:ph type="dt" sz="half" idx="10"/>
          </p:nvPr>
        </p:nvSpPr>
        <p:spPr/>
        <p:txBody>
          <a:bodyPr/>
          <a:lstStyle/>
          <a:p>
            <a:fld id="{A0AAF6B3-3771-4C69-815C-E657661764BF}" type="datetimeFigureOut">
              <a:rPr lang="en-US" smtClean="0"/>
              <a:t>5/17/2025</a:t>
            </a:fld>
            <a:endParaRPr lang="en-US"/>
          </a:p>
        </p:txBody>
      </p:sp>
      <p:sp>
        <p:nvSpPr>
          <p:cNvPr id="5" name="Footer Placeholder 4">
            <a:extLst>
              <a:ext uri="{FF2B5EF4-FFF2-40B4-BE49-F238E27FC236}">
                <a16:creationId xmlns:a16="http://schemas.microsoft.com/office/drawing/2014/main" id="{38374177-54E1-1FC4-8FA7-68C41AD38E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4E6837-399B-146E-7252-099AC7F80D53}"/>
              </a:ext>
            </a:extLst>
          </p:cNvPr>
          <p:cNvSpPr>
            <a:spLocks noGrp="1"/>
          </p:cNvSpPr>
          <p:nvPr>
            <p:ph type="sldNum" sz="quarter" idx="12"/>
          </p:nvPr>
        </p:nvSpPr>
        <p:spPr/>
        <p:txBody>
          <a:bodyPr/>
          <a:lstStyle/>
          <a:p>
            <a:fld id="{A537509B-071A-4E72-AD16-874FEDA53354}" type="slidenum">
              <a:rPr lang="en-US" smtClean="0"/>
              <a:t>‹#›</a:t>
            </a:fld>
            <a:endParaRPr lang="en-US"/>
          </a:p>
        </p:txBody>
      </p:sp>
    </p:spTree>
    <p:extLst>
      <p:ext uri="{BB962C8B-B14F-4D97-AF65-F5344CB8AC3E}">
        <p14:creationId xmlns:p14="http://schemas.microsoft.com/office/powerpoint/2010/main" val="4116370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24F78-18AF-E0AE-88B2-BD5573E011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9F68F43-1FC6-CE1A-9CD1-1421297663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D8C0B5-2720-C9C3-0FCC-B3DC18E367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B8F246F-A303-1342-82BE-A9AE5D0EA0E2}"/>
              </a:ext>
            </a:extLst>
          </p:cNvPr>
          <p:cNvSpPr>
            <a:spLocks noGrp="1"/>
          </p:cNvSpPr>
          <p:nvPr>
            <p:ph type="dt" sz="half" idx="10"/>
          </p:nvPr>
        </p:nvSpPr>
        <p:spPr/>
        <p:txBody>
          <a:bodyPr/>
          <a:lstStyle/>
          <a:p>
            <a:fld id="{A0AAF6B3-3771-4C69-815C-E657661764BF}" type="datetimeFigureOut">
              <a:rPr lang="en-US" smtClean="0"/>
              <a:t>5/17/2025</a:t>
            </a:fld>
            <a:endParaRPr lang="en-US"/>
          </a:p>
        </p:txBody>
      </p:sp>
      <p:sp>
        <p:nvSpPr>
          <p:cNvPr id="6" name="Footer Placeholder 5">
            <a:extLst>
              <a:ext uri="{FF2B5EF4-FFF2-40B4-BE49-F238E27FC236}">
                <a16:creationId xmlns:a16="http://schemas.microsoft.com/office/drawing/2014/main" id="{22128BCD-38E0-99B2-B73C-36D4A5E059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86210C-F480-19C6-FA5E-9FCF3041179F}"/>
              </a:ext>
            </a:extLst>
          </p:cNvPr>
          <p:cNvSpPr>
            <a:spLocks noGrp="1"/>
          </p:cNvSpPr>
          <p:nvPr>
            <p:ph type="sldNum" sz="quarter" idx="12"/>
          </p:nvPr>
        </p:nvSpPr>
        <p:spPr/>
        <p:txBody>
          <a:bodyPr/>
          <a:lstStyle/>
          <a:p>
            <a:fld id="{A537509B-071A-4E72-AD16-874FEDA53354}" type="slidenum">
              <a:rPr lang="en-US" smtClean="0"/>
              <a:t>‹#›</a:t>
            </a:fld>
            <a:endParaRPr lang="en-US"/>
          </a:p>
        </p:txBody>
      </p:sp>
    </p:spTree>
    <p:extLst>
      <p:ext uri="{BB962C8B-B14F-4D97-AF65-F5344CB8AC3E}">
        <p14:creationId xmlns:p14="http://schemas.microsoft.com/office/powerpoint/2010/main" val="3055900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5047E-36B9-C2EE-A87F-EAD8701999B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5A0390-C659-48BE-7358-9E89D8A184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4BD281-06CB-773F-72D4-F003D48FFD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D8C120-665B-A739-F329-5C0E9F646E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8E1500-0738-1A0B-6F4E-EFF93E8D365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1B53951-73C1-3B81-CB82-EFF027D91B0E}"/>
              </a:ext>
            </a:extLst>
          </p:cNvPr>
          <p:cNvSpPr>
            <a:spLocks noGrp="1"/>
          </p:cNvSpPr>
          <p:nvPr>
            <p:ph type="dt" sz="half" idx="10"/>
          </p:nvPr>
        </p:nvSpPr>
        <p:spPr/>
        <p:txBody>
          <a:bodyPr/>
          <a:lstStyle/>
          <a:p>
            <a:fld id="{A0AAF6B3-3771-4C69-815C-E657661764BF}" type="datetimeFigureOut">
              <a:rPr lang="en-US" smtClean="0"/>
              <a:t>5/17/2025</a:t>
            </a:fld>
            <a:endParaRPr lang="en-US"/>
          </a:p>
        </p:txBody>
      </p:sp>
      <p:sp>
        <p:nvSpPr>
          <p:cNvPr id="8" name="Footer Placeholder 7">
            <a:extLst>
              <a:ext uri="{FF2B5EF4-FFF2-40B4-BE49-F238E27FC236}">
                <a16:creationId xmlns:a16="http://schemas.microsoft.com/office/drawing/2014/main" id="{03C5CD79-08C9-867A-9D67-3584689E72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854410-9F2D-7787-E4C3-009C784EEA14}"/>
              </a:ext>
            </a:extLst>
          </p:cNvPr>
          <p:cNvSpPr>
            <a:spLocks noGrp="1"/>
          </p:cNvSpPr>
          <p:nvPr>
            <p:ph type="sldNum" sz="quarter" idx="12"/>
          </p:nvPr>
        </p:nvSpPr>
        <p:spPr/>
        <p:txBody>
          <a:bodyPr/>
          <a:lstStyle/>
          <a:p>
            <a:fld id="{A537509B-071A-4E72-AD16-874FEDA53354}" type="slidenum">
              <a:rPr lang="en-US" smtClean="0"/>
              <a:t>‹#›</a:t>
            </a:fld>
            <a:endParaRPr lang="en-US"/>
          </a:p>
        </p:txBody>
      </p:sp>
    </p:spTree>
    <p:extLst>
      <p:ext uri="{BB962C8B-B14F-4D97-AF65-F5344CB8AC3E}">
        <p14:creationId xmlns:p14="http://schemas.microsoft.com/office/powerpoint/2010/main" val="16289185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71D17-163F-5639-3E08-8692CC7AFA4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0900C0E-437F-DDC2-1087-A4EC0871B610}"/>
              </a:ext>
            </a:extLst>
          </p:cNvPr>
          <p:cNvSpPr>
            <a:spLocks noGrp="1"/>
          </p:cNvSpPr>
          <p:nvPr>
            <p:ph type="dt" sz="half" idx="10"/>
          </p:nvPr>
        </p:nvSpPr>
        <p:spPr/>
        <p:txBody>
          <a:bodyPr/>
          <a:lstStyle/>
          <a:p>
            <a:fld id="{A0AAF6B3-3771-4C69-815C-E657661764BF}" type="datetimeFigureOut">
              <a:rPr lang="en-US" smtClean="0"/>
              <a:t>5/17/2025</a:t>
            </a:fld>
            <a:endParaRPr lang="en-US"/>
          </a:p>
        </p:txBody>
      </p:sp>
      <p:sp>
        <p:nvSpPr>
          <p:cNvPr id="4" name="Footer Placeholder 3">
            <a:extLst>
              <a:ext uri="{FF2B5EF4-FFF2-40B4-BE49-F238E27FC236}">
                <a16:creationId xmlns:a16="http://schemas.microsoft.com/office/drawing/2014/main" id="{FC5B0C70-DCD3-6FB3-BD05-B2D3782A99B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6F9A26-4166-05F9-CD9B-E08B3B6333F0}"/>
              </a:ext>
            </a:extLst>
          </p:cNvPr>
          <p:cNvSpPr>
            <a:spLocks noGrp="1"/>
          </p:cNvSpPr>
          <p:nvPr>
            <p:ph type="sldNum" sz="quarter" idx="12"/>
          </p:nvPr>
        </p:nvSpPr>
        <p:spPr/>
        <p:txBody>
          <a:bodyPr/>
          <a:lstStyle/>
          <a:p>
            <a:fld id="{A537509B-071A-4E72-AD16-874FEDA53354}" type="slidenum">
              <a:rPr lang="en-US" smtClean="0"/>
              <a:t>‹#›</a:t>
            </a:fld>
            <a:endParaRPr lang="en-US"/>
          </a:p>
        </p:txBody>
      </p:sp>
    </p:spTree>
    <p:extLst>
      <p:ext uri="{BB962C8B-B14F-4D97-AF65-F5344CB8AC3E}">
        <p14:creationId xmlns:p14="http://schemas.microsoft.com/office/powerpoint/2010/main" val="659821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A1E859-D3BD-A3BF-D185-F7B5412D4F5D}"/>
              </a:ext>
            </a:extLst>
          </p:cNvPr>
          <p:cNvSpPr>
            <a:spLocks noGrp="1"/>
          </p:cNvSpPr>
          <p:nvPr>
            <p:ph type="dt" sz="half" idx="10"/>
          </p:nvPr>
        </p:nvSpPr>
        <p:spPr/>
        <p:txBody>
          <a:bodyPr/>
          <a:lstStyle/>
          <a:p>
            <a:fld id="{A0AAF6B3-3771-4C69-815C-E657661764BF}" type="datetimeFigureOut">
              <a:rPr lang="en-US" smtClean="0"/>
              <a:t>5/17/2025</a:t>
            </a:fld>
            <a:endParaRPr lang="en-US"/>
          </a:p>
        </p:txBody>
      </p:sp>
      <p:sp>
        <p:nvSpPr>
          <p:cNvPr id="3" name="Footer Placeholder 2">
            <a:extLst>
              <a:ext uri="{FF2B5EF4-FFF2-40B4-BE49-F238E27FC236}">
                <a16:creationId xmlns:a16="http://schemas.microsoft.com/office/drawing/2014/main" id="{30EDD3B0-4963-4713-8DC6-2A139F21443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4853258-06FE-3F39-035F-3D2DA0BD305B}"/>
              </a:ext>
            </a:extLst>
          </p:cNvPr>
          <p:cNvSpPr>
            <a:spLocks noGrp="1"/>
          </p:cNvSpPr>
          <p:nvPr>
            <p:ph type="sldNum" sz="quarter" idx="12"/>
          </p:nvPr>
        </p:nvSpPr>
        <p:spPr/>
        <p:txBody>
          <a:bodyPr/>
          <a:lstStyle/>
          <a:p>
            <a:fld id="{A537509B-071A-4E72-AD16-874FEDA53354}" type="slidenum">
              <a:rPr lang="en-US" smtClean="0"/>
              <a:t>‹#›</a:t>
            </a:fld>
            <a:endParaRPr lang="en-US"/>
          </a:p>
        </p:txBody>
      </p:sp>
    </p:spTree>
    <p:extLst>
      <p:ext uri="{BB962C8B-B14F-4D97-AF65-F5344CB8AC3E}">
        <p14:creationId xmlns:p14="http://schemas.microsoft.com/office/powerpoint/2010/main" val="2839528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0B79C-F28F-E7F5-7372-8508A360FE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24C598A-3E30-1E82-1DF9-F52892C053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2397E7-E238-E91F-D06F-EDFBF1D202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ED1508-CC46-E877-AA4D-55B01DBD17EA}"/>
              </a:ext>
            </a:extLst>
          </p:cNvPr>
          <p:cNvSpPr>
            <a:spLocks noGrp="1"/>
          </p:cNvSpPr>
          <p:nvPr>
            <p:ph type="dt" sz="half" idx="10"/>
          </p:nvPr>
        </p:nvSpPr>
        <p:spPr/>
        <p:txBody>
          <a:bodyPr/>
          <a:lstStyle/>
          <a:p>
            <a:fld id="{A0AAF6B3-3771-4C69-815C-E657661764BF}" type="datetimeFigureOut">
              <a:rPr lang="en-US" smtClean="0"/>
              <a:t>5/17/2025</a:t>
            </a:fld>
            <a:endParaRPr lang="en-US"/>
          </a:p>
        </p:txBody>
      </p:sp>
      <p:sp>
        <p:nvSpPr>
          <p:cNvPr id="6" name="Footer Placeholder 5">
            <a:extLst>
              <a:ext uri="{FF2B5EF4-FFF2-40B4-BE49-F238E27FC236}">
                <a16:creationId xmlns:a16="http://schemas.microsoft.com/office/drawing/2014/main" id="{E9331127-DAFE-1A77-BE67-00DE2D54D4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2A8FF8-5E57-0CA0-4DB3-7CA8A5AEFF4B}"/>
              </a:ext>
            </a:extLst>
          </p:cNvPr>
          <p:cNvSpPr>
            <a:spLocks noGrp="1"/>
          </p:cNvSpPr>
          <p:nvPr>
            <p:ph type="sldNum" sz="quarter" idx="12"/>
          </p:nvPr>
        </p:nvSpPr>
        <p:spPr/>
        <p:txBody>
          <a:bodyPr/>
          <a:lstStyle/>
          <a:p>
            <a:fld id="{A537509B-071A-4E72-AD16-874FEDA53354}" type="slidenum">
              <a:rPr lang="en-US" smtClean="0"/>
              <a:t>‹#›</a:t>
            </a:fld>
            <a:endParaRPr lang="en-US"/>
          </a:p>
        </p:txBody>
      </p:sp>
    </p:spTree>
    <p:extLst>
      <p:ext uri="{BB962C8B-B14F-4D97-AF65-F5344CB8AC3E}">
        <p14:creationId xmlns:p14="http://schemas.microsoft.com/office/powerpoint/2010/main" val="2864858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43ACB-6A41-9147-00BD-0819C0D37B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65F63E8-B111-40CB-5769-D38590EBC4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BD05AF-8CD0-8813-E28D-1F0858353B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675B52-D135-6979-2C3D-E58981465333}"/>
              </a:ext>
            </a:extLst>
          </p:cNvPr>
          <p:cNvSpPr>
            <a:spLocks noGrp="1"/>
          </p:cNvSpPr>
          <p:nvPr>
            <p:ph type="dt" sz="half" idx="10"/>
          </p:nvPr>
        </p:nvSpPr>
        <p:spPr/>
        <p:txBody>
          <a:bodyPr/>
          <a:lstStyle/>
          <a:p>
            <a:fld id="{A0AAF6B3-3771-4C69-815C-E657661764BF}" type="datetimeFigureOut">
              <a:rPr lang="en-US" smtClean="0"/>
              <a:t>5/17/2025</a:t>
            </a:fld>
            <a:endParaRPr lang="en-US"/>
          </a:p>
        </p:txBody>
      </p:sp>
      <p:sp>
        <p:nvSpPr>
          <p:cNvPr id="6" name="Footer Placeholder 5">
            <a:extLst>
              <a:ext uri="{FF2B5EF4-FFF2-40B4-BE49-F238E27FC236}">
                <a16:creationId xmlns:a16="http://schemas.microsoft.com/office/drawing/2014/main" id="{85F68662-EB61-34B2-6E2D-A59B80F731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393808-1FA8-AC34-755E-742BF87FF815}"/>
              </a:ext>
            </a:extLst>
          </p:cNvPr>
          <p:cNvSpPr>
            <a:spLocks noGrp="1"/>
          </p:cNvSpPr>
          <p:nvPr>
            <p:ph type="sldNum" sz="quarter" idx="12"/>
          </p:nvPr>
        </p:nvSpPr>
        <p:spPr/>
        <p:txBody>
          <a:bodyPr/>
          <a:lstStyle/>
          <a:p>
            <a:fld id="{A537509B-071A-4E72-AD16-874FEDA53354}" type="slidenum">
              <a:rPr lang="en-US" smtClean="0"/>
              <a:t>‹#›</a:t>
            </a:fld>
            <a:endParaRPr lang="en-US"/>
          </a:p>
        </p:txBody>
      </p:sp>
    </p:spTree>
    <p:extLst>
      <p:ext uri="{BB962C8B-B14F-4D97-AF65-F5344CB8AC3E}">
        <p14:creationId xmlns:p14="http://schemas.microsoft.com/office/powerpoint/2010/main" val="1808849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B212E-2BF5-3D7C-42E7-812D5C5B32A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677EEEB-A9A9-7D5B-3E54-72155D907F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43701F-05B7-C8C0-2395-F96863C050BF}"/>
              </a:ext>
            </a:extLst>
          </p:cNvPr>
          <p:cNvSpPr>
            <a:spLocks noGrp="1"/>
          </p:cNvSpPr>
          <p:nvPr>
            <p:ph type="dt" sz="half" idx="10"/>
          </p:nvPr>
        </p:nvSpPr>
        <p:spPr/>
        <p:txBody>
          <a:bodyPr/>
          <a:lstStyle/>
          <a:p>
            <a:fld id="{A0AAF6B3-3771-4C69-815C-E657661764BF}" type="datetimeFigureOut">
              <a:rPr lang="en-US" smtClean="0"/>
              <a:t>5/17/2025</a:t>
            </a:fld>
            <a:endParaRPr lang="en-US"/>
          </a:p>
        </p:txBody>
      </p:sp>
      <p:sp>
        <p:nvSpPr>
          <p:cNvPr id="5" name="Footer Placeholder 4">
            <a:extLst>
              <a:ext uri="{FF2B5EF4-FFF2-40B4-BE49-F238E27FC236}">
                <a16:creationId xmlns:a16="http://schemas.microsoft.com/office/drawing/2014/main" id="{9DF9573D-4691-3096-3F33-050CBC011B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7C956C-4F33-9AC0-ECD6-E504D3B0BE9A}"/>
              </a:ext>
            </a:extLst>
          </p:cNvPr>
          <p:cNvSpPr>
            <a:spLocks noGrp="1"/>
          </p:cNvSpPr>
          <p:nvPr>
            <p:ph type="sldNum" sz="quarter" idx="12"/>
          </p:nvPr>
        </p:nvSpPr>
        <p:spPr/>
        <p:txBody>
          <a:bodyPr/>
          <a:lstStyle/>
          <a:p>
            <a:fld id="{A537509B-071A-4E72-AD16-874FEDA53354}" type="slidenum">
              <a:rPr lang="en-US" smtClean="0"/>
              <a:t>‹#›</a:t>
            </a:fld>
            <a:endParaRPr lang="en-US"/>
          </a:p>
        </p:txBody>
      </p:sp>
    </p:spTree>
    <p:extLst>
      <p:ext uri="{BB962C8B-B14F-4D97-AF65-F5344CB8AC3E}">
        <p14:creationId xmlns:p14="http://schemas.microsoft.com/office/powerpoint/2010/main" val="33117853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583AC8-2A61-4C66-315A-81C20D3C838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430ABD3-1BD2-FC1F-08AE-4B6ACEF50B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32F3CA-20CF-2DF1-2D86-6A570C704666}"/>
              </a:ext>
            </a:extLst>
          </p:cNvPr>
          <p:cNvSpPr>
            <a:spLocks noGrp="1"/>
          </p:cNvSpPr>
          <p:nvPr>
            <p:ph type="dt" sz="half" idx="10"/>
          </p:nvPr>
        </p:nvSpPr>
        <p:spPr/>
        <p:txBody>
          <a:bodyPr/>
          <a:lstStyle/>
          <a:p>
            <a:fld id="{A0AAF6B3-3771-4C69-815C-E657661764BF}" type="datetimeFigureOut">
              <a:rPr lang="en-US" smtClean="0"/>
              <a:t>5/17/2025</a:t>
            </a:fld>
            <a:endParaRPr lang="en-US"/>
          </a:p>
        </p:txBody>
      </p:sp>
      <p:sp>
        <p:nvSpPr>
          <p:cNvPr id="5" name="Footer Placeholder 4">
            <a:extLst>
              <a:ext uri="{FF2B5EF4-FFF2-40B4-BE49-F238E27FC236}">
                <a16:creationId xmlns:a16="http://schemas.microsoft.com/office/drawing/2014/main" id="{C8ED8792-1567-5D4A-9F94-04DB726E21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94DE61-89B4-325D-5D9E-4D906A7AE7C2}"/>
              </a:ext>
            </a:extLst>
          </p:cNvPr>
          <p:cNvSpPr>
            <a:spLocks noGrp="1"/>
          </p:cNvSpPr>
          <p:nvPr>
            <p:ph type="sldNum" sz="quarter" idx="12"/>
          </p:nvPr>
        </p:nvSpPr>
        <p:spPr/>
        <p:txBody>
          <a:bodyPr/>
          <a:lstStyle/>
          <a:p>
            <a:fld id="{A537509B-071A-4E72-AD16-874FEDA53354}" type="slidenum">
              <a:rPr lang="en-US" smtClean="0"/>
              <a:t>‹#›</a:t>
            </a:fld>
            <a:endParaRPr lang="en-US"/>
          </a:p>
        </p:txBody>
      </p:sp>
    </p:spTree>
    <p:extLst>
      <p:ext uri="{BB962C8B-B14F-4D97-AF65-F5344CB8AC3E}">
        <p14:creationId xmlns:p14="http://schemas.microsoft.com/office/powerpoint/2010/main" val="23924150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C9521A-2057-8A50-5B73-38838F828A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D6E0ACD-6E23-EAED-9B8B-2A2E12FB1C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DE3AB4-23A1-187B-4F7E-7AEE76D593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AAF6B3-3771-4C69-815C-E657661764BF}" type="datetimeFigureOut">
              <a:rPr lang="en-US" smtClean="0"/>
              <a:t>5/17/2025</a:t>
            </a:fld>
            <a:endParaRPr lang="en-US"/>
          </a:p>
        </p:txBody>
      </p:sp>
      <p:sp>
        <p:nvSpPr>
          <p:cNvPr id="5" name="Footer Placeholder 4">
            <a:extLst>
              <a:ext uri="{FF2B5EF4-FFF2-40B4-BE49-F238E27FC236}">
                <a16:creationId xmlns:a16="http://schemas.microsoft.com/office/drawing/2014/main" id="{395D452B-CD25-FC07-706A-5B6C887E0D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9500F38-8439-B3B2-F225-CC7A7AA3CB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37509B-071A-4E72-AD16-874FEDA53354}" type="slidenum">
              <a:rPr lang="en-US" smtClean="0"/>
              <a:t>‹#›</a:t>
            </a:fld>
            <a:endParaRPr lang="en-US"/>
          </a:p>
        </p:txBody>
      </p:sp>
    </p:spTree>
    <p:extLst>
      <p:ext uri="{BB962C8B-B14F-4D97-AF65-F5344CB8AC3E}">
        <p14:creationId xmlns:p14="http://schemas.microsoft.com/office/powerpoint/2010/main" val="28766419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1B1CE-3419-0010-7EA8-F6D0A2D4F2C1}"/>
              </a:ext>
            </a:extLst>
          </p:cNvPr>
          <p:cNvSpPr>
            <a:spLocks noGrp="1"/>
          </p:cNvSpPr>
          <p:nvPr>
            <p:ph type="ctrTitle"/>
          </p:nvPr>
        </p:nvSpPr>
        <p:spPr/>
        <p:txBody>
          <a:bodyPr/>
          <a:lstStyle/>
          <a:p>
            <a:r>
              <a:rPr lang="en-US" dirty="0"/>
              <a:t>Linked List</a:t>
            </a:r>
          </a:p>
        </p:txBody>
      </p:sp>
      <p:sp>
        <p:nvSpPr>
          <p:cNvPr id="3" name="Subtitle 2">
            <a:extLst>
              <a:ext uri="{FF2B5EF4-FFF2-40B4-BE49-F238E27FC236}">
                <a16:creationId xmlns:a16="http://schemas.microsoft.com/office/drawing/2014/main" id="{653A08DC-3DF9-ADD5-881D-75D9D5A86531}"/>
              </a:ext>
            </a:extLst>
          </p:cNvPr>
          <p:cNvSpPr>
            <a:spLocks noGrp="1"/>
          </p:cNvSpPr>
          <p:nvPr>
            <p:ph type="subTitle" idx="1"/>
          </p:nvPr>
        </p:nvSpPr>
        <p:spPr/>
        <p:txBody>
          <a:bodyPr/>
          <a:lstStyle/>
          <a:p>
            <a:r>
              <a:rPr lang="en-US" dirty="0"/>
              <a:t>Unit-5</a:t>
            </a:r>
          </a:p>
        </p:txBody>
      </p:sp>
    </p:spTree>
    <p:extLst>
      <p:ext uri="{BB962C8B-B14F-4D97-AF65-F5344CB8AC3E}">
        <p14:creationId xmlns:p14="http://schemas.microsoft.com/office/powerpoint/2010/main" val="17599290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J/f38A5+bmA8zMzADAwP8Af39/AAAAAAAAAAAAAAAAAAAAAAAAAAAAIQAAABgAAAAUAAAAKAUAAD8CAADYRQAAZwoAABAAAAAmAAAACAAAAAAAAAAAAAAA"/>
              </a:ext>
            </a:extLst>
          </p:cNvSpPr>
          <p:nvPr>
            <p:ph type="title"/>
          </p:nvPr>
        </p:nvSpPr>
        <p:spPr/>
        <p:txBody>
          <a:bodyPr/>
          <a:lstStyle/>
          <a:p>
            <a:pPr algn="ctr">
              <a:defRPr lang="en-us"/>
            </a:pPr>
            <a:r>
              <a:t>List</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J/f38A5+bmA8zMzADAwP8Af39/AAAAAAAAAAAAAAAAAAAAAAAAAAAAIQAAABgAAAAUAAAAKAUAADsLAADYRQAAACYAABAAAAAmAAAACAAAADwwAAAAAAAA"/>
              </a:ext>
            </a:extLst>
          </p:cNvSpPr>
          <p:nvPr>
            <p:ph type="body" idx="1"/>
          </p:nvPr>
        </p:nvSpPr>
        <p:spPr/>
        <p:txBody>
          <a:bodyPr vert="horz" wrap="square" lIns="91440" tIns="45720" rIns="91440" bIns="45720" numCol="1" spcCol="215900" anchor="t">
            <a:prstTxWarp prst="textNoShape">
              <a:avLst/>
            </a:prstTxWarp>
          </a:bodyPr>
          <a:lstStyle/>
          <a:p>
            <a:pPr>
              <a:lnSpc>
                <a:spcPct val="86000"/>
              </a:lnSpc>
              <a:spcBef>
                <a:spcPts val="800"/>
              </a:spcBef>
              <a:defRPr lang="en-us" sz="2240" cap="none"/>
            </a:pPr>
            <a:r>
              <a:t>The list can be defined as an abstract data type in which the elements are stored in an ordered manner for easier and efficient retrieval of the elements.</a:t>
            </a:r>
          </a:p>
          <a:p>
            <a:pPr>
              <a:lnSpc>
                <a:spcPct val="86000"/>
              </a:lnSpc>
              <a:spcBef>
                <a:spcPts val="800"/>
              </a:spcBef>
              <a:defRPr lang="en-us" sz="2240" cap="none"/>
            </a:pPr>
            <a:r>
              <a:t>The list  can store heterogeneous data items in its object.</a:t>
            </a:r>
          </a:p>
          <a:p>
            <a:pPr>
              <a:lnSpc>
                <a:spcPct val="86000"/>
              </a:lnSpc>
              <a:spcBef>
                <a:spcPts val="800"/>
              </a:spcBef>
              <a:defRPr lang="en-us" sz="2240" cap="none"/>
            </a:pPr>
            <a:r>
              <a:t> List Data Structure is also known as a sequence.</a:t>
            </a:r>
          </a:p>
          <a:p>
            <a:pPr>
              <a:lnSpc>
                <a:spcPct val="86000"/>
              </a:lnSpc>
              <a:spcBef>
                <a:spcPts val="800"/>
              </a:spcBef>
              <a:defRPr lang="en-us" sz="2240" cap="none"/>
            </a:pPr>
            <a:r>
              <a:t>Memory: Can be stored contiguously (like arrays) or non-contiguously (like linked lists).</a:t>
            </a:r>
          </a:p>
          <a:p>
            <a:pPr>
              <a:lnSpc>
                <a:spcPct val="86000"/>
              </a:lnSpc>
              <a:spcBef>
                <a:spcPts val="800"/>
              </a:spcBef>
              <a:defRPr lang="en-us" sz="2240" cap="none"/>
            </a:pPr>
            <a:r>
              <a:t>Size: Can change dynamically, grows or shrinks as needed.</a:t>
            </a:r>
          </a:p>
          <a:p>
            <a:pPr>
              <a:lnSpc>
                <a:spcPct val="86000"/>
              </a:lnSpc>
              <a:spcBef>
                <a:spcPts val="800"/>
              </a:spcBef>
              <a:defRPr lang="en-us" sz="2240" cap="none"/>
            </a:pPr>
            <a:r>
              <a:t>Flexibility: More flexible, adding or removing elements is easier.</a:t>
            </a:r>
          </a:p>
          <a:p>
            <a:pPr>
              <a:lnSpc>
                <a:spcPct val="86000"/>
              </a:lnSpc>
              <a:spcBef>
                <a:spcPts val="800"/>
              </a:spcBef>
              <a:defRPr lang="en-us" sz="2240" cap="none"/>
            </a:pPr>
            <a:r>
              <a:t>Access: Sequential access, slower random access compared to arrays.</a:t>
            </a:r>
          </a:p>
          <a:p>
            <a:pPr>
              <a:lnSpc>
                <a:spcPct val="86000"/>
              </a:lnSpc>
              <a:spcBef>
                <a:spcPts val="800"/>
              </a:spcBef>
              <a:defRPr lang="en-us" sz="2240" cap="none"/>
            </a:pPr>
            <a:r>
              <a:rPr lang="en-us" b="1" cap="none"/>
              <a:t>List can be implemented as array or Linked list.</a:t>
            </a:r>
          </a:p>
          <a:p>
            <a:pPr>
              <a:lnSpc>
                <a:spcPct val="86000"/>
              </a:lnSpc>
              <a:spcBef>
                <a:spcPts val="800"/>
              </a:spcBef>
              <a:defRPr lang="en-us" sz="2240" cap="none"/>
            </a:pPr>
            <a:endParaRPr lang="en-us" b="1" cap="non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J/f38A5+bmA8zMzADAwP8Af39/AAAAAAAAAAAAAAAAAAAAAAAAAAAAIQAAABgAAAAUAAAAKAUAAD8CAADYRQAAZwoAABAAAAAmAAAACAAAAAAAAAAAAAAA"/>
              </a:ext>
            </a:extLst>
          </p:cNvSpPr>
          <p:nvPr>
            <p:ph type="title"/>
          </p:nvPr>
        </p:nvSpPr>
        <p:spPr/>
        <p:txBody>
          <a:bodyPr/>
          <a:lstStyle/>
          <a:p>
            <a:pPr algn="ctr">
              <a:defRPr lang="en-us"/>
            </a:pPr>
            <a:r>
              <a:t>List ADT</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J/f38A5+bmA8zMzADAwP8Af39/AAAAAAAAAAAAAAAAAAAAAAAAAAAAIQAAABgAAAAUAAAAKAUAADsLAADYRQAAACYAABAAAAAmAAAACAAAAAAAAAAAAAAA"/>
              </a:ext>
            </a:extLst>
          </p:cNvSpPr>
          <p:nvPr>
            <p:ph type="body" idx="1"/>
          </p:nvPr>
        </p:nvSpPr>
        <p:spPr/>
        <p:txBody>
          <a:bodyPr/>
          <a:lstStyle/>
          <a:p>
            <a:pPr>
              <a:defRPr lang="en-us"/>
            </a:pPr>
            <a:r>
              <a:t>Operations:-</a:t>
            </a:r>
          </a:p>
          <a:p>
            <a:pPr lvl="1">
              <a:defRPr lang="en-us"/>
            </a:pPr>
            <a:r>
              <a:rPr lang="en-us" sz="2000" cap="none"/>
              <a:t>insert-inserts an element to a list</a:t>
            </a:r>
          </a:p>
          <a:p>
            <a:pPr lvl="1">
              <a:defRPr lang="en-us"/>
            </a:pPr>
            <a:r>
              <a:t>insert(X,k)- which inserts element X at kth position of the list.</a:t>
            </a:r>
          </a:p>
          <a:p>
            <a:pPr lvl="1">
              <a:defRPr lang="en-us"/>
            </a:pPr>
            <a:r>
              <a:rPr lang="en-us" sz="2000" cap="none"/>
              <a:t>size() – this is a method which gives the size of the list and</a:t>
            </a:r>
          </a:p>
          <a:p>
            <a:pPr lvl="1">
              <a:defRPr lang="en-us"/>
            </a:pPr>
            <a:r>
              <a:t>isEmpty() – is a Boolean method which gives a value of true if the list is empty.</a:t>
            </a:r>
          </a:p>
          <a:p>
            <a:pPr lvl="1">
              <a:defRPr lang="en-us"/>
            </a:pPr>
            <a:r>
              <a:t>Delete(X) which removes the item/element X from the list.</a:t>
            </a:r>
          </a:p>
          <a:p>
            <a:pPr lvl="1">
              <a:defRPr lang="en-us"/>
            </a:pPr>
            <a:r>
              <a:t>printList() – prints the contents of the entire list</a:t>
            </a:r>
          </a:p>
          <a:p>
            <a:pPr lvl="1">
              <a:defRPr lang="en-us"/>
            </a:pPr>
            <a:r>
              <a:t>find(X) – finds out the location of the element X is in the list</a:t>
            </a:r>
          </a:p>
          <a:p>
            <a:pPr lvl="1">
              <a:defRPr lang="en-us"/>
            </a:pPr>
            <a:r>
              <a:t>Remove()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J/f38A5+bmA8zMzADAwP8Af39/AAAAAAAAAAAAAAAAAAAAAAAAAAAAIQAAABgAAAAUAAAAKAUAAD8CAADYRQAAZwoAABAAAAAmAAAACAAAAAAAAAAAAAAA"/>
              </a:ext>
            </a:extLst>
          </p:cNvSpPr>
          <p:nvPr>
            <p:ph type="title"/>
          </p:nvPr>
        </p:nvSpPr>
        <p:spPr/>
        <p:txBody>
          <a:bodyPr/>
          <a:lstStyle/>
          <a:p>
            <a:pPr algn="ctr">
              <a:defRPr lang="en-us"/>
            </a:pPr>
            <a:r>
              <a:t>Array Implementation of List</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J/f38A5+bmA8zMzADAwP8Af39/AAAAAAAAAAAAAAAAAAAAAAAAAAAAIQAAABgAAAAUAAAAKAUAADsLAADYRQAAACYAABAAAAAmAAAACAAAAAAAAAAAAAAA"/>
              </a:ext>
            </a:extLst>
          </p:cNvSpPr>
          <p:nvPr>
            <p:ph type="body" idx="1"/>
          </p:nvPr>
        </p:nvSpPr>
        <p:spPr/>
        <p:txBody>
          <a:bodyPr/>
          <a:lstStyle/>
          <a:p>
            <a:pPr>
              <a:defRPr lang="en-us"/>
            </a:pPr>
            <a:r>
              <a:t>See code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YRQAAZwoAABAAAAAmAAAACAAAAAAAAAAAAAAA"/>
              </a:ext>
            </a:extLst>
          </p:cNvSpPr>
          <p:nvPr>
            <p:ph type="title"/>
          </p:nvPr>
        </p:nvSpPr>
        <p:spPr/>
        <p:txBody>
          <a:bodyPr/>
          <a:lstStyle/>
          <a:p>
            <a:pPr>
              <a:defRPr lang="en-us"/>
            </a:pPr>
            <a:r>
              <a:t>Limitation of array implementation</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YRQAAACYAABAAAAAmAAAACAAAAAAAAAAAAAAA"/>
              </a:ext>
            </a:extLst>
          </p:cNvSpPr>
          <p:nvPr>
            <p:ph type="body" idx="1"/>
          </p:nvPr>
        </p:nvSpPr>
        <p:spPr/>
        <p:txBody>
          <a:bodyPr/>
          <a:lstStyle/>
          <a:p>
            <a:pPr>
              <a:defRPr lang="en-us"/>
            </a:pPr>
            <a:r>
              <a:t>An array store its nodes in consecutive memory locations.</a:t>
            </a:r>
          </a:p>
          <a:p>
            <a:pPr>
              <a:defRPr lang="en-us"/>
            </a:pPr>
            <a:r>
              <a:t>The number of elements in the array is fixed and it is not possible to change the</a:t>
            </a:r>
          </a:p>
          <a:p>
            <a:pPr>
              <a:defRPr lang="en-us"/>
            </a:pPr>
            <a:r>
              <a:t>number of elements.</a:t>
            </a:r>
          </a:p>
          <a:p>
            <a:pPr>
              <a:defRPr lang="en-us"/>
            </a:pPr>
            <a:r>
              <a:t> Insertion and deletion operation in array are expensive. Since insertion is performed</a:t>
            </a:r>
          </a:p>
          <a:p>
            <a:pPr>
              <a:defRPr lang="en-us"/>
            </a:pPr>
            <a:r>
              <a:t>by pushing the entire array one position down and deletion is performed by shifting</a:t>
            </a:r>
          </a:p>
          <a:p>
            <a:pPr>
              <a:defRPr lang="en-us"/>
            </a:pPr>
            <a:r>
              <a:t>the entire array one position up.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IGg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defRPr lang="en-us"/>
            </a:pPr>
            <a:r>
              <a:rPr lang="en-us" b="1" cap="none">
                <a:solidFill>
                  <a:srgbClr val="000000"/>
                </a:solidFill>
                <a:latin typeface="Calibri Light" charset="0"/>
                <a:ea typeface="Arial" pitchFamily="2" charset="0"/>
                <a:cs typeface="Arial" pitchFamily="2" charset="0"/>
              </a:rPr>
              <a:t>Importance of Linked List</a:t>
            </a: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9M7P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AGg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44475" indent="-244475">
              <a:lnSpc>
                <a:spcPct val="90000"/>
              </a:lnSpc>
              <a:spcBef>
                <a:spcPts val="600"/>
              </a:spcBef>
              <a:buClrTx/>
              <a:buFont typeface="Arial" pitchFamily="2" charset="0"/>
              <a:buChar char="•"/>
              <a:defRPr lang="en-us" sz="1080" cap="none"/>
            </a:pPr>
            <a:r>
              <a:rPr lang="en-us" sz="1680" b="1" cap="none">
                <a:solidFill>
                  <a:srgbClr val="000000"/>
                </a:solidFill>
                <a:latin typeface="Calibri" pitchFamily="2" charset="0"/>
                <a:ea typeface="Arial" pitchFamily="2" charset="0"/>
                <a:cs typeface="Arial" pitchFamily="2" charset="0"/>
              </a:rPr>
              <a:t>Dynamic memory allocation</a:t>
            </a:r>
            <a:r>
              <a:rPr lang="en-us" sz="1680" cap="none">
                <a:solidFill>
                  <a:srgbClr val="000000"/>
                </a:solidFill>
                <a:latin typeface="Calibri" pitchFamily="2" charset="0"/>
                <a:ea typeface="Arial" pitchFamily="2" charset="0"/>
                <a:cs typeface="Arial" pitchFamily="2" charset="0"/>
              </a:rPr>
              <a:t>: Unlike arrays, linked lists can be dynamically allocated in memory. This means that linked lists can be resized during runtime, which is not possible with arrays.</a:t>
            </a:r>
            <a:endParaRPr lang="en-us" sz="1680" cap="none">
              <a:solidFill>
                <a:srgbClr val="000000"/>
              </a:solidFill>
            </a:endParaRPr>
          </a:p>
          <a:p>
            <a:pPr indent="0" defTabSz="914400">
              <a:lnSpc>
                <a:spcPct val="90000"/>
              </a:lnSpc>
              <a:spcBef>
                <a:spcPts val="600"/>
              </a:spcBef>
              <a:buNone/>
              <a:tabLst>
                <a:tab pos="0" algn="l"/>
              </a:tabLst>
              <a:defRPr lang="en-us" sz="1080" cap="none"/>
            </a:pPr>
            <a:endParaRPr lang="en-us" sz="1680" cap="none">
              <a:solidFill>
                <a:srgbClr val="000000"/>
              </a:solidFill>
            </a:endParaRPr>
          </a:p>
          <a:p>
            <a:pPr marL="244475" indent="-244475" defTabSz="914400">
              <a:lnSpc>
                <a:spcPct val="90000"/>
              </a:lnSpc>
              <a:spcBef>
                <a:spcPts val="600"/>
              </a:spcBef>
              <a:buClrTx/>
              <a:buFont typeface="Arial" pitchFamily="2" charset="0"/>
              <a:buChar char="•"/>
              <a:tabLst>
                <a:tab pos="0" algn="l"/>
              </a:tabLst>
              <a:defRPr lang="en-us" sz="1080" cap="none"/>
            </a:pPr>
            <a:r>
              <a:rPr lang="en-us" sz="1680" b="1" cap="none">
                <a:solidFill>
                  <a:srgbClr val="000000"/>
                </a:solidFill>
                <a:latin typeface="Calibri" pitchFamily="2" charset="0"/>
                <a:ea typeface="Arial" pitchFamily="2" charset="0"/>
                <a:cs typeface="Arial" pitchFamily="2" charset="0"/>
              </a:rPr>
              <a:t>Easy insertion and deletion</a:t>
            </a:r>
            <a:r>
              <a:rPr lang="en-us" sz="1680" cap="none">
                <a:solidFill>
                  <a:srgbClr val="000000"/>
                </a:solidFill>
                <a:latin typeface="Calibri" pitchFamily="2" charset="0"/>
                <a:ea typeface="Arial" pitchFamily="2" charset="0"/>
                <a:cs typeface="Arial" pitchFamily="2" charset="0"/>
              </a:rPr>
              <a:t>: Insertion and deletion of elements in a linked list are much easier and efficient than in an array. In a linked list, adding or removing an element requires only a few pointer changes, whereas in an array, adding or removing an element can involve shifting all the subsequent elements.</a:t>
            </a:r>
            <a:endParaRPr lang="en-us" sz="1680" cap="none">
              <a:solidFill>
                <a:srgbClr val="000000"/>
              </a:solidFill>
            </a:endParaRPr>
          </a:p>
          <a:p>
            <a:pPr indent="0" defTabSz="914400">
              <a:lnSpc>
                <a:spcPct val="90000"/>
              </a:lnSpc>
              <a:spcBef>
                <a:spcPts val="600"/>
              </a:spcBef>
              <a:buNone/>
              <a:tabLst>
                <a:tab pos="0" algn="l"/>
              </a:tabLst>
              <a:defRPr lang="en-us" sz="1080" cap="none"/>
            </a:pPr>
            <a:endParaRPr lang="en-us" sz="1680" cap="none">
              <a:solidFill>
                <a:srgbClr val="000000"/>
              </a:solidFill>
            </a:endParaRPr>
          </a:p>
          <a:p>
            <a:pPr marL="244475" indent="-244475" defTabSz="914400">
              <a:lnSpc>
                <a:spcPct val="90000"/>
              </a:lnSpc>
              <a:spcBef>
                <a:spcPts val="600"/>
              </a:spcBef>
              <a:buClrTx/>
              <a:buFont typeface="Arial" pitchFamily="2" charset="0"/>
              <a:buChar char="•"/>
              <a:tabLst>
                <a:tab pos="0" algn="l"/>
              </a:tabLst>
              <a:defRPr lang="en-us" sz="1080" cap="none"/>
            </a:pPr>
            <a:r>
              <a:rPr lang="en-us" sz="1680" b="1" cap="none">
                <a:solidFill>
                  <a:srgbClr val="000000"/>
                </a:solidFill>
                <a:latin typeface="Calibri" pitchFamily="2" charset="0"/>
                <a:ea typeface="Arial" pitchFamily="2" charset="0"/>
                <a:cs typeface="Arial" pitchFamily="2" charset="0"/>
              </a:rPr>
              <a:t>Flexibility</a:t>
            </a:r>
            <a:r>
              <a:rPr lang="en-us" sz="1680" cap="none">
                <a:solidFill>
                  <a:srgbClr val="000000"/>
                </a:solidFill>
                <a:latin typeface="Calibri" pitchFamily="2" charset="0"/>
                <a:ea typeface="Arial" pitchFamily="2" charset="0"/>
                <a:cs typeface="Arial" pitchFamily="2" charset="0"/>
              </a:rPr>
              <a:t>: Linked lists can be singly linked, doubly linked, or circular, which provides greater flexibility in implementation.</a:t>
            </a:r>
            <a:endParaRPr lang="en-us" sz="1680" cap="none">
              <a:solidFill>
                <a:srgbClr val="000000"/>
              </a:solidFill>
            </a:endParaRPr>
          </a:p>
          <a:p>
            <a:pPr indent="0" defTabSz="914400">
              <a:lnSpc>
                <a:spcPct val="90000"/>
              </a:lnSpc>
              <a:spcBef>
                <a:spcPts val="600"/>
              </a:spcBef>
              <a:buNone/>
              <a:tabLst>
                <a:tab pos="0" algn="l"/>
              </a:tabLst>
              <a:defRPr lang="en-us" sz="1080" cap="none"/>
            </a:pPr>
            <a:endParaRPr lang="en-us" sz="1680" cap="none">
              <a:solidFill>
                <a:srgbClr val="000000"/>
              </a:solidFill>
            </a:endParaRPr>
          </a:p>
          <a:p>
            <a:pPr marL="244475" indent="-244475" defTabSz="914400">
              <a:lnSpc>
                <a:spcPct val="90000"/>
              </a:lnSpc>
              <a:spcBef>
                <a:spcPts val="600"/>
              </a:spcBef>
              <a:buClrTx/>
              <a:buFont typeface="Arial" pitchFamily="2" charset="0"/>
              <a:buChar char="•"/>
              <a:tabLst>
                <a:tab pos="0" algn="l"/>
              </a:tabLst>
              <a:defRPr lang="en-us" sz="1080" cap="none"/>
            </a:pPr>
            <a:r>
              <a:rPr lang="en-us" sz="1680" b="1" cap="none">
                <a:solidFill>
                  <a:srgbClr val="000000"/>
                </a:solidFill>
                <a:latin typeface="Calibri" pitchFamily="2" charset="0"/>
                <a:ea typeface="Arial" pitchFamily="2" charset="0"/>
                <a:cs typeface="Arial" pitchFamily="2" charset="0"/>
              </a:rPr>
              <a:t>Efficient memory usage</a:t>
            </a:r>
            <a:r>
              <a:rPr lang="en-us" sz="1680" cap="none">
                <a:solidFill>
                  <a:srgbClr val="000000"/>
                </a:solidFill>
                <a:latin typeface="Calibri" pitchFamily="2" charset="0"/>
                <a:ea typeface="Arial" pitchFamily="2" charset="0"/>
                <a:cs typeface="Arial" pitchFamily="2" charset="0"/>
              </a:rPr>
              <a:t>: Linked lists use memory more efficiently than arrays in certain situations. For example, if </a:t>
            </a:r>
            <a:r>
              <a:rPr lang="en-us" sz="1680" b="1" cap="none">
                <a:solidFill>
                  <a:srgbClr val="000000"/>
                </a:solidFill>
                <a:latin typeface="Calibri" pitchFamily="2" charset="0"/>
                <a:ea typeface="Arial" pitchFamily="2" charset="0"/>
                <a:cs typeface="Arial" pitchFamily="2" charset="0"/>
              </a:rPr>
              <a:t>the size of the list is not known in advance, a linked list can be a better choice </a:t>
            </a:r>
            <a:r>
              <a:rPr lang="en-us" sz="1680" cap="none">
                <a:solidFill>
                  <a:srgbClr val="000000"/>
                </a:solidFill>
                <a:latin typeface="Calibri" pitchFamily="2" charset="0"/>
                <a:ea typeface="Arial" pitchFamily="2" charset="0"/>
                <a:cs typeface="Arial" pitchFamily="2" charset="0"/>
              </a:rPr>
              <a:t>since it can be dynamically allocated in memory.</a:t>
            </a:r>
            <a:endParaRPr lang="en-us" sz="1680" cap="none">
              <a:solidFill>
                <a:srgbClr val="000000"/>
              </a:solidFill>
            </a:endParaRPr>
          </a:p>
          <a:p>
            <a:pPr indent="0" defTabSz="914400">
              <a:lnSpc>
                <a:spcPct val="90000"/>
              </a:lnSpc>
              <a:spcBef>
                <a:spcPts val="600"/>
              </a:spcBef>
              <a:buNone/>
              <a:tabLst>
                <a:tab pos="0" algn="l"/>
              </a:tabLst>
              <a:defRPr lang="en-us" sz="1080" cap="none"/>
            </a:pPr>
            <a:endParaRPr lang="en-us" sz="1680" cap="none">
              <a:solidFill>
                <a:srgbClr val="000000"/>
              </a:solidFill>
            </a:endParaRPr>
          </a:p>
          <a:p>
            <a:pPr marL="244475" indent="-244475" defTabSz="914400">
              <a:lnSpc>
                <a:spcPct val="90000"/>
              </a:lnSpc>
              <a:spcBef>
                <a:spcPts val="600"/>
              </a:spcBef>
              <a:buClrTx/>
              <a:buFont typeface="Arial" pitchFamily="2" charset="0"/>
              <a:buChar char="•"/>
              <a:tabLst>
                <a:tab pos="0" algn="l"/>
              </a:tabLst>
              <a:defRPr lang="en-us" sz="1080" cap="none"/>
            </a:pPr>
            <a:r>
              <a:rPr lang="en-us" sz="1680" b="1" cap="none">
                <a:solidFill>
                  <a:srgbClr val="000000"/>
                </a:solidFill>
                <a:latin typeface="Calibri" pitchFamily="2" charset="0"/>
                <a:ea typeface="Arial" pitchFamily="2" charset="0"/>
                <a:cs typeface="Arial" pitchFamily="2" charset="0"/>
              </a:rPr>
              <a:t>Implementation of advanced data structures</a:t>
            </a:r>
            <a:r>
              <a:rPr lang="en-us" sz="1680" cap="none">
                <a:solidFill>
                  <a:srgbClr val="000000"/>
                </a:solidFill>
                <a:latin typeface="Calibri" pitchFamily="2" charset="0"/>
                <a:ea typeface="Arial" pitchFamily="2" charset="0"/>
                <a:cs typeface="Arial" pitchFamily="2" charset="0"/>
              </a:rPr>
              <a:t>: Linked lists are used as a building block for implementing other advanced data structures like stacks, queues, and trees.</a:t>
            </a:r>
            <a:endParaRPr lang="en-us" sz="1680" cap="none">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HTm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OgcAABAAAAAmAAAACAAAAIGgAAD/HwAA"/>
              </a:ext>
            </a:extLst>
          </p:cNvSpPr>
          <p:nvPr>
            <p:ph type="title"/>
          </p:nvPr>
        </p:nvSpPr>
        <p:spPr>
          <a:xfrm>
            <a:off x="838200" y="365125"/>
            <a:ext cx="10514965" cy="809625"/>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defRPr lang="en-us"/>
            </a:pPr>
            <a:r>
              <a:rPr lang="en-us" b="1" cap="none">
                <a:solidFill>
                  <a:srgbClr val="000000"/>
                </a:solidFill>
                <a:latin typeface="Calibri Light" charset="0"/>
                <a:ea typeface="Arial" pitchFamily="2" charset="0"/>
                <a:cs typeface="Arial" pitchFamily="2" charset="0"/>
              </a:rPr>
              <a:t>Disadvantages of linked list</a:t>
            </a: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jwCb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wHAADXRQAA/yUAABAAAAAmAAAACAAAAAGgAAD/HwAA"/>
              </a:ext>
            </a:extLst>
          </p:cNvSpPr>
          <p:nvPr>
            <p:ph type="body"/>
          </p:nvPr>
        </p:nvSpPr>
        <p:spPr>
          <a:xfrm>
            <a:off x="838200" y="1176020"/>
            <a:ext cx="10514965" cy="5000625"/>
          </a:xfrm>
          <a:noFill/>
          <a:ln>
            <a:noFill/>
          </a:ln>
        </p:spPr>
        <p:txBody>
          <a:bodyPr vert="horz" wrap="square" lIns="91440" tIns="45720" rIns="91440" bIns="45720" numCol="1" spcCol="215900" anchor="t">
            <a:prstTxWarp prst="textNoShape">
              <a:avLst/>
            </a:prstTxWarp>
          </a:bodyPr>
          <a:lstStyle/>
          <a:p>
            <a:pPr indent="0" defTabSz="914400">
              <a:lnSpc>
                <a:spcPct val="90000"/>
              </a:lnSpc>
              <a:spcBef>
                <a:spcPts val="600"/>
              </a:spcBef>
              <a:buNone/>
              <a:tabLst>
                <a:tab pos="0" algn="l"/>
              </a:tabLst>
              <a:defRPr lang="en-us" sz="1080" cap="none"/>
            </a:pPr>
            <a:endParaRPr lang="en-us" sz="1680" cap="none" dirty="0">
              <a:solidFill>
                <a:srgbClr val="000000"/>
              </a:solidFill>
            </a:endParaRPr>
          </a:p>
          <a:p>
            <a:pPr marL="219075" indent="-219075" defTabSz="914400">
              <a:lnSpc>
                <a:spcPct val="90000"/>
              </a:lnSpc>
              <a:spcBef>
                <a:spcPts val="600"/>
              </a:spcBef>
              <a:buClrTx/>
              <a:buFont typeface="Arial" pitchFamily="2" charset="0"/>
              <a:buChar char="•"/>
              <a:tabLst>
                <a:tab pos="0" algn="l"/>
              </a:tabLst>
              <a:defRPr lang="en-us" sz="1080" cap="none"/>
            </a:pPr>
            <a:r>
              <a:rPr lang="en-us" sz="1680" b="1" cap="none" dirty="0">
                <a:solidFill>
                  <a:srgbClr val="000000"/>
                </a:solidFill>
                <a:latin typeface="Calibri" pitchFamily="2" charset="0"/>
                <a:ea typeface="Arial" pitchFamily="2" charset="0"/>
                <a:cs typeface="Arial" pitchFamily="2" charset="0"/>
              </a:rPr>
              <a:t>Memory overhead</a:t>
            </a:r>
            <a:r>
              <a:rPr lang="en-us" sz="1680" cap="none" dirty="0">
                <a:solidFill>
                  <a:srgbClr val="000000"/>
                </a:solidFill>
                <a:latin typeface="Calibri" pitchFamily="2" charset="0"/>
                <a:ea typeface="Arial" pitchFamily="2" charset="0"/>
                <a:cs typeface="Arial" pitchFamily="2" charset="0"/>
              </a:rPr>
              <a:t>: Unlike arrays, linked lists require extra memory to store the pointers that link the nodes together. This overhead can be significant if the number of nodes is small, but becomes less significant as the number of nodes grows.</a:t>
            </a:r>
            <a:endParaRPr lang="en-us" sz="1680" cap="none" dirty="0">
              <a:solidFill>
                <a:srgbClr val="000000"/>
              </a:solidFill>
            </a:endParaRPr>
          </a:p>
          <a:p>
            <a:pPr indent="0" defTabSz="914400">
              <a:lnSpc>
                <a:spcPct val="90000"/>
              </a:lnSpc>
              <a:spcBef>
                <a:spcPts val="600"/>
              </a:spcBef>
              <a:buNone/>
              <a:tabLst>
                <a:tab pos="0" algn="l"/>
              </a:tabLst>
              <a:defRPr lang="en-us" sz="1080" cap="none"/>
            </a:pPr>
            <a:endParaRPr lang="en-us" sz="1680" cap="none" dirty="0">
              <a:solidFill>
                <a:srgbClr val="000000"/>
              </a:solidFill>
            </a:endParaRPr>
          </a:p>
          <a:p>
            <a:pPr marL="219075" indent="-219075" defTabSz="914400">
              <a:lnSpc>
                <a:spcPct val="90000"/>
              </a:lnSpc>
              <a:spcBef>
                <a:spcPts val="600"/>
              </a:spcBef>
              <a:buClrTx/>
              <a:buFont typeface="Arial" pitchFamily="2" charset="0"/>
              <a:buChar char="•"/>
              <a:tabLst>
                <a:tab pos="0" algn="l"/>
              </a:tabLst>
              <a:defRPr lang="en-us" sz="1080" cap="none"/>
            </a:pPr>
            <a:r>
              <a:rPr lang="en-us" sz="1680" b="1" cap="none" dirty="0">
                <a:solidFill>
                  <a:srgbClr val="000000"/>
                </a:solidFill>
                <a:latin typeface="Calibri" pitchFamily="2" charset="0"/>
                <a:ea typeface="Arial" pitchFamily="2" charset="0"/>
                <a:cs typeface="Arial" pitchFamily="2" charset="0"/>
              </a:rPr>
              <a:t>Slower access</a:t>
            </a:r>
            <a:r>
              <a:rPr lang="en-us" sz="1680" cap="none" dirty="0">
                <a:solidFill>
                  <a:srgbClr val="000000"/>
                </a:solidFill>
                <a:latin typeface="Calibri" pitchFamily="2" charset="0"/>
                <a:ea typeface="Arial" pitchFamily="2" charset="0"/>
                <a:cs typeface="Arial" pitchFamily="2" charset="0"/>
              </a:rPr>
              <a:t>: Accessing an element in a linked list takes longer than accessing an element in an array because it involves following the pointers from one node to the next. This can be a problem when fast access is important.</a:t>
            </a:r>
            <a:endParaRPr lang="en-us" sz="1680" cap="none" dirty="0">
              <a:solidFill>
                <a:srgbClr val="000000"/>
              </a:solidFill>
            </a:endParaRPr>
          </a:p>
          <a:p>
            <a:pPr indent="0" defTabSz="914400">
              <a:lnSpc>
                <a:spcPct val="90000"/>
              </a:lnSpc>
              <a:spcBef>
                <a:spcPts val="600"/>
              </a:spcBef>
              <a:buNone/>
              <a:tabLst>
                <a:tab pos="0" algn="l"/>
              </a:tabLst>
              <a:defRPr lang="en-us" sz="1080" cap="none"/>
            </a:pPr>
            <a:endParaRPr lang="en-us" sz="1680" cap="none" dirty="0">
              <a:solidFill>
                <a:srgbClr val="000000"/>
              </a:solidFill>
            </a:endParaRPr>
          </a:p>
          <a:p>
            <a:pPr marL="219075" indent="-219075" defTabSz="914400">
              <a:lnSpc>
                <a:spcPct val="90000"/>
              </a:lnSpc>
              <a:spcBef>
                <a:spcPts val="600"/>
              </a:spcBef>
              <a:buClrTx/>
              <a:buFont typeface="Arial" pitchFamily="2" charset="0"/>
              <a:buChar char="•"/>
              <a:tabLst>
                <a:tab pos="0" algn="l"/>
              </a:tabLst>
              <a:defRPr lang="en-us" sz="1080" cap="none"/>
            </a:pPr>
            <a:r>
              <a:rPr lang="en-us" sz="1680" b="1" cap="none" dirty="0">
                <a:solidFill>
                  <a:srgbClr val="000000"/>
                </a:solidFill>
                <a:latin typeface="Calibri" pitchFamily="2" charset="0"/>
                <a:ea typeface="Arial" pitchFamily="2" charset="0"/>
                <a:cs typeface="Arial" pitchFamily="2" charset="0"/>
              </a:rPr>
              <a:t>Sequential access</a:t>
            </a:r>
            <a:r>
              <a:rPr lang="en-us" sz="1680" cap="none" dirty="0">
                <a:solidFill>
                  <a:srgbClr val="000000"/>
                </a:solidFill>
                <a:latin typeface="Calibri" pitchFamily="2" charset="0"/>
                <a:ea typeface="Arial" pitchFamily="2" charset="0"/>
                <a:cs typeface="Arial" pitchFamily="2" charset="0"/>
              </a:rPr>
              <a:t>: Linked lists are designed for sequential access. If you need to access the elements in a list randomly, a linked list can be inefficient..</a:t>
            </a:r>
            <a:endParaRPr lang="en-us" sz="1680" cap="none" dirty="0">
              <a:solidFill>
                <a:srgbClr val="000000"/>
              </a:solidFill>
            </a:endParaRPr>
          </a:p>
          <a:p>
            <a:pPr indent="0" defTabSz="914400">
              <a:lnSpc>
                <a:spcPct val="90000"/>
              </a:lnSpc>
              <a:spcBef>
                <a:spcPts val="600"/>
              </a:spcBef>
              <a:buNone/>
              <a:tabLst>
                <a:tab pos="0" algn="l"/>
              </a:tabLst>
              <a:defRPr lang="en-us" sz="1080" cap="none"/>
            </a:pPr>
            <a:endParaRPr lang="en-us" sz="1680" cap="none" dirty="0">
              <a:solidFill>
                <a:srgbClr val="000000"/>
              </a:solidFill>
            </a:endParaRPr>
          </a:p>
          <a:p>
            <a:pPr marL="219075" indent="-219075" defTabSz="914400">
              <a:lnSpc>
                <a:spcPct val="90000"/>
              </a:lnSpc>
              <a:spcBef>
                <a:spcPts val="600"/>
              </a:spcBef>
              <a:buClrTx/>
              <a:buFont typeface="Arial" pitchFamily="2" charset="0"/>
              <a:buChar char="•"/>
              <a:tabLst>
                <a:tab pos="0" algn="l"/>
              </a:tabLst>
              <a:defRPr lang="en-us" sz="1080" cap="none"/>
            </a:pPr>
            <a:r>
              <a:rPr lang="en-us" sz="1680" b="1" cap="none" dirty="0">
                <a:solidFill>
                  <a:srgbClr val="000000"/>
                </a:solidFill>
                <a:latin typeface="Calibri" pitchFamily="2" charset="0"/>
                <a:ea typeface="Arial" pitchFamily="2" charset="0"/>
                <a:cs typeface="Arial" pitchFamily="2" charset="0"/>
              </a:rPr>
              <a:t>More difficult to implement</a:t>
            </a:r>
            <a:r>
              <a:rPr lang="en-us" sz="1680" cap="none" dirty="0">
                <a:solidFill>
                  <a:srgbClr val="000000"/>
                </a:solidFill>
                <a:latin typeface="Calibri" pitchFamily="2" charset="0"/>
                <a:ea typeface="Arial" pitchFamily="2" charset="0"/>
                <a:cs typeface="Arial" pitchFamily="2" charset="0"/>
              </a:rPr>
              <a:t>: Linked lists are more difficult to implement than arrays because they require dynamic memory allocation and management of the nodes. This can make the code more complex and error-prone.</a:t>
            </a:r>
            <a:endParaRPr lang="en-us" sz="1680" cap="none" dirty="0">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 name="Picture 4"/>
          <p:cNvPicPr>
            <a:extLst>
              <a:ext uri="smNativeData">
                <pr:smNativeData xmlns="smNativeData" xmlns:pr="smNativeData" xmlns:p15="http://schemas.microsoft.com/office/powerpoint/2012/main" xmlns:p14="http://schemas.microsoft.com/office/powerpoint/2010/main" xmlns:mc="http://schemas.openxmlformats.org/markup-compatibility/2006" val="SMDATA_17_B0k/ZxMAAAAlAAAAEQ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IQGAAAlAgAAl0MAAJooAAAQAAAAJgAAAAgAAAD//////////w=="/>
              </a:ext>
            </a:extLst>
          </p:cNvPicPr>
          <p:nvPr/>
        </p:nvPicPr>
        <p:blipFill>
          <a:blip r:embed="rId3"/>
          <a:stretch>
            <a:fillRect/>
          </a:stretch>
        </p:blipFill>
        <p:spPr>
          <a:xfrm>
            <a:off x="1059180" y="348615"/>
            <a:ext cx="9928225" cy="6251575"/>
          </a:xfrm>
          <a:prstGeom prst="rect">
            <a:avLst/>
          </a:prstGeom>
          <a:noFill/>
          <a:ln>
            <a:noFill/>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YRQAAZwoAABAAAAAmAAAACAAAAAAAAAAAAAAA"/>
              </a:ext>
            </a:extLst>
          </p:cNvSpPr>
          <p:nvPr>
            <p:ph type="title"/>
          </p:nvPr>
        </p:nvSpPr>
        <p:spPr/>
        <p:txBody>
          <a:bodyPr/>
          <a:lstStyle/>
          <a:p>
            <a:pPr>
              <a:defRPr lang="en-us"/>
            </a:pPr>
            <a:r>
              <a:t>Linked List</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YRQAAACYAABAAAAAmAAAACAAAADwwAAAAAAAA"/>
              </a:ext>
            </a:extLst>
          </p:cNvSpPr>
          <p:nvPr>
            <p:ph type="body" idx="1"/>
          </p:nvPr>
        </p:nvSpPr>
        <p:spPr/>
        <p:txBody>
          <a:bodyPr vert="horz" wrap="square" lIns="91440" tIns="45720" rIns="91440" bIns="45720" numCol="1" spcCol="215900" anchor="t">
            <a:prstTxWarp prst="textNoShape">
              <a:avLst/>
            </a:prstTxWarp>
          </a:bodyPr>
          <a:lstStyle/>
          <a:p>
            <a:pPr marL="228600" indent="-228600">
              <a:lnSpc>
                <a:spcPct val="88000"/>
              </a:lnSpc>
              <a:spcBef>
                <a:spcPts val="900"/>
              </a:spcBef>
              <a:buClrTx/>
              <a:buFont typeface="Arial" pitchFamily="2" charset="0"/>
              <a:buChar char="•"/>
              <a:defRPr lang="en-us" sz="2520" cap="none"/>
            </a:pPr>
            <a:r>
              <a:rPr lang="en-us" cap="none" dirty="0">
                <a:solidFill>
                  <a:srgbClr val="000000"/>
                </a:solidFill>
                <a:latin typeface="Calibri" pitchFamily="2" charset="0"/>
                <a:ea typeface="Calibri" pitchFamily="2" charset="0"/>
                <a:cs typeface="Calibri" pitchFamily="2" charset="0"/>
              </a:rPr>
              <a:t>A linked list is a sequence of elements in which each element points to the next element.</a:t>
            </a:r>
            <a:endParaRPr lang="en-us" cap="none" dirty="0">
              <a:solidFill>
                <a:srgbClr val="000000"/>
              </a:solidFill>
            </a:endParaRPr>
          </a:p>
          <a:p>
            <a:pPr marL="228600" indent="-228600">
              <a:lnSpc>
                <a:spcPct val="88000"/>
              </a:lnSpc>
              <a:spcBef>
                <a:spcPts val="900"/>
              </a:spcBef>
              <a:buClrTx/>
              <a:buFont typeface="Arial" pitchFamily="2" charset="0"/>
              <a:buChar char="•"/>
              <a:defRPr lang="en-us" sz="2520" cap="none"/>
            </a:pPr>
            <a:r>
              <a:rPr lang="en-us" cap="none" dirty="0">
                <a:solidFill>
                  <a:srgbClr val="000000"/>
                </a:solidFill>
                <a:latin typeface="Calibri" pitchFamily="2" charset="0"/>
                <a:ea typeface="Calibri" pitchFamily="2" charset="0"/>
                <a:cs typeface="Calibri" pitchFamily="2" charset="0"/>
              </a:rPr>
              <a:t>Each element in a linked list, called a node. </a:t>
            </a:r>
            <a:endParaRPr lang="en-us" cap="none" dirty="0">
              <a:solidFill>
                <a:srgbClr val="000000"/>
              </a:solidFill>
            </a:endParaRPr>
          </a:p>
          <a:p>
            <a:pPr marL="228600" indent="-228600">
              <a:lnSpc>
                <a:spcPct val="88000"/>
              </a:lnSpc>
              <a:spcBef>
                <a:spcPts val="900"/>
              </a:spcBef>
              <a:buClrTx/>
              <a:buFont typeface="Arial" pitchFamily="2" charset="0"/>
              <a:buChar char="•"/>
              <a:defRPr lang="en-us" sz="2520" cap="none"/>
            </a:pPr>
            <a:r>
              <a:rPr lang="en-us" cap="none" dirty="0">
                <a:solidFill>
                  <a:srgbClr val="000000"/>
                </a:solidFill>
                <a:latin typeface="Calibri" pitchFamily="2" charset="0"/>
                <a:ea typeface="Calibri" pitchFamily="2" charset="0"/>
                <a:cs typeface="Calibri" pitchFamily="2" charset="0"/>
              </a:rPr>
              <a:t>Linked list requires a non-contiguous memory location,</a:t>
            </a:r>
            <a:endParaRPr lang="en-us" cap="none" dirty="0">
              <a:solidFill>
                <a:srgbClr val="000000"/>
              </a:solidFill>
            </a:endParaRPr>
          </a:p>
          <a:p>
            <a:pPr marL="228600" indent="-228600">
              <a:lnSpc>
                <a:spcPct val="88000"/>
              </a:lnSpc>
              <a:spcBef>
                <a:spcPts val="900"/>
              </a:spcBef>
              <a:buClrTx/>
              <a:buFont typeface="Arial" pitchFamily="2" charset="0"/>
              <a:buChar char="•"/>
              <a:defRPr lang="en-us" sz="2520" cap="none"/>
            </a:pPr>
            <a:r>
              <a:rPr lang="en-us" cap="none" dirty="0">
                <a:solidFill>
                  <a:srgbClr val="000000"/>
                </a:solidFill>
                <a:latin typeface="Calibri" pitchFamily="2" charset="0"/>
                <a:ea typeface="Calibri" pitchFamily="2" charset="0"/>
                <a:cs typeface="Calibri" pitchFamily="2" charset="0"/>
              </a:rPr>
              <a:t>A node is a data structure that contains two parts:</a:t>
            </a:r>
            <a:endParaRPr lang="en-us" cap="none" dirty="0">
              <a:solidFill>
                <a:srgbClr val="000000"/>
              </a:solidFill>
            </a:endParaRPr>
          </a:p>
          <a:p>
            <a:pPr marL="685800" lvl="1" indent="-228600">
              <a:lnSpc>
                <a:spcPct val="88000"/>
              </a:lnSpc>
              <a:spcBef>
                <a:spcPts val="445"/>
              </a:spcBef>
              <a:buClrTx/>
              <a:buFont typeface="Arial" pitchFamily="2" charset="0"/>
              <a:buChar char="•"/>
              <a:defRPr lang="en-us" sz="2160" cap="none"/>
            </a:pPr>
            <a:r>
              <a:rPr lang="en-us" sz="2520" cap="none" dirty="0">
                <a:solidFill>
                  <a:srgbClr val="000000"/>
                </a:solidFill>
                <a:latin typeface="Calibri" pitchFamily="2" charset="0"/>
                <a:ea typeface="Calibri" pitchFamily="2" charset="0"/>
                <a:cs typeface="Calibri" pitchFamily="2" charset="0"/>
              </a:rPr>
              <a:t>Data Field: The data part contains the actual data that is being stored in the list.</a:t>
            </a:r>
            <a:endParaRPr lang="en-us" sz="2520" cap="none" dirty="0">
              <a:solidFill>
                <a:srgbClr val="000000"/>
              </a:solidFill>
            </a:endParaRPr>
          </a:p>
          <a:p>
            <a:pPr marL="685800" lvl="1" indent="-228600">
              <a:lnSpc>
                <a:spcPct val="88000"/>
              </a:lnSpc>
              <a:spcBef>
                <a:spcPts val="445"/>
              </a:spcBef>
              <a:buClrTx/>
              <a:buFont typeface="Arial" pitchFamily="2" charset="0"/>
              <a:buChar char="•"/>
              <a:defRPr lang="en-us" sz="2160" cap="none"/>
            </a:pPr>
            <a:r>
              <a:rPr lang="en-us" sz="2520" cap="none" dirty="0">
                <a:solidFill>
                  <a:srgbClr val="000000"/>
                </a:solidFill>
                <a:latin typeface="Calibri" pitchFamily="2" charset="0"/>
                <a:ea typeface="Calibri" pitchFamily="2" charset="0"/>
                <a:cs typeface="Calibri" pitchFamily="2" charset="0"/>
              </a:rPr>
              <a:t>Pointer (Linked Field): The pointer part contains a reference to the next node in the list (Address).</a:t>
            </a:r>
            <a:endParaRPr lang="en-us" sz="2520" cap="none" dirty="0">
              <a:solidFill>
                <a:srgbClr val="000000"/>
              </a:solidFill>
            </a:endParaRPr>
          </a:p>
          <a:p>
            <a:pPr indent="0">
              <a:lnSpc>
                <a:spcPct val="88000"/>
              </a:lnSpc>
              <a:spcBef>
                <a:spcPts val="900"/>
              </a:spcBef>
              <a:buNone/>
              <a:defRPr lang="en-us" sz="2520" cap="none"/>
            </a:pPr>
            <a:endParaRPr lang="en-us" cap="none" dirty="0">
              <a:solidFill>
                <a:srgbClr val="000000"/>
              </a:solidFill>
            </a:endParaRPr>
          </a:p>
          <a:p>
            <a:pPr>
              <a:lnSpc>
                <a:spcPct val="88000"/>
              </a:lnSpc>
              <a:spcBef>
                <a:spcPts val="900"/>
              </a:spcBef>
              <a:defRPr lang="en-us" sz="2520" cap="none"/>
            </a:pPr>
            <a:endParaRPr lang="en-us" cap="none" dirty="0">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 name="Picture 2" descr="Linked List in Data Structure - TechVidvan"/>
          <p:cNvPicPr>
            <a:extLst>
              <a:ext uri="smNativeData">
                <pr:smNativeData xmlns="smNativeData" xmlns:pr="smNativeData" xmlns:p15="http://schemas.microsoft.com/office/powerpoint/2012/main" xmlns:p14="http://schemas.microsoft.com/office/powerpoint/2010/main" xmlns:mc="http://schemas.openxmlformats.org/markup-compatibility/2006" val="SMDATA_17_B0k/ZxMAAAAlAAAAEQ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FgCAACyAgAAp0gAAH0nAAAQAAAAJgAAAAgAAAD//////////w=="/>
              </a:ext>
            </a:extLst>
          </p:cNvPicPr>
          <p:nvPr/>
        </p:nvPicPr>
        <p:blipFill>
          <a:blip r:embed="rId3"/>
          <a:stretch>
            <a:fillRect/>
          </a:stretch>
        </p:blipFill>
        <p:spPr>
          <a:xfrm>
            <a:off x="381000" y="438150"/>
            <a:ext cx="11429365" cy="5981065"/>
          </a:xfrm>
          <a:prstGeom prst="rect">
            <a:avLst/>
          </a:prstGeom>
          <a:noFill/>
          <a:ln>
            <a:noFill/>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IGg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defRPr lang="en-us"/>
            </a:pPr>
            <a:r>
              <a:rPr lang="en-us" cap="none">
                <a:solidFill>
                  <a:srgbClr val="000000"/>
                </a:solidFill>
                <a:latin typeface="Calibri Light" charset="0"/>
                <a:ea typeface="Arial" pitchFamily="2" charset="0"/>
                <a:cs typeface="Arial" pitchFamily="2" charset="0"/>
              </a:rPr>
              <a:t>Implementation of Linkedlist in C:</a:t>
            </a: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AGg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40030" indent="-240030">
              <a:lnSpc>
                <a:spcPct val="90000"/>
              </a:lnSpc>
              <a:spcBef>
                <a:spcPts val="770"/>
              </a:spcBef>
              <a:buClrTx/>
              <a:buFont typeface="Arial" pitchFamily="2" charset="0"/>
              <a:buChar char="•"/>
              <a:defRPr lang="en-us" sz="1385" cap="none"/>
            </a:pPr>
            <a:r>
              <a:rPr lang="en-us" sz="2155" cap="none">
                <a:solidFill>
                  <a:srgbClr val="000000"/>
                </a:solidFill>
                <a:latin typeface="Calibri" pitchFamily="2" charset="0"/>
                <a:ea typeface="Arial" pitchFamily="2" charset="0"/>
                <a:cs typeface="Arial" pitchFamily="2" charset="0"/>
              </a:rPr>
              <a:t>Linked list can be implemented using structure in C,</a:t>
            </a:r>
            <a:endParaRPr lang="en-us" sz="2155" cap="none">
              <a:solidFill>
                <a:srgbClr val="000000"/>
              </a:solidFill>
            </a:endParaRPr>
          </a:p>
          <a:p>
            <a:pPr marL="480695" indent="0" defTabSz="914400">
              <a:lnSpc>
                <a:spcPct val="90000"/>
              </a:lnSpc>
              <a:spcBef>
                <a:spcPts val="380"/>
              </a:spcBef>
              <a:buNone/>
              <a:tabLst>
                <a:tab pos="0" algn="l"/>
              </a:tabLst>
              <a:defRPr lang="en-us" sz="1385" cap="none"/>
            </a:pPr>
            <a:r>
              <a:rPr lang="en-us" sz="1850" i="1" cap="none">
                <a:solidFill>
                  <a:srgbClr val="000000"/>
                </a:solidFill>
                <a:latin typeface="Calibri" pitchFamily="2" charset="0"/>
                <a:ea typeface="Arial" pitchFamily="2" charset="0"/>
                <a:cs typeface="Arial" pitchFamily="2" charset="0"/>
              </a:rPr>
              <a:t>struct Node{</a:t>
            </a:r>
            <a:endParaRPr lang="en-us" sz="1850" cap="none">
              <a:solidFill>
                <a:srgbClr val="000000"/>
              </a:solidFill>
            </a:endParaRPr>
          </a:p>
          <a:p>
            <a:pPr marL="480695" indent="0" defTabSz="914400">
              <a:lnSpc>
                <a:spcPct val="90000"/>
              </a:lnSpc>
              <a:spcBef>
                <a:spcPts val="380"/>
              </a:spcBef>
              <a:buNone/>
              <a:tabLst>
                <a:tab pos="0" algn="l"/>
              </a:tabLst>
              <a:defRPr lang="en-us" sz="1385" cap="none"/>
            </a:pPr>
            <a:r>
              <a:rPr lang="en-us" sz="1850" i="1" cap="none">
                <a:solidFill>
                  <a:srgbClr val="000000"/>
                </a:solidFill>
                <a:latin typeface="Calibri" pitchFamily="2" charset="0"/>
                <a:ea typeface="Arial" pitchFamily="2" charset="0"/>
                <a:cs typeface="Arial" pitchFamily="2" charset="0"/>
              </a:rPr>
              <a:t>int data; //the first part of the node where data is stored</a:t>
            </a:r>
            <a:endParaRPr lang="en-us" sz="1850" cap="none">
              <a:solidFill>
                <a:srgbClr val="000000"/>
              </a:solidFill>
            </a:endParaRPr>
          </a:p>
          <a:p>
            <a:pPr marL="480695" indent="0" defTabSz="914400">
              <a:lnSpc>
                <a:spcPct val="90000"/>
              </a:lnSpc>
              <a:spcBef>
                <a:spcPts val="380"/>
              </a:spcBef>
              <a:buNone/>
              <a:tabLst>
                <a:tab pos="0" algn="l"/>
              </a:tabLst>
              <a:defRPr lang="en-us" sz="1385" cap="none"/>
            </a:pPr>
            <a:r>
              <a:rPr lang="en-us" sz="1850" i="1" cap="none">
                <a:solidFill>
                  <a:srgbClr val="000000"/>
                </a:solidFill>
                <a:latin typeface="Calibri" pitchFamily="2" charset="0"/>
                <a:ea typeface="Arial" pitchFamily="2" charset="0"/>
                <a:cs typeface="Arial" pitchFamily="2" charset="0"/>
              </a:rPr>
              <a:t>struct Node *next; //Self-referencing structure. It links two nodes.</a:t>
            </a:r>
            <a:endParaRPr lang="en-us" sz="1850" cap="none">
              <a:solidFill>
                <a:srgbClr val="000000"/>
              </a:solidFill>
            </a:endParaRPr>
          </a:p>
          <a:p>
            <a:pPr marL="480695" indent="0" defTabSz="914400">
              <a:lnSpc>
                <a:spcPct val="90000"/>
              </a:lnSpc>
              <a:spcBef>
                <a:spcPts val="380"/>
              </a:spcBef>
              <a:buNone/>
              <a:tabLst>
                <a:tab pos="0" algn="l"/>
              </a:tabLst>
              <a:defRPr lang="en-us" sz="1385" cap="none"/>
            </a:pPr>
            <a:r>
              <a:rPr lang="en-us" sz="1850" i="1" cap="none">
                <a:solidFill>
                  <a:srgbClr val="000000"/>
                </a:solidFill>
                <a:latin typeface="Calibri" pitchFamily="2" charset="0"/>
                <a:ea typeface="Arial" pitchFamily="2" charset="0"/>
                <a:cs typeface="Arial" pitchFamily="2" charset="0"/>
              </a:rPr>
              <a:t>};</a:t>
            </a:r>
            <a:endParaRPr lang="en-us" sz="1850" cap="none">
              <a:solidFill>
                <a:srgbClr val="000000"/>
              </a:solidFill>
            </a:endParaRPr>
          </a:p>
          <a:p>
            <a:pPr marL="240030" indent="-240030" defTabSz="914400">
              <a:lnSpc>
                <a:spcPct val="90000"/>
              </a:lnSpc>
              <a:spcBef>
                <a:spcPts val="770"/>
              </a:spcBef>
              <a:buClrTx/>
              <a:buFont typeface="Arial" pitchFamily="2" charset="0"/>
              <a:buChar char="•"/>
              <a:tabLst>
                <a:tab pos="0" algn="l"/>
              </a:tabLst>
              <a:defRPr lang="en-us" sz="1385" cap="none"/>
            </a:pPr>
            <a:r>
              <a:rPr lang="en-us" sz="2155" cap="none">
                <a:solidFill>
                  <a:srgbClr val="000000"/>
                </a:solidFill>
                <a:latin typeface="Calibri" pitchFamily="2" charset="0"/>
                <a:ea typeface="Arial" pitchFamily="2" charset="0"/>
                <a:cs typeface="Arial" pitchFamily="2" charset="0"/>
              </a:rPr>
              <a:t>We will always create individual nodes and link them to the next node via the arrow operator ‘→’.</a:t>
            </a:r>
            <a:endParaRPr lang="en-us" sz="2155" cap="none">
              <a:solidFill>
                <a:srgbClr val="000000"/>
              </a:solidFill>
            </a:endParaRPr>
          </a:p>
          <a:p>
            <a:pPr marL="240030" indent="-240030" defTabSz="914400">
              <a:lnSpc>
                <a:spcPct val="90000"/>
              </a:lnSpc>
              <a:spcBef>
                <a:spcPts val="770"/>
              </a:spcBef>
              <a:buClrTx/>
              <a:buFont typeface="Arial" pitchFamily="2" charset="0"/>
              <a:buChar char="•"/>
              <a:tabLst>
                <a:tab pos="0" algn="l"/>
              </a:tabLst>
              <a:defRPr lang="en-us" sz="1385" cap="none"/>
            </a:pPr>
            <a:r>
              <a:rPr lang="en-us" sz="2155" cap="none">
                <a:solidFill>
                  <a:srgbClr val="000000"/>
                </a:solidFill>
                <a:latin typeface="Calibri" pitchFamily="2" charset="0"/>
                <a:ea typeface="Arial" pitchFamily="2" charset="0"/>
                <a:cs typeface="Arial" pitchFamily="2" charset="0"/>
              </a:rPr>
              <a:t>The linked list supports dynamic memory allocation. Therefore, we will use the functions malloc, calloc and realloc for memory allocation.</a:t>
            </a:r>
            <a:endParaRPr lang="en-us" sz="2155" cap="none">
              <a:solidFill>
                <a:srgbClr val="000000"/>
              </a:solidFill>
            </a:endParaRPr>
          </a:p>
          <a:p>
            <a:pPr marL="721360" lvl="1" indent="-240030" defTabSz="914400">
              <a:lnSpc>
                <a:spcPct val="90000"/>
              </a:lnSpc>
              <a:spcBef>
                <a:spcPts val="380"/>
              </a:spcBef>
              <a:buClrTx/>
              <a:buFont typeface="Arial" pitchFamily="2" charset="0"/>
              <a:buChar char="•"/>
              <a:tabLst>
                <a:tab pos="0" algn="l"/>
              </a:tabLst>
              <a:defRPr lang="en-us" sz="1385" cap="none"/>
            </a:pPr>
            <a:r>
              <a:rPr lang="en-us" sz="1850" cap="none">
                <a:solidFill>
                  <a:srgbClr val="000000"/>
                </a:solidFill>
                <a:latin typeface="Calibri" pitchFamily="2" charset="0"/>
                <a:ea typeface="Arial" pitchFamily="2" charset="0"/>
                <a:cs typeface="Arial" pitchFamily="2" charset="0"/>
              </a:rPr>
              <a:t>Malloc allocates a block of memory of the specified size and returns a pointer to the beginning of the block.</a:t>
            </a:r>
            <a:endParaRPr lang="en-us" sz="1850" cap="none">
              <a:solidFill>
                <a:srgbClr val="000000"/>
              </a:solidFill>
            </a:endParaRPr>
          </a:p>
          <a:p>
            <a:pPr marL="721360" lvl="1" indent="-240030" defTabSz="914400">
              <a:lnSpc>
                <a:spcPct val="90000"/>
              </a:lnSpc>
              <a:spcBef>
                <a:spcPts val="380"/>
              </a:spcBef>
              <a:buClrTx/>
              <a:buFont typeface="Arial" pitchFamily="2" charset="0"/>
              <a:buChar char="•"/>
              <a:tabLst>
                <a:tab pos="0" algn="l"/>
              </a:tabLst>
              <a:defRPr lang="en-us" sz="1385" cap="none"/>
            </a:pPr>
            <a:r>
              <a:rPr lang="en-us" sz="1850" cap="none">
                <a:solidFill>
                  <a:srgbClr val="000000"/>
                </a:solidFill>
                <a:latin typeface="Calibri" pitchFamily="2" charset="0"/>
                <a:ea typeface="Arial" pitchFamily="2" charset="0"/>
                <a:cs typeface="Arial" pitchFamily="2" charset="0"/>
              </a:rPr>
              <a:t>Calloc allocates a block of memory of the specified size and initializes all of the bytes in the block to zero.</a:t>
            </a:r>
            <a:endParaRPr lang="en-us" sz="1850" cap="none">
              <a:solidFill>
                <a:srgbClr val="000000"/>
              </a:solidFill>
            </a:endParaRPr>
          </a:p>
          <a:p>
            <a:pPr marL="721360" lvl="1" indent="-240030" defTabSz="914400">
              <a:lnSpc>
                <a:spcPct val="90000"/>
              </a:lnSpc>
              <a:spcBef>
                <a:spcPts val="380"/>
              </a:spcBef>
              <a:buClrTx/>
              <a:buFont typeface="Arial" pitchFamily="2" charset="0"/>
              <a:buChar char="•"/>
              <a:tabLst>
                <a:tab pos="0" algn="l"/>
              </a:tabLst>
              <a:defRPr lang="en-us" sz="1385" cap="none"/>
            </a:pPr>
            <a:r>
              <a:rPr lang="en-us" sz="1850" cap="none">
                <a:solidFill>
                  <a:srgbClr val="000000"/>
                </a:solidFill>
                <a:latin typeface="Calibri" pitchFamily="2" charset="0"/>
                <a:ea typeface="Arial" pitchFamily="2" charset="0"/>
                <a:cs typeface="Arial" pitchFamily="2" charset="0"/>
              </a:rPr>
              <a:t>Realloc changes the size of a block of memory that was previously allocated with malloc or calloc.</a:t>
            </a:r>
            <a:endParaRPr lang="en-us" sz="1850" cap="none">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IGg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defRPr lang="en-us"/>
            </a:pPr>
            <a:r>
              <a:rPr lang="en-us" b="1" cap="none">
                <a:solidFill>
                  <a:srgbClr val="000000"/>
                </a:solidFill>
                <a:latin typeface="Calibri Light" charset="0"/>
                <a:ea typeface="Arial" pitchFamily="2" charset="0"/>
                <a:cs typeface="Arial" pitchFamily="2" charset="0"/>
              </a:rPr>
              <a:t>Basic Operations on Linked List</a:t>
            </a: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AGg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indent="0" defTabSz="914400">
              <a:lnSpc>
                <a:spcPct val="90000"/>
              </a:lnSpc>
              <a:spcBef>
                <a:spcPts val="1000"/>
              </a:spcBef>
              <a:buNone/>
              <a:tabLst>
                <a:tab pos="0" algn="l"/>
              </a:tabLst>
              <a:defRPr lang="en-us"/>
            </a:pPr>
            <a:r>
              <a:rPr lang="en-us" sz="2800" cap="none" dirty="0">
                <a:solidFill>
                  <a:srgbClr val="000000"/>
                </a:solidFill>
                <a:latin typeface="Calibri" pitchFamily="2" charset="0"/>
                <a:ea typeface="Arial" pitchFamily="2" charset="0"/>
                <a:cs typeface="Arial" pitchFamily="2" charset="0"/>
              </a:rPr>
              <a:t>1. </a:t>
            </a:r>
            <a:r>
              <a:rPr lang="en-us" sz="2800" cap="none" dirty="0">
                <a:solidFill>
                  <a:srgbClr val="FF0000"/>
                </a:solidFill>
                <a:latin typeface="Calibri" pitchFamily="2" charset="0"/>
                <a:ea typeface="Arial" pitchFamily="2" charset="0"/>
                <a:cs typeface="Arial" pitchFamily="2" charset="0"/>
              </a:rPr>
              <a:t>Traversal:</a:t>
            </a:r>
            <a:endParaRPr lang="en-us" sz="2800" cap="none" dirty="0">
              <a:solidFill>
                <a:srgbClr val="000000"/>
              </a:solidFill>
            </a:endParaRPr>
          </a:p>
          <a:p>
            <a:pPr marL="708660" lvl="1" indent="-236220" defTabSz="914400">
              <a:lnSpc>
                <a:spcPct val="90000"/>
              </a:lnSpc>
              <a:spcBef>
                <a:spcPts val="495"/>
              </a:spcBef>
              <a:buClrTx/>
              <a:buFont typeface="Arial" pitchFamily="2" charset="0"/>
              <a:buChar char="•"/>
              <a:tabLst>
                <a:tab pos="0" algn="l"/>
              </a:tabLst>
              <a:defRPr lang="en-us"/>
            </a:pPr>
            <a:r>
              <a:rPr lang="en-us" sz="2400" cap="none" dirty="0">
                <a:solidFill>
                  <a:srgbClr val="000000"/>
                </a:solidFill>
                <a:latin typeface="Calibri" pitchFamily="2" charset="0"/>
                <a:ea typeface="Arial" pitchFamily="2" charset="0"/>
                <a:cs typeface="Arial" pitchFamily="2" charset="0"/>
              </a:rPr>
              <a:t>It means visiting each node from the beginning till the end.</a:t>
            </a:r>
            <a:endParaRPr lang="en-us" sz="2400" cap="none" dirty="0">
              <a:solidFill>
                <a:srgbClr val="000000"/>
              </a:solidFill>
            </a:endParaRPr>
          </a:p>
          <a:p>
            <a:pPr indent="0" defTabSz="914400">
              <a:lnSpc>
                <a:spcPct val="90000"/>
              </a:lnSpc>
              <a:spcBef>
                <a:spcPts val="1000"/>
              </a:spcBef>
              <a:buNone/>
              <a:tabLst>
                <a:tab pos="0" algn="l"/>
              </a:tabLst>
              <a:defRPr lang="en-us"/>
            </a:pPr>
            <a:r>
              <a:rPr lang="en-us" sz="2800" cap="none" dirty="0">
                <a:solidFill>
                  <a:srgbClr val="000000"/>
                </a:solidFill>
                <a:latin typeface="Calibri" pitchFamily="2" charset="0"/>
                <a:ea typeface="Arial" pitchFamily="2" charset="0"/>
                <a:cs typeface="Arial" pitchFamily="2" charset="0"/>
              </a:rPr>
              <a:t>2. </a:t>
            </a:r>
            <a:r>
              <a:rPr lang="en-us" sz="2800" cap="none" dirty="0">
                <a:solidFill>
                  <a:srgbClr val="FF0000"/>
                </a:solidFill>
                <a:latin typeface="Calibri" pitchFamily="2" charset="0"/>
                <a:ea typeface="Arial" pitchFamily="2" charset="0"/>
                <a:cs typeface="Arial" pitchFamily="2" charset="0"/>
              </a:rPr>
              <a:t>Insertion</a:t>
            </a:r>
            <a:r>
              <a:rPr lang="en-us" sz="2800" cap="none" dirty="0">
                <a:solidFill>
                  <a:srgbClr val="000000"/>
                </a:solidFill>
                <a:latin typeface="Calibri" pitchFamily="2" charset="0"/>
                <a:ea typeface="Arial" pitchFamily="2" charset="0"/>
                <a:cs typeface="Arial" pitchFamily="2" charset="0"/>
              </a:rPr>
              <a:t>:</a:t>
            </a:r>
            <a:endParaRPr lang="en-us" sz="2800" cap="none" dirty="0">
              <a:solidFill>
                <a:srgbClr val="000000"/>
              </a:solidFill>
            </a:endParaRPr>
          </a:p>
          <a:p>
            <a:pPr marL="708660" lvl="1" indent="-236220" defTabSz="914400">
              <a:lnSpc>
                <a:spcPct val="90000"/>
              </a:lnSpc>
              <a:spcBef>
                <a:spcPts val="495"/>
              </a:spcBef>
              <a:buClrTx/>
              <a:buFont typeface="Arial" pitchFamily="2" charset="0"/>
              <a:buChar char="•"/>
              <a:tabLst>
                <a:tab pos="0" algn="l"/>
              </a:tabLst>
              <a:defRPr lang="en-us"/>
            </a:pPr>
            <a:r>
              <a:rPr lang="en-us" sz="2400" cap="none" dirty="0">
                <a:solidFill>
                  <a:srgbClr val="000000"/>
                </a:solidFill>
                <a:latin typeface="Calibri" pitchFamily="2" charset="0"/>
                <a:ea typeface="Arial" pitchFamily="2" charset="0"/>
                <a:cs typeface="Arial" pitchFamily="2" charset="0"/>
              </a:rPr>
              <a:t>This operation inserts an element at any given position in the list.</a:t>
            </a:r>
            <a:endParaRPr lang="en-us" sz="2400" cap="none" dirty="0">
              <a:solidFill>
                <a:srgbClr val="000000"/>
              </a:solidFill>
            </a:endParaRPr>
          </a:p>
          <a:p>
            <a:pPr indent="0" defTabSz="914400">
              <a:lnSpc>
                <a:spcPct val="90000"/>
              </a:lnSpc>
              <a:spcBef>
                <a:spcPts val="1000"/>
              </a:spcBef>
              <a:buNone/>
              <a:tabLst>
                <a:tab pos="0" algn="l"/>
              </a:tabLst>
              <a:defRPr lang="en-us"/>
            </a:pPr>
            <a:r>
              <a:rPr lang="en-us" sz="2800" cap="none" dirty="0">
                <a:solidFill>
                  <a:srgbClr val="000000"/>
                </a:solidFill>
                <a:latin typeface="Calibri" pitchFamily="2" charset="0"/>
                <a:ea typeface="Arial" pitchFamily="2" charset="0"/>
                <a:cs typeface="Arial" pitchFamily="2" charset="0"/>
              </a:rPr>
              <a:t>3. </a:t>
            </a:r>
            <a:r>
              <a:rPr lang="en-us" sz="2800" cap="none" dirty="0">
                <a:solidFill>
                  <a:srgbClr val="FF0000"/>
                </a:solidFill>
                <a:latin typeface="Calibri" pitchFamily="2" charset="0"/>
                <a:ea typeface="Arial" pitchFamily="2" charset="0"/>
                <a:cs typeface="Arial" pitchFamily="2" charset="0"/>
              </a:rPr>
              <a:t>Deletion:</a:t>
            </a:r>
            <a:endParaRPr lang="en-us" sz="2800" cap="none" dirty="0">
              <a:solidFill>
                <a:srgbClr val="000000"/>
              </a:solidFill>
            </a:endParaRPr>
          </a:p>
          <a:p>
            <a:pPr marL="708660" lvl="1" indent="-236220" defTabSz="914400">
              <a:lnSpc>
                <a:spcPct val="90000"/>
              </a:lnSpc>
              <a:spcBef>
                <a:spcPts val="495"/>
              </a:spcBef>
              <a:buClrTx/>
              <a:buFont typeface="Arial" pitchFamily="2" charset="0"/>
              <a:buChar char="•"/>
              <a:tabLst>
                <a:tab pos="0" algn="l"/>
              </a:tabLst>
              <a:defRPr lang="en-us"/>
            </a:pPr>
            <a:r>
              <a:rPr lang="en-us" sz="2400" cap="none" dirty="0">
                <a:solidFill>
                  <a:srgbClr val="000000"/>
                </a:solidFill>
                <a:latin typeface="Calibri" pitchFamily="2" charset="0"/>
                <a:ea typeface="Arial" pitchFamily="2" charset="0"/>
                <a:cs typeface="Arial" pitchFamily="2" charset="0"/>
              </a:rPr>
              <a:t>Deletion operation helps in deleting a node from the linked list.</a:t>
            </a:r>
            <a:endParaRPr lang="en-us" sz="2400" cap="none" dirty="0">
              <a:solidFill>
                <a:srgbClr val="000000"/>
              </a:solidFill>
            </a:endParaRPr>
          </a:p>
          <a:p>
            <a:pPr indent="0" defTabSz="914400">
              <a:lnSpc>
                <a:spcPct val="90000"/>
              </a:lnSpc>
              <a:spcBef>
                <a:spcPts val="1000"/>
              </a:spcBef>
              <a:buNone/>
              <a:tabLst>
                <a:tab pos="0" algn="l"/>
              </a:tabLst>
              <a:defRPr lang="en-us"/>
            </a:pPr>
            <a:r>
              <a:rPr lang="en-us" sz="2800" cap="none" dirty="0">
                <a:solidFill>
                  <a:srgbClr val="000000"/>
                </a:solidFill>
                <a:latin typeface="Calibri" pitchFamily="2" charset="0"/>
                <a:ea typeface="Arial" pitchFamily="2" charset="0"/>
                <a:cs typeface="Arial" pitchFamily="2" charset="0"/>
              </a:rPr>
              <a:t>4. Display:</a:t>
            </a:r>
            <a:endParaRPr lang="en-us" sz="2800" cap="none" dirty="0">
              <a:solidFill>
                <a:srgbClr val="000000"/>
              </a:solidFill>
            </a:endParaRPr>
          </a:p>
          <a:p>
            <a:pPr marL="708660" lvl="1" indent="-236220" defTabSz="914400">
              <a:lnSpc>
                <a:spcPct val="90000"/>
              </a:lnSpc>
              <a:spcBef>
                <a:spcPts val="495"/>
              </a:spcBef>
              <a:buClrTx/>
              <a:buFont typeface="Arial" pitchFamily="2" charset="0"/>
              <a:buChar char="•"/>
              <a:tabLst>
                <a:tab pos="0" algn="l"/>
              </a:tabLst>
              <a:defRPr lang="en-us"/>
            </a:pPr>
            <a:r>
              <a:rPr lang="en-us" sz="2400" cap="none" dirty="0">
                <a:solidFill>
                  <a:srgbClr val="000000"/>
                </a:solidFill>
                <a:latin typeface="Calibri" pitchFamily="2" charset="0"/>
                <a:ea typeface="Arial" pitchFamily="2" charset="0"/>
                <a:cs typeface="Arial" pitchFamily="2" charset="0"/>
              </a:rPr>
              <a:t>This operation is used to print/display all the data elements of the linked list.</a:t>
            </a:r>
            <a:endParaRPr lang="en-us" sz="2400" cap="none" dirty="0">
              <a:solidFill>
                <a:srgbClr val="000000"/>
              </a:solidFill>
            </a:endParaRPr>
          </a:p>
          <a:p>
            <a:pPr indent="0" defTabSz="914400">
              <a:lnSpc>
                <a:spcPct val="90000"/>
              </a:lnSpc>
              <a:spcBef>
                <a:spcPts val="1000"/>
              </a:spcBef>
              <a:buNone/>
              <a:tabLst>
                <a:tab pos="0" algn="l"/>
              </a:tabLst>
              <a:defRPr lang="en-us"/>
            </a:pPr>
            <a:r>
              <a:rPr lang="en-us" sz="2800" cap="none" dirty="0">
                <a:solidFill>
                  <a:srgbClr val="000000"/>
                </a:solidFill>
                <a:latin typeface="Calibri" pitchFamily="2" charset="0"/>
                <a:ea typeface="Arial" pitchFamily="2" charset="0"/>
                <a:cs typeface="Arial" pitchFamily="2" charset="0"/>
              </a:rPr>
              <a:t>5. Search:</a:t>
            </a:r>
            <a:endParaRPr lang="en-us" sz="2800" cap="none" dirty="0">
              <a:solidFill>
                <a:srgbClr val="000000"/>
              </a:solidFill>
            </a:endParaRPr>
          </a:p>
          <a:p>
            <a:pPr marL="708660" lvl="1" indent="-236220" defTabSz="914400">
              <a:lnSpc>
                <a:spcPct val="90000"/>
              </a:lnSpc>
              <a:spcBef>
                <a:spcPts val="495"/>
              </a:spcBef>
              <a:buClrTx/>
              <a:buFont typeface="Arial" pitchFamily="2" charset="0"/>
              <a:buChar char="•"/>
              <a:tabLst>
                <a:tab pos="0" algn="l"/>
              </a:tabLst>
              <a:defRPr lang="en-us"/>
            </a:pPr>
            <a:r>
              <a:rPr lang="en-us" sz="2400" cap="none" dirty="0">
                <a:solidFill>
                  <a:srgbClr val="000000"/>
                </a:solidFill>
                <a:latin typeface="Calibri" pitchFamily="2" charset="0"/>
                <a:ea typeface="Arial" pitchFamily="2" charset="0"/>
                <a:cs typeface="Arial" pitchFamily="2" charset="0"/>
              </a:rPr>
              <a:t>search operation helps in searching an element by traversing it.</a:t>
            </a:r>
            <a:endParaRPr lang="en-us" sz="2400" cap="none" dirty="0">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IGg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defRPr lang="en-us"/>
            </a:pPr>
            <a:r>
              <a:rPr lang="en-us" cap="none">
                <a:solidFill>
                  <a:srgbClr val="000000"/>
                </a:solidFill>
                <a:latin typeface="Calibri Light" charset="0"/>
                <a:ea typeface="Arial" pitchFamily="2" charset="0"/>
                <a:cs typeface="Arial" pitchFamily="2" charset="0"/>
              </a:rPr>
              <a:t>Types of Linked List</a:t>
            </a: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AGg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8600" indent="-228600">
              <a:lnSpc>
                <a:spcPct val="90000"/>
              </a:lnSpc>
              <a:spcBef>
                <a:spcPts val="1000"/>
              </a:spcBef>
              <a:buClrTx/>
              <a:buFont typeface="Arial" pitchFamily="2" charset="0"/>
              <a:buChar char="•"/>
              <a:defRPr lang="en-us"/>
            </a:pPr>
            <a:r>
              <a:rPr lang="en-us" sz="2800" cap="none">
                <a:solidFill>
                  <a:srgbClr val="000000"/>
                </a:solidFill>
                <a:latin typeface="Calibri" pitchFamily="2" charset="0"/>
                <a:ea typeface="Arial" pitchFamily="2" charset="0"/>
                <a:cs typeface="Arial" pitchFamily="2" charset="0"/>
              </a:rPr>
              <a:t>Singly Linked List</a:t>
            </a:r>
            <a:endParaRPr lang="en-us" sz="2800" cap="none">
              <a:solidFill>
                <a:srgbClr val="000000"/>
              </a:solidFill>
            </a:endParaRPr>
          </a:p>
          <a:p>
            <a:pPr marL="228600" indent="-228600">
              <a:lnSpc>
                <a:spcPct val="90000"/>
              </a:lnSpc>
              <a:spcBef>
                <a:spcPts val="1000"/>
              </a:spcBef>
              <a:buClrTx/>
              <a:buFont typeface="Arial" pitchFamily="2" charset="0"/>
              <a:buChar char="•"/>
              <a:defRPr lang="en-us"/>
            </a:pPr>
            <a:r>
              <a:rPr lang="en-us" sz="2800" cap="none">
                <a:solidFill>
                  <a:srgbClr val="000000"/>
                </a:solidFill>
                <a:latin typeface="Calibri" pitchFamily="2" charset="0"/>
                <a:ea typeface="Arial" pitchFamily="2" charset="0"/>
                <a:cs typeface="Arial" pitchFamily="2" charset="0"/>
              </a:rPr>
              <a:t>Circular Linked List</a:t>
            </a:r>
          </a:p>
          <a:p>
            <a:pPr marL="628650" lvl="1" indent="-228600">
              <a:lnSpc>
                <a:spcPct val="90000"/>
              </a:lnSpc>
              <a:spcBef>
                <a:spcPts val="1000"/>
              </a:spcBef>
              <a:buClrTx/>
              <a:buFont typeface="Arial" pitchFamily="2" charset="0"/>
              <a:buChar char="•"/>
              <a:defRPr lang="en-us"/>
            </a:pPr>
            <a:r>
              <a:rPr lang="en-us" sz="2400" cap="none">
                <a:solidFill>
                  <a:srgbClr val="000000"/>
                </a:solidFill>
                <a:latin typeface="Calibri" pitchFamily="2" charset="0"/>
                <a:ea typeface="Arial" pitchFamily="2" charset="0"/>
                <a:cs typeface="Arial" pitchFamily="2" charset="0"/>
              </a:rPr>
              <a:t>Circular singly linked list</a:t>
            </a:r>
          </a:p>
          <a:p>
            <a:pPr marL="628650" lvl="1" indent="-228600">
              <a:lnSpc>
                <a:spcPct val="90000"/>
              </a:lnSpc>
              <a:spcBef>
                <a:spcPts val="1000"/>
              </a:spcBef>
              <a:buClrTx/>
              <a:buFont typeface="Arial" pitchFamily="2" charset="0"/>
              <a:buChar char="•"/>
              <a:defRPr lang="en-us"/>
            </a:pPr>
            <a:r>
              <a:rPr lang="en-us" sz="2400" cap="none">
                <a:solidFill>
                  <a:srgbClr val="000000"/>
                </a:solidFill>
                <a:latin typeface="Calibri" pitchFamily="2" charset="0"/>
                <a:ea typeface="Arial" pitchFamily="2" charset="0"/>
                <a:cs typeface="Arial" pitchFamily="2" charset="0"/>
              </a:rPr>
              <a:t>Circular double linked list</a:t>
            </a:r>
          </a:p>
          <a:p>
            <a:pPr marL="228600" indent="-228600">
              <a:lnSpc>
                <a:spcPct val="90000"/>
              </a:lnSpc>
              <a:spcBef>
                <a:spcPts val="1000"/>
              </a:spcBef>
              <a:buClrTx/>
              <a:buFont typeface="Arial" pitchFamily="2" charset="0"/>
              <a:buChar char="•"/>
              <a:defRPr lang="en-us"/>
            </a:pPr>
            <a:r>
              <a:rPr lang="en-us" sz="2800" cap="none">
                <a:solidFill>
                  <a:srgbClr val="000000"/>
                </a:solidFill>
                <a:latin typeface="Calibri" pitchFamily="2" charset="0"/>
                <a:ea typeface="Arial" pitchFamily="2" charset="0"/>
                <a:cs typeface="Arial" pitchFamily="2" charset="0"/>
              </a:rPr>
              <a:t>Doubly Linked List</a:t>
            </a:r>
            <a:endParaRPr lang="en-us" sz="2800" cap="none">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IGg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defRPr lang="en-us"/>
            </a:pPr>
            <a:r>
              <a:rPr lang="en-us" b="1" cap="none">
                <a:solidFill>
                  <a:srgbClr val="000000"/>
                </a:solidFill>
                <a:latin typeface="Calibri Light" charset="0"/>
                <a:ea typeface="Arial" pitchFamily="2" charset="0"/>
                <a:cs typeface="Arial" pitchFamily="2" charset="0"/>
              </a:rPr>
              <a:t>Singly Linked List</a:t>
            </a: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AGg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8600" indent="-228600">
              <a:lnSpc>
                <a:spcPct val="90000"/>
              </a:lnSpc>
              <a:spcBef>
                <a:spcPts val="1000"/>
              </a:spcBef>
              <a:buClrTx/>
              <a:buFont typeface="Arial" pitchFamily="2" charset="0"/>
              <a:buChar char="•"/>
              <a:defRPr lang="en-us"/>
            </a:pPr>
            <a:r>
              <a:rPr lang="en-us" sz="2800" cap="none">
                <a:solidFill>
                  <a:srgbClr val="000000"/>
                </a:solidFill>
                <a:latin typeface="Calibri" pitchFamily="2" charset="0"/>
                <a:ea typeface="Arial" pitchFamily="2" charset="0"/>
                <a:cs typeface="Arial" pitchFamily="2" charset="0"/>
              </a:rPr>
              <a:t>A singly linked list is a type of data structure that consists of a sequence of nodes, where each node contains data and a reference (or link) to the next node in the list. </a:t>
            </a:r>
            <a:endParaRPr lang="en-us" sz="2800" cap="none">
              <a:solidFill>
                <a:srgbClr val="000000"/>
              </a:solidFill>
            </a:endParaRPr>
          </a:p>
          <a:p>
            <a:pPr marL="228600" indent="-228600">
              <a:lnSpc>
                <a:spcPct val="90000"/>
              </a:lnSpc>
              <a:spcBef>
                <a:spcPts val="1000"/>
              </a:spcBef>
              <a:buClrTx/>
              <a:buFont typeface="Arial" pitchFamily="2" charset="0"/>
              <a:buChar char="•"/>
              <a:defRPr lang="en-us"/>
            </a:pPr>
            <a:r>
              <a:rPr lang="en-us" sz="2800" cap="none">
                <a:solidFill>
                  <a:srgbClr val="000000"/>
                </a:solidFill>
                <a:latin typeface="Calibri" pitchFamily="2" charset="0"/>
                <a:ea typeface="Arial" pitchFamily="2" charset="0"/>
                <a:cs typeface="Arial" pitchFamily="2" charset="0"/>
              </a:rPr>
              <a:t>The last node in the list has a reference to null, indicating the end of the list.</a:t>
            </a:r>
            <a:endParaRPr lang="en-us" sz="2800" cap="none">
              <a:solidFill>
                <a:srgbClr val="000000"/>
              </a:solidFill>
            </a:endParaRPr>
          </a:p>
          <a:p>
            <a:pPr marL="228600" indent="-228600">
              <a:lnSpc>
                <a:spcPct val="90000"/>
              </a:lnSpc>
              <a:spcBef>
                <a:spcPts val="1000"/>
              </a:spcBef>
              <a:buClrTx/>
              <a:buFont typeface="Arial" pitchFamily="2" charset="0"/>
              <a:buChar char="•"/>
              <a:defRPr lang="en-us"/>
            </a:pPr>
            <a:r>
              <a:rPr lang="en-us" sz="2800" cap="none">
                <a:solidFill>
                  <a:srgbClr val="000000"/>
                </a:solidFill>
                <a:latin typeface="Calibri" pitchFamily="2" charset="0"/>
                <a:ea typeface="Arial" pitchFamily="2" charset="0"/>
                <a:cs typeface="Arial" pitchFamily="2" charset="0"/>
              </a:rPr>
              <a:t>The first node in the list is called the head, and it serves as the starting point to </a:t>
            </a:r>
            <a:r>
              <a:rPr lang="en-us" sz="2800" b="1" cap="none">
                <a:solidFill>
                  <a:srgbClr val="000000"/>
                </a:solidFill>
                <a:latin typeface="Calibri" pitchFamily="2" charset="0"/>
                <a:ea typeface="Arial" pitchFamily="2" charset="0"/>
                <a:cs typeface="Arial" pitchFamily="2" charset="0"/>
              </a:rPr>
              <a:t>traverse</a:t>
            </a:r>
            <a:r>
              <a:rPr lang="en-us" sz="2800" cap="none">
                <a:solidFill>
                  <a:srgbClr val="000000"/>
                </a:solidFill>
                <a:latin typeface="Calibri" pitchFamily="2" charset="0"/>
                <a:ea typeface="Arial" pitchFamily="2" charset="0"/>
                <a:cs typeface="Arial" pitchFamily="2" charset="0"/>
              </a:rPr>
              <a:t> the linked list. </a:t>
            </a:r>
            <a:endParaRPr lang="en-us" sz="2800" cap="none">
              <a:solidFill>
                <a:srgbClr val="000000"/>
              </a:solidFill>
            </a:endParaRPr>
          </a:p>
          <a:p>
            <a:pPr marL="228600" indent="-228600">
              <a:lnSpc>
                <a:spcPct val="90000"/>
              </a:lnSpc>
              <a:spcBef>
                <a:spcPts val="1000"/>
              </a:spcBef>
              <a:buClrTx/>
              <a:buFont typeface="Arial" pitchFamily="2" charset="0"/>
              <a:buChar char="•"/>
              <a:defRPr lang="en-us"/>
            </a:pPr>
            <a:r>
              <a:rPr lang="en-us" sz="2800" b="1" cap="none">
                <a:solidFill>
                  <a:srgbClr val="000000"/>
                </a:solidFill>
                <a:latin typeface="Calibri" pitchFamily="2" charset="0"/>
                <a:ea typeface="Arial" pitchFamily="2" charset="0"/>
                <a:cs typeface="Arial" pitchFamily="2" charset="0"/>
              </a:rPr>
              <a:t>To access or modify the elements in the list</a:t>
            </a:r>
            <a:r>
              <a:rPr lang="en-us" sz="2800" cap="none">
                <a:solidFill>
                  <a:srgbClr val="000000"/>
                </a:solidFill>
                <a:latin typeface="Calibri" pitchFamily="2" charset="0"/>
                <a:ea typeface="Arial" pitchFamily="2" charset="0"/>
                <a:cs typeface="Arial" pitchFamily="2" charset="0"/>
              </a:rPr>
              <a:t>, we start from the head and follow the next references until we reach the desired node.</a:t>
            </a:r>
            <a:endParaRPr lang="en-us" sz="2800" cap="none">
              <a:solidFill>
                <a:srgbClr val="0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IGg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defRPr lang="en-us"/>
            </a:pPr>
            <a:r>
              <a:rPr lang="en-us" b="1" cap="none">
                <a:solidFill>
                  <a:srgbClr val="000000"/>
                </a:solidFill>
                <a:latin typeface="Calibri Light" charset="0"/>
                <a:ea typeface="Arial" pitchFamily="2" charset="0"/>
                <a:cs typeface="Arial" pitchFamily="2" charset="0"/>
              </a:rPr>
              <a:t>Traversal in Linked List(Singly)</a:t>
            </a: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cF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AGg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6695" indent="-226695">
              <a:lnSpc>
                <a:spcPct val="90000"/>
              </a:lnSpc>
              <a:spcBef>
                <a:spcPts val="960"/>
              </a:spcBef>
              <a:buClrTx/>
              <a:buFont typeface="Arial" pitchFamily="2" charset="0"/>
              <a:buChar char="•"/>
              <a:defRPr lang="en-us" sz="1730" cap="none"/>
            </a:pPr>
            <a:r>
              <a:rPr lang="en-us" sz="2690" cap="none">
                <a:solidFill>
                  <a:srgbClr val="000000"/>
                </a:solidFill>
                <a:latin typeface="Calibri" pitchFamily="2" charset="0"/>
                <a:ea typeface="Arial" pitchFamily="2" charset="0"/>
                <a:cs typeface="Arial" pitchFamily="2" charset="0"/>
              </a:rPr>
              <a:t>Traversing a singly linked list is the process of visiting each node in the list exactly once.</a:t>
            </a:r>
            <a:endParaRPr lang="en-us" sz="2690" cap="none">
              <a:solidFill>
                <a:srgbClr val="000000"/>
              </a:solidFill>
            </a:endParaRPr>
          </a:p>
          <a:p>
            <a:pPr marL="226695" indent="-226695">
              <a:lnSpc>
                <a:spcPct val="90000"/>
              </a:lnSpc>
              <a:spcBef>
                <a:spcPts val="960"/>
              </a:spcBef>
              <a:buClrTx/>
              <a:buFont typeface="Arial" pitchFamily="2" charset="0"/>
              <a:buChar char="•"/>
              <a:defRPr lang="en-us" sz="1730" cap="none"/>
            </a:pPr>
            <a:r>
              <a:rPr lang="en-us" sz="2690" cap="none">
                <a:solidFill>
                  <a:srgbClr val="000000"/>
                </a:solidFill>
                <a:latin typeface="Calibri" pitchFamily="2" charset="0"/>
                <a:ea typeface="Arial" pitchFamily="2" charset="0"/>
                <a:cs typeface="Arial" pitchFamily="2" charset="0"/>
              </a:rPr>
              <a:t>Here is a step-by-step process for traversing a singly linked list:</a:t>
            </a:r>
            <a:endParaRPr lang="en-us" sz="2690" cap="none">
              <a:solidFill>
                <a:srgbClr val="000000"/>
              </a:solidFill>
            </a:endParaRPr>
          </a:p>
          <a:p>
            <a:pPr marL="680085" lvl="1" indent="-226695">
              <a:lnSpc>
                <a:spcPct val="90000"/>
              </a:lnSpc>
              <a:spcBef>
                <a:spcPts val="475"/>
              </a:spcBef>
              <a:buClrTx/>
              <a:buFont typeface="Arial" pitchFamily="2" charset="0"/>
              <a:buChar char="•"/>
              <a:defRPr lang="en-us" sz="1730" cap="none"/>
            </a:pPr>
            <a:r>
              <a:rPr lang="en-us" sz="2305" cap="none">
                <a:solidFill>
                  <a:srgbClr val="000000"/>
                </a:solidFill>
                <a:latin typeface="Calibri" pitchFamily="2" charset="0"/>
                <a:ea typeface="Arial" pitchFamily="2" charset="0"/>
                <a:cs typeface="Arial" pitchFamily="2" charset="0"/>
              </a:rPr>
              <a:t>Start at the head node: Set a pointer or reference variable to the head of the linked list.</a:t>
            </a:r>
            <a:endParaRPr lang="en-us" sz="2305" cap="none">
              <a:solidFill>
                <a:srgbClr val="000000"/>
              </a:solidFill>
            </a:endParaRPr>
          </a:p>
          <a:p>
            <a:pPr marL="680085" lvl="1" indent="-226695">
              <a:lnSpc>
                <a:spcPct val="90000"/>
              </a:lnSpc>
              <a:spcBef>
                <a:spcPts val="475"/>
              </a:spcBef>
              <a:buClrTx/>
              <a:buFont typeface="Arial" pitchFamily="2" charset="0"/>
              <a:buChar char="•"/>
              <a:defRPr lang="en-us" sz="1730" cap="none"/>
            </a:pPr>
            <a:r>
              <a:rPr lang="en-us" sz="2305" cap="none">
                <a:solidFill>
                  <a:srgbClr val="000000"/>
                </a:solidFill>
                <a:latin typeface="Calibri" pitchFamily="2" charset="0"/>
                <a:ea typeface="Arial" pitchFamily="2" charset="0"/>
                <a:cs typeface="Arial" pitchFamily="2" charset="0"/>
              </a:rPr>
              <a:t>Iterate through the list: While the current node is not null, continue to the next node.</a:t>
            </a:r>
            <a:endParaRPr lang="en-us" sz="2305" cap="none">
              <a:solidFill>
                <a:srgbClr val="000000"/>
              </a:solidFill>
            </a:endParaRPr>
          </a:p>
          <a:p>
            <a:pPr marL="680085" lvl="1" indent="-226695">
              <a:lnSpc>
                <a:spcPct val="90000"/>
              </a:lnSpc>
              <a:spcBef>
                <a:spcPts val="475"/>
              </a:spcBef>
              <a:buClrTx/>
              <a:buFont typeface="Arial" pitchFamily="2" charset="0"/>
              <a:buChar char="•"/>
              <a:defRPr lang="en-us" sz="1730" cap="none"/>
            </a:pPr>
            <a:r>
              <a:rPr lang="en-us" sz="2305" cap="none">
                <a:solidFill>
                  <a:srgbClr val="000000"/>
                </a:solidFill>
                <a:latin typeface="Calibri" pitchFamily="2" charset="0"/>
                <a:ea typeface="Arial" pitchFamily="2" charset="0"/>
                <a:cs typeface="Arial" pitchFamily="2" charset="0"/>
              </a:rPr>
              <a:t>Access or perform operations on the data in the current node.</a:t>
            </a:r>
            <a:endParaRPr lang="en-us" sz="2305" cap="none">
              <a:solidFill>
                <a:srgbClr val="000000"/>
              </a:solidFill>
            </a:endParaRPr>
          </a:p>
          <a:p>
            <a:pPr marL="680085" lvl="1" indent="-226695">
              <a:lnSpc>
                <a:spcPct val="90000"/>
              </a:lnSpc>
              <a:spcBef>
                <a:spcPts val="475"/>
              </a:spcBef>
              <a:buClrTx/>
              <a:buFont typeface="Arial" pitchFamily="2" charset="0"/>
              <a:buChar char="•"/>
              <a:defRPr lang="en-us" sz="1730" cap="none"/>
            </a:pPr>
            <a:r>
              <a:rPr lang="en-us" sz="2305" cap="none">
                <a:solidFill>
                  <a:srgbClr val="000000"/>
                </a:solidFill>
                <a:latin typeface="Calibri" pitchFamily="2" charset="0"/>
                <a:ea typeface="Arial" pitchFamily="2" charset="0"/>
                <a:cs typeface="Arial" pitchFamily="2" charset="0"/>
              </a:rPr>
              <a:t>Move to the next node by updating the pointer or reference variable to point to the next node in the list.</a:t>
            </a:r>
            <a:endParaRPr lang="en-us" sz="2305" cap="none">
              <a:solidFill>
                <a:srgbClr val="000000"/>
              </a:solidFill>
            </a:endParaRPr>
          </a:p>
          <a:p>
            <a:pPr marL="680085" lvl="1" indent="-226695">
              <a:lnSpc>
                <a:spcPct val="90000"/>
              </a:lnSpc>
              <a:spcBef>
                <a:spcPts val="475"/>
              </a:spcBef>
              <a:buClrTx/>
              <a:buFont typeface="Arial" pitchFamily="2" charset="0"/>
              <a:buChar char="•"/>
              <a:defRPr lang="en-us" sz="1730" cap="none"/>
            </a:pPr>
            <a:r>
              <a:rPr lang="en-us" sz="2305" cap="none">
                <a:solidFill>
                  <a:srgbClr val="000000"/>
                </a:solidFill>
                <a:latin typeface="Calibri" pitchFamily="2" charset="0"/>
                <a:ea typeface="Arial" pitchFamily="2" charset="0"/>
                <a:cs typeface="Arial" pitchFamily="2" charset="0"/>
              </a:rPr>
              <a:t>Repeat until the end of the list: Continue the traversal until the current node becomes null, indicating the end of the list.</a:t>
            </a:r>
            <a:endParaRPr lang="en-us" sz="2305" cap="none">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 name="Picture 2" descr="Traverse a Singly Linked List: Program and Algorithm - CODEPICT"/>
          <p:cNvPicPr>
            <a:extLst>
              <a:ext uri="smNativeData">
                <pr:smNativeData xmlns="smNativeData" xmlns:pr="smNativeData" xmlns:p15="http://schemas.microsoft.com/office/powerpoint/2012/main" xmlns:p14="http://schemas.microsoft.com/office/powerpoint/2010/main" xmlns:mc="http://schemas.openxmlformats.org/markup-compatibility/2006" val="SMDATA_17_B0k/ZxMAAAAlAAAAEQ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PcaAAArEAAAY0gAAIwnAAAQAAAAJgAAAAgAAAD//////////w=="/>
              </a:ext>
            </a:extLst>
          </p:cNvPicPr>
          <p:nvPr/>
        </p:nvPicPr>
        <p:blipFill>
          <a:blip r:embed="rId3"/>
          <a:stretch>
            <a:fillRect/>
          </a:stretch>
        </p:blipFill>
        <p:spPr>
          <a:xfrm>
            <a:off x="4383405" y="2628265"/>
            <a:ext cx="7383780" cy="3800475"/>
          </a:xfrm>
          <a:prstGeom prst="rect">
            <a:avLst/>
          </a:prstGeom>
          <a:noFill/>
          <a:ln>
            <a:noFill/>
          </a:ln>
          <a:effectLst/>
        </p:spPr>
      </p:pic>
      <p:sp>
        <p:nvSpPr>
          <p:cNvPr id="3" name="TextBox 3"/>
          <p:cNvSpPr>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E0AAAAAjgAAAEcAAACOAAAARw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tgIAADcIAAAbKAAA9BcAABAgAAAmAAAACAAAAP//////////"/>
              </a:ext>
            </a:extLst>
          </p:cNvSpPr>
          <p:nvPr/>
        </p:nvSpPr>
        <p:spPr>
          <a:xfrm>
            <a:off x="440690" y="1335405"/>
            <a:ext cx="6078855" cy="2558415"/>
          </a:xfrm>
          <a:prstGeom prst="rect">
            <a:avLst/>
          </a:prstGeom>
          <a:noFill/>
          <a:ln>
            <a:noFill/>
          </a:ln>
          <a:effectLst/>
        </p:spPr>
        <p:txBody>
          <a:bodyPr vert="horz" wrap="none" lIns="90170" tIns="45085" rIns="90170" bIns="45085" numCol="1" spcCol="215900" anchor="t"/>
          <a:lstStyle/>
          <a:p>
            <a:pPr>
              <a:lnSpc>
                <a:spcPct val="100000"/>
              </a:lnSpc>
              <a:defRPr lang="en-us" cap="none">
                <a:latin typeface="Arial" pitchFamily="2" charset="0"/>
                <a:ea typeface="Arial" pitchFamily="2" charset="0"/>
                <a:cs typeface="Arial" pitchFamily="2" charset="0"/>
              </a:defRPr>
            </a:pPr>
            <a:r>
              <a:rPr lang="en-us" b="1" cap="none">
                <a:solidFill>
                  <a:srgbClr val="000000"/>
                </a:solidFill>
                <a:latin typeface="Courier New" pitchFamily="3" charset="0"/>
                <a:ea typeface="Arial" pitchFamily="2" charset="0"/>
                <a:cs typeface="Arial" pitchFamily="2" charset="0"/>
              </a:rPr>
              <a:t>void linkedListTraversal(struct Node *ptr) </a:t>
            </a:r>
            <a:endParaRPr lang="en-us" cap="none">
              <a:solidFill>
                <a:srgbClr val="000000"/>
              </a:solidFill>
            </a:endParaRPr>
          </a:p>
          <a:p>
            <a:pPr>
              <a:lnSpc>
                <a:spcPct val="100000"/>
              </a:lnSpc>
              <a:defRPr lang="en-us" cap="none">
                <a:latin typeface="Arial" pitchFamily="2" charset="0"/>
                <a:ea typeface="Arial" pitchFamily="2" charset="0"/>
                <a:cs typeface="Arial" pitchFamily="2" charset="0"/>
              </a:defRPr>
            </a:pPr>
            <a:endParaRPr lang="en-us" cap="none">
              <a:solidFill>
                <a:srgbClr val="000000"/>
              </a:solidFill>
            </a:endParaRPr>
          </a:p>
          <a:p>
            <a:pPr>
              <a:lnSpc>
                <a:spcPct val="100000"/>
              </a:lnSpc>
              <a:defRPr lang="en-us" cap="none">
                <a:latin typeface="Arial" pitchFamily="2" charset="0"/>
                <a:ea typeface="Arial" pitchFamily="2" charset="0"/>
                <a:cs typeface="Arial" pitchFamily="2" charset="0"/>
              </a:defRPr>
            </a:pPr>
            <a:r>
              <a:rPr lang="en-us" b="1" cap="none">
                <a:solidFill>
                  <a:srgbClr val="000000"/>
                </a:solidFill>
                <a:latin typeface="Courier New" pitchFamily="3" charset="0"/>
                <a:ea typeface="Arial" pitchFamily="2" charset="0"/>
                <a:cs typeface="Arial" pitchFamily="2" charset="0"/>
              </a:rPr>
              <a:t>{ </a:t>
            </a:r>
            <a:endParaRPr lang="en-us" cap="none">
              <a:solidFill>
                <a:srgbClr val="000000"/>
              </a:solidFill>
            </a:endParaRPr>
          </a:p>
          <a:p>
            <a:pPr>
              <a:lnSpc>
                <a:spcPct val="100000"/>
              </a:lnSpc>
              <a:defRPr lang="en-us" cap="none">
                <a:latin typeface="Arial" pitchFamily="2" charset="0"/>
                <a:ea typeface="Arial" pitchFamily="2" charset="0"/>
                <a:cs typeface="Arial" pitchFamily="2" charset="0"/>
              </a:defRPr>
            </a:pPr>
            <a:r>
              <a:rPr lang="en-us" b="1" cap="none">
                <a:solidFill>
                  <a:srgbClr val="000000"/>
                </a:solidFill>
                <a:latin typeface="Courier New" pitchFamily="3" charset="0"/>
                <a:ea typeface="Arial" pitchFamily="2" charset="0"/>
                <a:cs typeface="Arial" pitchFamily="2" charset="0"/>
              </a:rPr>
              <a:t>while (ptr != NULL) </a:t>
            </a:r>
            <a:endParaRPr lang="en-us" cap="none">
              <a:solidFill>
                <a:srgbClr val="000000"/>
              </a:solidFill>
            </a:endParaRPr>
          </a:p>
          <a:p>
            <a:pPr>
              <a:lnSpc>
                <a:spcPct val="100000"/>
              </a:lnSpc>
              <a:defRPr lang="en-us" cap="none">
                <a:latin typeface="Arial" pitchFamily="2" charset="0"/>
                <a:ea typeface="Arial" pitchFamily="2" charset="0"/>
                <a:cs typeface="Arial" pitchFamily="2" charset="0"/>
              </a:defRPr>
            </a:pPr>
            <a:r>
              <a:rPr lang="en-us" b="1" cap="none">
                <a:solidFill>
                  <a:srgbClr val="000000"/>
                </a:solidFill>
                <a:latin typeface="Courier New" pitchFamily="3" charset="0"/>
                <a:ea typeface="Arial" pitchFamily="2" charset="0"/>
                <a:cs typeface="Arial" pitchFamily="2" charset="0"/>
              </a:rPr>
              <a:t>{ </a:t>
            </a:r>
            <a:endParaRPr lang="en-us" cap="none">
              <a:solidFill>
                <a:srgbClr val="000000"/>
              </a:solidFill>
            </a:endParaRPr>
          </a:p>
          <a:p>
            <a:pPr>
              <a:lnSpc>
                <a:spcPct val="100000"/>
              </a:lnSpc>
              <a:defRPr lang="en-us" cap="none">
                <a:latin typeface="Arial" pitchFamily="2" charset="0"/>
                <a:ea typeface="Arial" pitchFamily="2" charset="0"/>
                <a:cs typeface="Arial" pitchFamily="2" charset="0"/>
              </a:defRPr>
            </a:pPr>
            <a:r>
              <a:rPr lang="pt-br" b="1" cap="none">
                <a:solidFill>
                  <a:srgbClr val="000000"/>
                </a:solidFill>
                <a:latin typeface="Courier New" pitchFamily="3" charset="0"/>
                <a:ea typeface="Arial" pitchFamily="2" charset="0"/>
                <a:cs typeface="Arial" pitchFamily="2" charset="0"/>
              </a:rPr>
              <a:t>printf("Element: %d\n", ptr-&gt;data); </a:t>
            </a:r>
            <a:endParaRPr lang="en-us" cap="none">
              <a:solidFill>
                <a:srgbClr val="000000"/>
              </a:solidFill>
            </a:endParaRPr>
          </a:p>
          <a:p>
            <a:pPr>
              <a:lnSpc>
                <a:spcPct val="100000"/>
              </a:lnSpc>
              <a:defRPr lang="en-us" cap="none">
                <a:latin typeface="Arial" pitchFamily="2" charset="0"/>
                <a:ea typeface="Arial" pitchFamily="2" charset="0"/>
                <a:cs typeface="Arial" pitchFamily="2" charset="0"/>
              </a:defRPr>
            </a:pPr>
            <a:r>
              <a:rPr lang="en-us" b="1" cap="none">
                <a:solidFill>
                  <a:srgbClr val="000000"/>
                </a:solidFill>
                <a:latin typeface="Courier New" pitchFamily="3" charset="0"/>
                <a:ea typeface="Arial" pitchFamily="2" charset="0"/>
                <a:cs typeface="Arial" pitchFamily="2" charset="0"/>
              </a:rPr>
              <a:t>ptr = ptr-&gt;next; </a:t>
            </a:r>
            <a:endParaRPr lang="en-us" cap="none">
              <a:solidFill>
                <a:srgbClr val="000000"/>
              </a:solidFill>
            </a:endParaRPr>
          </a:p>
          <a:p>
            <a:pPr>
              <a:lnSpc>
                <a:spcPct val="100000"/>
              </a:lnSpc>
              <a:defRPr lang="en-us" cap="none">
                <a:latin typeface="Arial" pitchFamily="2" charset="0"/>
                <a:ea typeface="Arial" pitchFamily="2" charset="0"/>
                <a:cs typeface="Arial" pitchFamily="2" charset="0"/>
              </a:defRPr>
            </a:pPr>
            <a:r>
              <a:rPr lang="en-us" b="1" cap="none">
                <a:solidFill>
                  <a:srgbClr val="000000"/>
                </a:solidFill>
                <a:latin typeface="Courier New" pitchFamily="3" charset="0"/>
                <a:ea typeface="Arial" pitchFamily="2" charset="0"/>
                <a:cs typeface="Arial" pitchFamily="2" charset="0"/>
              </a:rPr>
              <a:t>} </a:t>
            </a:r>
            <a:endParaRPr lang="en-us" cap="none">
              <a:solidFill>
                <a:srgbClr val="000000"/>
              </a:solidFill>
            </a:endParaRPr>
          </a:p>
          <a:p>
            <a:pPr>
              <a:lnSpc>
                <a:spcPct val="100000"/>
              </a:lnSpc>
              <a:defRPr lang="en-us" cap="none">
                <a:latin typeface="Arial" pitchFamily="2" charset="0"/>
                <a:ea typeface="Arial" pitchFamily="2" charset="0"/>
                <a:cs typeface="Arial" pitchFamily="2" charset="0"/>
              </a:defRPr>
            </a:pPr>
            <a:r>
              <a:rPr lang="en-us" b="1" cap="none">
                <a:solidFill>
                  <a:srgbClr val="000000"/>
                </a:solidFill>
                <a:latin typeface="Courier New" pitchFamily="3" charset="0"/>
                <a:ea typeface="Arial" pitchFamily="2" charset="0"/>
                <a:cs typeface="Arial" pitchFamily="2" charset="0"/>
              </a:rPr>
              <a:t>}</a:t>
            </a:r>
            <a:endParaRPr lang="en-us" cap="none">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Ij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IGg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defRPr lang="en-us"/>
            </a:pPr>
            <a:r>
              <a:rPr lang="en-us" b="1" cap="none">
                <a:solidFill>
                  <a:srgbClr val="000000"/>
                </a:solidFill>
                <a:latin typeface="Calibri Light" charset="0"/>
                <a:ea typeface="Arial" pitchFamily="2" charset="0"/>
                <a:cs typeface="Arial" pitchFamily="2" charset="0"/>
              </a:rPr>
              <a:t>Insertion in a Linked List</a:t>
            </a: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AGg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8600" indent="-228600">
              <a:lnSpc>
                <a:spcPct val="90000"/>
              </a:lnSpc>
              <a:spcBef>
                <a:spcPts val="1000"/>
              </a:spcBef>
              <a:buClrTx/>
              <a:buFont typeface="Arial" pitchFamily="2" charset="0"/>
              <a:buChar char="•"/>
              <a:defRPr lang="en-us"/>
            </a:pPr>
            <a:r>
              <a:rPr lang="en-us" sz="2800" cap="none">
                <a:solidFill>
                  <a:srgbClr val="000000"/>
                </a:solidFill>
                <a:latin typeface="Calibri" pitchFamily="2" charset="0"/>
                <a:ea typeface="Arial" pitchFamily="2" charset="0"/>
                <a:cs typeface="Arial" pitchFamily="2" charset="0"/>
              </a:rPr>
              <a:t>1. Insertion at the beginning of the list</a:t>
            </a:r>
            <a:endParaRPr lang="en-us" sz="2800" cap="none">
              <a:solidFill>
                <a:srgbClr val="000000"/>
              </a:solidFill>
            </a:endParaRPr>
          </a:p>
          <a:p>
            <a:pPr indent="0" defTabSz="914400">
              <a:lnSpc>
                <a:spcPct val="90000"/>
              </a:lnSpc>
              <a:spcBef>
                <a:spcPts val="1000"/>
              </a:spcBef>
              <a:buNone/>
              <a:tabLst>
                <a:tab pos="0" algn="l"/>
              </a:tabLst>
              <a:defRPr lang="en-us"/>
            </a:pPr>
            <a:endParaRPr lang="en-us" sz="2800" cap="none">
              <a:solidFill>
                <a:srgbClr val="000000"/>
              </a:solidFill>
            </a:endParaRPr>
          </a:p>
          <a:p>
            <a:pPr marL="228600" indent="-228600" defTabSz="914400">
              <a:lnSpc>
                <a:spcPct val="90000"/>
              </a:lnSpc>
              <a:spcBef>
                <a:spcPts val="1000"/>
              </a:spcBef>
              <a:buClrTx/>
              <a:buFont typeface="Arial" pitchFamily="2" charset="0"/>
              <a:buChar char="•"/>
              <a:tabLst>
                <a:tab pos="0" algn="l"/>
              </a:tabLst>
              <a:defRPr lang="en-us"/>
            </a:pPr>
            <a:r>
              <a:rPr lang="en-us" sz="2800" cap="none">
                <a:solidFill>
                  <a:srgbClr val="000000"/>
                </a:solidFill>
                <a:latin typeface="Calibri" pitchFamily="2" charset="0"/>
                <a:ea typeface="Arial" pitchFamily="2" charset="0"/>
                <a:cs typeface="Arial" pitchFamily="2" charset="0"/>
              </a:rPr>
              <a:t>2. Insertion after a particular node/Position (index).</a:t>
            </a:r>
            <a:endParaRPr lang="en-us" sz="2800" cap="none">
              <a:solidFill>
                <a:srgbClr val="000000"/>
              </a:solidFill>
            </a:endParaRPr>
          </a:p>
          <a:p>
            <a:pPr indent="0" defTabSz="914400">
              <a:lnSpc>
                <a:spcPct val="90000"/>
              </a:lnSpc>
              <a:spcBef>
                <a:spcPts val="1000"/>
              </a:spcBef>
              <a:buNone/>
              <a:tabLst>
                <a:tab pos="0" algn="l"/>
              </a:tabLst>
              <a:defRPr lang="en-us"/>
            </a:pPr>
            <a:endParaRPr lang="en-us" sz="2800" cap="none">
              <a:solidFill>
                <a:srgbClr val="000000"/>
              </a:solidFill>
            </a:endParaRPr>
          </a:p>
          <a:p>
            <a:pPr marL="228600" indent="-228600" defTabSz="914400">
              <a:lnSpc>
                <a:spcPct val="90000"/>
              </a:lnSpc>
              <a:spcBef>
                <a:spcPts val="1000"/>
              </a:spcBef>
              <a:buClrTx/>
              <a:buFont typeface="Arial" pitchFamily="2" charset="0"/>
              <a:buChar char="•"/>
              <a:tabLst>
                <a:tab pos="0" algn="l"/>
              </a:tabLst>
              <a:defRPr lang="en-us"/>
            </a:pPr>
            <a:r>
              <a:rPr lang="en-us" sz="2800" cap="none">
                <a:solidFill>
                  <a:srgbClr val="000000"/>
                </a:solidFill>
                <a:latin typeface="Calibri" pitchFamily="2" charset="0"/>
                <a:ea typeface="Arial" pitchFamily="2" charset="0"/>
                <a:cs typeface="Arial" pitchFamily="2" charset="0"/>
              </a:rPr>
              <a:t>3. Insertion at the end of the list</a:t>
            </a:r>
            <a:endParaRPr lang="en-us" sz="2800" cap="none">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gUAANACAABbHQAAqAwAABAAAAAmAAAACAAAAAGAAAAAAAAA"/>
              </a:ext>
            </a:extLst>
          </p:cNvSpPr>
          <p:nvPr>
            <p:ph type="title"/>
          </p:nvPr>
        </p:nvSpPr>
        <p:spPr>
          <a:xfrm>
            <a:off x="839470" y="457200"/>
            <a:ext cx="3932555" cy="1600200"/>
          </a:xfrm>
        </p:spPr>
        <p:txBody>
          <a:bodyPr/>
          <a:lstStyle>
            <a:lvl1pPr>
              <a:defRPr lang="en-us" sz="3200" cap="none"/>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r>
              <a:t>Code </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Tg8AAHoDAADaRQAAcSUAABAAAAAmAAAACAAAAD2wAAAAAAAA"/>
              </a:ext>
            </a:extLst>
          </p:cNvSpPr>
          <p:nvPr>
            <p:ph type="body" idx="1"/>
          </p:nvPr>
        </p:nvSpPr>
        <p:spPr>
          <a:xfrm>
            <a:off x="2487930" y="565150"/>
            <a:ext cx="8867140" cy="5521325"/>
          </a:xfrm>
        </p:spPr>
        <p:txBody>
          <a:bodyPr vert="horz" wrap="square" lIns="91440" tIns="45720" rIns="91440" bIns="45720" numCol="1" spcCol="215900" anchor="t">
            <a:prstTxWarp prst="textNoShape">
              <a:avLst/>
            </a:prstTxWarp>
          </a:bodyPr>
          <a:lstStyle>
            <a:lvl1pPr>
              <a:defRPr lang="en-us" sz="3200" cap="none"/>
            </a:lvl1pPr>
            <a:lvl2pPr>
              <a:defRPr lang="en-us" sz="2800" cap="none"/>
            </a:lvl2pPr>
            <a:lvl3pPr>
              <a:defRPr lang="en-us" sz="2400" cap="none"/>
            </a:lvl3pPr>
            <a:lvl4pPr>
              <a:defRPr lang="en-us" sz="2000" cap="none"/>
            </a:lvl4pPr>
            <a:lvl5pPr>
              <a:defRPr lang="en-us" sz="2000" cap="none"/>
            </a:lvl5pPr>
            <a:lvl6pPr>
              <a:defRPr lang="en-us" sz="2000" cap="none"/>
            </a:lvl6pPr>
            <a:lvl7pPr>
              <a:defRPr lang="en-us" sz="2000" cap="none"/>
            </a:lvl7pPr>
            <a:lvl8pPr>
              <a:defRPr lang="en-us" sz="2000" cap="none"/>
            </a:lvl8pPr>
            <a:lvl9pPr>
              <a:defRPr lang="en-us" sz="2000" cap="none"/>
            </a:lvl9pPr>
          </a:lstStyle>
          <a:p>
            <a:pPr>
              <a:lnSpc>
                <a:spcPct val="83000"/>
              </a:lnSpc>
              <a:spcBef>
                <a:spcPts val="650"/>
              </a:spcBef>
              <a:defRPr lang="en-us" sz="2080" cap="none"/>
            </a:pPr>
            <a:r>
              <a:t>    struct Node* head = (struct Node*)malloc(sizeof(struct Node));</a:t>
            </a:r>
          </a:p>
          <a:p>
            <a:pPr>
              <a:lnSpc>
                <a:spcPct val="83000"/>
              </a:lnSpc>
              <a:spcBef>
                <a:spcPts val="650"/>
              </a:spcBef>
              <a:defRPr lang="en-us" sz="2080" cap="none"/>
            </a:pPr>
            <a:r>
              <a:t>    struct Node* second = (struct Node*)malloc(sizeof(struct Node));</a:t>
            </a:r>
          </a:p>
          <a:p>
            <a:pPr>
              <a:lnSpc>
                <a:spcPct val="83000"/>
              </a:lnSpc>
              <a:spcBef>
                <a:spcPts val="650"/>
              </a:spcBef>
              <a:defRPr lang="en-us" sz="2080" cap="none"/>
            </a:pPr>
            <a:r>
              <a:t>    struct Node* third = (struct Node*)malloc(sizeof(struct Node));</a:t>
            </a:r>
          </a:p>
          <a:p>
            <a:pPr>
              <a:lnSpc>
                <a:spcPct val="83000"/>
              </a:lnSpc>
              <a:spcBef>
                <a:spcPts val="650"/>
              </a:spcBef>
              <a:defRPr lang="en-us" sz="2080" cap="none"/>
            </a:pPr>
            <a:endParaRPr/>
          </a:p>
          <a:p>
            <a:pPr>
              <a:lnSpc>
                <a:spcPct val="83000"/>
              </a:lnSpc>
              <a:spcBef>
                <a:spcPts val="650"/>
              </a:spcBef>
              <a:defRPr lang="en-us" sz="2080" cap="none"/>
            </a:pPr>
            <a:r>
              <a:t>    // Assign data and link nodes</a:t>
            </a:r>
          </a:p>
          <a:p>
            <a:pPr>
              <a:lnSpc>
                <a:spcPct val="83000"/>
              </a:lnSpc>
              <a:spcBef>
                <a:spcPts val="650"/>
              </a:spcBef>
              <a:defRPr lang="en-us" sz="2080" cap="none"/>
            </a:pPr>
            <a:r>
              <a:t>    head-&gt;data = 11;</a:t>
            </a:r>
          </a:p>
          <a:p>
            <a:pPr>
              <a:lnSpc>
                <a:spcPct val="83000"/>
              </a:lnSpc>
              <a:spcBef>
                <a:spcPts val="650"/>
              </a:spcBef>
              <a:defRPr lang="en-us" sz="2080" cap="none"/>
            </a:pPr>
            <a:r>
              <a:t>    head-&gt;next = second;</a:t>
            </a:r>
          </a:p>
          <a:p>
            <a:pPr>
              <a:lnSpc>
                <a:spcPct val="83000"/>
              </a:lnSpc>
              <a:spcBef>
                <a:spcPts val="650"/>
              </a:spcBef>
              <a:defRPr lang="en-us" sz="2080" cap="none"/>
            </a:pPr>
            <a:endParaRPr/>
          </a:p>
          <a:p>
            <a:pPr>
              <a:lnSpc>
                <a:spcPct val="83000"/>
              </a:lnSpc>
              <a:spcBef>
                <a:spcPts val="650"/>
              </a:spcBef>
              <a:defRPr lang="en-us" sz="2080" cap="none"/>
            </a:pPr>
            <a:r>
              <a:t>    second-&gt;data = 22;</a:t>
            </a:r>
          </a:p>
          <a:p>
            <a:pPr>
              <a:lnSpc>
                <a:spcPct val="83000"/>
              </a:lnSpc>
              <a:spcBef>
                <a:spcPts val="650"/>
              </a:spcBef>
              <a:defRPr lang="en-us" sz="2080" cap="none"/>
            </a:pPr>
            <a:r>
              <a:t>    second-&gt;next = third;</a:t>
            </a:r>
          </a:p>
          <a:p>
            <a:pPr>
              <a:lnSpc>
                <a:spcPct val="83000"/>
              </a:lnSpc>
              <a:spcBef>
                <a:spcPts val="650"/>
              </a:spcBef>
              <a:defRPr lang="en-us" sz="2080" cap="none"/>
            </a:pPr>
            <a:endParaRPr/>
          </a:p>
          <a:p>
            <a:pPr>
              <a:lnSpc>
                <a:spcPct val="83000"/>
              </a:lnSpc>
              <a:spcBef>
                <a:spcPts val="650"/>
              </a:spcBef>
              <a:defRPr lang="en-us" sz="2080" cap="none"/>
            </a:pPr>
            <a:r>
              <a:t>    third-&gt;data = 33;</a:t>
            </a:r>
          </a:p>
          <a:p>
            <a:pPr>
              <a:lnSpc>
                <a:spcPct val="83000"/>
              </a:lnSpc>
              <a:spcBef>
                <a:spcPts val="650"/>
              </a:spcBef>
              <a:defRPr lang="en-us" sz="2080" cap="none"/>
            </a:pPr>
            <a:r>
              <a:t>    third-&gt;next = NULL;</a:t>
            </a:r>
          </a:p>
          <a:p>
            <a:pPr marL="0" indent="0">
              <a:lnSpc>
                <a:spcPct val="83000"/>
              </a:lnSpc>
              <a:spcBef>
                <a:spcPts val="650"/>
              </a:spcBef>
              <a:buNone/>
              <a:defRPr lang="en-us" sz="2080" cap="none"/>
            </a:pPr>
            <a:endParaRPr/>
          </a:p>
        </p:txBody>
      </p:sp>
      <p:sp>
        <p:nvSpPr>
          <p:cNvPr id="4" name="Text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gUAAKgMAABbHQAAGiQAABAAAAAmAAAACAAAAAGAAAAAAAAA"/>
              </a:ext>
            </a:extLst>
          </p:cNvSpPr>
          <p:nvPr>
            <p:ph type="body" idx="2"/>
          </p:nvPr>
        </p:nvSpPr>
        <p:spPr>
          <a:xfrm>
            <a:off x="839470" y="2057400"/>
            <a:ext cx="3932555" cy="3811270"/>
          </a:xfrm>
        </p:spPr>
        <p:txBody>
          <a:bodyPr/>
          <a:lstStyle>
            <a:lvl1pPr marL="0" indent="0">
              <a:buNone/>
              <a:defRPr lang="en-us" sz="1600" cap="none"/>
            </a:lvl1pPr>
            <a:lvl2pPr marL="457200" indent="0">
              <a:buNone/>
              <a:defRPr lang="en-us" sz="1400" cap="none"/>
            </a:lvl2pPr>
            <a:lvl3pPr marL="914400" indent="0">
              <a:buNone/>
              <a:defRPr lang="en-us" sz="1200" cap="none"/>
            </a:lvl3pPr>
            <a:lvl4pPr marL="1371600" indent="0">
              <a:buNone/>
              <a:defRPr lang="en-us" sz="1000" cap="none"/>
            </a:lvl4pPr>
            <a:lvl5pPr marL="1828800" indent="0">
              <a:buNone/>
              <a:defRPr lang="en-us" sz="1000" cap="none"/>
            </a:lvl5pPr>
            <a:lvl6pPr marL="2286000" indent="0">
              <a:buNone/>
              <a:defRPr lang="en-us" sz="1000" cap="none"/>
            </a:lvl6pPr>
            <a:lvl7pPr marL="2743200" indent="0">
              <a:buNone/>
              <a:defRPr lang="en-us" sz="1000" cap="none"/>
            </a:lvl7pPr>
            <a:lvl8pPr marL="3200400" indent="0">
              <a:buNone/>
              <a:defRPr lang="en-us" sz="1000" cap="none"/>
            </a:lvl8pPr>
            <a:lvl9pPr marL="3657600" indent="0">
              <a:buNone/>
              <a:defRPr lang="en-us" sz="1000" cap="none"/>
            </a:lvl9pPr>
          </a:lstStyle>
          <a:p>
            <a:pPr>
              <a:defRPr lang="en-us"/>
            </a:pPr>
            <a:r>
              <a:t>Normal insert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YRQAAZwoAABAAAAAmAAAACAAAAAAAAAAAAAAA"/>
              </a:ext>
            </a:extLst>
          </p:cNvSpPr>
          <p:nvPr>
            <p:ph type="title"/>
          </p:nvPr>
        </p:nvSpPr>
        <p:spPr/>
        <p:txBody>
          <a:bodyPr/>
          <a:lstStyle/>
          <a:p>
            <a:pPr indent="0" algn="ctr">
              <a:lnSpc>
                <a:spcPct val="90000"/>
              </a:lnSpc>
              <a:buNone/>
              <a:defRPr lang="en-us"/>
            </a:pPr>
            <a:r>
              <a:rPr lang="en-us" b="1" cap="none">
                <a:solidFill>
                  <a:srgbClr val="000000"/>
                </a:solidFill>
                <a:latin typeface="Calibri Light" charset="0"/>
                <a:ea typeface="Calibri Light" charset="0"/>
                <a:cs typeface="Calibri Light" charset="0"/>
              </a:rPr>
              <a:t>Deletion operation</a:t>
            </a:r>
            <a:endParaRPr lang="en-us" cap="none">
              <a:solidFill>
                <a:srgbClr val="000000"/>
              </a:solidFill>
            </a:endParaRP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YRQAAACYAABAAAAAmAAAACAAAAAAAAAAAAAAA"/>
              </a:ext>
            </a:extLst>
          </p:cNvSpPr>
          <p:nvPr>
            <p:ph type="body" idx="1"/>
          </p:nvPr>
        </p:nvSpPr>
        <p:spPr/>
        <p:txBody>
          <a:bodyPr/>
          <a:lstStyle/>
          <a:p>
            <a:pPr marL="228600" indent="-228600">
              <a:lnSpc>
                <a:spcPct val="90000"/>
              </a:lnSpc>
              <a:spcBef>
                <a:spcPts val="1000"/>
              </a:spcBef>
              <a:buClrTx/>
              <a:buFont typeface="Arial" pitchFamily="2" charset="0"/>
              <a:buChar char="•"/>
              <a:defRPr lang="en-us"/>
            </a:pPr>
            <a:r>
              <a:rPr lang="en-us" cap="none">
                <a:solidFill>
                  <a:srgbClr val="000000"/>
                </a:solidFill>
                <a:latin typeface="Calibri" pitchFamily="2" charset="0"/>
                <a:ea typeface="Calibri" pitchFamily="2" charset="0"/>
                <a:cs typeface="Calibri" pitchFamily="2" charset="0"/>
              </a:rPr>
              <a:t>Deletion operation can be done in following cases;</a:t>
            </a:r>
            <a:endParaRPr lang="en-us" cap="none">
              <a:solidFill>
                <a:srgbClr val="000000"/>
              </a:solidFill>
            </a:endParaRPr>
          </a:p>
          <a:p>
            <a:pPr marL="685800" lvl="1" indent="-228600">
              <a:lnSpc>
                <a:spcPct val="90000"/>
              </a:lnSpc>
              <a:spcBef>
                <a:spcPts val="495"/>
              </a:spcBef>
              <a:buClrTx/>
              <a:buFont typeface="Arial" pitchFamily="2" charset="0"/>
              <a:buChar char="•"/>
              <a:defRPr lang="en-us"/>
            </a:pPr>
            <a:r>
              <a:rPr lang="en-us" sz="2800" cap="none">
                <a:solidFill>
                  <a:srgbClr val="000000"/>
                </a:solidFill>
                <a:latin typeface="Calibri" pitchFamily="2" charset="0"/>
                <a:ea typeface="Calibri" pitchFamily="2" charset="0"/>
                <a:cs typeface="Calibri" pitchFamily="2" charset="0"/>
              </a:rPr>
              <a:t>Deleting the first node</a:t>
            </a:r>
            <a:endParaRPr lang="en-us" sz="2800" cap="none">
              <a:solidFill>
                <a:srgbClr val="000000"/>
              </a:solidFill>
            </a:endParaRPr>
          </a:p>
          <a:p>
            <a:pPr marL="685800" lvl="1" indent="-228600">
              <a:lnSpc>
                <a:spcPct val="90000"/>
              </a:lnSpc>
              <a:spcBef>
                <a:spcPts val="495"/>
              </a:spcBef>
              <a:buClrTx/>
              <a:buFont typeface="Arial" pitchFamily="2" charset="0"/>
              <a:buChar char="•"/>
              <a:defRPr lang="en-us"/>
            </a:pPr>
            <a:r>
              <a:rPr lang="en-us" sz="2800" cap="none">
                <a:solidFill>
                  <a:srgbClr val="000000"/>
                </a:solidFill>
                <a:latin typeface="Calibri" pitchFamily="2" charset="0"/>
                <a:ea typeface="Calibri" pitchFamily="2" charset="0"/>
                <a:cs typeface="Calibri" pitchFamily="2" charset="0"/>
              </a:rPr>
              <a:t>Deleting the node at the index</a:t>
            </a:r>
            <a:endParaRPr lang="en-us" sz="2800" cap="none">
              <a:solidFill>
                <a:srgbClr val="000000"/>
              </a:solidFill>
            </a:endParaRPr>
          </a:p>
          <a:p>
            <a:pPr marL="685800" lvl="1" indent="-228600">
              <a:lnSpc>
                <a:spcPct val="90000"/>
              </a:lnSpc>
              <a:spcBef>
                <a:spcPts val="495"/>
              </a:spcBef>
              <a:buClrTx/>
              <a:buFont typeface="Arial" pitchFamily="2" charset="0"/>
              <a:buChar char="•"/>
              <a:defRPr lang="en-us"/>
            </a:pPr>
            <a:r>
              <a:rPr lang="en-us" sz="2800" cap="none">
                <a:solidFill>
                  <a:srgbClr val="000000"/>
                </a:solidFill>
                <a:latin typeface="Calibri" pitchFamily="2" charset="0"/>
                <a:ea typeface="Calibri" pitchFamily="2" charset="0"/>
                <a:cs typeface="Calibri" pitchFamily="2" charset="0"/>
              </a:rPr>
              <a:t>Deleting the last node</a:t>
            </a:r>
            <a:endParaRPr lang="en-us" sz="2800" cap="none">
              <a:solidFill>
                <a:srgbClr val="000000"/>
              </a:solidFill>
            </a:endParaRPr>
          </a:p>
          <a:p>
            <a:pPr marL="685800" lvl="1" indent="-228600">
              <a:lnSpc>
                <a:spcPct val="90000"/>
              </a:lnSpc>
              <a:spcBef>
                <a:spcPts val="495"/>
              </a:spcBef>
              <a:buClrTx/>
              <a:buFont typeface="Arial" pitchFamily="2" charset="0"/>
              <a:buChar char="•"/>
              <a:defRPr lang="en-us"/>
            </a:pPr>
            <a:r>
              <a:rPr lang="en-us" sz="2800" cap="none">
                <a:solidFill>
                  <a:srgbClr val="000000"/>
                </a:solidFill>
                <a:latin typeface="Calibri" pitchFamily="2" charset="0"/>
                <a:ea typeface="Calibri" pitchFamily="2" charset="0"/>
                <a:cs typeface="Calibri" pitchFamily="2" charset="0"/>
              </a:rPr>
              <a:t>Deleting the node with given value (node)</a:t>
            </a:r>
            <a:endParaRPr lang="en-us" sz="2800" cap="none">
              <a:solidFill>
                <a:srgbClr val="000000"/>
              </a:solidFill>
            </a:endParaRPr>
          </a:p>
          <a:p>
            <a:pPr>
              <a:defRPr lang="en-us"/>
            </a:pPr>
            <a:endParaRPr lang="en-us" sz="2800" cap="none">
              <a:solidFill>
                <a:srgbClr val="00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IGg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defRPr lang="en-us"/>
            </a:pPr>
            <a:r>
              <a:rPr lang="en-us" b="1" cap="none">
                <a:solidFill>
                  <a:srgbClr val="000000"/>
                </a:solidFill>
                <a:latin typeface="Calibri Light" charset="0"/>
                <a:ea typeface="Arial" pitchFamily="2" charset="0"/>
                <a:cs typeface="Arial" pitchFamily="2" charset="0"/>
              </a:rPr>
              <a:t>Circular Linked List</a:t>
            </a: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AGg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8600" indent="-228600">
              <a:lnSpc>
                <a:spcPct val="90000"/>
              </a:lnSpc>
              <a:spcBef>
                <a:spcPts val="1000"/>
              </a:spcBef>
              <a:buClrTx/>
              <a:buFont typeface="Arial" pitchFamily="2" charset="0"/>
              <a:buChar char="•"/>
              <a:defRPr lang="en-us"/>
            </a:pPr>
            <a:r>
              <a:rPr lang="en-us" sz="2800" cap="none">
                <a:solidFill>
                  <a:srgbClr val="000000"/>
                </a:solidFill>
                <a:latin typeface="Calibri" pitchFamily="2" charset="0"/>
                <a:ea typeface="Arial" pitchFamily="2" charset="0"/>
                <a:cs typeface="Arial" pitchFamily="2" charset="0"/>
              </a:rPr>
              <a:t>A circular linked list is a variation of a linked list where the last node's next pointer is not set to NULL, but instead points back to the first node, forming a circular structure. </a:t>
            </a:r>
            <a:endParaRPr lang="en-us" sz="2800" cap="none">
              <a:solidFill>
                <a:srgbClr val="000000"/>
              </a:solidFill>
            </a:endParaRPr>
          </a:p>
          <a:p>
            <a:pPr marL="228600" indent="-228600">
              <a:lnSpc>
                <a:spcPct val="90000"/>
              </a:lnSpc>
              <a:spcBef>
                <a:spcPts val="1000"/>
              </a:spcBef>
              <a:buClrTx/>
              <a:buFont typeface="Arial" pitchFamily="2" charset="0"/>
              <a:buChar char="•"/>
              <a:defRPr lang="en-us"/>
            </a:pPr>
            <a:r>
              <a:rPr lang="en-us" sz="2800" cap="none">
                <a:solidFill>
                  <a:srgbClr val="000000"/>
                </a:solidFill>
                <a:latin typeface="Calibri" pitchFamily="2" charset="0"/>
                <a:ea typeface="Arial" pitchFamily="2" charset="0"/>
                <a:cs typeface="Arial" pitchFamily="2" charset="0"/>
              </a:rPr>
              <a:t>This means that the elements in a circular linked list are connected in a loop.</a:t>
            </a:r>
            <a:endParaRPr lang="en-us" sz="2800" cap="none">
              <a:solidFill>
                <a:srgbClr val="000000"/>
              </a:solidFill>
            </a:endParaRPr>
          </a:p>
          <a:p>
            <a:pPr marL="228600" indent="-228600">
              <a:lnSpc>
                <a:spcPct val="90000"/>
              </a:lnSpc>
              <a:spcBef>
                <a:spcPts val="1000"/>
              </a:spcBef>
              <a:buClrTx/>
              <a:buFont typeface="Arial" pitchFamily="2" charset="0"/>
              <a:buChar char="•"/>
              <a:defRPr lang="en-us"/>
            </a:pPr>
            <a:r>
              <a:rPr lang="en-us" sz="2800" cap="none">
                <a:solidFill>
                  <a:srgbClr val="000000"/>
                </a:solidFill>
                <a:latin typeface="Calibri" pitchFamily="2" charset="0"/>
                <a:ea typeface="Arial" pitchFamily="2" charset="0"/>
                <a:cs typeface="Arial" pitchFamily="2" charset="0"/>
              </a:rPr>
              <a:t>Circular linked lists are often used in applications where the order of the elements is important, such as in a queue or a stack.</a:t>
            </a:r>
            <a:endParaRPr lang="en-us" sz="2800" cap="none">
              <a:solidFill>
                <a:srgbClr val="00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 name="Picture 2" descr="Circular Singly Linked List - AlphaCodingSkills"/>
          <p:cNvPicPr>
            <a:extLst>
              <a:ext uri="smNativeData">
                <pr:smNativeData xmlns="smNativeData" xmlns:pr="smNativeData" xmlns:p15="http://schemas.microsoft.com/office/powerpoint/2012/main" xmlns:p14="http://schemas.microsoft.com/office/powerpoint/2010/main" xmlns:mc="http://schemas.openxmlformats.org/markup-compatibility/2006" val="SMDATA_17_B0k/ZxMAAAAlAAAAEQ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NsDAAAHCwAAQUMAACgfAAAQAAAAJgAAAAgAAAD//////////w=="/>
              </a:ext>
            </a:extLst>
          </p:cNvPicPr>
          <p:nvPr/>
        </p:nvPicPr>
        <p:blipFill>
          <a:blip r:embed="rId3"/>
          <a:stretch>
            <a:fillRect/>
          </a:stretch>
        </p:blipFill>
        <p:spPr>
          <a:xfrm>
            <a:off x="626745" y="1792605"/>
            <a:ext cx="10306050" cy="3272155"/>
          </a:xfrm>
          <a:prstGeom prst="rect">
            <a:avLst/>
          </a:prstGeom>
          <a:noFill/>
          <a:ln>
            <a:noFill/>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XRQAAZQoAABAAAAAmAAAACAAAAIGgAAD/HwAA"/>
              </a:ext>
            </a:extLst>
          </p:cNvSpPr>
          <p:nvPr>
            <p:ph type="title"/>
          </p:nvPr>
        </p:nvSpPr>
        <p:spPr>
          <a:xfrm>
            <a:off x="838200" y="365125"/>
            <a:ext cx="10514965" cy="1324610"/>
          </a:xfrm>
          <a:noFill/>
          <a:ln>
            <a:noFill/>
          </a:ln>
        </p:spPr>
        <p:txBody>
          <a:bodyPr vert="horz" wrap="square" lIns="91440" tIns="45720" rIns="91440" bIns="45720" numCol="1" spcCol="215900" anchor="ctr">
            <a:prstTxWarp prst="textNoShape">
              <a:avLst/>
            </a:prstTxWarp>
          </a:bodyPr>
          <a:lstStyle/>
          <a:p>
            <a:pPr indent="0" algn="ctr" defTabSz="914400">
              <a:lnSpc>
                <a:spcPct val="90000"/>
              </a:lnSpc>
              <a:buNone/>
              <a:tabLst>
                <a:tab pos="0" algn="l"/>
              </a:tabLst>
              <a:defRPr lang="en-us"/>
            </a:pPr>
            <a:r>
              <a:rPr lang="en-us" b="1" cap="none">
                <a:solidFill>
                  <a:srgbClr val="000000"/>
                </a:solidFill>
                <a:latin typeface="Calibri Light" charset="0"/>
                <a:ea typeface="Arial" pitchFamily="2" charset="0"/>
                <a:cs typeface="Arial" pitchFamily="2" charset="0"/>
              </a:rPr>
              <a:t>Doubly Linked List</a:t>
            </a: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XRQAA/iUAABAAAAAmAAAACAAAAAGgAAD/HwAA"/>
              </a:ext>
            </a:extLst>
          </p:cNvSpPr>
          <p:nvPr>
            <p:ph type="body"/>
          </p:nvPr>
        </p:nvSpPr>
        <p:spPr>
          <a:xfrm>
            <a:off x="838200" y="1825625"/>
            <a:ext cx="10514965" cy="4350385"/>
          </a:xfrm>
          <a:noFill/>
          <a:ln>
            <a:noFill/>
          </a:ln>
        </p:spPr>
        <p:txBody>
          <a:bodyPr vert="horz" wrap="square" lIns="91440" tIns="45720" rIns="91440" bIns="45720" numCol="1" spcCol="215900" anchor="t">
            <a:prstTxWarp prst="textNoShape">
              <a:avLst/>
            </a:prstTxWarp>
          </a:bodyPr>
          <a:lstStyle/>
          <a:p>
            <a:pPr marL="228600" indent="-228600">
              <a:lnSpc>
                <a:spcPct val="90000"/>
              </a:lnSpc>
              <a:spcBef>
                <a:spcPts val="1000"/>
              </a:spcBef>
              <a:buClrTx/>
              <a:buFont typeface="Arial" pitchFamily="2" charset="0"/>
              <a:buChar char="•"/>
              <a:defRPr lang="en-us"/>
            </a:pPr>
            <a:r>
              <a:rPr lang="en-us" sz="2800" cap="none">
                <a:solidFill>
                  <a:srgbClr val="000000"/>
                </a:solidFill>
                <a:latin typeface="Calibri" pitchFamily="2" charset="0"/>
                <a:ea typeface="Arial" pitchFamily="2" charset="0"/>
                <a:cs typeface="Arial" pitchFamily="2" charset="0"/>
              </a:rPr>
              <a:t>A doubly linked list is a data structure that consists of a series of nodes, each of which contains a piece of data and a pointer to the next node and the previous node.</a:t>
            </a:r>
            <a:endParaRPr lang="en-us" sz="2800" cap="none">
              <a:solidFill>
                <a:srgbClr val="000000"/>
              </a:solidFill>
            </a:endParaRPr>
          </a:p>
          <a:p>
            <a:pPr marL="228600" indent="-228600">
              <a:lnSpc>
                <a:spcPct val="90000"/>
              </a:lnSpc>
              <a:spcBef>
                <a:spcPts val="1000"/>
              </a:spcBef>
              <a:buClrTx/>
              <a:buFont typeface="Arial" pitchFamily="2" charset="0"/>
              <a:buChar char="•"/>
              <a:defRPr lang="en-us"/>
            </a:pPr>
            <a:r>
              <a:rPr lang="en-us" sz="2800" cap="none">
                <a:solidFill>
                  <a:srgbClr val="000000"/>
                </a:solidFill>
                <a:latin typeface="Calibri" pitchFamily="2" charset="0"/>
                <a:ea typeface="Arial" pitchFamily="2" charset="0"/>
                <a:cs typeface="Arial" pitchFamily="2" charset="0"/>
              </a:rPr>
              <a:t>This bidirectional linkage allows traversal in both directions, forward and backward, making it more flexible than a singly linked list.</a:t>
            </a:r>
            <a:endParaRPr lang="en-us" sz="2800" cap="none">
              <a:solidFill>
                <a:srgbClr val="00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 name="Picture 2" descr="Introduction to Doubly Linked List – Data Structure and Algorithm Tutorials  - GeeksforGeeks"/>
          <p:cNvPicPr>
            <a:extLst>
              <a:ext uri="smNativeData">
                <pr:smNativeData xmlns="smNativeData" xmlns:pr="smNativeData" xmlns:p15="http://schemas.microsoft.com/office/powerpoint/2012/main" xmlns:p14="http://schemas.microsoft.com/office/powerpoint/2010/main" xmlns:mc="http://schemas.openxmlformats.org/markup-compatibility/2006" val="SMDATA_17_B0k/ZxMAAAAlAAAAEQ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FADAACMCwAA/koAAD4aAAAQAAAAJgAAAAgAAAD//////////w=="/>
              </a:ext>
            </a:extLst>
          </p:cNvPicPr>
          <p:nvPr/>
        </p:nvPicPr>
        <p:blipFill>
          <a:blip r:embed="rId3"/>
          <a:stretch>
            <a:fillRect/>
          </a:stretch>
        </p:blipFill>
        <p:spPr>
          <a:xfrm>
            <a:off x="538480" y="1877060"/>
            <a:ext cx="11652250" cy="2388870"/>
          </a:xfrm>
          <a:prstGeom prst="rect">
            <a:avLst/>
          </a:prstGeom>
          <a:noFill/>
          <a:ln>
            <a:noFill/>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FD99C-9C44-B8A8-2C87-8D804869CD41}"/>
              </a:ext>
            </a:extLst>
          </p:cNvPr>
          <p:cNvSpPr>
            <a:spLocks noGrp="1"/>
          </p:cNvSpPr>
          <p:nvPr>
            <p:ph type="title"/>
          </p:nvPr>
        </p:nvSpPr>
        <p:spPr/>
        <p:txBody>
          <a:bodyPr/>
          <a:lstStyle/>
          <a:p>
            <a:r>
              <a:rPr lang="en-US" dirty="0"/>
              <a:t>Circular double linked list</a:t>
            </a:r>
          </a:p>
        </p:txBody>
      </p:sp>
      <p:sp>
        <p:nvSpPr>
          <p:cNvPr id="3" name="Content Placeholder 2">
            <a:extLst>
              <a:ext uri="{FF2B5EF4-FFF2-40B4-BE49-F238E27FC236}">
                <a16:creationId xmlns:a16="http://schemas.microsoft.com/office/drawing/2014/main" id="{F0404F65-EF56-286F-3A41-104DF95951E3}"/>
              </a:ext>
            </a:extLst>
          </p:cNvPr>
          <p:cNvSpPr>
            <a:spLocks noGrp="1"/>
          </p:cNvSpPr>
          <p:nvPr>
            <p:ph idx="1"/>
          </p:nvPr>
        </p:nvSpPr>
        <p:spPr/>
        <p:txBody>
          <a:bodyPr/>
          <a:lstStyle/>
          <a:p>
            <a:r>
              <a:rPr lang="en-US" dirty="0"/>
              <a:t>Circular: A circular doubly linked list's main feature is that it is circular in design.</a:t>
            </a:r>
          </a:p>
          <a:p>
            <a:r>
              <a:rPr lang="en-US" dirty="0"/>
              <a:t>Doubly Linked: Each node in a circular doubly linked list has two pointers - one pointing to the node before it and the other pointing to the node after it.</a:t>
            </a:r>
          </a:p>
          <a:p>
            <a:r>
              <a:rPr lang="en-US" dirty="0"/>
              <a:t>Header Node: At the start of circular doubly linked lists, a header node or sentinel node is frequently used. This node is used to make the execution of certain operations on the list simpler even though it is not a component of the list's actual contents.</a:t>
            </a:r>
          </a:p>
        </p:txBody>
      </p:sp>
    </p:spTree>
    <p:extLst>
      <p:ext uri="{BB962C8B-B14F-4D97-AF65-F5344CB8AC3E}">
        <p14:creationId xmlns:p14="http://schemas.microsoft.com/office/powerpoint/2010/main" val="15114129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ircular doubly linked list">
            <a:extLst>
              <a:ext uri="{FF2B5EF4-FFF2-40B4-BE49-F238E27FC236}">
                <a16:creationId xmlns:a16="http://schemas.microsoft.com/office/drawing/2014/main" id="{2CA020E6-C281-4060-1C3B-53FC1757DA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0312" y="2277757"/>
            <a:ext cx="8585541" cy="23024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61436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YRQAAZwoAABAAAAAmAAAACAAAAAAAAAAAAAAA"/>
              </a:ext>
            </a:extLst>
          </p:cNvSpPr>
          <p:nvPr>
            <p:ph type="title"/>
          </p:nvPr>
        </p:nvSpPr>
        <p:spPr/>
        <p:txBody>
          <a:bodyPr/>
          <a:lstStyle/>
          <a:p>
            <a:pPr>
              <a:defRPr lang="en-us"/>
            </a:pPr>
            <a:r>
              <a:t>Linked List implementation</a:t>
            </a: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B0k/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YRQAAACYAABAAAAAmAAAACAAAAAAAAAAAAAAA"/>
              </a:ext>
            </a:extLst>
          </p:cNvSpPr>
          <p:nvPr>
            <p:ph type="body" idx="1"/>
          </p:nvPr>
        </p:nvSpPr>
        <p:spPr/>
        <p:txBody>
          <a:bodyPr/>
          <a:lstStyle/>
          <a:p>
            <a:pPr>
              <a:defRPr lang="en-us"/>
            </a:pPr>
            <a:r>
              <a:t>Stack</a:t>
            </a:r>
          </a:p>
          <a:p>
            <a:pPr>
              <a:defRPr lang="en-us"/>
            </a:pPr>
            <a:r>
              <a:t>Queue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FB14B-BE7A-6336-6312-45FE7DA058D7}"/>
              </a:ext>
            </a:extLst>
          </p:cNvPr>
          <p:cNvSpPr>
            <a:spLocks noGrp="1"/>
          </p:cNvSpPr>
          <p:nvPr>
            <p:ph type="title"/>
          </p:nvPr>
        </p:nvSpPr>
        <p:spPr/>
        <p:txBody>
          <a:bodyPr/>
          <a:lstStyle/>
          <a:p>
            <a:r>
              <a:rPr lang="en-US" dirty="0"/>
              <a:t>Applications :- Adding two polynomials using Linked List</a:t>
            </a:r>
          </a:p>
        </p:txBody>
      </p:sp>
      <p:pic>
        <p:nvPicPr>
          <p:cNvPr id="5" name="Content Placeholder 4">
            <a:extLst>
              <a:ext uri="{FF2B5EF4-FFF2-40B4-BE49-F238E27FC236}">
                <a16:creationId xmlns:a16="http://schemas.microsoft.com/office/drawing/2014/main" id="{1DF20334-0E53-36B4-4052-A414388A932B}"/>
              </a:ext>
            </a:extLst>
          </p:cNvPr>
          <p:cNvPicPr>
            <a:picLocks noGrp="1" noChangeAspect="1"/>
          </p:cNvPicPr>
          <p:nvPr>
            <p:ph idx="1"/>
          </p:nvPr>
        </p:nvPicPr>
        <p:blipFill>
          <a:blip r:embed="rId3"/>
          <a:stretch>
            <a:fillRect/>
          </a:stretch>
        </p:blipFill>
        <p:spPr>
          <a:xfrm>
            <a:off x="838200" y="1690688"/>
            <a:ext cx="9636369" cy="2118340"/>
          </a:xfrm>
        </p:spPr>
      </p:pic>
      <p:pic>
        <p:nvPicPr>
          <p:cNvPr id="7" name="Picture 6">
            <a:extLst>
              <a:ext uri="{FF2B5EF4-FFF2-40B4-BE49-F238E27FC236}">
                <a16:creationId xmlns:a16="http://schemas.microsoft.com/office/drawing/2014/main" id="{5AD655D1-955D-97CD-28BC-73B5425D881E}"/>
              </a:ext>
            </a:extLst>
          </p:cNvPr>
          <p:cNvPicPr>
            <a:picLocks noChangeAspect="1"/>
          </p:cNvPicPr>
          <p:nvPr/>
        </p:nvPicPr>
        <p:blipFill>
          <a:blip r:embed="rId4"/>
          <a:stretch>
            <a:fillRect/>
          </a:stretch>
        </p:blipFill>
        <p:spPr>
          <a:xfrm>
            <a:off x="838200" y="4027747"/>
            <a:ext cx="9636369" cy="2291734"/>
          </a:xfrm>
          <a:prstGeom prst="rect">
            <a:avLst/>
          </a:prstGeom>
        </p:spPr>
      </p:pic>
    </p:spTree>
    <p:extLst>
      <p:ext uri="{BB962C8B-B14F-4D97-AF65-F5344CB8AC3E}">
        <p14:creationId xmlns:p14="http://schemas.microsoft.com/office/powerpoint/2010/main" val="40327168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resentation">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Presentation">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Presentation">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Presentation">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Presentation">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Presentation">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Presentation">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Presentation">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Presentation">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Presentation">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Presentation">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Presentation">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3.xml><?xml version="1.0" encoding="utf-8"?>
<a:themeOverride xmlns:a="http://schemas.openxmlformats.org/drawingml/2006/main">
  <a:clrScheme name="Presentation">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4.xml><?xml version="1.0" encoding="utf-8"?>
<a:themeOverride xmlns:a="http://schemas.openxmlformats.org/drawingml/2006/main">
  <a:clrScheme name="Presentation">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5.xml><?xml version="1.0" encoding="utf-8"?>
<a:themeOverride xmlns:a="http://schemas.openxmlformats.org/drawingml/2006/main">
  <a:clrScheme name="Presentation">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6.xml><?xml version="1.0" encoding="utf-8"?>
<a:themeOverride xmlns:a="http://schemas.openxmlformats.org/drawingml/2006/main">
  <a:clrScheme name="Presentation">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7.xml><?xml version="1.0" encoding="utf-8"?>
<a:themeOverride xmlns:a="http://schemas.openxmlformats.org/drawingml/2006/main">
  <a:clrScheme name="Presentation">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8.xml><?xml version="1.0" encoding="utf-8"?>
<a:themeOverride xmlns:a="http://schemas.openxmlformats.org/drawingml/2006/main">
  <a:clrScheme name="Presentation">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9.xml><?xml version="1.0" encoding="utf-8"?>
<a:themeOverride xmlns:a="http://schemas.openxmlformats.org/drawingml/2006/main">
  <a:clrScheme name="Presentation">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0.xml><?xml version="1.0" encoding="utf-8"?>
<a:themeOverride xmlns:a="http://schemas.openxmlformats.org/drawingml/2006/main">
  <a:clrScheme name="Presentation">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1.xml><?xml version="1.0" encoding="utf-8"?>
<a:themeOverride xmlns:a="http://schemas.openxmlformats.org/drawingml/2006/main">
  <a:clrScheme name="Presentation">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2.xml><?xml version="1.0" encoding="utf-8"?>
<a:themeOverride xmlns:a="http://schemas.openxmlformats.org/drawingml/2006/main">
  <a:clrScheme name="Presentation">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3.xml><?xml version="1.0" encoding="utf-8"?>
<a:themeOverride xmlns:a="http://schemas.openxmlformats.org/drawingml/2006/main">
  <a:clrScheme name="Presentation">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24</TotalTime>
  <Words>1811</Words>
  <Application>Microsoft Office PowerPoint</Application>
  <PresentationFormat>Widescreen</PresentationFormat>
  <Paragraphs>176</Paragraphs>
  <Slides>27</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Calibri Light</vt:lpstr>
      <vt:lpstr>Courier New</vt:lpstr>
      <vt:lpstr>Google Sans</vt:lpstr>
      <vt:lpstr>Office Theme</vt:lpstr>
      <vt:lpstr>Linked List</vt:lpstr>
      <vt:lpstr>List</vt:lpstr>
      <vt:lpstr>List ADT</vt:lpstr>
      <vt:lpstr>Array Implementation of List</vt:lpstr>
      <vt:lpstr>Limitation of array implementation</vt:lpstr>
      <vt:lpstr>Importance of Linked List</vt:lpstr>
      <vt:lpstr>Disadvantages of linked list</vt:lpstr>
      <vt:lpstr>PowerPoint Presentation</vt:lpstr>
      <vt:lpstr>Linked List</vt:lpstr>
      <vt:lpstr>PowerPoint Presentation</vt:lpstr>
      <vt:lpstr>Implementation of Linkedlist in C:</vt:lpstr>
      <vt:lpstr>Basic Operations on Linked List</vt:lpstr>
      <vt:lpstr>Types of Linked List</vt:lpstr>
      <vt:lpstr>Singly Linked List</vt:lpstr>
      <vt:lpstr>Traversal in Linked List(Singly)</vt:lpstr>
      <vt:lpstr>PowerPoint Presentation</vt:lpstr>
      <vt:lpstr>Insertion in a Linked List</vt:lpstr>
      <vt:lpstr>Code </vt:lpstr>
      <vt:lpstr>Deletion operation</vt:lpstr>
      <vt:lpstr>Circular Linked List</vt:lpstr>
      <vt:lpstr>PowerPoint Presentation</vt:lpstr>
      <vt:lpstr>Doubly Linked List</vt:lpstr>
      <vt:lpstr>PowerPoint Presentation</vt:lpstr>
      <vt:lpstr>Circular double linked list</vt:lpstr>
      <vt:lpstr>PowerPoint Presentation</vt:lpstr>
      <vt:lpstr>Linked List implementation</vt:lpstr>
      <vt:lpstr>Applications :- Adding two polynomials using Linked 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shiva pathak</dc:creator>
  <cp:lastModifiedBy>shiva pathak</cp:lastModifiedBy>
  <cp:revision>6</cp:revision>
  <dcterms:created xsi:type="dcterms:W3CDTF">2025-05-13T11:46:13Z</dcterms:created>
  <dcterms:modified xsi:type="dcterms:W3CDTF">2025-05-17T12:35:30Z</dcterms:modified>
</cp:coreProperties>
</file>